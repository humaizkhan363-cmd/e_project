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9b7fc02-057b-32ed-569e-693c856a1545}">
          <p14:sldIdLst>
            <p14:sldId id="256"/>
            <p14:sldId id="257"/>
            <p14:sldId id="258"/>
          </p14:sldIdLst>
        </p14:section>
        <p14:section name="Problem and solution" id="{12bc3e6b-9695-686a-cf56-9de082ca2526}">
          <p14:sldIdLst>
            <p14:sldId id="259"/>
            <p14:sldId id="260"/>
          </p14:sldIdLst>
        </p14:section>
        <p14:section name="Design" id="{acf2ded9-c467-1caf-97a7-c7ec278a03c9}">
          <p14:sldIdLst>
            <p14:sldId id="261"/>
            <p14:sldId id="262"/>
            <p14:sldId id="263"/>
          </p14:sldIdLst>
        </p14:section>
        <p14:section name="Business rules" id="{c05eea33-7d08-47f9-f8a6-453961947879}">
          <p14:sldIdLst>
            <p14:sldId id="264"/>
            <p14:sldId id="265"/>
            <p14:sldId id="266"/>
            <p14:sldId id="267"/>
          </p14:sldIdLst>
        </p14:section>
        <p14:section name="Interface" id="{9f03a7e4-419f-f966-cbe6-272df00f9feb}">
          <p14:sldIdLst>
            <p14:sldId id="268"/>
            <p14:sldId id="269"/>
          </p14:sldIdLst>
        </p14:section>
        <p14:section name="Quality" id="{ba2e0be1-1278-b69d-0f97-2329bed1779e}">
          <p14:sldIdLst>
            <p14:sldId id="270"/>
            <p14:sldId id="271"/>
          </p14:sldIdLst>
        </p14:section>
        <p14:section name="Close" id="{e2a2e786-7415-8622-25d8-34c5aa628826}">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A2540"/>
                </a:solidFill>
                <a:latin typeface="+mn-lt"/>
              </a:defRPr>
            </a:pPr>
            <a:r>
              <a:rPr sz="1600" b="0" i="0" u="none" strike="noStrike">
                <a:solidFill>
                  <a:srgbClr val="0A2540"/>
                </a:solidFill>
                <a:latin typeface="+mn-lt"/>
              </a:rPr>
              <a:t>Bulk discount by number of connections</a:t>
            </a:r>
          </a:p>
        </c:rich>
      </c:tx>
      <c:layout/>
      <c:overlay val="0"/>
    </c:title>
    <c:autoTitleDeleted val="0"/>
    <c:plotArea>
      <c:layout/>
      <c:barChart>
        <c:barDir val="col"/>
        <c:grouping val="clustered"/>
        <c:varyColors val="0"/>
        <c:ser>
          <c:idx val="0"/>
          <c:order val="0"/>
          <c:tx>
            <c:strRef>
              <c:f>Sheet1!$B$1</c:f>
              <c:strCache>
                <c:ptCount val="1"/>
                <c:pt idx="0">
                  <c:v>Discount %</c:v>
                </c:pt>
              </c:strCache>
            </c:strRef>
          </c:tx>
          <c:spPr>
            <a:solidFill>
              <a:srgbClr val="0369A1"/>
            </a:solidFill>
            <a:effectLst/>
          </c:spPr>
          <c:invertIfNegative val="0"/>
          <c:dLbls>
            <c:numFmt formatCode="0&quot;%&quot;" sourceLinked="0"/>
            <c:txPr>
              <a:bodyPr/>
              <a:lstStyle/>
              <a:p>
                <a:pPr>
                  <a:defRPr b="0" i="0" strike="noStrike" sz="1400" u="none">
                    <a:solidFill>
                      <a:srgbClr val="0A2540"/>
                    </a:solidFill>
                    <a:latin typeface="+mn-lt"/>
                  </a:defRPr>
                </a:pPr>
              </a:p>
            </c:txPr>
            <c:showLegendKey val="0"/>
            <c:showVal val="1"/>
            <c:showCatName val="0"/>
            <c:showSerName val="0"/>
            <c:showPercent val="0"/>
            <c:showBubbleSize val="0"/>
            <c:showLeaderLines val="0"/>
          </c:dLbls>
          <c:cat>
            <c:multiLvlStrRef>
              <c:f>Sheet1!$A$2:$A$5</c:f>
              <c:multiLvlStrCache>
                <c:ptCount val="4"/>
                <c:lvl>
                  <c:pt idx="0">
                    <c:v>10-14</c:v>
                  </c:pt>
                  <c:pt idx="1">
                    <c:v>15-24</c:v>
                  </c:pt>
                  <c:pt idx="2">
                    <c:v>25-49</c:v>
                  </c:pt>
                  <c:pt idx="3">
                    <c:v>50+</c:v>
                  </c:pt>
                </c:lvl>
              </c:multiLvlStrCache>
            </c:multiLvlStrRef>
          </c:cat>
          <c:val>
            <c:numRef>
              <c:f>Sheet1!$B$2:$B$5</c:f>
              <c:numCache>
                <c:formatCode>General</c:formatCode>
                <c:ptCount val="4"/>
                <c:pt idx="0">
                  <c:v>25</c:v>
                </c:pt>
                <c:pt idx="1">
                  <c:v>50</c:v>
                </c:pt>
                <c:pt idx="2">
                  <c:v>75</c:v>
                </c:pt>
                <c:pt idx="3">
                  <c:v>100</c:v>
                </c:pt>
              </c:numCache>
            </c:numRef>
          </c:val>
        </c:ser>
        <c:dLbls>
          <c:numFmt formatCode="0&quot;%&quot;" sourceLinked="0"/>
          <c:txPr>
            <a:bodyPr/>
            <a:lstStyle/>
            <a:p>
              <a:pPr>
                <a:defRPr b="0" i="0" strike="noStrike" sz="1400" u="none">
                  <a:solidFill>
                    <a:srgbClr val="0A254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9525"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online system for Nexus Communications that replaces paper records for telephone, dial-up and broadband services. Mention the five roles and that the system covers the full journey from order to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member of the group, the system role they own (Admin, Retail, Technical, Accounts, Customer), their main area of work and which part of the presentation they will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the problem, the solution, the technical design, the business rules, the user interface and finally testing and how to run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existing scenario from the problem statement: everything is paper based, feasibility and billing are manual, and documents are filed by hand. With retail shops in every city this no longer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signs in to its own area and only sees its own functions. Passwords are hashed and every page checks the role. Visitors can still see prices and track an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to role areas in ASP.NET Core MVC. Controllers call business services, and the services use Entity Framework Core to reach SQL Server. Customer documents are stored outside the public web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 diagram shows the 19 tables. Orders link customers to plans and cities; connections come from orders; bills belong to connections and payments to bills. The database itself enforces the ID formats and value rules through CHECK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never type these IDs. A database counter is incremented atomically, so two shops placing orders at the same moment always get different numbers. CHECK constraints reject anything that does not match the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order moves through feasibility to connection. If any check fails the order becomes Not feasible. A customer without a Nexus landline can apply for the telephone line and dial-up together; both checks run and the line is created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Accounts department generates bills. The service calculates every amount; Accounts only enters call minutes and any other usage. The worked example is one of the automated test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discount band depends on all the connections a customer takes, and applies to the advance and the security deposit. Deposits are refundable when a connection is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specification says the connection status depends on the bill. Technical staff see every overdue connection, can suspend them, and reactivate them once the customer has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uses a custom design system with a light and a dark theme - the user switches with the sun / moon button and the choice is remembered. It has original illustrations, a 3D parallax hero, tilt cards, smooth page transitions and micro-interactions. Everything respects the reduced-motion setting and works on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lands on its own dashboard with live figures and quick actions. Status values everywhere appear as coloured badges, so problems such as overdue bills stand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 drives every role through the real application and checks the database results - 48 checks, all passing. Testing also found and fixed two real bugs: uploaded documents were saved corrupted, and combined phone and dial-up orders could never be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steps to run the system and the default admin login. Recommend changing the admin password after the first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offer a live demonstration of the system: place an order, run feasibility, create the connection and generate the first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DARK_CLOS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965960"/>
            <a:ext cx="658368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685800" y="3840480"/>
            <a:ext cx="6217920" cy="10058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Nexus Service Marketing System</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194560"/>
            <a:ext cx="10789920" cy="118872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endParaRPr lang="en-US" sz="5400" dirty="0"/>
          </a:p>
        </p:txBody>
      </p:sp>
      <p:sp>
        <p:nvSpPr>
          <p:cNvPr id="3" name="Text 0"/>
          <p:cNvSpPr/>
          <p:nvPr>
            <p:ph idx="101" type="body" hasCustomPrompt="1"/>
          </p:nvPr>
        </p:nvSpPr>
        <p:spPr>
          <a:xfrm>
            <a:off x="1371600" y="3474720"/>
            <a:ext cx="9418320" cy="822960"/>
          </a:xfrm>
          <a:prstGeom prst="rect">
            <a:avLst/>
          </a:prstGeom>
          <a:noFill/>
          <a:ln/>
        </p:spPr>
        <p:txBody>
          <a:bodyPr wrap="square" rtlCol="0"/>
          <a:lstStyle>
            <a:lvl1pPr algn="ctr" indent="0" marL="0">
              <a:buNone/>
              <a:defRPr lang="en-US" sz="2000" dirty="0">
                <a:solidFill>
                  <a:schemeClr val="bg2"/>
                </a:solidFill>
              </a:defRPr>
            </a:lvl1pPr>
          </a:lstStyle>
          <a:p>
            <a:pPr algn="ct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6" Type="http://schemas.openxmlformats.org/officeDocument/2006/relationships/image" Target="../media/image-10-2.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fade-eyebrow"/>
          <p:cNvSpPr txBox="1"/>
          <p:nvPr/>
        </p:nvSpPr>
        <p:spPr>
          <a:xfrm>
            <a:off x="685800" y="1417320"/>
            <a:ext cx="6400800" cy="365760"/>
          </a:xfrm>
          <a:prstGeom prst="rect">
            <a:avLst/>
          </a:prstGeom>
          <a:noFill/>
          <a:ln/>
        </p:spPr>
        <p:txBody>
          <a:bodyPr wrap="square" lIns="0" tIns="0" rIns="0" bIns="0" rtlCol="0" anchor="ctr"/>
          <a:lstStyle/>
          <a:p>
            <a:pPr indent="0" marL="0">
              <a:buNone/>
            </a:pPr>
            <a:r>
              <a:rPr lang="en-US" sz="1400" b="1" spc="200" kern="0" dirty="0">
                <a:solidFill>
                  <a:srgbClr val="6EE7B7"/>
                </a:solidFill>
              </a:rPr>
              <a:t>eProject  ·  Telephone &amp; Internet Services</a:t>
            </a:r>
            <a:endParaRPr lang="en-US" sz="1400" dirty="0"/>
          </a:p>
        </p:txBody>
      </p:sp>
      <p:sp>
        <p:nvSpPr>
          <p:cNvPr id="3" name="Text 0"/>
          <p:cNvSpPr/>
          <p:nvPr>
            <p:ph idx="100" type="title" hasCustomPrompt="1"/>
          </p:nvPr>
        </p:nvSpPr>
        <p:spPr>
          <a:xfrm>
            <a:off x="685800" y="1965960"/>
            <a:ext cx="6583680" cy="1737360"/>
          </a:xfrm>
          <a:prstGeom prst="rect">
            <a:avLst/>
          </a:prstGeom>
          <a:noFill/>
          <a:ln/>
        </p:spPr>
        <p:txBody>
          <a:bodyPr wrap="square" lIns="0" tIns="0" rIns="0" bIns="0" rtlCol="0" anchor="b"/>
          <a:lstStyle/>
          <a:p>
            <a:pPr algn="l" indent="0" marL="0">
              <a:buNone/>
            </a:pPr>
            <a:r>
              <a:rPr lang="en-US" sz="4600" b="1" dirty="0">
                <a:solidFill>
                  <a:schemeClr val="bg1"/>
                </a:solidFill>
              </a:rPr>
              <a:t>Nexus Service Marketing System</a:t>
            </a:r>
            <a:endParaRPr lang="en-US" sz="4600" dirty="0"/>
          </a:p>
        </p:txBody>
      </p:sp>
      <p:sp>
        <p:nvSpPr>
          <p:cNvPr id="4" name="Text 0"/>
          <p:cNvSpPr/>
          <p:nvPr>
            <p:ph idx="101" type="body" hasCustomPrompt="1"/>
          </p:nvPr>
        </p:nvSpPr>
        <p:spPr>
          <a:xfrm>
            <a:off x="685800" y="3840480"/>
            <a:ext cx="6217920" cy="1005840"/>
          </a:xfrm>
          <a:prstGeom prst="rect">
            <a:avLst/>
          </a:prstGeom>
          <a:noFill/>
          <a:ln/>
        </p:spPr>
        <p:txBody>
          <a:bodyPr wrap="square" lIns="0" tIns="0" rIns="0" bIns="0" rtlCol="0" anchor="t"/>
          <a:lstStyle/>
          <a:p>
            <a:pPr algn="l" indent="0" marL="0">
              <a:buNone/>
            </a:pPr>
            <a:r>
              <a:rPr lang="en-US" sz="1800" dirty="0">
                <a:solidFill>
                  <a:schemeClr val="bg2"/>
                </a:solidFill>
              </a:rPr>
              <a:t>Orders, feasibility, connections, postpaid billing and retail operations - one secure system for every role</a:t>
            </a:r>
            <a:endParaRPr lang="en-US" sz="1800" dirty="0"/>
          </a:p>
        </p:txBody>
      </p:sp>
      <p:sp>
        <p:nvSpPr>
          <p:cNvPr id="5" name="a-fade-presenter"/>
          <p:cNvSpPr txBox="1"/>
          <p:nvPr/>
        </p:nvSpPr>
        <p:spPr>
          <a:xfrm>
            <a:off x="685800" y="5120640"/>
            <a:ext cx="6766560" cy="685800"/>
          </a:xfrm>
          <a:prstGeom prst="rect">
            <a:avLst/>
          </a:prstGeom>
          <a:noFill/>
          <a:ln/>
        </p:spPr>
        <p:txBody>
          <a:bodyPr wrap="square" lIns="0" tIns="0" rIns="0" bIns="0" rtlCol="0" anchor="t"/>
          <a:lstStyle/>
          <a:p>
            <a:pPr indent="0" marL="0">
              <a:buNone/>
            </a:pPr>
            <a:r>
              <a:rPr lang="en-US" sz="1300" b="1" dirty="0">
                <a:solidFill>
                  <a:srgbClr val="6EE7B7"/>
                </a:solidFill>
              </a:rPr>
              <a:t>Presented by  </a:t>
            </a:r>
            <a:pPr indent="0" marL="0">
              <a:buNone/>
            </a:pPr>
            <a:r>
              <a:rPr lang="en-US" sz="1300" dirty="0">
                <a:solidFill>
                  <a:srgbClr val="BAE6FD"/>
                </a:solidFill>
              </a:rPr>
              <a:t>Ali Jan  ·  Humaiz Khan  ·  Muhammad Ehtisham Shakeel  ·  Muhammad Waleed  ·  Ali Turab</a:t>
            </a:r>
            <a:endParaRPr lang="en-US" sz="1300" dirty="0"/>
          </a:p>
        </p:txBody>
      </p:sp>
      <p:pic>
        <p:nvPicPr>
          <p:cNvPr id="6" name="a-zoom-globe" descr="Decorative globe">    </p:cNvPr>
          <p:cNvPicPr>
            <a:picLocks noChangeAspect="1"/>
          </p:cNvPicPr>
          <p:nvPr/>
        </p:nvPicPr>
        <p:blipFill>
          <a:blip r:embed="rId1"/>
          <a:stretch>
            <a:fillRect/>
          </a:stretch>
        </p:blipFill>
        <p:spPr>
          <a:xfrm>
            <a:off x="7635240" y="1143000"/>
            <a:ext cx="4206240" cy="420624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1"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9" presetID="10" presetClass="entr" presetSubtype="0"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12" presetID="10"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5" presetID="10" presetClass="entr" presetSubtype="0" fill="hold" grpId="0" nodeType="withEffect">
                                  <p:stCondLst>
                                    <p:cond delay="6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20" presetID="53" presetClass="entr" presetSubtype="16" fill="hold" grpId="0"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p:cTn id="18" dur="650" decel="100000" fill="hold"/>
                                        <p:tgtEl>
                                          <p:spTgt spid="6"/>
                                        </p:tgtEl>
                                        <p:attrNameLst>
                                          <p:attrName>ppt_w</p:attrName>
                                        </p:attrNameLst>
                                      </p:cBhvr>
                                      <p:tavLst>
                                        <p:tav tm="0">
                                          <p:val>
                                            <p:strVal val="#ppt_w*0.7"/>
                                          </p:val>
                                        </p:tav>
                                        <p:tav tm="100000">
                                          <p:val>
                                            <p:strVal val="#ppt_w"/>
                                          </p:val>
                                        </p:tav>
                                      </p:tavLst>
                                    </p:anim>
                                    <p:anim calcmode="lin" valueType="num">
                                      <p:cBhvr>
                                        <p:cTn id="19" dur="650" decel="100000" fill="hold"/>
                                        <p:tgtEl>
                                          <p:spTgt spid="6"/>
                                        </p:tgtEl>
                                        <p:attrNameLst>
                                          <p:attrName>ppt_h</p:attrName>
                                        </p:attrNameLst>
                                      </p:cBhvr>
                                      <p:tavLst>
                                        <p:tav tm="0">
                                          <p:val>
                                            <p:strVal val="#ppt_h*0.7"/>
                                          </p:val>
                                        </p:tav>
                                        <p:tav tm="100000">
                                          <p:val>
                                            <p:strVal val="#ppt_h"/>
                                          </p:val>
                                        </p:tav>
                                      </p:tavLst>
                                    </p:anim>
                                    <p:animEffect transition="in" filter="fade">
                                      <p:cBhvr>
                                        <p:cTn id="17" dur="6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Meet the team</a:t>
            </a:r>
            <a:endParaRPr lang="en-US" sz="3200" dirty="0"/>
          </a:p>
        </p:txBody>
      </p:sp>
      <p:sp>
        <p:nvSpPr>
          <p:cNvPr id="3" name="a-up-tm0"/>
          <p:cNvSpPr/>
          <p:nvPr/>
        </p:nvSpPr>
        <p:spPr>
          <a:xfrm>
            <a:off x="548640" y="1371600"/>
            <a:ext cx="2121408" cy="4526280"/>
          </a:xfrm>
          <a:prstGeom prst="roundRect">
            <a:avLst>
              <a:gd name="adj" fmla="val 517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4" name="a-up-w-tmc0"/>
          <p:cNvSpPr/>
          <p:nvPr/>
        </p:nvSpPr>
        <p:spPr>
          <a:xfrm>
            <a:off x="1152144" y="1691640"/>
            <a:ext cx="914400" cy="914400"/>
          </a:xfrm>
          <a:prstGeom prst="ellipse">
            <a:avLst/>
          </a:prstGeom>
          <a:solidFill>
            <a:schemeClr val="accent1"/>
          </a:solidFill>
          <a:ln/>
        </p:spPr>
      </p:sp>
      <p:sp>
        <p:nvSpPr>
          <p:cNvPr id="5" name="a-up-w-tmi0"/>
          <p:cNvSpPr txBox="1"/>
          <p:nvPr/>
        </p:nvSpPr>
        <p:spPr>
          <a:xfrm>
            <a:off x="1152144" y="1691640"/>
            <a:ext cx="914400" cy="914400"/>
          </a:xfrm>
          <a:prstGeom prst="rect">
            <a:avLst/>
          </a:prstGeom>
          <a:noFill/>
          <a:ln/>
        </p:spPr>
        <p:txBody>
          <a:bodyPr wrap="square" lIns="0" tIns="0" rIns="0" bIns="0" rtlCol="0" anchor="ctr"/>
          <a:lstStyle/>
          <a:p>
            <a:pPr algn="ctr" indent="0" marL="0">
              <a:buNone/>
            </a:pPr>
            <a:r>
              <a:rPr lang="en-US" sz="2400" b="1" dirty="0">
                <a:solidFill>
                  <a:schemeClr val="bg1"/>
                </a:solidFill>
              </a:rPr>
              <a:t>AJ</a:t>
            </a:r>
            <a:endParaRPr lang="en-US" sz="2400" dirty="0"/>
          </a:p>
        </p:txBody>
      </p:sp>
      <p:sp>
        <p:nvSpPr>
          <p:cNvPr id="6" name="a-up-w-tmn0"/>
          <p:cNvSpPr txBox="1"/>
          <p:nvPr/>
        </p:nvSpPr>
        <p:spPr>
          <a:xfrm>
            <a:off x="640080" y="2743200"/>
            <a:ext cx="1938528" cy="640080"/>
          </a:xfrm>
          <a:prstGeom prst="rect">
            <a:avLst/>
          </a:prstGeom>
          <a:noFill/>
          <a:ln/>
        </p:spPr>
        <p:txBody>
          <a:bodyPr wrap="square" lIns="0" tIns="0" rIns="0" bIns="0" rtlCol="0" anchor="ctr"/>
          <a:lstStyle/>
          <a:p>
            <a:pPr algn="ctr" indent="0" marL="0">
              <a:buNone/>
            </a:pPr>
            <a:r>
              <a:rPr lang="en-US" sz="1500" b="1" dirty="0">
                <a:solidFill>
                  <a:schemeClr val="tx2"/>
                </a:solidFill>
              </a:rPr>
              <a:t>Ali Jan</a:t>
            </a:r>
            <a:endParaRPr lang="en-US" sz="1500" dirty="0"/>
          </a:p>
        </p:txBody>
      </p:sp>
      <p:sp>
        <p:nvSpPr>
          <p:cNvPr id="7" name="a-up-w-tmd0"/>
          <p:cNvSpPr txBox="1"/>
          <p:nvPr/>
        </p:nvSpPr>
        <p:spPr>
          <a:xfrm>
            <a:off x="685800" y="3429000"/>
            <a:ext cx="1847088" cy="256032"/>
          </a:xfrm>
          <a:prstGeom prst="rect">
            <a:avLst/>
          </a:prstGeom>
          <a:noFill/>
          <a:ln/>
        </p:spPr>
        <p:txBody>
          <a:bodyPr wrap="square" lIns="0" tIns="0" rIns="0" bIns="0" rtlCol="0" anchor="t"/>
          <a:lstStyle/>
          <a:p>
            <a:pPr algn="ctr" indent="0" marL="0">
              <a:buNone/>
            </a:pPr>
            <a:r>
              <a:rPr lang="en-US" sz="1100" dirty="0">
                <a:solidFill>
                  <a:schemeClr val="accent1"/>
                </a:solidFill>
              </a:rPr>
              <a:t>Student1661815</a:t>
            </a:r>
            <a:endParaRPr lang="en-US" sz="1100" dirty="0"/>
          </a:p>
        </p:txBody>
      </p:sp>
      <p:sp>
        <p:nvSpPr>
          <p:cNvPr id="8" name="a-up-w-tmr0"/>
          <p:cNvSpPr/>
          <p:nvPr/>
        </p:nvSpPr>
        <p:spPr>
          <a:xfrm>
            <a:off x="822960" y="3749040"/>
            <a:ext cx="1572768" cy="329184"/>
          </a:xfrm>
          <a:prstGeom prst="roundRect">
            <a:avLst>
              <a:gd name="adj" fmla="val 50000"/>
            </a:avLst>
          </a:prstGeom>
          <a:solidFill>
            <a:schemeClr val="bg2"/>
          </a:solidFill>
          <a:ln w="6350">
            <a:solidFill>
              <a:srgbClr val="CBD5E1"/>
            </a:solidFill>
            <a:prstDash val="solid"/>
          </a:ln>
        </p:spPr>
      </p:sp>
      <p:sp>
        <p:nvSpPr>
          <p:cNvPr id="9" name="a-up-w-tmrt0"/>
          <p:cNvSpPr txBox="1"/>
          <p:nvPr/>
        </p:nvSpPr>
        <p:spPr>
          <a:xfrm>
            <a:off x="822960" y="3749040"/>
            <a:ext cx="1572768" cy="329184"/>
          </a:xfrm>
          <a:prstGeom prst="rect">
            <a:avLst/>
          </a:prstGeom>
          <a:noFill/>
          <a:ln/>
        </p:spPr>
        <p:txBody>
          <a:bodyPr wrap="square" lIns="0" tIns="0" rIns="0" bIns="0" rtlCol="0" anchor="ctr"/>
          <a:lstStyle/>
          <a:p>
            <a:pPr algn="ctr" indent="0" marL="0">
              <a:buNone/>
            </a:pPr>
            <a:r>
              <a:rPr lang="en-US" sz="1150" b="1" dirty="0">
                <a:solidFill>
                  <a:schemeClr val="accent1"/>
                </a:solidFill>
              </a:rPr>
              <a:t>Admin</a:t>
            </a:r>
            <a:endParaRPr lang="en-US" sz="1150" dirty="0"/>
          </a:p>
        </p:txBody>
      </p:sp>
      <p:sp>
        <p:nvSpPr>
          <p:cNvPr id="10" name="a-up-w-tmf0"/>
          <p:cNvSpPr txBox="1"/>
          <p:nvPr/>
        </p:nvSpPr>
        <p:spPr>
          <a:xfrm>
            <a:off x="713232" y="4187952"/>
            <a:ext cx="1792224" cy="822960"/>
          </a:xfrm>
          <a:prstGeom prst="rect">
            <a:avLst/>
          </a:prstGeom>
          <a:noFill/>
          <a:ln/>
        </p:spPr>
        <p:txBody>
          <a:bodyPr wrap="square" lIns="0" tIns="0" rIns="0" bIns="0" rtlCol="0" anchor="t"/>
          <a:lstStyle/>
          <a:p>
            <a:pPr algn="ctr" indent="0" marL="0">
              <a:buNone/>
            </a:pPr>
            <a:r>
              <a:rPr lang="en-US" sz="1050" dirty="0">
                <a:solidFill>
                  <a:schemeClr val="accent6"/>
                </a:solidFill>
              </a:rPr>
              <a:t>Requirement analysis, admin module and project coordination</a:t>
            </a:r>
            <a:endParaRPr lang="en-US" sz="1050" dirty="0"/>
          </a:p>
        </p:txBody>
      </p:sp>
      <p:sp>
        <p:nvSpPr>
          <p:cNvPr id="11" name="a-up-w-tmp0"/>
          <p:cNvSpPr txBox="1"/>
          <p:nvPr/>
        </p:nvSpPr>
        <p:spPr>
          <a:xfrm>
            <a:off x="713232" y="4983480"/>
            <a:ext cx="1792224" cy="777240"/>
          </a:xfrm>
          <a:prstGeom prst="rect">
            <a:avLst/>
          </a:prstGeom>
          <a:noFill/>
          <a:ln/>
        </p:spPr>
        <p:txBody>
          <a:bodyPr wrap="square" lIns="0" tIns="0" rIns="0" bIns="0" rtlCol="0" anchor="t"/>
          <a:lstStyle/>
          <a:p>
            <a:pPr algn="ctr" indent="0" marL="0">
              <a:buNone/>
            </a:pPr>
            <a:r>
              <a:rPr lang="en-US" sz="1050" b="1" dirty="0">
                <a:solidFill>
                  <a:schemeClr val="accent2"/>
                </a:solidFill>
              </a:rPr>
              <a:t>Slides 1-5: introduction, problem and solution</a:t>
            </a:r>
            <a:endParaRPr lang="en-US" sz="1050" dirty="0"/>
          </a:p>
        </p:txBody>
      </p:sp>
      <p:sp>
        <p:nvSpPr>
          <p:cNvPr id="12" name="a-up-tm1"/>
          <p:cNvSpPr/>
          <p:nvPr/>
        </p:nvSpPr>
        <p:spPr>
          <a:xfrm>
            <a:off x="2779776" y="1371600"/>
            <a:ext cx="2121408" cy="4526280"/>
          </a:xfrm>
          <a:prstGeom prst="roundRect">
            <a:avLst>
              <a:gd name="adj" fmla="val 517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3" name="a-up-w-tmc1"/>
          <p:cNvSpPr/>
          <p:nvPr/>
        </p:nvSpPr>
        <p:spPr>
          <a:xfrm>
            <a:off x="3383280" y="1691640"/>
            <a:ext cx="914400" cy="914400"/>
          </a:xfrm>
          <a:prstGeom prst="ellipse">
            <a:avLst/>
          </a:prstGeom>
          <a:solidFill>
            <a:schemeClr val="accent2"/>
          </a:solidFill>
          <a:ln/>
        </p:spPr>
      </p:sp>
      <p:sp>
        <p:nvSpPr>
          <p:cNvPr id="14" name="a-up-w-tmi1"/>
          <p:cNvSpPr txBox="1"/>
          <p:nvPr/>
        </p:nvSpPr>
        <p:spPr>
          <a:xfrm>
            <a:off x="3383280" y="1691640"/>
            <a:ext cx="914400" cy="914400"/>
          </a:xfrm>
          <a:prstGeom prst="rect">
            <a:avLst/>
          </a:prstGeom>
          <a:noFill/>
          <a:ln/>
        </p:spPr>
        <p:txBody>
          <a:bodyPr wrap="square" lIns="0" tIns="0" rIns="0" bIns="0" rtlCol="0" anchor="ctr"/>
          <a:lstStyle/>
          <a:p>
            <a:pPr algn="ctr" indent="0" marL="0">
              <a:buNone/>
            </a:pPr>
            <a:r>
              <a:rPr lang="en-US" sz="2400" b="1" dirty="0">
                <a:solidFill>
                  <a:schemeClr val="bg1"/>
                </a:solidFill>
              </a:rPr>
              <a:t>HK</a:t>
            </a:r>
            <a:endParaRPr lang="en-US" sz="2400" dirty="0"/>
          </a:p>
        </p:txBody>
      </p:sp>
      <p:sp>
        <p:nvSpPr>
          <p:cNvPr id="15" name="a-up-w-tmn1"/>
          <p:cNvSpPr txBox="1"/>
          <p:nvPr/>
        </p:nvSpPr>
        <p:spPr>
          <a:xfrm>
            <a:off x="2871216" y="2743200"/>
            <a:ext cx="1938528" cy="640080"/>
          </a:xfrm>
          <a:prstGeom prst="rect">
            <a:avLst/>
          </a:prstGeom>
          <a:noFill/>
          <a:ln/>
        </p:spPr>
        <p:txBody>
          <a:bodyPr wrap="square" lIns="0" tIns="0" rIns="0" bIns="0" rtlCol="0" anchor="ctr"/>
          <a:lstStyle/>
          <a:p>
            <a:pPr algn="ctr" indent="0" marL="0">
              <a:buNone/>
            </a:pPr>
            <a:r>
              <a:rPr lang="en-US" sz="1500" b="1" dirty="0">
                <a:solidFill>
                  <a:schemeClr val="tx2"/>
                </a:solidFill>
              </a:rPr>
              <a:t>Humaiz Khan</a:t>
            </a:r>
            <a:endParaRPr lang="en-US" sz="1500" dirty="0"/>
          </a:p>
        </p:txBody>
      </p:sp>
      <p:sp>
        <p:nvSpPr>
          <p:cNvPr id="16" name="a-up-w-tmd1"/>
          <p:cNvSpPr txBox="1"/>
          <p:nvPr/>
        </p:nvSpPr>
        <p:spPr>
          <a:xfrm>
            <a:off x="2916936" y="3429000"/>
            <a:ext cx="1847088" cy="256032"/>
          </a:xfrm>
          <a:prstGeom prst="rect">
            <a:avLst/>
          </a:prstGeom>
          <a:noFill/>
          <a:ln/>
        </p:spPr>
        <p:txBody>
          <a:bodyPr wrap="square" lIns="0" tIns="0" rIns="0" bIns="0" rtlCol="0" anchor="t"/>
          <a:lstStyle/>
          <a:p>
            <a:pPr algn="ctr" indent="0" marL="0">
              <a:buNone/>
            </a:pPr>
            <a:r>
              <a:rPr lang="en-US" sz="1100" dirty="0">
                <a:solidFill>
                  <a:schemeClr val="accent1"/>
                </a:solidFill>
              </a:rPr>
              <a:t>Student1659420</a:t>
            </a:r>
            <a:endParaRPr lang="en-US" sz="1100" dirty="0"/>
          </a:p>
        </p:txBody>
      </p:sp>
      <p:sp>
        <p:nvSpPr>
          <p:cNvPr id="17" name="a-up-w-tmr1"/>
          <p:cNvSpPr/>
          <p:nvPr/>
        </p:nvSpPr>
        <p:spPr>
          <a:xfrm>
            <a:off x="3054096" y="3749040"/>
            <a:ext cx="1572768" cy="329184"/>
          </a:xfrm>
          <a:prstGeom prst="roundRect">
            <a:avLst>
              <a:gd name="adj" fmla="val 50000"/>
            </a:avLst>
          </a:prstGeom>
          <a:solidFill>
            <a:schemeClr val="bg2"/>
          </a:solidFill>
          <a:ln w="6350">
            <a:solidFill>
              <a:srgbClr val="CBD5E1"/>
            </a:solidFill>
            <a:prstDash val="solid"/>
          </a:ln>
        </p:spPr>
      </p:sp>
      <p:sp>
        <p:nvSpPr>
          <p:cNvPr id="18" name="a-up-w-tmrt1"/>
          <p:cNvSpPr txBox="1"/>
          <p:nvPr/>
        </p:nvSpPr>
        <p:spPr>
          <a:xfrm>
            <a:off x="3054096" y="3749040"/>
            <a:ext cx="1572768" cy="329184"/>
          </a:xfrm>
          <a:prstGeom prst="rect">
            <a:avLst/>
          </a:prstGeom>
          <a:noFill/>
          <a:ln/>
        </p:spPr>
        <p:txBody>
          <a:bodyPr wrap="square" lIns="0" tIns="0" rIns="0" bIns="0" rtlCol="0" anchor="ctr"/>
          <a:lstStyle/>
          <a:p>
            <a:pPr algn="ctr" indent="0" marL="0">
              <a:buNone/>
            </a:pPr>
            <a:r>
              <a:rPr lang="en-US" sz="1150" b="1" dirty="0">
                <a:solidFill>
                  <a:schemeClr val="accent1"/>
                </a:solidFill>
              </a:rPr>
              <a:t>Retail Staff</a:t>
            </a:r>
            <a:endParaRPr lang="en-US" sz="1150" dirty="0"/>
          </a:p>
        </p:txBody>
      </p:sp>
      <p:sp>
        <p:nvSpPr>
          <p:cNvPr id="19" name="a-up-w-tmf1"/>
          <p:cNvSpPr txBox="1"/>
          <p:nvPr/>
        </p:nvSpPr>
        <p:spPr>
          <a:xfrm>
            <a:off x="2944368" y="4187952"/>
            <a:ext cx="1792224" cy="822960"/>
          </a:xfrm>
          <a:prstGeom prst="rect">
            <a:avLst/>
          </a:prstGeom>
          <a:noFill/>
          <a:ln/>
        </p:spPr>
        <p:txBody>
          <a:bodyPr wrap="square" lIns="0" tIns="0" rIns="0" bIns="0" rtlCol="0" anchor="t"/>
          <a:lstStyle/>
          <a:p>
            <a:pPr algn="ctr" indent="0" marL="0">
              <a:buNone/>
            </a:pPr>
            <a:r>
              <a:rPr lang="en-US" sz="1050" dirty="0">
                <a:solidFill>
                  <a:schemeClr val="accent6"/>
                </a:solidFill>
              </a:rPr>
              <a:t>Database design, ER diagram, entities and migrations</a:t>
            </a:r>
            <a:endParaRPr lang="en-US" sz="1050" dirty="0"/>
          </a:p>
        </p:txBody>
      </p:sp>
      <p:sp>
        <p:nvSpPr>
          <p:cNvPr id="20" name="a-up-w-tmp1"/>
          <p:cNvSpPr txBox="1"/>
          <p:nvPr/>
        </p:nvSpPr>
        <p:spPr>
          <a:xfrm>
            <a:off x="2944368" y="4983480"/>
            <a:ext cx="1792224" cy="777240"/>
          </a:xfrm>
          <a:prstGeom prst="rect">
            <a:avLst/>
          </a:prstGeom>
          <a:noFill/>
          <a:ln/>
        </p:spPr>
        <p:txBody>
          <a:bodyPr wrap="square" lIns="0" tIns="0" rIns="0" bIns="0" rtlCol="0" anchor="t"/>
          <a:lstStyle/>
          <a:p>
            <a:pPr algn="ctr" indent="0" marL="0">
              <a:buNone/>
            </a:pPr>
            <a:r>
              <a:rPr lang="en-US" sz="1050" b="1" dirty="0">
                <a:solidFill>
                  <a:schemeClr val="accent2"/>
                </a:solidFill>
              </a:rPr>
              <a:t>Slides 6-8: architecture, database and identifiers</a:t>
            </a:r>
            <a:endParaRPr lang="en-US" sz="1050" dirty="0"/>
          </a:p>
        </p:txBody>
      </p:sp>
      <p:sp>
        <p:nvSpPr>
          <p:cNvPr id="21" name="a-up-tm2"/>
          <p:cNvSpPr/>
          <p:nvPr/>
        </p:nvSpPr>
        <p:spPr>
          <a:xfrm>
            <a:off x="5010912" y="1371600"/>
            <a:ext cx="2121408" cy="4526280"/>
          </a:xfrm>
          <a:prstGeom prst="roundRect">
            <a:avLst>
              <a:gd name="adj" fmla="val 517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22" name="a-up-w-tmc2"/>
          <p:cNvSpPr/>
          <p:nvPr/>
        </p:nvSpPr>
        <p:spPr>
          <a:xfrm>
            <a:off x="5614416" y="1691640"/>
            <a:ext cx="914400" cy="914400"/>
          </a:xfrm>
          <a:prstGeom prst="ellipse">
            <a:avLst/>
          </a:prstGeom>
          <a:solidFill>
            <a:schemeClr val="accent1"/>
          </a:solidFill>
          <a:ln/>
        </p:spPr>
      </p:sp>
      <p:sp>
        <p:nvSpPr>
          <p:cNvPr id="23" name="a-up-w-tmi2"/>
          <p:cNvSpPr txBox="1"/>
          <p:nvPr/>
        </p:nvSpPr>
        <p:spPr>
          <a:xfrm>
            <a:off x="5614416" y="1691640"/>
            <a:ext cx="914400" cy="914400"/>
          </a:xfrm>
          <a:prstGeom prst="rect">
            <a:avLst/>
          </a:prstGeom>
          <a:noFill/>
          <a:ln/>
        </p:spPr>
        <p:txBody>
          <a:bodyPr wrap="square" lIns="0" tIns="0" rIns="0" bIns="0" rtlCol="0" anchor="ctr"/>
          <a:lstStyle/>
          <a:p>
            <a:pPr algn="ctr" indent="0" marL="0">
              <a:buNone/>
            </a:pPr>
            <a:r>
              <a:rPr lang="en-US" sz="2400" b="1" dirty="0">
                <a:solidFill>
                  <a:schemeClr val="bg1"/>
                </a:solidFill>
              </a:rPr>
              <a:t>ME</a:t>
            </a:r>
            <a:endParaRPr lang="en-US" sz="2400" dirty="0"/>
          </a:p>
        </p:txBody>
      </p:sp>
      <p:sp>
        <p:nvSpPr>
          <p:cNvPr id="24" name="a-up-w-tmn2"/>
          <p:cNvSpPr txBox="1"/>
          <p:nvPr/>
        </p:nvSpPr>
        <p:spPr>
          <a:xfrm>
            <a:off x="5102352" y="2743200"/>
            <a:ext cx="1938528" cy="640080"/>
          </a:xfrm>
          <a:prstGeom prst="rect">
            <a:avLst/>
          </a:prstGeom>
          <a:noFill/>
          <a:ln/>
        </p:spPr>
        <p:txBody>
          <a:bodyPr wrap="square" lIns="0" tIns="0" rIns="0" bIns="0" rtlCol="0" anchor="ctr"/>
          <a:lstStyle/>
          <a:p>
            <a:pPr algn="ctr" indent="0" marL="0">
              <a:buNone/>
            </a:pPr>
            <a:r>
              <a:rPr lang="en-US" sz="1250" b="1" dirty="0">
                <a:solidFill>
                  <a:schemeClr val="tx2"/>
                </a:solidFill>
              </a:rPr>
              <a:t>Muhammad Ehtisham Shakeel</a:t>
            </a:r>
            <a:endParaRPr lang="en-US" sz="1250" dirty="0"/>
          </a:p>
        </p:txBody>
      </p:sp>
      <p:sp>
        <p:nvSpPr>
          <p:cNvPr id="25" name="a-up-w-tmd2"/>
          <p:cNvSpPr txBox="1"/>
          <p:nvPr/>
        </p:nvSpPr>
        <p:spPr>
          <a:xfrm>
            <a:off x="5148072" y="3429000"/>
            <a:ext cx="1847088" cy="256032"/>
          </a:xfrm>
          <a:prstGeom prst="rect">
            <a:avLst/>
          </a:prstGeom>
          <a:noFill/>
          <a:ln/>
        </p:spPr>
        <p:txBody>
          <a:bodyPr wrap="square" lIns="0" tIns="0" rIns="0" bIns="0" rtlCol="0" anchor="t"/>
          <a:lstStyle/>
          <a:p>
            <a:pPr algn="ctr" indent="0" marL="0">
              <a:buNone/>
            </a:pPr>
            <a:r>
              <a:rPr lang="en-US" sz="1100" dirty="0">
                <a:solidFill>
                  <a:schemeClr val="accent1"/>
                </a:solidFill>
              </a:rPr>
              <a:t>Student1657963</a:t>
            </a:r>
            <a:endParaRPr lang="en-US" sz="1100" dirty="0"/>
          </a:p>
        </p:txBody>
      </p:sp>
      <p:sp>
        <p:nvSpPr>
          <p:cNvPr id="26" name="a-up-w-tmr2"/>
          <p:cNvSpPr/>
          <p:nvPr/>
        </p:nvSpPr>
        <p:spPr>
          <a:xfrm>
            <a:off x="5285232" y="3749040"/>
            <a:ext cx="1572768" cy="329184"/>
          </a:xfrm>
          <a:prstGeom prst="roundRect">
            <a:avLst>
              <a:gd name="adj" fmla="val 50000"/>
            </a:avLst>
          </a:prstGeom>
          <a:solidFill>
            <a:schemeClr val="bg2"/>
          </a:solidFill>
          <a:ln w="6350">
            <a:solidFill>
              <a:srgbClr val="CBD5E1"/>
            </a:solidFill>
            <a:prstDash val="solid"/>
          </a:ln>
        </p:spPr>
      </p:sp>
      <p:sp>
        <p:nvSpPr>
          <p:cNvPr id="27" name="a-up-w-tmrt2"/>
          <p:cNvSpPr txBox="1"/>
          <p:nvPr/>
        </p:nvSpPr>
        <p:spPr>
          <a:xfrm>
            <a:off x="5285232" y="3749040"/>
            <a:ext cx="1572768" cy="329184"/>
          </a:xfrm>
          <a:prstGeom prst="rect">
            <a:avLst/>
          </a:prstGeom>
          <a:noFill/>
          <a:ln/>
        </p:spPr>
        <p:txBody>
          <a:bodyPr wrap="square" lIns="0" tIns="0" rIns="0" bIns="0" rtlCol="0" anchor="ctr"/>
          <a:lstStyle/>
          <a:p>
            <a:pPr algn="ctr" indent="0" marL="0">
              <a:buNone/>
            </a:pPr>
            <a:r>
              <a:rPr lang="en-US" sz="1150" b="1" dirty="0">
                <a:solidFill>
                  <a:schemeClr val="accent1"/>
                </a:solidFill>
              </a:rPr>
              <a:t>Technical Staff</a:t>
            </a:r>
            <a:endParaRPr lang="en-US" sz="1150" dirty="0"/>
          </a:p>
        </p:txBody>
      </p:sp>
      <p:sp>
        <p:nvSpPr>
          <p:cNvPr id="28" name="a-up-w-tmf2"/>
          <p:cNvSpPr txBox="1"/>
          <p:nvPr/>
        </p:nvSpPr>
        <p:spPr>
          <a:xfrm>
            <a:off x="5175504" y="4187952"/>
            <a:ext cx="1792224" cy="822960"/>
          </a:xfrm>
          <a:prstGeom prst="rect">
            <a:avLst/>
          </a:prstGeom>
          <a:noFill/>
          <a:ln/>
        </p:spPr>
        <p:txBody>
          <a:bodyPr wrap="square" lIns="0" tIns="0" rIns="0" bIns="0" rtlCol="0" anchor="t"/>
          <a:lstStyle/>
          <a:p>
            <a:pPr algn="ctr" indent="0" marL="0">
              <a:buNone/>
            </a:pPr>
            <a:r>
              <a:rPr lang="en-US" sz="1050" dirty="0">
                <a:solidFill>
                  <a:schemeClr val="accent6"/>
                </a:solidFill>
              </a:rPr>
              <a:t>Login and security, orders, feasibility and connections</a:t>
            </a:r>
            <a:endParaRPr lang="en-US" sz="1050" dirty="0"/>
          </a:p>
        </p:txBody>
      </p:sp>
      <p:sp>
        <p:nvSpPr>
          <p:cNvPr id="29" name="a-up-w-tmp2"/>
          <p:cNvSpPr txBox="1"/>
          <p:nvPr/>
        </p:nvSpPr>
        <p:spPr>
          <a:xfrm>
            <a:off x="5175504" y="4983480"/>
            <a:ext cx="1792224" cy="777240"/>
          </a:xfrm>
          <a:prstGeom prst="rect">
            <a:avLst/>
          </a:prstGeom>
          <a:noFill/>
          <a:ln/>
        </p:spPr>
        <p:txBody>
          <a:bodyPr wrap="square" lIns="0" tIns="0" rIns="0" bIns="0" rtlCol="0" anchor="t"/>
          <a:lstStyle/>
          <a:p>
            <a:pPr algn="ctr" indent="0" marL="0">
              <a:buNone/>
            </a:pPr>
            <a:r>
              <a:rPr lang="en-US" sz="1050" b="1" dirty="0">
                <a:solidFill>
                  <a:schemeClr val="accent2"/>
                </a:solidFill>
              </a:rPr>
              <a:t>Slide 9 and the live demo</a:t>
            </a:r>
            <a:endParaRPr lang="en-US" sz="1050" dirty="0"/>
          </a:p>
        </p:txBody>
      </p:sp>
      <p:sp>
        <p:nvSpPr>
          <p:cNvPr id="30" name="a-up-tm3"/>
          <p:cNvSpPr/>
          <p:nvPr/>
        </p:nvSpPr>
        <p:spPr>
          <a:xfrm>
            <a:off x="7242048" y="1371600"/>
            <a:ext cx="2121408" cy="4526280"/>
          </a:xfrm>
          <a:prstGeom prst="roundRect">
            <a:avLst>
              <a:gd name="adj" fmla="val 517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31" name="a-up-w-tmc3"/>
          <p:cNvSpPr/>
          <p:nvPr/>
        </p:nvSpPr>
        <p:spPr>
          <a:xfrm>
            <a:off x="7845552" y="1691640"/>
            <a:ext cx="914400" cy="914400"/>
          </a:xfrm>
          <a:prstGeom prst="ellipse">
            <a:avLst/>
          </a:prstGeom>
          <a:solidFill>
            <a:schemeClr val="accent2"/>
          </a:solidFill>
          <a:ln/>
        </p:spPr>
      </p:sp>
      <p:sp>
        <p:nvSpPr>
          <p:cNvPr id="32" name="a-up-w-tmi3"/>
          <p:cNvSpPr txBox="1"/>
          <p:nvPr/>
        </p:nvSpPr>
        <p:spPr>
          <a:xfrm>
            <a:off x="7845552" y="1691640"/>
            <a:ext cx="914400" cy="914400"/>
          </a:xfrm>
          <a:prstGeom prst="rect">
            <a:avLst/>
          </a:prstGeom>
          <a:noFill/>
          <a:ln/>
        </p:spPr>
        <p:txBody>
          <a:bodyPr wrap="square" lIns="0" tIns="0" rIns="0" bIns="0" rtlCol="0" anchor="ctr"/>
          <a:lstStyle/>
          <a:p>
            <a:pPr algn="ctr" indent="0" marL="0">
              <a:buNone/>
            </a:pPr>
            <a:r>
              <a:rPr lang="en-US" sz="2400" b="1" dirty="0">
                <a:solidFill>
                  <a:schemeClr val="bg1"/>
                </a:solidFill>
              </a:rPr>
              <a:t>MW</a:t>
            </a:r>
            <a:endParaRPr lang="en-US" sz="2400" dirty="0"/>
          </a:p>
        </p:txBody>
      </p:sp>
      <p:sp>
        <p:nvSpPr>
          <p:cNvPr id="33" name="a-up-w-tmn3"/>
          <p:cNvSpPr txBox="1"/>
          <p:nvPr/>
        </p:nvSpPr>
        <p:spPr>
          <a:xfrm>
            <a:off x="7333488" y="2743200"/>
            <a:ext cx="1938528" cy="640080"/>
          </a:xfrm>
          <a:prstGeom prst="rect">
            <a:avLst/>
          </a:prstGeom>
          <a:noFill/>
          <a:ln/>
        </p:spPr>
        <p:txBody>
          <a:bodyPr wrap="square" lIns="0" tIns="0" rIns="0" bIns="0" rtlCol="0" anchor="ctr"/>
          <a:lstStyle/>
          <a:p>
            <a:pPr algn="ctr" indent="0" marL="0">
              <a:buNone/>
            </a:pPr>
            <a:r>
              <a:rPr lang="en-US" sz="1250" b="1" dirty="0">
                <a:solidFill>
                  <a:schemeClr val="tx2"/>
                </a:solidFill>
              </a:rPr>
              <a:t>Muhammad Waleed</a:t>
            </a:r>
            <a:endParaRPr lang="en-US" sz="1250" dirty="0"/>
          </a:p>
        </p:txBody>
      </p:sp>
      <p:sp>
        <p:nvSpPr>
          <p:cNvPr id="34" name="a-up-w-tmd3"/>
          <p:cNvSpPr txBox="1"/>
          <p:nvPr/>
        </p:nvSpPr>
        <p:spPr>
          <a:xfrm>
            <a:off x="7379208" y="3429000"/>
            <a:ext cx="1847088" cy="256032"/>
          </a:xfrm>
          <a:prstGeom prst="rect">
            <a:avLst/>
          </a:prstGeom>
          <a:noFill/>
          <a:ln/>
        </p:spPr>
        <p:txBody>
          <a:bodyPr wrap="square" lIns="0" tIns="0" rIns="0" bIns="0" rtlCol="0" anchor="t"/>
          <a:lstStyle/>
          <a:p>
            <a:pPr algn="ctr" indent="0" marL="0">
              <a:buNone/>
            </a:pPr>
            <a:r>
              <a:rPr lang="en-US" sz="1100" dirty="0">
                <a:solidFill>
                  <a:schemeClr val="accent1"/>
                </a:solidFill>
              </a:rPr>
              <a:t>Student1659932</a:t>
            </a:r>
            <a:endParaRPr lang="en-US" sz="1100" dirty="0"/>
          </a:p>
        </p:txBody>
      </p:sp>
      <p:sp>
        <p:nvSpPr>
          <p:cNvPr id="35" name="a-up-w-tmr3"/>
          <p:cNvSpPr/>
          <p:nvPr/>
        </p:nvSpPr>
        <p:spPr>
          <a:xfrm>
            <a:off x="7516368" y="3749040"/>
            <a:ext cx="1572768" cy="329184"/>
          </a:xfrm>
          <a:prstGeom prst="roundRect">
            <a:avLst>
              <a:gd name="adj" fmla="val 50000"/>
            </a:avLst>
          </a:prstGeom>
          <a:solidFill>
            <a:schemeClr val="bg2"/>
          </a:solidFill>
          <a:ln w="6350">
            <a:solidFill>
              <a:srgbClr val="CBD5E1"/>
            </a:solidFill>
            <a:prstDash val="solid"/>
          </a:ln>
        </p:spPr>
      </p:sp>
      <p:sp>
        <p:nvSpPr>
          <p:cNvPr id="36" name="a-up-w-tmrt3"/>
          <p:cNvSpPr txBox="1"/>
          <p:nvPr/>
        </p:nvSpPr>
        <p:spPr>
          <a:xfrm>
            <a:off x="7516368" y="3749040"/>
            <a:ext cx="1572768" cy="329184"/>
          </a:xfrm>
          <a:prstGeom prst="rect">
            <a:avLst/>
          </a:prstGeom>
          <a:noFill/>
          <a:ln/>
        </p:spPr>
        <p:txBody>
          <a:bodyPr wrap="square" lIns="0" tIns="0" rIns="0" bIns="0" rtlCol="0" anchor="ctr"/>
          <a:lstStyle/>
          <a:p>
            <a:pPr algn="ctr" indent="0" marL="0">
              <a:buNone/>
            </a:pPr>
            <a:r>
              <a:rPr lang="en-US" sz="1150" b="1" dirty="0">
                <a:solidFill>
                  <a:schemeClr val="accent1"/>
                </a:solidFill>
              </a:rPr>
              <a:t>Accounts Staff</a:t>
            </a:r>
            <a:endParaRPr lang="en-US" sz="1150" dirty="0"/>
          </a:p>
        </p:txBody>
      </p:sp>
      <p:sp>
        <p:nvSpPr>
          <p:cNvPr id="37" name="a-up-w-tmf3"/>
          <p:cNvSpPr txBox="1"/>
          <p:nvPr/>
        </p:nvSpPr>
        <p:spPr>
          <a:xfrm>
            <a:off x="7406640" y="4187952"/>
            <a:ext cx="1792224" cy="822960"/>
          </a:xfrm>
          <a:prstGeom prst="rect">
            <a:avLst/>
          </a:prstGeom>
          <a:noFill/>
          <a:ln/>
        </p:spPr>
        <p:txBody>
          <a:bodyPr wrap="square" lIns="0" tIns="0" rIns="0" bIns="0" rtlCol="0" anchor="t"/>
          <a:lstStyle/>
          <a:p>
            <a:pPr algn="ctr" indent="0" marL="0">
              <a:buNone/>
            </a:pPr>
            <a:r>
              <a:rPr lang="en-US" sz="1050" dirty="0">
                <a:solidFill>
                  <a:schemeClr val="accent6"/>
                </a:solidFill>
              </a:rPr>
              <a:t>Billing, payments, overdue control, tracking and search</a:t>
            </a:r>
            <a:endParaRPr lang="en-US" sz="1050" dirty="0"/>
          </a:p>
        </p:txBody>
      </p:sp>
      <p:sp>
        <p:nvSpPr>
          <p:cNvPr id="38" name="a-up-w-tmp3"/>
          <p:cNvSpPr txBox="1"/>
          <p:nvPr/>
        </p:nvSpPr>
        <p:spPr>
          <a:xfrm>
            <a:off x="7406640" y="4983480"/>
            <a:ext cx="1792224" cy="777240"/>
          </a:xfrm>
          <a:prstGeom prst="rect">
            <a:avLst/>
          </a:prstGeom>
          <a:noFill/>
          <a:ln/>
        </p:spPr>
        <p:txBody>
          <a:bodyPr wrap="square" lIns="0" tIns="0" rIns="0" bIns="0" rtlCol="0" anchor="t"/>
          <a:lstStyle/>
          <a:p>
            <a:pPr algn="ctr" indent="0" marL="0">
              <a:buNone/>
            </a:pPr>
            <a:r>
              <a:rPr lang="en-US" sz="1050" b="1" dirty="0">
                <a:solidFill>
                  <a:schemeClr val="accent2"/>
                </a:solidFill>
              </a:rPr>
              <a:t>Slides 10-12: billing, plans and postpaid control</a:t>
            </a:r>
            <a:endParaRPr lang="en-US" sz="1050" dirty="0"/>
          </a:p>
        </p:txBody>
      </p:sp>
      <p:sp>
        <p:nvSpPr>
          <p:cNvPr id="39" name="a-up-tm4"/>
          <p:cNvSpPr/>
          <p:nvPr/>
        </p:nvSpPr>
        <p:spPr>
          <a:xfrm>
            <a:off x="9473184" y="1371600"/>
            <a:ext cx="2121408" cy="4526280"/>
          </a:xfrm>
          <a:prstGeom prst="roundRect">
            <a:avLst>
              <a:gd name="adj" fmla="val 517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40" name="a-up-w-tmc4"/>
          <p:cNvSpPr/>
          <p:nvPr/>
        </p:nvSpPr>
        <p:spPr>
          <a:xfrm>
            <a:off x="10076688" y="1691640"/>
            <a:ext cx="914400" cy="914400"/>
          </a:xfrm>
          <a:prstGeom prst="ellipse">
            <a:avLst/>
          </a:prstGeom>
          <a:solidFill>
            <a:schemeClr val="accent1"/>
          </a:solidFill>
          <a:ln/>
        </p:spPr>
      </p:sp>
      <p:sp>
        <p:nvSpPr>
          <p:cNvPr id="41" name="a-up-w-tmi4"/>
          <p:cNvSpPr txBox="1"/>
          <p:nvPr/>
        </p:nvSpPr>
        <p:spPr>
          <a:xfrm>
            <a:off x="10076688" y="1691640"/>
            <a:ext cx="914400" cy="914400"/>
          </a:xfrm>
          <a:prstGeom prst="rect">
            <a:avLst/>
          </a:prstGeom>
          <a:noFill/>
          <a:ln/>
        </p:spPr>
        <p:txBody>
          <a:bodyPr wrap="square" lIns="0" tIns="0" rIns="0" bIns="0" rtlCol="0" anchor="ctr"/>
          <a:lstStyle/>
          <a:p>
            <a:pPr algn="ctr" indent="0" marL="0">
              <a:buNone/>
            </a:pPr>
            <a:r>
              <a:rPr lang="en-US" sz="2400" b="1" dirty="0">
                <a:solidFill>
                  <a:schemeClr val="bg1"/>
                </a:solidFill>
              </a:rPr>
              <a:t>AT</a:t>
            </a:r>
            <a:endParaRPr lang="en-US" sz="2400" dirty="0"/>
          </a:p>
        </p:txBody>
      </p:sp>
      <p:sp>
        <p:nvSpPr>
          <p:cNvPr id="42" name="a-up-w-tmn4"/>
          <p:cNvSpPr txBox="1"/>
          <p:nvPr/>
        </p:nvSpPr>
        <p:spPr>
          <a:xfrm>
            <a:off x="9564624" y="2743200"/>
            <a:ext cx="1938528" cy="640080"/>
          </a:xfrm>
          <a:prstGeom prst="rect">
            <a:avLst/>
          </a:prstGeom>
          <a:noFill/>
          <a:ln/>
        </p:spPr>
        <p:txBody>
          <a:bodyPr wrap="square" lIns="0" tIns="0" rIns="0" bIns="0" rtlCol="0" anchor="ctr"/>
          <a:lstStyle/>
          <a:p>
            <a:pPr algn="ctr" indent="0" marL="0">
              <a:buNone/>
            </a:pPr>
            <a:r>
              <a:rPr lang="en-US" sz="1500" b="1" dirty="0">
                <a:solidFill>
                  <a:schemeClr val="tx2"/>
                </a:solidFill>
              </a:rPr>
              <a:t>Ali Turab</a:t>
            </a:r>
            <a:endParaRPr lang="en-US" sz="1500" dirty="0"/>
          </a:p>
        </p:txBody>
      </p:sp>
      <p:sp>
        <p:nvSpPr>
          <p:cNvPr id="43" name="a-up-w-tmd4"/>
          <p:cNvSpPr txBox="1"/>
          <p:nvPr/>
        </p:nvSpPr>
        <p:spPr>
          <a:xfrm>
            <a:off x="9610344" y="3429000"/>
            <a:ext cx="1847088" cy="256032"/>
          </a:xfrm>
          <a:prstGeom prst="rect">
            <a:avLst/>
          </a:prstGeom>
          <a:noFill/>
          <a:ln/>
        </p:spPr>
        <p:txBody>
          <a:bodyPr wrap="square" lIns="0" tIns="0" rIns="0" bIns="0" rtlCol="0" anchor="t"/>
          <a:lstStyle/>
          <a:p>
            <a:pPr algn="ctr" indent="0" marL="0">
              <a:buNone/>
            </a:pPr>
            <a:r>
              <a:rPr lang="en-US" sz="1100" dirty="0">
                <a:solidFill>
                  <a:schemeClr val="accent1"/>
                </a:solidFill>
              </a:rPr>
              <a:t>Student1667727</a:t>
            </a:r>
            <a:endParaRPr lang="en-US" sz="1100" dirty="0"/>
          </a:p>
        </p:txBody>
      </p:sp>
      <p:sp>
        <p:nvSpPr>
          <p:cNvPr id="44" name="a-up-w-tmr4"/>
          <p:cNvSpPr/>
          <p:nvPr/>
        </p:nvSpPr>
        <p:spPr>
          <a:xfrm>
            <a:off x="9747504" y="3749040"/>
            <a:ext cx="1572768" cy="329184"/>
          </a:xfrm>
          <a:prstGeom prst="roundRect">
            <a:avLst>
              <a:gd name="adj" fmla="val 50000"/>
            </a:avLst>
          </a:prstGeom>
          <a:solidFill>
            <a:schemeClr val="bg2"/>
          </a:solidFill>
          <a:ln w="6350">
            <a:solidFill>
              <a:srgbClr val="CBD5E1"/>
            </a:solidFill>
            <a:prstDash val="solid"/>
          </a:ln>
        </p:spPr>
      </p:sp>
      <p:sp>
        <p:nvSpPr>
          <p:cNvPr id="45" name="a-up-w-tmrt4"/>
          <p:cNvSpPr txBox="1"/>
          <p:nvPr/>
        </p:nvSpPr>
        <p:spPr>
          <a:xfrm>
            <a:off x="9747504" y="3749040"/>
            <a:ext cx="1572768" cy="329184"/>
          </a:xfrm>
          <a:prstGeom prst="rect">
            <a:avLst/>
          </a:prstGeom>
          <a:noFill/>
          <a:ln/>
        </p:spPr>
        <p:txBody>
          <a:bodyPr wrap="square" lIns="0" tIns="0" rIns="0" bIns="0" rtlCol="0" anchor="ctr"/>
          <a:lstStyle/>
          <a:p>
            <a:pPr algn="ctr" indent="0" marL="0">
              <a:buNone/>
            </a:pPr>
            <a:r>
              <a:rPr lang="en-US" sz="1150" b="1" dirty="0">
                <a:solidFill>
                  <a:schemeClr val="accent1"/>
                </a:solidFill>
              </a:rPr>
              <a:t>Customer</a:t>
            </a:r>
            <a:endParaRPr lang="en-US" sz="1150" dirty="0"/>
          </a:p>
        </p:txBody>
      </p:sp>
      <p:sp>
        <p:nvSpPr>
          <p:cNvPr id="46" name="a-up-w-tmf4"/>
          <p:cNvSpPr txBox="1"/>
          <p:nvPr/>
        </p:nvSpPr>
        <p:spPr>
          <a:xfrm>
            <a:off x="9637776" y="4187952"/>
            <a:ext cx="1792224" cy="822960"/>
          </a:xfrm>
          <a:prstGeom prst="rect">
            <a:avLst/>
          </a:prstGeom>
          <a:noFill/>
          <a:ln/>
        </p:spPr>
        <p:txBody>
          <a:bodyPr wrap="square" lIns="0" tIns="0" rIns="0" bIns="0" rtlCol="0" anchor="t"/>
          <a:lstStyle/>
          <a:p>
            <a:pPr algn="ctr" indent="0" marL="0">
              <a:buNone/>
            </a:pPr>
            <a:r>
              <a:rPr lang="en-US" sz="1050" dirty="0">
                <a:solidFill>
                  <a:schemeClr val="accent6"/>
                </a:solidFill>
              </a:rPr>
              <a:t>Interface design, customer documents, testing and documentation</a:t>
            </a:r>
            <a:endParaRPr lang="en-US" sz="1050" dirty="0"/>
          </a:p>
        </p:txBody>
      </p:sp>
      <p:sp>
        <p:nvSpPr>
          <p:cNvPr id="47" name="a-up-w-tmp4"/>
          <p:cNvSpPr txBox="1"/>
          <p:nvPr/>
        </p:nvSpPr>
        <p:spPr>
          <a:xfrm>
            <a:off x="9637776" y="4983480"/>
            <a:ext cx="1792224" cy="777240"/>
          </a:xfrm>
          <a:prstGeom prst="rect">
            <a:avLst/>
          </a:prstGeom>
          <a:noFill/>
          <a:ln/>
        </p:spPr>
        <p:txBody>
          <a:bodyPr wrap="square" lIns="0" tIns="0" rIns="0" bIns="0" rtlCol="0" anchor="t"/>
          <a:lstStyle/>
          <a:p>
            <a:pPr algn="ctr" indent="0" marL="0">
              <a:buNone/>
            </a:pPr>
            <a:r>
              <a:rPr lang="en-US" sz="1050" b="1" dirty="0">
                <a:solidFill>
                  <a:schemeClr val="accent2"/>
                </a:solidFill>
              </a:rPr>
              <a:t>Slides 13-17: interface, quality and closing</a:t>
            </a:r>
            <a:endParaRPr lang="en-US" sz="1050" dirty="0"/>
          </a:p>
        </p:txBody>
      </p:sp>
      <p:sp>
        <p:nvSpPr>
          <p:cNvPr id="48" name="a-fade-tmfoot"/>
          <p:cNvSpPr txBox="1"/>
          <p:nvPr/>
        </p:nvSpPr>
        <p:spPr>
          <a:xfrm>
            <a:off x="548640" y="5989320"/>
            <a:ext cx="11064240" cy="274320"/>
          </a:xfrm>
          <a:prstGeom prst="rect">
            <a:avLst/>
          </a:prstGeom>
          <a:noFill/>
          <a:ln/>
        </p:spPr>
        <p:txBody>
          <a:bodyPr wrap="square" lIns="0" tIns="0" rIns="0" bIns="0" rtlCol="0" anchor="t"/>
          <a:lstStyle/>
          <a:p>
            <a:pPr algn="ctr" indent="0" marL="0">
              <a:buNone/>
            </a:pPr>
            <a:r>
              <a:rPr lang="en-US" sz="1200" dirty="0">
                <a:solidFill>
                  <a:schemeClr val="accent6"/>
                </a:solidFill>
              </a:rPr>
              <a:t>ADSE  ·  Semester 3  ·  Aptech Center NN2</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38"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42" presetClass="entr" presetSubtype="0"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600"/>
                                        <p:tgtEl>
                                          <p:spTgt spid="3"/>
                                        </p:tgtEl>
                                      </p:cBhvr>
                                    </p:animEffect>
                                    <p:anim calcmode="lin" valueType="num">
                                      <p:cBhvr>
                                        <p:cTn id="9" dur="600" decel="100000" fill="hold"/>
                                        <p:tgtEl>
                                          <p:spTgt spid="3"/>
                                        </p:tgtEl>
                                        <p:attrNameLst>
                                          <p:attrName>ppt_x</p:attrName>
                                        </p:attrNameLst>
                                      </p:cBhvr>
                                      <p:tavLst>
                                        <p:tav tm="0">
                                          <p:val>
                                            <p:strVal val="#ppt_x"/>
                                          </p:val>
                                        </p:tav>
                                        <p:tav tm="100000">
                                          <p:val>
                                            <p:strVal val="#ppt_x"/>
                                          </p:val>
                                        </p:tav>
                                      </p:tavLst>
                                    </p:anim>
                                    <p:anim calcmode="lin" valueType="num">
                                      <p:cBhvr>
                                        <p:cTn id="10" dur="600" decel="100000" fill="hold"/>
                                        <p:tgtEl>
                                          <p:spTgt spid="3"/>
                                        </p:tgtEl>
                                        <p:attrNameLst>
                                          <p:attrName>ppt_y</p:attrName>
                                        </p:attrNameLst>
                                      </p:cBhvr>
                                      <p:tavLst>
                                        <p:tav tm="0">
                                          <p:val>
                                            <p:strVal val="#ppt_y+.08"/>
                                          </p:val>
                                        </p:tav>
                                        <p:tav tm="100000">
                                          <p:val>
                                            <p:strVal val="#ppt_y"/>
                                          </p:val>
                                        </p:tav>
                                      </p:tavLst>
                                    </p:anim>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anim calcmode="lin" valueType="num">
                                      <p:cBhvr>
                                        <p:cTn id="14" dur="600" decel="100000" fill="hold"/>
                                        <p:tgtEl>
                                          <p:spTgt spid="4"/>
                                        </p:tgtEl>
                                        <p:attrNameLst>
                                          <p:attrName>ppt_x</p:attrName>
                                        </p:attrNameLst>
                                      </p:cBhvr>
                                      <p:tavLst>
                                        <p:tav tm="0">
                                          <p:val>
                                            <p:strVal val="#ppt_x"/>
                                          </p:val>
                                        </p:tav>
                                        <p:tav tm="100000">
                                          <p:val>
                                            <p:strVal val="#ppt_x"/>
                                          </p:val>
                                        </p:tav>
                                      </p:tavLst>
                                    </p:anim>
                                    <p:anim calcmode="lin" valueType="num">
                                      <p:cBhvr>
                                        <p:cTn id="15" dur="600" decel="100000" fill="hold"/>
                                        <p:tgtEl>
                                          <p:spTgt spid="4"/>
                                        </p:tgtEl>
                                        <p:attrNameLst>
                                          <p:attrName>ppt_y</p:attrName>
                                        </p:attrNameLst>
                                      </p:cBhvr>
                                      <p:tavLst>
                                        <p:tav tm="0">
                                          <p:val>
                                            <p:strVal val="#ppt_y+.08"/>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
                                          </p:val>
                                        </p:tav>
                                        <p:tav tm="100000">
                                          <p:val>
                                            <p:strVal val="#ppt_x"/>
                                          </p:val>
                                        </p:tav>
                                      </p:tavLst>
                                    </p:anim>
                                    <p:anim calcmode="lin" valueType="num">
                                      <p:cBhvr>
                                        <p:cTn id="20" dur="600" decel="100000" fill="hold"/>
                                        <p:tgtEl>
                                          <p:spTgt spid="5"/>
                                        </p:tgtEl>
                                        <p:attrNameLst>
                                          <p:attrName>ppt_y</p:attrName>
                                        </p:attrNameLst>
                                      </p:cBhvr>
                                      <p:tavLst>
                                        <p:tav tm="0">
                                          <p:val>
                                            <p:strVal val="#ppt_y+.08"/>
                                          </p:val>
                                        </p:tav>
                                        <p:tav tm="100000">
                                          <p:val>
                                            <p:strVal val="#ppt_y"/>
                                          </p:val>
                                        </p:tav>
                                      </p:tavLst>
                                    </p:anim>
                                  </p:childTnLst>
                                </p:cTn>
                              </p:par>
                              <p:par>
                                <p:cTn id="26" presetID="42" presetClass="entr" presetSubtype="0"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
                                          </p:val>
                                        </p:tav>
                                        <p:tav tm="100000">
                                          <p:val>
                                            <p:strVal val="#ppt_x"/>
                                          </p:val>
                                        </p:tav>
                                      </p:tavLst>
                                    </p:anim>
                                    <p:anim calcmode="lin" valueType="num">
                                      <p:cBhvr>
                                        <p:cTn id="25" dur="600" decel="100000" fill="hold"/>
                                        <p:tgtEl>
                                          <p:spTgt spid="6"/>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2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
                                          </p:val>
                                        </p:tav>
                                        <p:tav tm="100000">
                                          <p:val>
                                            <p:strVal val="#ppt_x"/>
                                          </p:val>
                                        </p:tav>
                                      </p:tavLst>
                                    </p:anim>
                                    <p:anim calcmode="lin" valueType="num">
                                      <p:cBhvr>
                                        <p:cTn id="30" dur="600" decel="100000" fill="hold"/>
                                        <p:tgtEl>
                                          <p:spTgt spid="7"/>
                                        </p:tgtEl>
                                        <p:attrNameLst>
                                          <p:attrName>ppt_y</p:attrName>
                                        </p:attrNameLst>
                                      </p:cBhvr>
                                      <p:tavLst>
                                        <p:tav tm="0">
                                          <p:val>
                                            <p:strVal val="#ppt_y+.08"/>
                                          </p:val>
                                        </p:tav>
                                        <p:tav tm="100000">
                                          <p:val>
                                            <p:strVal val="#ppt_y"/>
                                          </p:val>
                                        </p:tav>
                                      </p:tavLst>
                                    </p:anim>
                                  </p:childTnLst>
                                </p:cTn>
                              </p:par>
                              <p:par>
                                <p:cTn id="36" presetID="42" presetClass="entr" presetSubtype="0" fill="hold" grpId="0" nodeType="withEffect">
                                  <p:stCondLst>
                                    <p:cond delay="2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
                                          </p:val>
                                        </p:tav>
                                        <p:tav tm="100000">
                                          <p:val>
                                            <p:strVal val="#ppt_x"/>
                                          </p:val>
                                        </p:tav>
                                      </p:tavLst>
                                    </p:anim>
                                    <p:anim calcmode="lin" valueType="num">
                                      <p:cBhvr>
                                        <p:cTn id="35" dur="600" decel="100000" fill="hold"/>
                                        <p:tgtEl>
                                          <p:spTgt spid="8"/>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2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
                                          </p:val>
                                        </p:tav>
                                        <p:tav tm="100000">
                                          <p:val>
                                            <p:strVal val="#ppt_x"/>
                                          </p:val>
                                        </p:tav>
                                      </p:tavLst>
                                    </p:anim>
                                    <p:anim calcmode="lin" valueType="num">
                                      <p:cBhvr>
                                        <p:cTn id="40" dur="600" decel="100000" fill="hold"/>
                                        <p:tgtEl>
                                          <p:spTgt spid="9"/>
                                        </p:tgtEl>
                                        <p:attrNameLst>
                                          <p:attrName>ppt_y</p:attrName>
                                        </p:attrNameLst>
                                      </p:cBhvr>
                                      <p:tavLst>
                                        <p:tav tm="0">
                                          <p:val>
                                            <p:strVal val="#ppt_y+.08"/>
                                          </p:val>
                                        </p:tav>
                                        <p:tav tm="100000">
                                          <p:val>
                                            <p:strVal val="#ppt_y"/>
                                          </p:val>
                                        </p:tav>
                                      </p:tavLst>
                                    </p:anim>
                                  </p:childTnLst>
                                </p:cTn>
                              </p:par>
                              <p:par>
                                <p:cTn id="46" presetID="42" presetClass="entr" presetSubtype="0" fill="hold" grpId="0" nodeType="withEffect">
                                  <p:stCondLst>
                                    <p:cond delay="2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
                                          </p:val>
                                        </p:tav>
                                        <p:tav tm="100000">
                                          <p:val>
                                            <p:strVal val="#ppt_x"/>
                                          </p:val>
                                        </p:tav>
                                      </p:tavLst>
                                    </p:anim>
                                    <p:anim calcmode="lin" valueType="num">
                                      <p:cBhvr>
                                        <p:cTn id="45" dur="600" decel="100000" fill="hold"/>
                                        <p:tgtEl>
                                          <p:spTgt spid="10"/>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2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
                                          </p:val>
                                        </p:tav>
                                        <p:tav tm="100000">
                                          <p:val>
                                            <p:strVal val="#ppt_x"/>
                                          </p:val>
                                        </p:tav>
                                      </p:tavLst>
                                    </p:anim>
                                    <p:anim calcmode="lin" valueType="num">
                                      <p:cBhvr>
                                        <p:cTn id="50" dur="600" decel="100000" fill="hold"/>
                                        <p:tgtEl>
                                          <p:spTgt spid="11"/>
                                        </p:tgtEl>
                                        <p:attrNameLst>
                                          <p:attrName>ppt_y</p:attrName>
                                        </p:attrNameLst>
                                      </p:cBhvr>
                                      <p:tavLst>
                                        <p:tav tm="0">
                                          <p:val>
                                            <p:strVal val="#ppt_y+.08"/>
                                          </p:val>
                                        </p:tav>
                                        <p:tav tm="100000">
                                          <p:val>
                                            <p:strVal val="#ppt_y"/>
                                          </p:val>
                                        </p:tav>
                                      </p:tavLst>
                                    </p:anim>
                                  </p:childTnLst>
                                </p:cTn>
                              </p:par>
                              <p:par>
                                <p:cTn id="56" presetID="42" presetClass="entr" presetSubtype="0" fill="hold" grpId="0" nodeType="withEffect">
                                  <p:stCondLst>
                                    <p:cond delay="4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
                                          </p:val>
                                        </p:tav>
                                        <p:tav tm="100000">
                                          <p:val>
                                            <p:strVal val="#ppt_x"/>
                                          </p:val>
                                        </p:tav>
                                      </p:tavLst>
                                    </p:anim>
                                    <p:anim calcmode="lin" valueType="num">
                                      <p:cBhvr>
                                        <p:cTn id="55" dur="600" decel="100000" fill="hold"/>
                                        <p:tgtEl>
                                          <p:spTgt spid="12"/>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4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
                                          </p:val>
                                        </p:tav>
                                        <p:tav tm="100000">
                                          <p:val>
                                            <p:strVal val="#ppt_x"/>
                                          </p:val>
                                        </p:tav>
                                      </p:tavLst>
                                    </p:anim>
                                    <p:anim calcmode="lin" valueType="num">
                                      <p:cBhvr>
                                        <p:cTn id="60" dur="600" decel="100000" fill="hold"/>
                                        <p:tgtEl>
                                          <p:spTgt spid="13"/>
                                        </p:tgtEl>
                                        <p:attrNameLst>
                                          <p:attrName>ppt_y</p:attrName>
                                        </p:attrNameLst>
                                      </p:cBhvr>
                                      <p:tavLst>
                                        <p:tav tm="0">
                                          <p:val>
                                            <p:strVal val="#ppt_y+.08"/>
                                          </p:val>
                                        </p:tav>
                                        <p:tav tm="100000">
                                          <p:val>
                                            <p:strVal val="#ppt_y"/>
                                          </p:val>
                                        </p:tav>
                                      </p:tavLst>
                                    </p:anim>
                                  </p:childTnLst>
                                </p:cTn>
                              </p:par>
                              <p:par>
                                <p:cTn id="66" presetID="42" presetClass="entr" presetSubtype="0" fill="hold" grpId="0" nodeType="withEffect">
                                  <p:stCondLst>
                                    <p:cond delay="4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
                                          </p:val>
                                        </p:tav>
                                        <p:tav tm="100000">
                                          <p:val>
                                            <p:strVal val="#ppt_x"/>
                                          </p:val>
                                        </p:tav>
                                      </p:tavLst>
                                    </p:anim>
                                    <p:anim calcmode="lin" valueType="num">
                                      <p:cBhvr>
                                        <p:cTn id="65" dur="600" decel="100000" fill="hold"/>
                                        <p:tgtEl>
                                          <p:spTgt spid="14"/>
                                        </p:tgtEl>
                                        <p:attrNameLst>
                                          <p:attrName>ppt_y</p:attrName>
                                        </p:attrNameLst>
                                      </p:cBhvr>
                                      <p:tavLst>
                                        <p:tav tm="0">
                                          <p:val>
                                            <p:strVal val="#ppt_y+.08"/>
                                          </p:val>
                                        </p:tav>
                                        <p:tav tm="100000">
                                          <p:val>
                                            <p:strVal val="#ppt_y"/>
                                          </p:val>
                                        </p:tav>
                                      </p:tavLst>
                                    </p:anim>
                                  </p:childTnLst>
                                </p:cTn>
                              </p:par>
                              <p:par>
                                <p:cTn id="71" presetID="42" presetClass="entr" presetSubtype="0" fill="hold" grpId="0" nodeType="withEffect">
                                  <p:stCondLst>
                                    <p:cond delay="4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p:cTn id="69" dur="600" decel="100000" fill="hold"/>
                                        <p:tgtEl>
                                          <p:spTgt spid="15"/>
                                        </p:tgtEl>
                                        <p:attrNameLst>
                                          <p:attrName>ppt_x</p:attrName>
                                        </p:attrNameLst>
                                      </p:cBhvr>
                                      <p:tavLst>
                                        <p:tav tm="0">
                                          <p:val>
                                            <p:strVal val="#ppt_x"/>
                                          </p:val>
                                        </p:tav>
                                        <p:tav tm="100000">
                                          <p:val>
                                            <p:strVal val="#ppt_x"/>
                                          </p:val>
                                        </p:tav>
                                      </p:tavLst>
                                    </p:anim>
                                    <p:anim calcmode="lin" valueType="num">
                                      <p:cBhvr>
                                        <p:cTn id="70" dur="600" decel="100000" fill="hold"/>
                                        <p:tgtEl>
                                          <p:spTgt spid="15"/>
                                        </p:tgtEl>
                                        <p:attrNameLst>
                                          <p:attrName>ppt_y</p:attrName>
                                        </p:attrNameLst>
                                      </p:cBhvr>
                                      <p:tavLst>
                                        <p:tav tm="0">
                                          <p:val>
                                            <p:strVal val="#ppt_y+.08"/>
                                          </p:val>
                                        </p:tav>
                                        <p:tav tm="100000">
                                          <p:val>
                                            <p:strVal val="#ppt_y"/>
                                          </p:val>
                                        </p:tav>
                                      </p:tavLst>
                                    </p:anim>
                                  </p:childTnLst>
                                </p:cTn>
                              </p:par>
                              <p:par>
                                <p:cTn id="76" presetID="42" presetClass="entr" presetSubtype="0" fill="hold" grpId="0" nodeType="withEffect">
                                  <p:stCondLst>
                                    <p:cond delay="4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decel="1000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8"/>
                                          </p:val>
                                        </p:tav>
                                        <p:tav tm="100000">
                                          <p:val>
                                            <p:strVal val="#ppt_y"/>
                                          </p:val>
                                        </p:tav>
                                      </p:tavLst>
                                    </p:anim>
                                  </p:childTnLst>
                                </p:cTn>
                              </p:par>
                              <p:par>
                                <p:cTn id="81" presetID="42" presetClass="entr" presetSubtype="0" fill="hold" grpId="0" nodeType="withEffect">
                                  <p:stCondLst>
                                    <p:cond delay="4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600"/>
                                        <p:tgtEl>
                                          <p:spTgt spid="17"/>
                                        </p:tgtEl>
                                      </p:cBhvr>
                                    </p:animEffect>
                                    <p:anim calcmode="lin" valueType="num">
                                      <p:cBhvr>
                                        <p:cTn id="79" dur="600" decel="100000" fill="hold"/>
                                        <p:tgtEl>
                                          <p:spTgt spid="17"/>
                                        </p:tgtEl>
                                        <p:attrNameLst>
                                          <p:attrName>ppt_x</p:attrName>
                                        </p:attrNameLst>
                                      </p:cBhvr>
                                      <p:tavLst>
                                        <p:tav tm="0">
                                          <p:val>
                                            <p:strVal val="#ppt_x"/>
                                          </p:val>
                                        </p:tav>
                                        <p:tav tm="100000">
                                          <p:val>
                                            <p:strVal val="#ppt_x"/>
                                          </p:val>
                                        </p:tav>
                                      </p:tavLst>
                                    </p:anim>
                                    <p:anim calcmode="lin" valueType="num">
                                      <p:cBhvr>
                                        <p:cTn id="80" dur="600" decel="100000" fill="hold"/>
                                        <p:tgtEl>
                                          <p:spTgt spid="17"/>
                                        </p:tgtEl>
                                        <p:attrNameLst>
                                          <p:attrName>ppt_y</p:attrName>
                                        </p:attrNameLst>
                                      </p:cBhvr>
                                      <p:tavLst>
                                        <p:tav tm="0">
                                          <p:val>
                                            <p:strVal val="#ppt_y+.08"/>
                                          </p:val>
                                        </p:tav>
                                        <p:tav tm="100000">
                                          <p:val>
                                            <p:strVal val="#ppt_y"/>
                                          </p:val>
                                        </p:tav>
                                      </p:tavLst>
                                    </p:anim>
                                  </p:childTnLst>
                                </p:cTn>
                              </p:par>
                              <p:par>
                                <p:cTn id="86" presetID="42" presetClass="entr" presetSubtype="0" fill="hold" grpId="0" nodeType="withEffect">
                                  <p:stCondLst>
                                    <p:cond delay="4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600"/>
                                        <p:tgtEl>
                                          <p:spTgt spid="18"/>
                                        </p:tgtEl>
                                      </p:cBhvr>
                                    </p:animEffect>
                                    <p:anim calcmode="lin" valueType="num">
                                      <p:cBhvr>
                                        <p:cTn id="84" dur="600" decel="100000" fill="hold"/>
                                        <p:tgtEl>
                                          <p:spTgt spid="18"/>
                                        </p:tgtEl>
                                        <p:attrNameLst>
                                          <p:attrName>ppt_x</p:attrName>
                                        </p:attrNameLst>
                                      </p:cBhvr>
                                      <p:tavLst>
                                        <p:tav tm="0">
                                          <p:val>
                                            <p:strVal val="#ppt_x"/>
                                          </p:val>
                                        </p:tav>
                                        <p:tav tm="100000">
                                          <p:val>
                                            <p:strVal val="#ppt_x"/>
                                          </p:val>
                                        </p:tav>
                                      </p:tavLst>
                                    </p:anim>
                                    <p:anim calcmode="lin" valueType="num">
                                      <p:cBhvr>
                                        <p:cTn id="85" dur="600" decel="100000" fill="hold"/>
                                        <p:tgtEl>
                                          <p:spTgt spid="18"/>
                                        </p:tgtEl>
                                        <p:attrNameLst>
                                          <p:attrName>ppt_y</p:attrName>
                                        </p:attrNameLst>
                                      </p:cBhvr>
                                      <p:tavLst>
                                        <p:tav tm="0">
                                          <p:val>
                                            <p:strVal val="#ppt_y+.08"/>
                                          </p:val>
                                        </p:tav>
                                        <p:tav tm="100000">
                                          <p:val>
                                            <p:strVal val="#ppt_y"/>
                                          </p:val>
                                        </p:tav>
                                      </p:tavLst>
                                    </p:anim>
                                  </p:childTnLst>
                                </p:cTn>
                              </p:par>
                              <p:par>
                                <p:cTn id="91" presetID="42" presetClass="entr" presetSubtype="0" fill="hold" grpId="0" nodeType="withEffect">
                                  <p:stCondLst>
                                    <p:cond delay="4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600"/>
                                        <p:tgtEl>
                                          <p:spTgt spid="19"/>
                                        </p:tgtEl>
                                      </p:cBhvr>
                                    </p:animEffect>
                                    <p:anim calcmode="lin" valueType="num">
                                      <p:cBhvr>
                                        <p:cTn id="89" dur="600" decel="100000" fill="hold"/>
                                        <p:tgtEl>
                                          <p:spTgt spid="19"/>
                                        </p:tgtEl>
                                        <p:attrNameLst>
                                          <p:attrName>ppt_x</p:attrName>
                                        </p:attrNameLst>
                                      </p:cBhvr>
                                      <p:tavLst>
                                        <p:tav tm="0">
                                          <p:val>
                                            <p:strVal val="#ppt_x"/>
                                          </p:val>
                                        </p:tav>
                                        <p:tav tm="100000">
                                          <p:val>
                                            <p:strVal val="#ppt_x"/>
                                          </p:val>
                                        </p:tav>
                                      </p:tavLst>
                                    </p:anim>
                                    <p:anim calcmode="lin" valueType="num">
                                      <p:cBhvr>
                                        <p:cTn id="90" dur="600" decel="100000" fill="hold"/>
                                        <p:tgtEl>
                                          <p:spTgt spid="19"/>
                                        </p:tgtEl>
                                        <p:attrNameLst>
                                          <p:attrName>ppt_y</p:attrName>
                                        </p:attrNameLst>
                                      </p:cBhvr>
                                      <p:tavLst>
                                        <p:tav tm="0">
                                          <p:val>
                                            <p:strVal val="#ppt_y+.08"/>
                                          </p:val>
                                        </p:tav>
                                        <p:tav tm="100000">
                                          <p:val>
                                            <p:strVal val="#ppt_y"/>
                                          </p:val>
                                        </p:tav>
                                      </p:tavLst>
                                    </p:anim>
                                  </p:childTnLst>
                                </p:cTn>
                              </p:par>
                              <p:par>
                                <p:cTn id="96" presetID="42" presetClass="entr" presetSubtype="0" fill="hold" grpId="0" nodeType="withEffect">
                                  <p:stCondLst>
                                    <p:cond delay="4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600"/>
                                        <p:tgtEl>
                                          <p:spTgt spid="20"/>
                                        </p:tgtEl>
                                      </p:cBhvr>
                                    </p:animEffect>
                                    <p:anim calcmode="lin" valueType="num">
                                      <p:cBhvr>
                                        <p:cTn id="94" dur="600" decel="100000" fill="hold"/>
                                        <p:tgtEl>
                                          <p:spTgt spid="20"/>
                                        </p:tgtEl>
                                        <p:attrNameLst>
                                          <p:attrName>ppt_x</p:attrName>
                                        </p:attrNameLst>
                                      </p:cBhvr>
                                      <p:tavLst>
                                        <p:tav tm="0">
                                          <p:val>
                                            <p:strVal val="#ppt_x"/>
                                          </p:val>
                                        </p:tav>
                                        <p:tav tm="100000">
                                          <p:val>
                                            <p:strVal val="#ppt_x"/>
                                          </p:val>
                                        </p:tav>
                                      </p:tavLst>
                                    </p:anim>
                                    <p:anim calcmode="lin" valueType="num">
                                      <p:cBhvr>
                                        <p:cTn id="95" dur="600" decel="100000" fill="hold"/>
                                        <p:tgtEl>
                                          <p:spTgt spid="20"/>
                                        </p:tgtEl>
                                        <p:attrNameLst>
                                          <p:attrName>ppt_y</p:attrName>
                                        </p:attrNameLst>
                                      </p:cBhvr>
                                      <p:tavLst>
                                        <p:tav tm="0">
                                          <p:val>
                                            <p:strVal val="#ppt_y+.08"/>
                                          </p:val>
                                        </p:tav>
                                        <p:tav tm="100000">
                                          <p:val>
                                            <p:strVal val="#ppt_y"/>
                                          </p:val>
                                        </p:tav>
                                      </p:tavLst>
                                    </p:anim>
                                  </p:childTnLst>
                                </p:cTn>
                              </p:par>
                              <p:par>
                                <p:cTn id="101" presetID="42" presetClass="entr" presetSubtype="0" fill="hold" grpId="0" nodeType="withEffect">
                                  <p:stCondLst>
                                    <p:cond delay="6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600"/>
                                        <p:tgtEl>
                                          <p:spTgt spid="21"/>
                                        </p:tgtEl>
                                      </p:cBhvr>
                                    </p:animEffect>
                                    <p:anim calcmode="lin" valueType="num">
                                      <p:cBhvr>
                                        <p:cTn id="99" dur="600" decel="100000" fill="hold"/>
                                        <p:tgtEl>
                                          <p:spTgt spid="21"/>
                                        </p:tgtEl>
                                        <p:attrNameLst>
                                          <p:attrName>ppt_x</p:attrName>
                                        </p:attrNameLst>
                                      </p:cBhvr>
                                      <p:tavLst>
                                        <p:tav tm="0">
                                          <p:val>
                                            <p:strVal val="#ppt_x"/>
                                          </p:val>
                                        </p:tav>
                                        <p:tav tm="100000">
                                          <p:val>
                                            <p:strVal val="#ppt_x"/>
                                          </p:val>
                                        </p:tav>
                                      </p:tavLst>
                                    </p:anim>
                                    <p:anim calcmode="lin" valueType="num">
                                      <p:cBhvr>
                                        <p:cTn id="100" dur="600" decel="100000" fill="hold"/>
                                        <p:tgtEl>
                                          <p:spTgt spid="21"/>
                                        </p:tgtEl>
                                        <p:attrNameLst>
                                          <p:attrName>ppt_y</p:attrName>
                                        </p:attrNameLst>
                                      </p:cBhvr>
                                      <p:tavLst>
                                        <p:tav tm="0">
                                          <p:val>
                                            <p:strVal val="#ppt_y+.08"/>
                                          </p:val>
                                        </p:tav>
                                        <p:tav tm="100000">
                                          <p:val>
                                            <p:strVal val="#ppt_y"/>
                                          </p:val>
                                        </p:tav>
                                      </p:tavLst>
                                    </p:anim>
                                  </p:childTnLst>
                                </p:cTn>
                              </p:par>
                              <p:par>
                                <p:cTn id="106" presetID="42" presetClass="entr" presetSubtype="0" fill="hold" grpId="0" nodeType="withEffect">
                                  <p:stCondLst>
                                    <p:cond delay="6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600"/>
                                        <p:tgtEl>
                                          <p:spTgt spid="22"/>
                                        </p:tgtEl>
                                      </p:cBhvr>
                                    </p:animEffect>
                                    <p:anim calcmode="lin" valueType="num">
                                      <p:cBhvr>
                                        <p:cTn id="104" dur="600" decel="100000" fill="hold"/>
                                        <p:tgtEl>
                                          <p:spTgt spid="22"/>
                                        </p:tgtEl>
                                        <p:attrNameLst>
                                          <p:attrName>ppt_x</p:attrName>
                                        </p:attrNameLst>
                                      </p:cBhvr>
                                      <p:tavLst>
                                        <p:tav tm="0">
                                          <p:val>
                                            <p:strVal val="#ppt_x"/>
                                          </p:val>
                                        </p:tav>
                                        <p:tav tm="100000">
                                          <p:val>
                                            <p:strVal val="#ppt_x"/>
                                          </p:val>
                                        </p:tav>
                                      </p:tavLst>
                                    </p:anim>
                                    <p:anim calcmode="lin" valueType="num">
                                      <p:cBhvr>
                                        <p:cTn id="105" dur="600" decel="100000" fill="hold"/>
                                        <p:tgtEl>
                                          <p:spTgt spid="22"/>
                                        </p:tgtEl>
                                        <p:attrNameLst>
                                          <p:attrName>ppt_y</p:attrName>
                                        </p:attrNameLst>
                                      </p:cBhvr>
                                      <p:tavLst>
                                        <p:tav tm="0">
                                          <p:val>
                                            <p:strVal val="#ppt_y+.08"/>
                                          </p:val>
                                        </p:tav>
                                        <p:tav tm="100000">
                                          <p:val>
                                            <p:strVal val="#ppt_y"/>
                                          </p:val>
                                        </p:tav>
                                      </p:tavLst>
                                    </p:anim>
                                  </p:childTnLst>
                                </p:cTn>
                              </p:par>
                              <p:par>
                                <p:cTn id="111" presetID="42" presetClass="entr" presetSubtype="0" fill="hold" grpId="0" nodeType="withEffect">
                                  <p:stCondLst>
                                    <p:cond delay="6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600"/>
                                        <p:tgtEl>
                                          <p:spTgt spid="23"/>
                                        </p:tgtEl>
                                      </p:cBhvr>
                                    </p:animEffect>
                                    <p:anim calcmode="lin" valueType="num">
                                      <p:cBhvr>
                                        <p:cTn id="109" dur="600" decel="100000" fill="hold"/>
                                        <p:tgtEl>
                                          <p:spTgt spid="23"/>
                                        </p:tgtEl>
                                        <p:attrNameLst>
                                          <p:attrName>ppt_x</p:attrName>
                                        </p:attrNameLst>
                                      </p:cBhvr>
                                      <p:tavLst>
                                        <p:tav tm="0">
                                          <p:val>
                                            <p:strVal val="#ppt_x"/>
                                          </p:val>
                                        </p:tav>
                                        <p:tav tm="100000">
                                          <p:val>
                                            <p:strVal val="#ppt_x"/>
                                          </p:val>
                                        </p:tav>
                                      </p:tavLst>
                                    </p:anim>
                                    <p:anim calcmode="lin" valueType="num">
                                      <p:cBhvr>
                                        <p:cTn id="110" dur="600" decel="100000" fill="hold"/>
                                        <p:tgtEl>
                                          <p:spTgt spid="23"/>
                                        </p:tgtEl>
                                        <p:attrNameLst>
                                          <p:attrName>ppt_y</p:attrName>
                                        </p:attrNameLst>
                                      </p:cBhvr>
                                      <p:tavLst>
                                        <p:tav tm="0">
                                          <p:val>
                                            <p:strVal val="#ppt_y+.08"/>
                                          </p:val>
                                        </p:tav>
                                        <p:tav tm="100000">
                                          <p:val>
                                            <p:strVal val="#ppt_y"/>
                                          </p:val>
                                        </p:tav>
                                      </p:tavLst>
                                    </p:anim>
                                  </p:childTnLst>
                                </p:cTn>
                              </p:par>
                              <p:par>
                                <p:cTn id="116" presetID="42" presetClass="entr" presetSubtype="0" fill="hold" grpId="0" nodeType="withEffect">
                                  <p:stCondLst>
                                    <p:cond delay="6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600"/>
                                        <p:tgtEl>
                                          <p:spTgt spid="24"/>
                                        </p:tgtEl>
                                      </p:cBhvr>
                                    </p:animEffect>
                                    <p:anim calcmode="lin" valueType="num">
                                      <p:cBhvr>
                                        <p:cTn id="114" dur="600" decel="100000" fill="hold"/>
                                        <p:tgtEl>
                                          <p:spTgt spid="24"/>
                                        </p:tgtEl>
                                        <p:attrNameLst>
                                          <p:attrName>ppt_x</p:attrName>
                                        </p:attrNameLst>
                                      </p:cBhvr>
                                      <p:tavLst>
                                        <p:tav tm="0">
                                          <p:val>
                                            <p:strVal val="#ppt_x"/>
                                          </p:val>
                                        </p:tav>
                                        <p:tav tm="100000">
                                          <p:val>
                                            <p:strVal val="#ppt_x"/>
                                          </p:val>
                                        </p:tav>
                                      </p:tavLst>
                                    </p:anim>
                                    <p:anim calcmode="lin" valueType="num">
                                      <p:cBhvr>
                                        <p:cTn id="115" dur="600" decel="100000" fill="hold"/>
                                        <p:tgtEl>
                                          <p:spTgt spid="24"/>
                                        </p:tgtEl>
                                        <p:attrNameLst>
                                          <p:attrName>ppt_y</p:attrName>
                                        </p:attrNameLst>
                                      </p:cBhvr>
                                      <p:tavLst>
                                        <p:tav tm="0">
                                          <p:val>
                                            <p:strVal val="#ppt_y+.08"/>
                                          </p:val>
                                        </p:tav>
                                        <p:tav tm="100000">
                                          <p:val>
                                            <p:strVal val="#ppt_y"/>
                                          </p:val>
                                        </p:tav>
                                      </p:tavLst>
                                    </p:anim>
                                  </p:childTnLst>
                                </p:cTn>
                              </p:par>
                              <p:par>
                                <p:cTn id="121" presetID="42" presetClass="entr" presetSubtype="0" fill="hold" grpId="0" nodeType="withEffect">
                                  <p:stCondLst>
                                    <p:cond delay="6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600"/>
                                        <p:tgtEl>
                                          <p:spTgt spid="25"/>
                                        </p:tgtEl>
                                      </p:cBhvr>
                                    </p:animEffect>
                                    <p:anim calcmode="lin" valueType="num">
                                      <p:cBhvr>
                                        <p:cTn id="119" dur="600" decel="100000" fill="hold"/>
                                        <p:tgtEl>
                                          <p:spTgt spid="25"/>
                                        </p:tgtEl>
                                        <p:attrNameLst>
                                          <p:attrName>ppt_x</p:attrName>
                                        </p:attrNameLst>
                                      </p:cBhvr>
                                      <p:tavLst>
                                        <p:tav tm="0">
                                          <p:val>
                                            <p:strVal val="#ppt_x"/>
                                          </p:val>
                                        </p:tav>
                                        <p:tav tm="100000">
                                          <p:val>
                                            <p:strVal val="#ppt_x"/>
                                          </p:val>
                                        </p:tav>
                                      </p:tavLst>
                                    </p:anim>
                                    <p:anim calcmode="lin" valueType="num">
                                      <p:cBhvr>
                                        <p:cTn id="120" dur="600" decel="100000" fill="hold"/>
                                        <p:tgtEl>
                                          <p:spTgt spid="25"/>
                                        </p:tgtEl>
                                        <p:attrNameLst>
                                          <p:attrName>ppt_y</p:attrName>
                                        </p:attrNameLst>
                                      </p:cBhvr>
                                      <p:tavLst>
                                        <p:tav tm="0">
                                          <p:val>
                                            <p:strVal val="#ppt_y+.08"/>
                                          </p:val>
                                        </p:tav>
                                        <p:tav tm="100000">
                                          <p:val>
                                            <p:strVal val="#ppt_y"/>
                                          </p:val>
                                        </p:tav>
                                      </p:tavLst>
                                    </p:anim>
                                  </p:childTnLst>
                                </p:cTn>
                              </p:par>
                              <p:par>
                                <p:cTn id="126" presetID="42" presetClass="entr" presetSubtype="0" fill="hold" grpId="0" nodeType="withEffect">
                                  <p:stCondLst>
                                    <p:cond delay="6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600"/>
                                        <p:tgtEl>
                                          <p:spTgt spid="26"/>
                                        </p:tgtEl>
                                      </p:cBhvr>
                                    </p:animEffect>
                                    <p:anim calcmode="lin" valueType="num">
                                      <p:cBhvr>
                                        <p:cTn id="124" dur="600" decel="100000" fill="hold"/>
                                        <p:tgtEl>
                                          <p:spTgt spid="26"/>
                                        </p:tgtEl>
                                        <p:attrNameLst>
                                          <p:attrName>ppt_x</p:attrName>
                                        </p:attrNameLst>
                                      </p:cBhvr>
                                      <p:tavLst>
                                        <p:tav tm="0">
                                          <p:val>
                                            <p:strVal val="#ppt_x"/>
                                          </p:val>
                                        </p:tav>
                                        <p:tav tm="100000">
                                          <p:val>
                                            <p:strVal val="#ppt_x"/>
                                          </p:val>
                                        </p:tav>
                                      </p:tavLst>
                                    </p:anim>
                                    <p:anim calcmode="lin" valueType="num">
                                      <p:cBhvr>
                                        <p:cTn id="125" dur="600" decel="100000" fill="hold"/>
                                        <p:tgtEl>
                                          <p:spTgt spid="26"/>
                                        </p:tgtEl>
                                        <p:attrNameLst>
                                          <p:attrName>ppt_y</p:attrName>
                                        </p:attrNameLst>
                                      </p:cBhvr>
                                      <p:tavLst>
                                        <p:tav tm="0">
                                          <p:val>
                                            <p:strVal val="#ppt_y+.08"/>
                                          </p:val>
                                        </p:tav>
                                        <p:tav tm="100000">
                                          <p:val>
                                            <p:strVal val="#ppt_y"/>
                                          </p:val>
                                        </p:tav>
                                      </p:tavLst>
                                    </p:anim>
                                  </p:childTnLst>
                                </p:cTn>
                              </p:par>
                              <p:par>
                                <p:cTn id="131" presetID="42" presetClass="entr" presetSubtype="0" fill="hold" grpId="0" nodeType="withEffect">
                                  <p:stCondLst>
                                    <p:cond delay="6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600"/>
                                        <p:tgtEl>
                                          <p:spTgt spid="27"/>
                                        </p:tgtEl>
                                      </p:cBhvr>
                                    </p:animEffect>
                                    <p:anim calcmode="lin" valueType="num">
                                      <p:cBhvr>
                                        <p:cTn id="129" dur="600" decel="100000" fill="hold"/>
                                        <p:tgtEl>
                                          <p:spTgt spid="27"/>
                                        </p:tgtEl>
                                        <p:attrNameLst>
                                          <p:attrName>ppt_x</p:attrName>
                                        </p:attrNameLst>
                                      </p:cBhvr>
                                      <p:tavLst>
                                        <p:tav tm="0">
                                          <p:val>
                                            <p:strVal val="#ppt_x"/>
                                          </p:val>
                                        </p:tav>
                                        <p:tav tm="100000">
                                          <p:val>
                                            <p:strVal val="#ppt_x"/>
                                          </p:val>
                                        </p:tav>
                                      </p:tavLst>
                                    </p:anim>
                                    <p:anim calcmode="lin" valueType="num">
                                      <p:cBhvr>
                                        <p:cTn id="130" dur="600" decel="100000" fill="hold"/>
                                        <p:tgtEl>
                                          <p:spTgt spid="27"/>
                                        </p:tgtEl>
                                        <p:attrNameLst>
                                          <p:attrName>ppt_y</p:attrName>
                                        </p:attrNameLst>
                                      </p:cBhvr>
                                      <p:tavLst>
                                        <p:tav tm="0">
                                          <p:val>
                                            <p:strVal val="#ppt_y+.08"/>
                                          </p:val>
                                        </p:tav>
                                        <p:tav tm="100000">
                                          <p:val>
                                            <p:strVal val="#ppt_y"/>
                                          </p:val>
                                        </p:tav>
                                      </p:tavLst>
                                    </p:anim>
                                  </p:childTnLst>
                                </p:cTn>
                              </p:par>
                              <p:par>
                                <p:cTn id="136" presetID="42" presetClass="entr" presetSubtype="0" fill="hold" grpId="0" nodeType="withEffect">
                                  <p:stCondLst>
                                    <p:cond delay="6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600"/>
                                        <p:tgtEl>
                                          <p:spTgt spid="28"/>
                                        </p:tgtEl>
                                      </p:cBhvr>
                                    </p:animEffect>
                                    <p:anim calcmode="lin" valueType="num">
                                      <p:cBhvr>
                                        <p:cTn id="134" dur="600" decel="100000" fill="hold"/>
                                        <p:tgtEl>
                                          <p:spTgt spid="28"/>
                                        </p:tgtEl>
                                        <p:attrNameLst>
                                          <p:attrName>ppt_x</p:attrName>
                                        </p:attrNameLst>
                                      </p:cBhvr>
                                      <p:tavLst>
                                        <p:tav tm="0">
                                          <p:val>
                                            <p:strVal val="#ppt_x"/>
                                          </p:val>
                                        </p:tav>
                                        <p:tav tm="100000">
                                          <p:val>
                                            <p:strVal val="#ppt_x"/>
                                          </p:val>
                                        </p:tav>
                                      </p:tavLst>
                                    </p:anim>
                                    <p:anim calcmode="lin" valueType="num">
                                      <p:cBhvr>
                                        <p:cTn id="135" dur="600" decel="100000" fill="hold"/>
                                        <p:tgtEl>
                                          <p:spTgt spid="28"/>
                                        </p:tgtEl>
                                        <p:attrNameLst>
                                          <p:attrName>ppt_y</p:attrName>
                                        </p:attrNameLst>
                                      </p:cBhvr>
                                      <p:tavLst>
                                        <p:tav tm="0">
                                          <p:val>
                                            <p:strVal val="#ppt_y+.08"/>
                                          </p:val>
                                        </p:tav>
                                        <p:tav tm="100000">
                                          <p:val>
                                            <p:strVal val="#ppt_y"/>
                                          </p:val>
                                        </p:tav>
                                      </p:tavLst>
                                    </p:anim>
                                  </p:childTnLst>
                                </p:cTn>
                              </p:par>
                              <p:par>
                                <p:cTn id="141" presetID="42" presetClass="entr" presetSubtype="0" fill="hold" grpId="0" nodeType="withEffect">
                                  <p:stCondLst>
                                    <p:cond delay="6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600"/>
                                        <p:tgtEl>
                                          <p:spTgt spid="29"/>
                                        </p:tgtEl>
                                      </p:cBhvr>
                                    </p:animEffect>
                                    <p:anim calcmode="lin" valueType="num">
                                      <p:cBhvr>
                                        <p:cTn id="139" dur="600" decel="100000" fill="hold"/>
                                        <p:tgtEl>
                                          <p:spTgt spid="29"/>
                                        </p:tgtEl>
                                        <p:attrNameLst>
                                          <p:attrName>ppt_x</p:attrName>
                                        </p:attrNameLst>
                                      </p:cBhvr>
                                      <p:tavLst>
                                        <p:tav tm="0">
                                          <p:val>
                                            <p:strVal val="#ppt_x"/>
                                          </p:val>
                                        </p:tav>
                                        <p:tav tm="100000">
                                          <p:val>
                                            <p:strVal val="#ppt_x"/>
                                          </p:val>
                                        </p:tav>
                                      </p:tavLst>
                                    </p:anim>
                                    <p:anim calcmode="lin" valueType="num">
                                      <p:cBhvr>
                                        <p:cTn id="140" dur="600" decel="100000" fill="hold"/>
                                        <p:tgtEl>
                                          <p:spTgt spid="29"/>
                                        </p:tgtEl>
                                        <p:attrNameLst>
                                          <p:attrName>ppt_y</p:attrName>
                                        </p:attrNameLst>
                                      </p:cBhvr>
                                      <p:tavLst>
                                        <p:tav tm="0">
                                          <p:val>
                                            <p:strVal val="#ppt_y+.08"/>
                                          </p:val>
                                        </p:tav>
                                        <p:tav tm="100000">
                                          <p:val>
                                            <p:strVal val="#ppt_y"/>
                                          </p:val>
                                        </p:tav>
                                      </p:tavLst>
                                    </p:anim>
                                  </p:childTnLst>
                                </p:cTn>
                              </p:par>
                              <p:par>
                                <p:cTn id="146" presetID="42" presetClass="entr" presetSubtype="0" fill="hold" grpId="0" nodeType="withEffect">
                                  <p:stCondLst>
                                    <p:cond delay="8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600"/>
                                        <p:tgtEl>
                                          <p:spTgt spid="30"/>
                                        </p:tgtEl>
                                      </p:cBhvr>
                                    </p:animEffect>
                                    <p:anim calcmode="lin" valueType="num">
                                      <p:cBhvr>
                                        <p:cTn id="144" dur="600" decel="100000" fill="hold"/>
                                        <p:tgtEl>
                                          <p:spTgt spid="30"/>
                                        </p:tgtEl>
                                        <p:attrNameLst>
                                          <p:attrName>ppt_x</p:attrName>
                                        </p:attrNameLst>
                                      </p:cBhvr>
                                      <p:tavLst>
                                        <p:tav tm="0">
                                          <p:val>
                                            <p:strVal val="#ppt_x"/>
                                          </p:val>
                                        </p:tav>
                                        <p:tav tm="100000">
                                          <p:val>
                                            <p:strVal val="#ppt_x"/>
                                          </p:val>
                                        </p:tav>
                                      </p:tavLst>
                                    </p:anim>
                                    <p:anim calcmode="lin" valueType="num">
                                      <p:cBhvr>
                                        <p:cTn id="145" dur="600" decel="100000" fill="hold"/>
                                        <p:tgtEl>
                                          <p:spTgt spid="30"/>
                                        </p:tgtEl>
                                        <p:attrNameLst>
                                          <p:attrName>ppt_y</p:attrName>
                                        </p:attrNameLst>
                                      </p:cBhvr>
                                      <p:tavLst>
                                        <p:tav tm="0">
                                          <p:val>
                                            <p:strVal val="#ppt_y+.08"/>
                                          </p:val>
                                        </p:tav>
                                        <p:tav tm="100000">
                                          <p:val>
                                            <p:strVal val="#ppt_y"/>
                                          </p:val>
                                        </p:tav>
                                      </p:tavLst>
                                    </p:anim>
                                  </p:childTnLst>
                                </p:cTn>
                              </p:par>
                              <p:par>
                                <p:cTn id="151" presetID="42" presetClass="entr" presetSubtype="0" fill="hold" grpId="0" nodeType="withEffect">
                                  <p:stCondLst>
                                    <p:cond delay="8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600"/>
                                        <p:tgtEl>
                                          <p:spTgt spid="31"/>
                                        </p:tgtEl>
                                      </p:cBhvr>
                                    </p:animEffect>
                                    <p:anim calcmode="lin" valueType="num">
                                      <p:cBhvr>
                                        <p:cTn id="149" dur="600" decel="100000" fill="hold"/>
                                        <p:tgtEl>
                                          <p:spTgt spid="31"/>
                                        </p:tgtEl>
                                        <p:attrNameLst>
                                          <p:attrName>ppt_x</p:attrName>
                                        </p:attrNameLst>
                                      </p:cBhvr>
                                      <p:tavLst>
                                        <p:tav tm="0">
                                          <p:val>
                                            <p:strVal val="#ppt_x"/>
                                          </p:val>
                                        </p:tav>
                                        <p:tav tm="100000">
                                          <p:val>
                                            <p:strVal val="#ppt_x"/>
                                          </p:val>
                                        </p:tav>
                                      </p:tavLst>
                                    </p:anim>
                                    <p:anim calcmode="lin" valueType="num">
                                      <p:cBhvr>
                                        <p:cTn id="150" dur="600" decel="100000" fill="hold"/>
                                        <p:tgtEl>
                                          <p:spTgt spid="31"/>
                                        </p:tgtEl>
                                        <p:attrNameLst>
                                          <p:attrName>ppt_y</p:attrName>
                                        </p:attrNameLst>
                                      </p:cBhvr>
                                      <p:tavLst>
                                        <p:tav tm="0">
                                          <p:val>
                                            <p:strVal val="#ppt_y+.08"/>
                                          </p:val>
                                        </p:tav>
                                        <p:tav tm="100000">
                                          <p:val>
                                            <p:strVal val="#ppt_y"/>
                                          </p:val>
                                        </p:tav>
                                      </p:tavLst>
                                    </p:anim>
                                  </p:childTnLst>
                                </p:cTn>
                              </p:par>
                              <p:par>
                                <p:cTn id="156" presetID="42" presetClass="entr" presetSubtype="0" fill="hold" grpId="0" nodeType="withEffect">
                                  <p:stCondLst>
                                    <p:cond delay="8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600"/>
                                        <p:tgtEl>
                                          <p:spTgt spid="32"/>
                                        </p:tgtEl>
                                      </p:cBhvr>
                                    </p:animEffect>
                                    <p:anim calcmode="lin" valueType="num">
                                      <p:cBhvr>
                                        <p:cTn id="154" dur="600" decel="100000" fill="hold"/>
                                        <p:tgtEl>
                                          <p:spTgt spid="32"/>
                                        </p:tgtEl>
                                        <p:attrNameLst>
                                          <p:attrName>ppt_x</p:attrName>
                                        </p:attrNameLst>
                                      </p:cBhvr>
                                      <p:tavLst>
                                        <p:tav tm="0">
                                          <p:val>
                                            <p:strVal val="#ppt_x"/>
                                          </p:val>
                                        </p:tav>
                                        <p:tav tm="100000">
                                          <p:val>
                                            <p:strVal val="#ppt_x"/>
                                          </p:val>
                                        </p:tav>
                                      </p:tavLst>
                                    </p:anim>
                                    <p:anim calcmode="lin" valueType="num">
                                      <p:cBhvr>
                                        <p:cTn id="155" dur="600" decel="100000" fill="hold"/>
                                        <p:tgtEl>
                                          <p:spTgt spid="32"/>
                                        </p:tgtEl>
                                        <p:attrNameLst>
                                          <p:attrName>ppt_y</p:attrName>
                                        </p:attrNameLst>
                                      </p:cBhvr>
                                      <p:tavLst>
                                        <p:tav tm="0">
                                          <p:val>
                                            <p:strVal val="#ppt_y+.08"/>
                                          </p:val>
                                        </p:tav>
                                        <p:tav tm="100000">
                                          <p:val>
                                            <p:strVal val="#ppt_y"/>
                                          </p:val>
                                        </p:tav>
                                      </p:tavLst>
                                    </p:anim>
                                  </p:childTnLst>
                                </p:cTn>
                              </p:par>
                              <p:par>
                                <p:cTn id="161" presetID="42" presetClass="entr" presetSubtype="0" fill="hold" grpId="0" nodeType="withEffect">
                                  <p:stCondLst>
                                    <p:cond delay="800"/>
                                  </p:stCondLst>
                                  <p:childTnLst>
                                    <p:set>
                                      <p:cBhvr>
                                        <p:cTn id="157" dur="1" fill="hold">
                                          <p:stCondLst>
                                            <p:cond delay="0"/>
                                          </p:stCondLst>
                                        </p:cTn>
                                        <p:tgtEl>
                                          <p:spTgt spid="33"/>
                                        </p:tgtEl>
                                        <p:attrNameLst>
                                          <p:attrName>style.visibility</p:attrName>
                                        </p:attrNameLst>
                                      </p:cBhvr>
                                      <p:to>
                                        <p:strVal val="visible"/>
                                      </p:to>
                                    </p:set>
                                    <p:animEffect transition="in" filter="fade">
                                      <p:cBhvr>
                                        <p:cTn id="158" dur="600"/>
                                        <p:tgtEl>
                                          <p:spTgt spid="33"/>
                                        </p:tgtEl>
                                      </p:cBhvr>
                                    </p:animEffect>
                                    <p:anim calcmode="lin" valueType="num">
                                      <p:cBhvr>
                                        <p:cTn id="159" dur="600" decel="100000" fill="hold"/>
                                        <p:tgtEl>
                                          <p:spTgt spid="33"/>
                                        </p:tgtEl>
                                        <p:attrNameLst>
                                          <p:attrName>ppt_x</p:attrName>
                                        </p:attrNameLst>
                                      </p:cBhvr>
                                      <p:tavLst>
                                        <p:tav tm="0">
                                          <p:val>
                                            <p:strVal val="#ppt_x"/>
                                          </p:val>
                                        </p:tav>
                                        <p:tav tm="100000">
                                          <p:val>
                                            <p:strVal val="#ppt_x"/>
                                          </p:val>
                                        </p:tav>
                                      </p:tavLst>
                                    </p:anim>
                                    <p:anim calcmode="lin" valueType="num">
                                      <p:cBhvr>
                                        <p:cTn id="160" dur="600" decel="100000" fill="hold"/>
                                        <p:tgtEl>
                                          <p:spTgt spid="33"/>
                                        </p:tgtEl>
                                        <p:attrNameLst>
                                          <p:attrName>ppt_y</p:attrName>
                                        </p:attrNameLst>
                                      </p:cBhvr>
                                      <p:tavLst>
                                        <p:tav tm="0">
                                          <p:val>
                                            <p:strVal val="#ppt_y+.08"/>
                                          </p:val>
                                        </p:tav>
                                        <p:tav tm="100000">
                                          <p:val>
                                            <p:strVal val="#ppt_y"/>
                                          </p:val>
                                        </p:tav>
                                      </p:tavLst>
                                    </p:anim>
                                  </p:childTnLst>
                                </p:cTn>
                              </p:par>
                              <p:par>
                                <p:cTn id="166" presetID="42" presetClass="entr" presetSubtype="0" fill="hold" grpId="0" nodeType="withEffect">
                                  <p:stCondLst>
                                    <p:cond delay="80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600"/>
                                        <p:tgtEl>
                                          <p:spTgt spid="34"/>
                                        </p:tgtEl>
                                      </p:cBhvr>
                                    </p:animEffect>
                                    <p:anim calcmode="lin" valueType="num">
                                      <p:cBhvr>
                                        <p:cTn id="164" dur="600" decel="100000" fill="hold"/>
                                        <p:tgtEl>
                                          <p:spTgt spid="34"/>
                                        </p:tgtEl>
                                        <p:attrNameLst>
                                          <p:attrName>ppt_x</p:attrName>
                                        </p:attrNameLst>
                                      </p:cBhvr>
                                      <p:tavLst>
                                        <p:tav tm="0">
                                          <p:val>
                                            <p:strVal val="#ppt_x"/>
                                          </p:val>
                                        </p:tav>
                                        <p:tav tm="100000">
                                          <p:val>
                                            <p:strVal val="#ppt_x"/>
                                          </p:val>
                                        </p:tav>
                                      </p:tavLst>
                                    </p:anim>
                                    <p:anim calcmode="lin" valueType="num">
                                      <p:cBhvr>
                                        <p:cTn id="165" dur="600" decel="100000" fill="hold"/>
                                        <p:tgtEl>
                                          <p:spTgt spid="34"/>
                                        </p:tgtEl>
                                        <p:attrNameLst>
                                          <p:attrName>ppt_y</p:attrName>
                                        </p:attrNameLst>
                                      </p:cBhvr>
                                      <p:tavLst>
                                        <p:tav tm="0">
                                          <p:val>
                                            <p:strVal val="#ppt_y+.08"/>
                                          </p:val>
                                        </p:tav>
                                        <p:tav tm="100000">
                                          <p:val>
                                            <p:strVal val="#ppt_y"/>
                                          </p:val>
                                        </p:tav>
                                      </p:tavLst>
                                    </p:anim>
                                  </p:childTnLst>
                                </p:cTn>
                              </p:par>
                              <p:par>
                                <p:cTn id="171" presetID="42" presetClass="entr" presetSubtype="0" fill="hold" grpId="0" nodeType="withEffect">
                                  <p:stCondLst>
                                    <p:cond delay="800"/>
                                  </p:stCondLst>
                                  <p:childTnLst>
                                    <p:set>
                                      <p:cBhvr>
                                        <p:cTn id="167" dur="1" fill="hold">
                                          <p:stCondLst>
                                            <p:cond delay="0"/>
                                          </p:stCondLst>
                                        </p:cTn>
                                        <p:tgtEl>
                                          <p:spTgt spid="35"/>
                                        </p:tgtEl>
                                        <p:attrNameLst>
                                          <p:attrName>style.visibility</p:attrName>
                                        </p:attrNameLst>
                                      </p:cBhvr>
                                      <p:to>
                                        <p:strVal val="visible"/>
                                      </p:to>
                                    </p:set>
                                    <p:animEffect transition="in" filter="fade">
                                      <p:cBhvr>
                                        <p:cTn id="168" dur="600"/>
                                        <p:tgtEl>
                                          <p:spTgt spid="35"/>
                                        </p:tgtEl>
                                      </p:cBhvr>
                                    </p:animEffect>
                                    <p:anim calcmode="lin" valueType="num">
                                      <p:cBhvr>
                                        <p:cTn id="169" dur="600" decel="100000" fill="hold"/>
                                        <p:tgtEl>
                                          <p:spTgt spid="35"/>
                                        </p:tgtEl>
                                        <p:attrNameLst>
                                          <p:attrName>ppt_x</p:attrName>
                                        </p:attrNameLst>
                                      </p:cBhvr>
                                      <p:tavLst>
                                        <p:tav tm="0">
                                          <p:val>
                                            <p:strVal val="#ppt_x"/>
                                          </p:val>
                                        </p:tav>
                                        <p:tav tm="100000">
                                          <p:val>
                                            <p:strVal val="#ppt_x"/>
                                          </p:val>
                                        </p:tav>
                                      </p:tavLst>
                                    </p:anim>
                                    <p:anim calcmode="lin" valueType="num">
                                      <p:cBhvr>
                                        <p:cTn id="170" dur="600" decel="100000" fill="hold"/>
                                        <p:tgtEl>
                                          <p:spTgt spid="35"/>
                                        </p:tgtEl>
                                        <p:attrNameLst>
                                          <p:attrName>ppt_y</p:attrName>
                                        </p:attrNameLst>
                                      </p:cBhvr>
                                      <p:tavLst>
                                        <p:tav tm="0">
                                          <p:val>
                                            <p:strVal val="#ppt_y+.08"/>
                                          </p:val>
                                        </p:tav>
                                        <p:tav tm="100000">
                                          <p:val>
                                            <p:strVal val="#ppt_y"/>
                                          </p:val>
                                        </p:tav>
                                      </p:tavLst>
                                    </p:anim>
                                  </p:childTnLst>
                                </p:cTn>
                              </p:par>
                              <p:par>
                                <p:cTn id="176" presetID="42" presetClass="entr" presetSubtype="0" fill="hold" grpId="0" nodeType="withEffect">
                                  <p:stCondLst>
                                    <p:cond delay="800"/>
                                  </p:stCondLst>
                                  <p:childTnLst>
                                    <p:set>
                                      <p:cBhvr>
                                        <p:cTn id="172" dur="1" fill="hold">
                                          <p:stCondLst>
                                            <p:cond delay="0"/>
                                          </p:stCondLst>
                                        </p:cTn>
                                        <p:tgtEl>
                                          <p:spTgt spid="36"/>
                                        </p:tgtEl>
                                        <p:attrNameLst>
                                          <p:attrName>style.visibility</p:attrName>
                                        </p:attrNameLst>
                                      </p:cBhvr>
                                      <p:to>
                                        <p:strVal val="visible"/>
                                      </p:to>
                                    </p:set>
                                    <p:animEffect transition="in" filter="fade">
                                      <p:cBhvr>
                                        <p:cTn id="173" dur="600"/>
                                        <p:tgtEl>
                                          <p:spTgt spid="36"/>
                                        </p:tgtEl>
                                      </p:cBhvr>
                                    </p:animEffect>
                                    <p:anim calcmode="lin" valueType="num">
                                      <p:cBhvr>
                                        <p:cTn id="174" dur="600" decel="100000" fill="hold"/>
                                        <p:tgtEl>
                                          <p:spTgt spid="36"/>
                                        </p:tgtEl>
                                        <p:attrNameLst>
                                          <p:attrName>ppt_x</p:attrName>
                                        </p:attrNameLst>
                                      </p:cBhvr>
                                      <p:tavLst>
                                        <p:tav tm="0">
                                          <p:val>
                                            <p:strVal val="#ppt_x"/>
                                          </p:val>
                                        </p:tav>
                                        <p:tav tm="100000">
                                          <p:val>
                                            <p:strVal val="#ppt_x"/>
                                          </p:val>
                                        </p:tav>
                                      </p:tavLst>
                                    </p:anim>
                                    <p:anim calcmode="lin" valueType="num">
                                      <p:cBhvr>
                                        <p:cTn id="175" dur="600" decel="100000" fill="hold"/>
                                        <p:tgtEl>
                                          <p:spTgt spid="36"/>
                                        </p:tgtEl>
                                        <p:attrNameLst>
                                          <p:attrName>ppt_y</p:attrName>
                                        </p:attrNameLst>
                                      </p:cBhvr>
                                      <p:tavLst>
                                        <p:tav tm="0">
                                          <p:val>
                                            <p:strVal val="#ppt_y+.08"/>
                                          </p:val>
                                        </p:tav>
                                        <p:tav tm="100000">
                                          <p:val>
                                            <p:strVal val="#ppt_y"/>
                                          </p:val>
                                        </p:tav>
                                      </p:tavLst>
                                    </p:anim>
                                  </p:childTnLst>
                                </p:cTn>
                              </p:par>
                              <p:par>
                                <p:cTn id="181" presetID="42" presetClass="entr" presetSubtype="0" fill="hold" grpId="0" nodeType="withEffect">
                                  <p:stCondLst>
                                    <p:cond delay="800"/>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600"/>
                                        <p:tgtEl>
                                          <p:spTgt spid="37"/>
                                        </p:tgtEl>
                                      </p:cBhvr>
                                    </p:animEffect>
                                    <p:anim calcmode="lin" valueType="num">
                                      <p:cBhvr>
                                        <p:cTn id="179" dur="600" decel="100000" fill="hold"/>
                                        <p:tgtEl>
                                          <p:spTgt spid="37"/>
                                        </p:tgtEl>
                                        <p:attrNameLst>
                                          <p:attrName>ppt_x</p:attrName>
                                        </p:attrNameLst>
                                      </p:cBhvr>
                                      <p:tavLst>
                                        <p:tav tm="0">
                                          <p:val>
                                            <p:strVal val="#ppt_x"/>
                                          </p:val>
                                        </p:tav>
                                        <p:tav tm="100000">
                                          <p:val>
                                            <p:strVal val="#ppt_x"/>
                                          </p:val>
                                        </p:tav>
                                      </p:tavLst>
                                    </p:anim>
                                    <p:anim calcmode="lin" valueType="num">
                                      <p:cBhvr>
                                        <p:cTn id="180" dur="600" decel="100000" fill="hold"/>
                                        <p:tgtEl>
                                          <p:spTgt spid="37"/>
                                        </p:tgtEl>
                                        <p:attrNameLst>
                                          <p:attrName>ppt_y</p:attrName>
                                        </p:attrNameLst>
                                      </p:cBhvr>
                                      <p:tavLst>
                                        <p:tav tm="0">
                                          <p:val>
                                            <p:strVal val="#ppt_y+.08"/>
                                          </p:val>
                                        </p:tav>
                                        <p:tav tm="100000">
                                          <p:val>
                                            <p:strVal val="#ppt_y"/>
                                          </p:val>
                                        </p:tav>
                                      </p:tavLst>
                                    </p:anim>
                                  </p:childTnLst>
                                </p:cTn>
                              </p:par>
                              <p:par>
                                <p:cTn id="186" presetID="42" presetClass="entr" presetSubtype="0" fill="hold" grpId="0" nodeType="withEffect">
                                  <p:stCondLst>
                                    <p:cond delay="800"/>
                                  </p:stCondLst>
                                  <p:childTnLst>
                                    <p:set>
                                      <p:cBhvr>
                                        <p:cTn id="182" dur="1" fill="hold">
                                          <p:stCondLst>
                                            <p:cond delay="0"/>
                                          </p:stCondLst>
                                        </p:cTn>
                                        <p:tgtEl>
                                          <p:spTgt spid="38"/>
                                        </p:tgtEl>
                                        <p:attrNameLst>
                                          <p:attrName>style.visibility</p:attrName>
                                        </p:attrNameLst>
                                      </p:cBhvr>
                                      <p:to>
                                        <p:strVal val="visible"/>
                                      </p:to>
                                    </p:set>
                                    <p:animEffect transition="in" filter="fade">
                                      <p:cBhvr>
                                        <p:cTn id="183" dur="600"/>
                                        <p:tgtEl>
                                          <p:spTgt spid="38"/>
                                        </p:tgtEl>
                                      </p:cBhvr>
                                    </p:animEffect>
                                    <p:anim calcmode="lin" valueType="num">
                                      <p:cBhvr>
                                        <p:cTn id="184" dur="600" decel="100000" fill="hold"/>
                                        <p:tgtEl>
                                          <p:spTgt spid="38"/>
                                        </p:tgtEl>
                                        <p:attrNameLst>
                                          <p:attrName>ppt_x</p:attrName>
                                        </p:attrNameLst>
                                      </p:cBhvr>
                                      <p:tavLst>
                                        <p:tav tm="0">
                                          <p:val>
                                            <p:strVal val="#ppt_x"/>
                                          </p:val>
                                        </p:tav>
                                        <p:tav tm="100000">
                                          <p:val>
                                            <p:strVal val="#ppt_x"/>
                                          </p:val>
                                        </p:tav>
                                      </p:tavLst>
                                    </p:anim>
                                    <p:anim calcmode="lin" valueType="num">
                                      <p:cBhvr>
                                        <p:cTn id="185" dur="600" decel="100000" fill="hold"/>
                                        <p:tgtEl>
                                          <p:spTgt spid="38"/>
                                        </p:tgtEl>
                                        <p:attrNameLst>
                                          <p:attrName>ppt_y</p:attrName>
                                        </p:attrNameLst>
                                      </p:cBhvr>
                                      <p:tavLst>
                                        <p:tav tm="0">
                                          <p:val>
                                            <p:strVal val="#ppt_y+.08"/>
                                          </p:val>
                                        </p:tav>
                                        <p:tav tm="100000">
                                          <p:val>
                                            <p:strVal val="#ppt_y"/>
                                          </p:val>
                                        </p:tav>
                                      </p:tavLst>
                                    </p:anim>
                                  </p:childTnLst>
                                </p:cTn>
                              </p:par>
                              <p:par>
                                <p:cTn id="191" presetID="42" presetClass="entr" presetSubtype="0" fill="hold" grpId="0" nodeType="withEffect">
                                  <p:stCondLst>
                                    <p:cond delay="100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600"/>
                                        <p:tgtEl>
                                          <p:spTgt spid="39"/>
                                        </p:tgtEl>
                                      </p:cBhvr>
                                    </p:animEffect>
                                    <p:anim calcmode="lin" valueType="num">
                                      <p:cBhvr>
                                        <p:cTn id="189" dur="600" decel="100000" fill="hold"/>
                                        <p:tgtEl>
                                          <p:spTgt spid="39"/>
                                        </p:tgtEl>
                                        <p:attrNameLst>
                                          <p:attrName>ppt_x</p:attrName>
                                        </p:attrNameLst>
                                      </p:cBhvr>
                                      <p:tavLst>
                                        <p:tav tm="0">
                                          <p:val>
                                            <p:strVal val="#ppt_x"/>
                                          </p:val>
                                        </p:tav>
                                        <p:tav tm="100000">
                                          <p:val>
                                            <p:strVal val="#ppt_x"/>
                                          </p:val>
                                        </p:tav>
                                      </p:tavLst>
                                    </p:anim>
                                    <p:anim calcmode="lin" valueType="num">
                                      <p:cBhvr>
                                        <p:cTn id="190" dur="600" decel="100000" fill="hold"/>
                                        <p:tgtEl>
                                          <p:spTgt spid="39"/>
                                        </p:tgtEl>
                                        <p:attrNameLst>
                                          <p:attrName>ppt_y</p:attrName>
                                        </p:attrNameLst>
                                      </p:cBhvr>
                                      <p:tavLst>
                                        <p:tav tm="0">
                                          <p:val>
                                            <p:strVal val="#ppt_y+.08"/>
                                          </p:val>
                                        </p:tav>
                                        <p:tav tm="100000">
                                          <p:val>
                                            <p:strVal val="#ppt_y"/>
                                          </p:val>
                                        </p:tav>
                                      </p:tavLst>
                                    </p:anim>
                                  </p:childTnLst>
                                </p:cTn>
                              </p:par>
                              <p:par>
                                <p:cTn id="196" presetID="42" presetClass="entr" presetSubtype="0" fill="hold" grpId="0" nodeType="withEffect">
                                  <p:stCondLst>
                                    <p:cond delay="100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600"/>
                                        <p:tgtEl>
                                          <p:spTgt spid="40"/>
                                        </p:tgtEl>
                                      </p:cBhvr>
                                    </p:animEffect>
                                    <p:anim calcmode="lin" valueType="num">
                                      <p:cBhvr>
                                        <p:cTn id="194" dur="600" decel="100000" fill="hold"/>
                                        <p:tgtEl>
                                          <p:spTgt spid="40"/>
                                        </p:tgtEl>
                                        <p:attrNameLst>
                                          <p:attrName>ppt_x</p:attrName>
                                        </p:attrNameLst>
                                      </p:cBhvr>
                                      <p:tavLst>
                                        <p:tav tm="0">
                                          <p:val>
                                            <p:strVal val="#ppt_x"/>
                                          </p:val>
                                        </p:tav>
                                        <p:tav tm="100000">
                                          <p:val>
                                            <p:strVal val="#ppt_x"/>
                                          </p:val>
                                        </p:tav>
                                      </p:tavLst>
                                    </p:anim>
                                    <p:anim calcmode="lin" valueType="num">
                                      <p:cBhvr>
                                        <p:cTn id="195" dur="600" decel="100000" fill="hold"/>
                                        <p:tgtEl>
                                          <p:spTgt spid="40"/>
                                        </p:tgtEl>
                                        <p:attrNameLst>
                                          <p:attrName>ppt_y</p:attrName>
                                        </p:attrNameLst>
                                      </p:cBhvr>
                                      <p:tavLst>
                                        <p:tav tm="0">
                                          <p:val>
                                            <p:strVal val="#ppt_y+.08"/>
                                          </p:val>
                                        </p:tav>
                                        <p:tav tm="100000">
                                          <p:val>
                                            <p:strVal val="#ppt_y"/>
                                          </p:val>
                                        </p:tav>
                                      </p:tavLst>
                                    </p:anim>
                                  </p:childTnLst>
                                </p:cTn>
                              </p:par>
                              <p:par>
                                <p:cTn id="201" presetID="42" presetClass="entr" presetSubtype="0" fill="hold" grpId="0" nodeType="withEffect">
                                  <p:stCondLst>
                                    <p:cond delay="100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600"/>
                                        <p:tgtEl>
                                          <p:spTgt spid="41"/>
                                        </p:tgtEl>
                                      </p:cBhvr>
                                    </p:animEffect>
                                    <p:anim calcmode="lin" valueType="num">
                                      <p:cBhvr>
                                        <p:cTn id="199" dur="600" decel="100000" fill="hold"/>
                                        <p:tgtEl>
                                          <p:spTgt spid="41"/>
                                        </p:tgtEl>
                                        <p:attrNameLst>
                                          <p:attrName>ppt_x</p:attrName>
                                        </p:attrNameLst>
                                      </p:cBhvr>
                                      <p:tavLst>
                                        <p:tav tm="0">
                                          <p:val>
                                            <p:strVal val="#ppt_x"/>
                                          </p:val>
                                        </p:tav>
                                        <p:tav tm="100000">
                                          <p:val>
                                            <p:strVal val="#ppt_x"/>
                                          </p:val>
                                        </p:tav>
                                      </p:tavLst>
                                    </p:anim>
                                    <p:anim calcmode="lin" valueType="num">
                                      <p:cBhvr>
                                        <p:cTn id="200" dur="600" decel="100000" fill="hold"/>
                                        <p:tgtEl>
                                          <p:spTgt spid="41"/>
                                        </p:tgtEl>
                                        <p:attrNameLst>
                                          <p:attrName>ppt_y</p:attrName>
                                        </p:attrNameLst>
                                      </p:cBhvr>
                                      <p:tavLst>
                                        <p:tav tm="0">
                                          <p:val>
                                            <p:strVal val="#ppt_y+.08"/>
                                          </p:val>
                                        </p:tav>
                                        <p:tav tm="100000">
                                          <p:val>
                                            <p:strVal val="#ppt_y"/>
                                          </p:val>
                                        </p:tav>
                                      </p:tavLst>
                                    </p:anim>
                                  </p:childTnLst>
                                </p:cTn>
                              </p:par>
                              <p:par>
                                <p:cTn id="206" presetID="42" presetClass="entr" presetSubtype="0" fill="hold" grpId="0" nodeType="withEffect">
                                  <p:stCondLst>
                                    <p:cond delay="1000"/>
                                  </p:stCondLst>
                                  <p:childTnLst>
                                    <p:set>
                                      <p:cBhvr>
                                        <p:cTn id="202" dur="1" fill="hold">
                                          <p:stCondLst>
                                            <p:cond delay="0"/>
                                          </p:stCondLst>
                                        </p:cTn>
                                        <p:tgtEl>
                                          <p:spTgt spid="42"/>
                                        </p:tgtEl>
                                        <p:attrNameLst>
                                          <p:attrName>style.visibility</p:attrName>
                                        </p:attrNameLst>
                                      </p:cBhvr>
                                      <p:to>
                                        <p:strVal val="visible"/>
                                      </p:to>
                                    </p:set>
                                    <p:animEffect transition="in" filter="fade">
                                      <p:cBhvr>
                                        <p:cTn id="203" dur="600"/>
                                        <p:tgtEl>
                                          <p:spTgt spid="42"/>
                                        </p:tgtEl>
                                      </p:cBhvr>
                                    </p:animEffect>
                                    <p:anim calcmode="lin" valueType="num">
                                      <p:cBhvr>
                                        <p:cTn id="204" dur="600" decel="100000" fill="hold"/>
                                        <p:tgtEl>
                                          <p:spTgt spid="42"/>
                                        </p:tgtEl>
                                        <p:attrNameLst>
                                          <p:attrName>ppt_x</p:attrName>
                                        </p:attrNameLst>
                                      </p:cBhvr>
                                      <p:tavLst>
                                        <p:tav tm="0">
                                          <p:val>
                                            <p:strVal val="#ppt_x"/>
                                          </p:val>
                                        </p:tav>
                                        <p:tav tm="100000">
                                          <p:val>
                                            <p:strVal val="#ppt_x"/>
                                          </p:val>
                                        </p:tav>
                                      </p:tavLst>
                                    </p:anim>
                                    <p:anim calcmode="lin" valueType="num">
                                      <p:cBhvr>
                                        <p:cTn id="205" dur="600" decel="100000" fill="hold"/>
                                        <p:tgtEl>
                                          <p:spTgt spid="42"/>
                                        </p:tgtEl>
                                        <p:attrNameLst>
                                          <p:attrName>ppt_y</p:attrName>
                                        </p:attrNameLst>
                                      </p:cBhvr>
                                      <p:tavLst>
                                        <p:tav tm="0">
                                          <p:val>
                                            <p:strVal val="#ppt_y+.08"/>
                                          </p:val>
                                        </p:tav>
                                        <p:tav tm="100000">
                                          <p:val>
                                            <p:strVal val="#ppt_y"/>
                                          </p:val>
                                        </p:tav>
                                      </p:tavLst>
                                    </p:anim>
                                  </p:childTnLst>
                                </p:cTn>
                              </p:par>
                              <p:par>
                                <p:cTn id="211" presetID="42" presetClass="entr" presetSubtype="0" fill="hold" grpId="0" nodeType="withEffect">
                                  <p:stCondLst>
                                    <p:cond delay="100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600"/>
                                        <p:tgtEl>
                                          <p:spTgt spid="43"/>
                                        </p:tgtEl>
                                      </p:cBhvr>
                                    </p:animEffect>
                                    <p:anim calcmode="lin" valueType="num">
                                      <p:cBhvr>
                                        <p:cTn id="209" dur="600" decel="100000" fill="hold"/>
                                        <p:tgtEl>
                                          <p:spTgt spid="43"/>
                                        </p:tgtEl>
                                        <p:attrNameLst>
                                          <p:attrName>ppt_x</p:attrName>
                                        </p:attrNameLst>
                                      </p:cBhvr>
                                      <p:tavLst>
                                        <p:tav tm="0">
                                          <p:val>
                                            <p:strVal val="#ppt_x"/>
                                          </p:val>
                                        </p:tav>
                                        <p:tav tm="100000">
                                          <p:val>
                                            <p:strVal val="#ppt_x"/>
                                          </p:val>
                                        </p:tav>
                                      </p:tavLst>
                                    </p:anim>
                                    <p:anim calcmode="lin" valueType="num">
                                      <p:cBhvr>
                                        <p:cTn id="210" dur="600" decel="100000" fill="hold"/>
                                        <p:tgtEl>
                                          <p:spTgt spid="43"/>
                                        </p:tgtEl>
                                        <p:attrNameLst>
                                          <p:attrName>ppt_y</p:attrName>
                                        </p:attrNameLst>
                                      </p:cBhvr>
                                      <p:tavLst>
                                        <p:tav tm="0">
                                          <p:val>
                                            <p:strVal val="#ppt_y+.08"/>
                                          </p:val>
                                        </p:tav>
                                        <p:tav tm="100000">
                                          <p:val>
                                            <p:strVal val="#ppt_y"/>
                                          </p:val>
                                        </p:tav>
                                      </p:tavLst>
                                    </p:anim>
                                  </p:childTnLst>
                                </p:cTn>
                              </p:par>
                              <p:par>
                                <p:cTn id="216" presetID="42" presetClass="entr" presetSubtype="0" fill="hold" grpId="0" nodeType="withEffect">
                                  <p:stCondLst>
                                    <p:cond delay="1000"/>
                                  </p:stCondLst>
                                  <p:childTnLst>
                                    <p:set>
                                      <p:cBhvr>
                                        <p:cTn id="212" dur="1" fill="hold">
                                          <p:stCondLst>
                                            <p:cond delay="0"/>
                                          </p:stCondLst>
                                        </p:cTn>
                                        <p:tgtEl>
                                          <p:spTgt spid="44"/>
                                        </p:tgtEl>
                                        <p:attrNameLst>
                                          <p:attrName>style.visibility</p:attrName>
                                        </p:attrNameLst>
                                      </p:cBhvr>
                                      <p:to>
                                        <p:strVal val="visible"/>
                                      </p:to>
                                    </p:set>
                                    <p:animEffect transition="in" filter="fade">
                                      <p:cBhvr>
                                        <p:cTn id="213" dur="600"/>
                                        <p:tgtEl>
                                          <p:spTgt spid="44"/>
                                        </p:tgtEl>
                                      </p:cBhvr>
                                    </p:animEffect>
                                    <p:anim calcmode="lin" valueType="num">
                                      <p:cBhvr>
                                        <p:cTn id="214" dur="600" decel="100000" fill="hold"/>
                                        <p:tgtEl>
                                          <p:spTgt spid="44"/>
                                        </p:tgtEl>
                                        <p:attrNameLst>
                                          <p:attrName>ppt_x</p:attrName>
                                        </p:attrNameLst>
                                      </p:cBhvr>
                                      <p:tavLst>
                                        <p:tav tm="0">
                                          <p:val>
                                            <p:strVal val="#ppt_x"/>
                                          </p:val>
                                        </p:tav>
                                        <p:tav tm="100000">
                                          <p:val>
                                            <p:strVal val="#ppt_x"/>
                                          </p:val>
                                        </p:tav>
                                      </p:tavLst>
                                    </p:anim>
                                    <p:anim calcmode="lin" valueType="num">
                                      <p:cBhvr>
                                        <p:cTn id="215" dur="600" decel="100000" fill="hold"/>
                                        <p:tgtEl>
                                          <p:spTgt spid="44"/>
                                        </p:tgtEl>
                                        <p:attrNameLst>
                                          <p:attrName>ppt_y</p:attrName>
                                        </p:attrNameLst>
                                      </p:cBhvr>
                                      <p:tavLst>
                                        <p:tav tm="0">
                                          <p:val>
                                            <p:strVal val="#ppt_y+.08"/>
                                          </p:val>
                                        </p:tav>
                                        <p:tav tm="100000">
                                          <p:val>
                                            <p:strVal val="#ppt_y"/>
                                          </p:val>
                                        </p:tav>
                                      </p:tavLst>
                                    </p:anim>
                                  </p:childTnLst>
                                </p:cTn>
                              </p:par>
                              <p:par>
                                <p:cTn id="221" presetID="42" presetClass="entr" presetSubtype="0" fill="hold" grpId="0" nodeType="withEffect">
                                  <p:stCondLst>
                                    <p:cond delay="10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600"/>
                                        <p:tgtEl>
                                          <p:spTgt spid="45"/>
                                        </p:tgtEl>
                                      </p:cBhvr>
                                    </p:animEffect>
                                    <p:anim calcmode="lin" valueType="num">
                                      <p:cBhvr>
                                        <p:cTn id="219" dur="600" decel="100000" fill="hold"/>
                                        <p:tgtEl>
                                          <p:spTgt spid="45"/>
                                        </p:tgtEl>
                                        <p:attrNameLst>
                                          <p:attrName>ppt_x</p:attrName>
                                        </p:attrNameLst>
                                      </p:cBhvr>
                                      <p:tavLst>
                                        <p:tav tm="0">
                                          <p:val>
                                            <p:strVal val="#ppt_x"/>
                                          </p:val>
                                        </p:tav>
                                        <p:tav tm="100000">
                                          <p:val>
                                            <p:strVal val="#ppt_x"/>
                                          </p:val>
                                        </p:tav>
                                      </p:tavLst>
                                    </p:anim>
                                    <p:anim calcmode="lin" valueType="num">
                                      <p:cBhvr>
                                        <p:cTn id="220" dur="600" decel="100000" fill="hold"/>
                                        <p:tgtEl>
                                          <p:spTgt spid="45"/>
                                        </p:tgtEl>
                                        <p:attrNameLst>
                                          <p:attrName>ppt_y</p:attrName>
                                        </p:attrNameLst>
                                      </p:cBhvr>
                                      <p:tavLst>
                                        <p:tav tm="0">
                                          <p:val>
                                            <p:strVal val="#ppt_y+.08"/>
                                          </p:val>
                                        </p:tav>
                                        <p:tav tm="100000">
                                          <p:val>
                                            <p:strVal val="#ppt_y"/>
                                          </p:val>
                                        </p:tav>
                                      </p:tavLst>
                                    </p:anim>
                                  </p:childTnLst>
                                </p:cTn>
                              </p:par>
                              <p:par>
                                <p:cTn id="226" presetID="42" presetClass="entr" presetSubtype="0" fill="hold" grpId="0" nodeType="withEffect">
                                  <p:stCondLst>
                                    <p:cond delay="1000"/>
                                  </p:stCondLst>
                                  <p:childTnLst>
                                    <p:set>
                                      <p:cBhvr>
                                        <p:cTn id="222" dur="1" fill="hold">
                                          <p:stCondLst>
                                            <p:cond delay="0"/>
                                          </p:stCondLst>
                                        </p:cTn>
                                        <p:tgtEl>
                                          <p:spTgt spid="46"/>
                                        </p:tgtEl>
                                        <p:attrNameLst>
                                          <p:attrName>style.visibility</p:attrName>
                                        </p:attrNameLst>
                                      </p:cBhvr>
                                      <p:to>
                                        <p:strVal val="visible"/>
                                      </p:to>
                                    </p:set>
                                    <p:animEffect transition="in" filter="fade">
                                      <p:cBhvr>
                                        <p:cTn id="223" dur="600"/>
                                        <p:tgtEl>
                                          <p:spTgt spid="46"/>
                                        </p:tgtEl>
                                      </p:cBhvr>
                                    </p:animEffect>
                                    <p:anim calcmode="lin" valueType="num">
                                      <p:cBhvr>
                                        <p:cTn id="224" dur="600" decel="100000" fill="hold"/>
                                        <p:tgtEl>
                                          <p:spTgt spid="46"/>
                                        </p:tgtEl>
                                        <p:attrNameLst>
                                          <p:attrName>ppt_x</p:attrName>
                                        </p:attrNameLst>
                                      </p:cBhvr>
                                      <p:tavLst>
                                        <p:tav tm="0">
                                          <p:val>
                                            <p:strVal val="#ppt_x"/>
                                          </p:val>
                                        </p:tav>
                                        <p:tav tm="100000">
                                          <p:val>
                                            <p:strVal val="#ppt_x"/>
                                          </p:val>
                                        </p:tav>
                                      </p:tavLst>
                                    </p:anim>
                                    <p:anim calcmode="lin" valueType="num">
                                      <p:cBhvr>
                                        <p:cTn id="225" dur="600" decel="100000" fill="hold"/>
                                        <p:tgtEl>
                                          <p:spTgt spid="46"/>
                                        </p:tgtEl>
                                        <p:attrNameLst>
                                          <p:attrName>ppt_y</p:attrName>
                                        </p:attrNameLst>
                                      </p:cBhvr>
                                      <p:tavLst>
                                        <p:tav tm="0">
                                          <p:val>
                                            <p:strVal val="#ppt_y+.08"/>
                                          </p:val>
                                        </p:tav>
                                        <p:tav tm="100000">
                                          <p:val>
                                            <p:strVal val="#ppt_y"/>
                                          </p:val>
                                        </p:tav>
                                      </p:tavLst>
                                    </p:anim>
                                  </p:childTnLst>
                                </p:cTn>
                              </p:par>
                              <p:par>
                                <p:cTn id="231" presetID="42" presetClass="entr" presetSubtype="0" fill="hold" grpId="0" nodeType="withEffect">
                                  <p:stCondLst>
                                    <p:cond delay="1000"/>
                                  </p:stCondLst>
                                  <p:childTnLst>
                                    <p:set>
                                      <p:cBhvr>
                                        <p:cTn id="227" dur="1" fill="hold">
                                          <p:stCondLst>
                                            <p:cond delay="0"/>
                                          </p:stCondLst>
                                        </p:cTn>
                                        <p:tgtEl>
                                          <p:spTgt spid="47"/>
                                        </p:tgtEl>
                                        <p:attrNameLst>
                                          <p:attrName>style.visibility</p:attrName>
                                        </p:attrNameLst>
                                      </p:cBhvr>
                                      <p:to>
                                        <p:strVal val="visible"/>
                                      </p:to>
                                    </p:set>
                                    <p:animEffect transition="in" filter="fade">
                                      <p:cBhvr>
                                        <p:cTn id="228" dur="600"/>
                                        <p:tgtEl>
                                          <p:spTgt spid="47"/>
                                        </p:tgtEl>
                                      </p:cBhvr>
                                    </p:animEffect>
                                    <p:anim calcmode="lin" valueType="num">
                                      <p:cBhvr>
                                        <p:cTn id="229" dur="600" decel="100000" fill="hold"/>
                                        <p:tgtEl>
                                          <p:spTgt spid="47"/>
                                        </p:tgtEl>
                                        <p:attrNameLst>
                                          <p:attrName>ppt_x</p:attrName>
                                        </p:attrNameLst>
                                      </p:cBhvr>
                                      <p:tavLst>
                                        <p:tav tm="0">
                                          <p:val>
                                            <p:strVal val="#ppt_x"/>
                                          </p:val>
                                        </p:tav>
                                        <p:tav tm="100000">
                                          <p:val>
                                            <p:strVal val="#ppt_x"/>
                                          </p:val>
                                        </p:tav>
                                      </p:tavLst>
                                    </p:anim>
                                    <p:anim calcmode="lin" valueType="num">
                                      <p:cBhvr>
                                        <p:cTn id="230" dur="600" decel="100000" fill="hold"/>
                                        <p:tgtEl>
                                          <p:spTgt spid="47"/>
                                        </p:tgtEl>
                                        <p:attrNameLst>
                                          <p:attrName>ppt_y</p:attrName>
                                        </p:attrNameLst>
                                      </p:cBhvr>
                                      <p:tavLst>
                                        <p:tav tm="0">
                                          <p:val>
                                            <p:strVal val="#ppt_y+.08"/>
                                          </p:val>
                                        </p:tav>
                                        <p:tav tm="100000">
                                          <p:val>
                                            <p:strVal val="#ppt_y"/>
                                          </p:val>
                                        </p:tav>
                                      </p:tavLst>
                                    </p:anim>
                                  </p:childTnLst>
                                </p:cTn>
                              </p:par>
                              <p:par>
                                <p:cTn id="234" presetID="10" presetClass="entr" presetSubtype="0" fill="hold" grpId="0" nodeType="withEffect">
                                  <p:stCondLst>
                                    <p:cond delay="1200"/>
                                  </p:stCondLst>
                                  <p:childTnLst>
                                    <p:set>
                                      <p:cBhvr>
                                        <p:cTn id="232" dur="1" fill="hold">
                                          <p:stCondLst>
                                            <p:cond delay="0"/>
                                          </p:stCondLst>
                                        </p:cTn>
                                        <p:tgtEl>
                                          <p:spTgt spid="48"/>
                                        </p:tgtEl>
                                        <p:attrNameLst>
                                          <p:attrName>style.visibility</p:attrName>
                                        </p:attrNameLst>
                                      </p:cBhvr>
                                      <p:to>
                                        <p:strVal val="visible"/>
                                      </p:to>
                                    </p:set>
                                    <p:animEffect transition="in" filter="fade">
                                      <p:cBhvr>
                                        <p:cTn id="233" dur="500"/>
                                        <p:tgtEl>
                                          <p:spTgt spid="48"/>
                                        </p:tgtEl>
                                      </p:cBhvr>
                                    </p:animEffect>
                                  </p:childTnLst>
                                </p:cTn>
                              </p:par>
                              <p:par>
                                <p:cTn id="237" presetID="10" presetClass="entr" presetSubtype="0" fill="hold" grpId="0" nodeType="withEffect">
                                  <p:stCondLst>
                                    <p:cond delay="1400"/>
                                  </p:stCondLst>
                                  <p:childTnLst>
                                    <p:set>
                                      <p:cBhvr>
                                        <p:cTn id="235" dur="1" fill="hold">
                                          <p:stCondLst>
                                            <p:cond delay="0"/>
                                          </p:stCondLst>
                                        </p:cTn>
                                        <p:tgtEl>
                                          <p:spTgt spid="25"/>
                                        </p:tgtEl>
                                        <p:attrNameLst>
                                          <p:attrName>style.visibility</p:attrName>
                                        </p:attrNameLst>
                                      </p:cBhvr>
                                      <p:to>
                                        <p:strVal val="visible"/>
                                      </p:to>
                                    </p:set>
                                    <p:animEffect transition="in" filter="fade">
                                      <p:cBhvr>
                                        <p:cTn id="23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9" grpId="0" animBg="1"/>
      <p:bldP spid="10" grpId="0" animBg="1"/>
      <p:bldP spid="11" grpId="0" animBg="1"/>
      <p:bldP spid="14" grpId="0" animBg="1"/>
      <p:bldP spid="15" grpId="0" animBg="1"/>
      <p:bldP spid="16" grpId="0" animBg="1"/>
      <p:bldP spid="18" grpId="0" animBg="1"/>
      <p:bldP spid="19" grpId="0" animBg="1"/>
      <p:bldP spid="20" grpId="0" animBg="1"/>
      <p:bldP spid="23" grpId="0" animBg="1"/>
      <p:bldP spid="24" grpId="0" animBg="1"/>
      <p:bldP spid="25" grpId="0" animBg="1"/>
      <p:bldP spid="27" grpId="0" animBg="1"/>
      <p:bldP spid="28" grpId="0" animBg="1"/>
      <p:bldP spid="29" grpId="0" animBg="1"/>
      <p:bldP spid="32" grpId="0" animBg="1"/>
      <p:bldP spid="33" grpId="0" animBg="1"/>
      <p:bldP spid="34" grpId="0" animBg="1"/>
      <p:bldP spid="36" grpId="0" animBg="1"/>
      <p:bldP spid="37" grpId="0" animBg="1"/>
      <p:bldP spid="38" grpId="0" animBg="1"/>
      <p:bldP spid="41" grpId="0" animBg="1"/>
      <p:bldP spid="42" grpId="0" animBg="1"/>
      <p:bldP spid="43" grpId="0" animBg="1"/>
      <p:bldP spid="45" grpId="0" animBg="1"/>
      <p:bldP spid="46" grpId="0" animBg="1"/>
      <p:bldP spid="47" grpId="0" animBg="1"/>
      <p:bldP spid="48"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What we will cover</a:t>
            </a:r>
            <a:endParaRPr lang="en-US" sz="3200" dirty="0"/>
          </a:p>
        </p:txBody>
      </p:sp>
      <p:sp>
        <p:nvSpPr>
          <p:cNvPr id="3" name="a-up-ag0"/>
          <p:cNvSpPr/>
          <p:nvPr/>
        </p:nvSpPr>
        <p:spPr>
          <a:xfrm>
            <a:off x="548640" y="1508760"/>
            <a:ext cx="3474720" cy="205740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4" name="a-up-w-agn0"/>
          <p:cNvSpPr txBox="1"/>
          <p:nvPr/>
        </p:nvSpPr>
        <p:spPr>
          <a:xfrm>
            <a:off x="868680" y="1783080"/>
            <a:ext cx="1097280" cy="54864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pic>
        <p:nvPicPr>
          <p:cNvPr id="5" name="a-up-w-agi0" descr="/tmp/claude-0/-home-user-done/4a4296a4-6fd8-5cee-98c2-5de0aee80c99/scratchpad/docs/img/icons/paper-b.png">    </p:cNvPr>
          <p:cNvPicPr>
            <a:picLocks noChangeAspect="1"/>
          </p:cNvPicPr>
          <p:nvPr/>
        </p:nvPicPr>
        <p:blipFill>
          <a:blip r:embed="rId1"/>
          <a:stretch>
            <a:fillRect/>
          </a:stretch>
        </p:blipFill>
        <p:spPr>
          <a:xfrm>
            <a:off x="3291840" y="1856232"/>
            <a:ext cx="411480" cy="411480"/>
          </a:xfrm>
          <a:prstGeom prst="rect">
            <a:avLst/>
          </a:prstGeom>
        </p:spPr>
      </p:pic>
      <p:sp>
        <p:nvSpPr>
          <p:cNvPr id="6" name="a-up-w-agt0"/>
          <p:cNvSpPr txBox="1"/>
          <p:nvPr/>
        </p:nvSpPr>
        <p:spPr>
          <a:xfrm>
            <a:off x="868680" y="2468880"/>
            <a:ext cx="2926080" cy="411480"/>
          </a:xfrm>
          <a:prstGeom prst="rect">
            <a:avLst/>
          </a:prstGeom>
          <a:noFill/>
          <a:ln/>
        </p:spPr>
        <p:txBody>
          <a:bodyPr wrap="square" lIns="0" tIns="0" rIns="0" bIns="0" rtlCol="0" anchor="t"/>
          <a:lstStyle/>
          <a:p>
            <a:pPr indent="0" marL="0">
              <a:buNone/>
            </a:pPr>
            <a:r>
              <a:rPr lang="en-US" sz="2000" b="1" dirty="0">
                <a:solidFill>
                  <a:schemeClr val="tx2"/>
                </a:solidFill>
              </a:rPr>
              <a:t>The challenge</a:t>
            </a:r>
            <a:endParaRPr lang="en-US" sz="2000" dirty="0"/>
          </a:p>
        </p:txBody>
      </p:sp>
      <p:sp>
        <p:nvSpPr>
          <p:cNvPr id="7" name="a-up-w-agd0"/>
          <p:cNvSpPr txBox="1"/>
          <p:nvPr/>
        </p:nvSpPr>
        <p:spPr>
          <a:xfrm>
            <a:off x="868680" y="2926080"/>
            <a:ext cx="2926080" cy="457200"/>
          </a:xfrm>
          <a:prstGeom prst="rect">
            <a:avLst/>
          </a:prstGeom>
          <a:noFill/>
          <a:ln/>
        </p:spPr>
        <p:txBody>
          <a:bodyPr wrap="square" lIns="0" tIns="0" rIns="0" bIns="0" rtlCol="0" anchor="t"/>
          <a:lstStyle/>
          <a:p>
            <a:pPr indent="0" marL="0">
              <a:buNone/>
            </a:pPr>
            <a:r>
              <a:rPr lang="en-US" sz="1400" dirty="0">
                <a:solidFill>
                  <a:schemeClr val="accent6"/>
                </a:solidFill>
              </a:rPr>
              <a:t>Why Nexus needed a system</a:t>
            </a:r>
            <a:endParaRPr lang="en-US" sz="1400" dirty="0"/>
          </a:p>
        </p:txBody>
      </p:sp>
      <p:sp>
        <p:nvSpPr>
          <p:cNvPr id="8" name="a-up-ag1"/>
          <p:cNvSpPr/>
          <p:nvPr/>
        </p:nvSpPr>
        <p:spPr>
          <a:xfrm>
            <a:off x="4297680" y="1508760"/>
            <a:ext cx="3474720" cy="205740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9" name="a-up-w-agn1"/>
          <p:cNvSpPr txBox="1"/>
          <p:nvPr/>
        </p:nvSpPr>
        <p:spPr>
          <a:xfrm>
            <a:off x="4617720" y="1783080"/>
            <a:ext cx="1097280" cy="548640"/>
          </a:xfrm>
          <a:prstGeom prst="rect">
            <a:avLst/>
          </a:prstGeom>
          <a:noFill/>
          <a:ln/>
        </p:spPr>
        <p:txBody>
          <a:bodyPr wrap="square" lIns="0" tIns="0" rIns="0" bIns="0" rtlCol="0" anchor="t"/>
          <a:lstStyle/>
          <a:p>
            <a:pPr indent="0" marL="0">
              <a:buNone/>
            </a:pPr>
            <a:r>
              <a:rPr lang="en-US" sz="3000" b="1" dirty="0">
                <a:solidFill>
                  <a:schemeClr val="accent1"/>
                </a:solidFill>
              </a:rPr>
              <a:t>02</a:t>
            </a:r>
            <a:endParaRPr lang="en-US" sz="3000" dirty="0"/>
          </a:p>
        </p:txBody>
      </p:sp>
      <p:pic>
        <p:nvPicPr>
          <p:cNvPr id="10" name="a-up-w-agi1" descr="/tmp/claude-0/-home-user-done/4a4296a4-6fd8-5cee-98c2-5de0aee80c99/scratchpad/docs/img/icons/layers-b.png">    </p:cNvPr>
          <p:cNvPicPr>
            <a:picLocks noChangeAspect="1"/>
          </p:cNvPicPr>
          <p:nvPr/>
        </p:nvPicPr>
        <p:blipFill>
          <a:blip r:embed="rId2"/>
          <a:stretch>
            <a:fillRect/>
          </a:stretch>
        </p:blipFill>
        <p:spPr>
          <a:xfrm>
            <a:off x="7040880" y="1856232"/>
            <a:ext cx="411480" cy="411480"/>
          </a:xfrm>
          <a:prstGeom prst="rect">
            <a:avLst/>
          </a:prstGeom>
        </p:spPr>
      </p:pic>
      <p:sp>
        <p:nvSpPr>
          <p:cNvPr id="11" name="a-up-w-agt1"/>
          <p:cNvSpPr txBox="1"/>
          <p:nvPr/>
        </p:nvSpPr>
        <p:spPr>
          <a:xfrm>
            <a:off x="4617720" y="2468880"/>
            <a:ext cx="2926080" cy="411480"/>
          </a:xfrm>
          <a:prstGeom prst="rect">
            <a:avLst/>
          </a:prstGeom>
          <a:noFill/>
          <a:ln/>
        </p:spPr>
        <p:txBody>
          <a:bodyPr wrap="square" lIns="0" tIns="0" rIns="0" bIns="0" rtlCol="0" anchor="t"/>
          <a:lstStyle/>
          <a:p>
            <a:pPr indent="0" marL="0">
              <a:buNone/>
            </a:pPr>
            <a:r>
              <a:rPr lang="en-US" sz="2000" b="1" dirty="0">
                <a:solidFill>
                  <a:schemeClr val="tx2"/>
                </a:solidFill>
              </a:rPr>
              <a:t>Our solution</a:t>
            </a:r>
            <a:endParaRPr lang="en-US" sz="2000" dirty="0"/>
          </a:p>
        </p:txBody>
      </p:sp>
      <p:sp>
        <p:nvSpPr>
          <p:cNvPr id="12" name="a-up-w-agd1"/>
          <p:cNvSpPr txBox="1"/>
          <p:nvPr/>
        </p:nvSpPr>
        <p:spPr>
          <a:xfrm>
            <a:off x="4617720" y="2926080"/>
            <a:ext cx="2926080" cy="457200"/>
          </a:xfrm>
          <a:prstGeom prst="rect">
            <a:avLst/>
          </a:prstGeom>
          <a:noFill/>
          <a:ln/>
        </p:spPr>
        <p:txBody>
          <a:bodyPr wrap="square" lIns="0" tIns="0" rIns="0" bIns="0" rtlCol="0" anchor="t"/>
          <a:lstStyle/>
          <a:p>
            <a:pPr indent="0" marL="0">
              <a:buNone/>
            </a:pPr>
            <a:r>
              <a:rPr lang="en-US" sz="1400" dirty="0">
                <a:solidFill>
                  <a:schemeClr val="accent6"/>
                </a:solidFill>
              </a:rPr>
              <a:t>Five roles, one database</a:t>
            </a:r>
            <a:endParaRPr lang="en-US" sz="1400" dirty="0"/>
          </a:p>
        </p:txBody>
      </p:sp>
      <p:sp>
        <p:nvSpPr>
          <p:cNvPr id="13" name="a-up-ag2"/>
          <p:cNvSpPr/>
          <p:nvPr/>
        </p:nvSpPr>
        <p:spPr>
          <a:xfrm>
            <a:off x="8046720" y="1508760"/>
            <a:ext cx="3474720" cy="205740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4" name="a-up-w-agn2"/>
          <p:cNvSpPr txBox="1"/>
          <p:nvPr/>
        </p:nvSpPr>
        <p:spPr>
          <a:xfrm>
            <a:off x="8366760" y="1783080"/>
            <a:ext cx="1097280" cy="548640"/>
          </a:xfrm>
          <a:prstGeom prst="rect">
            <a:avLst/>
          </a:prstGeom>
          <a:noFill/>
          <a:ln/>
        </p:spPr>
        <p:txBody>
          <a:bodyPr wrap="square" lIns="0" tIns="0" rIns="0" bIns="0" rtlCol="0" anchor="t"/>
          <a:lstStyle/>
          <a:p>
            <a:pPr indent="0" marL="0">
              <a:buNone/>
            </a:pPr>
            <a:r>
              <a:rPr lang="en-US" sz="3000" b="1" dirty="0">
                <a:solidFill>
                  <a:schemeClr val="accent1"/>
                </a:solidFill>
              </a:rPr>
              <a:t>03</a:t>
            </a:r>
            <a:endParaRPr lang="en-US" sz="3000" dirty="0"/>
          </a:p>
        </p:txBody>
      </p:sp>
      <p:pic>
        <p:nvPicPr>
          <p:cNvPr id="15" name="a-up-w-agi2" descr="/tmp/claude-0/-home-user-done/4a4296a4-6fd8-5cee-98c2-5de0aee80c99/scratchpad/docs/img/icons/db-b.png">    </p:cNvPr>
          <p:cNvPicPr>
            <a:picLocks noChangeAspect="1"/>
          </p:cNvPicPr>
          <p:nvPr/>
        </p:nvPicPr>
        <p:blipFill>
          <a:blip r:embed="rId3"/>
          <a:stretch>
            <a:fillRect/>
          </a:stretch>
        </p:blipFill>
        <p:spPr>
          <a:xfrm>
            <a:off x="10789920" y="1856232"/>
            <a:ext cx="411480" cy="411480"/>
          </a:xfrm>
          <a:prstGeom prst="rect">
            <a:avLst/>
          </a:prstGeom>
        </p:spPr>
      </p:pic>
      <p:sp>
        <p:nvSpPr>
          <p:cNvPr id="16" name="a-up-w-agt2"/>
          <p:cNvSpPr txBox="1"/>
          <p:nvPr/>
        </p:nvSpPr>
        <p:spPr>
          <a:xfrm>
            <a:off x="8366760" y="2468880"/>
            <a:ext cx="2926080" cy="411480"/>
          </a:xfrm>
          <a:prstGeom prst="rect">
            <a:avLst/>
          </a:prstGeom>
          <a:noFill/>
          <a:ln/>
        </p:spPr>
        <p:txBody>
          <a:bodyPr wrap="square" lIns="0" tIns="0" rIns="0" bIns="0" rtlCol="0" anchor="t"/>
          <a:lstStyle/>
          <a:p>
            <a:pPr indent="0" marL="0">
              <a:buNone/>
            </a:pPr>
            <a:r>
              <a:rPr lang="en-US" sz="2000" b="1" dirty="0">
                <a:solidFill>
                  <a:schemeClr val="tx2"/>
                </a:solidFill>
              </a:rPr>
              <a:t>Under the hood</a:t>
            </a:r>
            <a:endParaRPr lang="en-US" sz="2000" dirty="0"/>
          </a:p>
        </p:txBody>
      </p:sp>
      <p:sp>
        <p:nvSpPr>
          <p:cNvPr id="17" name="a-up-w-agd2"/>
          <p:cNvSpPr txBox="1"/>
          <p:nvPr/>
        </p:nvSpPr>
        <p:spPr>
          <a:xfrm>
            <a:off x="8366760" y="2926080"/>
            <a:ext cx="2926080" cy="457200"/>
          </a:xfrm>
          <a:prstGeom prst="rect">
            <a:avLst/>
          </a:prstGeom>
          <a:noFill/>
          <a:ln/>
        </p:spPr>
        <p:txBody>
          <a:bodyPr wrap="square" lIns="0" tIns="0" rIns="0" bIns="0" rtlCol="0" anchor="t"/>
          <a:lstStyle/>
          <a:p>
            <a:pPr indent="0" marL="0">
              <a:buNone/>
            </a:pPr>
            <a:r>
              <a:rPr lang="en-US" sz="1400" dirty="0">
                <a:solidFill>
                  <a:schemeClr val="accent6"/>
                </a:solidFill>
              </a:rPr>
              <a:t>Architecture, data and IDs</a:t>
            </a:r>
            <a:endParaRPr lang="en-US" sz="1400" dirty="0"/>
          </a:p>
        </p:txBody>
      </p:sp>
      <p:sp>
        <p:nvSpPr>
          <p:cNvPr id="18" name="a-up-ag3"/>
          <p:cNvSpPr/>
          <p:nvPr/>
        </p:nvSpPr>
        <p:spPr>
          <a:xfrm>
            <a:off x="548640" y="3840480"/>
            <a:ext cx="3474720" cy="205740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9" name="a-up-w-agn3"/>
          <p:cNvSpPr txBox="1"/>
          <p:nvPr/>
        </p:nvSpPr>
        <p:spPr>
          <a:xfrm>
            <a:off x="868680" y="4114800"/>
            <a:ext cx="1097280" cy="548640"/>
          </a:xfrm>
          <a:prstGeom prst="rect">
            <a:avLst/>
          </a:prstGeom>
          <a:noFill/>
          <a:ln/>
        </p:spPr>
        <p:txBody>
          <a:bodyPr wrap="square" lIns="0" tIns="0" rIns="0" bIns="0" rtlCol="0" anchor="t"/>
          <a:lstStyle/>
          <a:p>
            <a:pPr indent="0" marL="0">
              <a:buNone/>
            </a:pPr>
            <a:r>
              <a:rPr lang="en-US" sz="3000" b="1" dirty="0">
                <a:solidFill>
                  <a:schemeClr val="accent1"/>
                </a:solidFill>
              </a:rPr>
              <a:t>04</a:t>
            </a:r>
            <a:endParaRPr lang="en-US" sz="3000" dirty="0"/>
          </a:p>
        </p:txBody>
      </p:sp>
      <p:pic>
        <p:nvPicPr>
          <p:cNvPr id="20" name="a-up-w-agi3" descr="/tmp/claude-0/-home-user-done/4a4296a4-6fd8-5cee-98c2-5de0aee80c99/scratchpad/docs/img/icons/receipt-b.png">    </p:cNvPr>
          <p:cNvPicPr>
            <a:picLocks noChangeAspect="1"/>
          </p:cNvPicPr>
          <p:nvPr/>
        </p:nvPicPr>
        <p:blipFill>
          <a:blip r:embed="rId4"/>
          <a:stretch>
            <a:fillRect/>
          </a:stretch>
        </p:blipFill>
        <p:spPr>
          <a:xfrm>
            <a:off x="3291840" y="4187952"/>
            <a:ext cx="411480" cy="411480"/>
          </a:xfrm>
          <a:prstGeom prst="rect">
            <a:avLst/>
          </a:prstGeom>
        </p:spPr>
      </p:pic>
      <p:sp>
        <p:nvSpPr>
          <p:cNvPr id="21" name="a-up-w-agt3"/>
          <p:cNvSpPr txBox="1"/>
          <p:nvPr/>
        </p:nvSpPr>
        <p:spPr>
          <a:xfrm>
            <a:off x="868680" y="4800600"/>
            <a:ext cx="2926080" cy="411480"/>
          </a:xfrm>
          <a:prstGeom prst="rect">
            <a:avLst/>
          </a:prstGeom>
          <a:noFill/>
          <a:ln/>
        </p:spPr>
        <p:txBody>
          <a:bodyPr wrap="square" lIns="0" tIns="0" rIns="0" bIns="0" rtlCol="0" anchor="t"/>
          <a:lstStyle/>
          <a:p>
            <a:pPr indent="0" marL="0">
              <a:buNone/>
            </a:pPr>
            <a:r>
              <a:rPr lang="en-US" sz="2000" b="1" dirty="0">
                <a:solidFill>
                  <a:schemeClr val="tx2"/>
                </a:solidFill>
              </a:rPr>
              <a:t>Business rules</a:t>
            </a:r>
            <a:endParaRPr lang="en-US" sz="2000" dirty="0"/>
          </a:p>
        </p:txBody>
      </p:sp>
      <p:sp>
        <p:nvSpPr>
          <p:cNvPr id="22" name="a-up-w-agd3"/>
          <p:cNvSpPr txBox="1"/>
          <p:nvPr/>
        </p:nvSpPr>
        <p:spPr>
          <a:xfrm>
            <a:off x="868680" y="5257800"/>
            <a:ext cx="2926080" cy="457200"/>
          </a:xfrm>
          <a:prstGeom prst="rect">
            <a:avLst/>
          </a:prstGeom>
          <a:noFill/>
          <a:ln/>
        </p:spPr>
        <p:txBody>
          <a:bodyPr wrap="square" lIns="0" tIns="0" rIns="0" bIns="0" rtlCol="0" anchor="t"/>
          <a:lstStyle/>
          <a:p>
            <a:pPr indent="0" marL="0">
              <a:buNone/>
            </a:pPr>
            <a:r>
              <a:rPr lang="en-US" sz="1400" dirty="0">
                <a:solidFill>
                  <a:schemeClr val="accent6"/>
                </a:solidFill>
              </a:rPr>
              <a:t>Feasibility, connections, billing</a:t>
            </a:r>
            <a:endParaRPr lang="en-US" sz="1400" dirty="0"/>
          </a:p>
        </p:txBody>
      </p:sp>
      <p:sp>
        <p:nvSpPr>
          <p:cNvPr id="23" name="a-up-ag4"/>
          <p:cNvSpPr/>
          <p:nvPr/>
        </p:nvSpPr>
        <p:spPr>
          <a:xfrm>
            <a:off x="4297680" y="3840480"/>
            <a:ext cx="3474720" cy="205740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24" name="a-up-w-agn4"/>
          <p:cNvSpPr txBox="1"/>
          <p:nvPr/>
        </p:nvSpPr>
        <p:spPr>
          <a:xfrm>
            <a:off x="4617720" y="4114800"/>
            <a:ext cx="1097280" cy="548640"/>
          </a:xfrm>
          <a:prstGeom prst="rect">
            <a:avLst/>
          </a:prstGeom>
          <a:noFill/>
          <a:ln/>
        </p:spPr>
        <p:txBody>
          <a:bodyPr wrap="square" lIns="0" tIns="0" rIns="0" bIns="0" rtlCol="0" anchor="t"/>
          <a:lstStyle/>
          <a:p>
            <a:pPr indent="0" marL="0">
              <a:buNone/>
            </a:pPr>
            <a:r>
              <a:rPr lang="en-US" sz="3000" b="1" dirty="0">
                <a:solidFill>
                  <a:schemeClr val="accent1"/>
                </a:solidFill>
              </a:rPr>
              <a:t>05</a:t>
            </a:r>
            <a:endParaRPr lang="en-US" sz="3000" dirty="0"/>
          </a:p>
        </p:txBody>
      </p:sp>
      <p:pic>
        <p:nvPicPr>
          <p:cNvPr id="25" name="a-up-w-agi4" descr="/tmp/claude-0/-home-user-done/4a4296a4-6fd8-5cee-98c2-5de0aee80c99/scratchpad/docs/img/icons/wand-b.png">    </p:cNvPr>
          <p:cNvPicPr>
            <a:picLocks noChangeAspect="1"/>
          </p:cNvPicPr>
          <p:nvPr/>
        </p:nvPicPr>
        <p:blipFill>
          <a:blip r:embed="rId5"/>
          <a:stretch>
            <a:fillRect/>
          </a:stretch>
        </p:blipFill>
        <p:spPr>
          <a:xfrm>
            <a:off x="7040880" y="4187952"/>
            <a:ext cx="411480" cy="411480"/>
          </a:xfrm>
          <a:prstGeom prst="rect">
            <a:avLst/>
          </a:prstGeom>
        </p:spPr>
      </p:pic>
      <p:sp>
        <p:nvSpPr>
          <p:cNvPr id="26" name="a-up-w-agt4"/>
          <p:cNvSpPr txBox="1"/>
          <p:nvPr/>
        </p:nvSpPr>
        <p:spPr>
          <a:xfrm>
            <a:off x="4617720" y="4800600"/>
            <a:ext cx="2926080" cy="411480"/>
          </a:xfrm>
          <a:prstGeom prst="rect">
            <a:avLst/>
          </a:prstGeom>
          <a:noFill/>
          <a:ln/>
        </p:spPr>
        <p:txBody>
          <a:bodyPr wrap="square" lIns="0" tIns="0" rIns="0" bIns="0" rtlCol="0" anchor="t"/>
          <a:lstStyle/>
          <a:p>
            <a:pPr indent="0" marL="0">
              <a:buNone/>
            </a:pPr>
            <a:r>
              <a:rPr lang="en-US" sz="2000" b="1" dirty="0">
                <a:solidFill>
                  <a:schemeClr val="tx2"/>
                </a:solidFill>
              </a:rPr>
              <a:t>The interface</a:t>
            </a:r>
            <a:endParaRPr lang="en-US" sz="2000" dirty="0"/>
          </a:p>
        </p:txBody>
      </p:sp>
      <p:sp>
        <p:nvSpPr>
          <p:cNvPr id="27" name="a-up-w-agd4"/>
          <p:cNvSpPr txBox="1"/>
          <p:nvPr/>
        </p:nvSpPr>
        <p:spPr>
          <a:xfrm>
            <a:off x="4617720" y="5257800"/>
            <a:ext cx="2926080" cy="457200"/>
          </a:xfrm>
          <a:prstGeom prst="rect">
            <a:avLst/>
          </a:prstGeom>
          <a:noFill/>
          <a:ln/>
        </p:spPr>
        <p:txBody>
          <a:bodyPr wrap="square" lIns="0" tIns="0" rIns="0" bIns="0" rtlCol="0" anchor="t"/>
          <a:lstStyle/>
          <a:p>
            <a:pPr indent="0" marL="0">
              <a:buNone/>
            </a:pPr>
            <a:r>
              <a:rPr lang="en-US" sz="1400" dirty="0">
                <a:solidFill>
                  <a:schemeClr val="accent6"/>
                </a:solidFill>
              </a:rPr>
              <a:t>Light / dark design and dashboards</a:t>
            </a:r>
            <a:endParaRPr lang="en-US" sz="1400" dirty="0"/>
          </a:p>
        </p:txBody>
      </p:sp>
      <p:sp>
        <p:nvSpPr>
          <p:cNvPr id="28" name="a-up-ag5"/>
          <p:cNvSpPr/>
          <p:nvPr/>
        </p:nvSpPr>
        <p:spPr>
          <a:xfrm>
            <a:off x="8046720" y="3840480"/>
            <a:ext cx="3474720" cy="205740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29" name="a-up-w-agn5"/>
          <p:cNvSpPr txBox="1"/>
          <p:nvPr/>
        </p:nvSpPr>
        <p:spPr>
          <a:xfrm>
            <a:off x="8366760" y="4114800"/>
            <a:ext cx="1097280" cy="548640"/>
          </a:xfrm>
          <a:prstGeom prst="rect">
            <a:avLst/>
          </a:prstGeom>
          <a:noFill/>
          <a:ln/>
        </p:spPr>
        <p:txBody>
          <a:bodyPr wrap="square" lIns="0" tIns="0" rIns="0" bIns="0" rtlCol="0" anchor="t"/>
          <a:lstStyle/>
          <a:p>
            <a:pPr indent="0" marL="0">
              <a:buNone/>
            </a:pPr>
            <a:r>
              <a:rPr lang="en-US" sz="3000" b="1" dirty="0">
                <a:solidFill>
                  <a:schemeClr val="accent1"/>
                </a:solidFill>
              </a:rPr>
              <a:t>06</a:t>
            </a:r>
            <a:endParaRPr lang="en-US" sz="3000" dirty="0"/>
          </a:p>
        </p:txBody>
      </p:sp>
      <p:pic>
        <p:nvPicPr>
          <p:cNvPr id="30" name="a-up-w-agi5" descr="/tmp/claude-0/-home-user-done/4a4296a4-6fd8-5cee-98c2-5de0aee80c99/scratchpad/docs/img/icons/check-b.png">    </p:cNvPr>
          <p:cNvPicPr>
            <a:picLocks noChangeAspect="1"/>
          </p:cNvPicPr>
          <p:nvPr/>
        </p:nvPicPr>
        <p:blipFill>
          <a:blip r:embed="rId6"/>
          <a:stretch>
            <a:fillRect/>
          </a:stretch>
        </p:blipFill>
        <p:spPr>
          <a:xfrm>
            <a:off x="10789920" y="4187952"/>
            <a:ext cx="411480" cy="411480"/>
          </a:xfrm>
          <a:prstGeom prst="rect">
            <a:avLst/>
          </a:prstGeom>
        </p:spPr>
      </p:pic>
      <p:sp>
        <p:nvSpPr>
          <p:cNvPr id="31" name="a-up-w-agt5"/>
          <p:cNvSpPr txBox="1"/>
          <p:nvPr/>
        </p:nvSpPr>
        <p:spPr>
          <a:xfrm>
            <a:off x="8366760" y="4800600"/>
            <a:ext cx="2926080" cy="411480"/>
          </a:xfrm>
          <a:prstGeom prst="rect">
            <a:avLst/>
          </a:prstGeom>
          <a:noFill/>
          <a:ln/>
        </p:spPr>
        <p:txBody>
          <a:bodyPr wrap="square" lIns="0" tIns="0" rIns="0" bIns="0" rtlCol="0" anchor="t"/>
          <a:lstStyle/>
          <a:p>
            <a:pPr indent="0" marL="0">
              <a:buNone/>
            </a:pPr>
            <a:r>
              <a:rPr lang="en-US" sz="2000" b="1" dirty="0">
                <a:solidFill>
                  <a:schemeClr val="tx2"/>
                </a:solidFill>
              </a:rPr>
              <a:t>Quality</a:t>
            </a:r>
            <a:endParaRPr lang="en-US" sz="2000" dirty="0"/>
          </a:p>
        </p:txBody>
      </p:sp>
      <p:sp>
        <p:nvSpPr>
          <p:cNvPr id="32" name="a-up-w-agd5"/>
          <p:cNvSpPr txBox="1"/>
          <p:nvPr/>
        </p:nvSpPr>
        <p:spPr>
          <a:xfrm>
            <a:off x="8366760" y="5257800"/>
            <a:ext cx="2926080" cy="457200"/>
          </a:xfrm>
          <a:prstGeom prst="rect">
            <a:avLst/>
          </a:prstGeom>
          <a:noFill/>
          <a:ln/>
        </p:spPr>
        <p:txBody>
          <a:bodyPr wrap="square" lIns="0" tIns="0" rIns="0" bIns="0" rtlCol="0" anchor="t"/>
          <a:lstStyle/>
          <a:p>
            <a:pPr indent="0" marL="0">
              <a:buNone/>
            </a:pPr>
            <a:r>
              <a:rPr lang="en-US" sz="1400" dirty="0">
                <a:solidFill>
                  <a:schemeClr val="accent6"/>
                </a:solidFill>
              </a:rPr>
              <a:t>Testing and how to run it</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0"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42" presetClass="entr" presetSubtype="0"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600"/>
                                        <p:tgtEl>
                                          <p:spTgt spid="3"/>
                                        </p:tgtEl>
                                      </p:cBhvr>
                                    </p:animEffect>
                                    <p:anim calcmode="lin" valueType="num">
                                      <p:cBhvr>
                                        <p:cTn id="9" dur="600" decel="100000" fill="hold"/>
                                        <p:tgtEl>
                                          <p:spTgt spid="3"/>
                                        </p:tgtEl>
                                        <p:attrNameLst>
                                          <p:attrName>ppt_x</p:attrName>
                                        </p:attrNameLst>
                                      </p:cBhvr>
                                      <p:tavLst>
                                        <p:tav tm="0">
                                          <p:val>
                                            <p:strVal val="#ppt_x"/>
                                          </p:val>
                                        </p:tav>
                                        <p:tav tm="100000">
                                          <p:val>
                                            <p:strVal val="#ppt_x"/>
                                          </p:val>
                                        </p:tav>
                                      </p:tavLst>
                                    </p:anim>
                                    <p:anim calcmode="lin" valueType="num">
                                      <p:cBhvr>
                                        <p:cTn id="10" dur="600" decel="100000" fill="hold"/>
                                        <p:tgtEl>
                                          <p:spTgt spid="3"/>
                                        </p:tgtEl>
                                        <p:attrNameLst>
                                          <p:attrName>ppt_y</p:attrName>
                                        </p:attrNameLst>
                                      </p:cBhvr>
                                      <p:tavLst>
                                        <p:tav tm="0">
                                          <p:val>
                                            <p:strVal val="#ppt_y+.08"/>
                                          </p:val>
                                        </p:tav>
                                        <p:tav tm="100000">
                                          <p:val>
                                            <p:strVal val="#ppt_y"/>
                                          </p:val>
                                        </p:tav>
                                      </p:tavLst>
                                    </p:anim>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anim calcmode="lin" valueType="num">
                                      <p:cBhvr>
                                        <p:cTn id="14" dur="600" decel="100000" fill="hold"/>
                                        <p:tgtEl>
                                          <p:spTgt spid="4"/>
                                        </p:tgtEl>
                                        <p:attrNameLst>
                                          <p:attrName>ppt_x</p:attrName>
                                        </p:attrNameLst>
                                      </p:cBhvr>
                                      <p:tavLst>
                                        <p:tav tm="0">
                                          <p:val>
                                            <p:strVal val="#ppt_x"/>
                                          </p:val>
                                        </p:tav>
                                        <p:tav tm="100000">
                                          <p:val>
                                            <p:strVal val="#ppt_x"/>
                                          </p:val>
                                        </p:tav>
                                      </p:tavLst>
                                    </p:anim>
                                    <p:anim calcmode="lin" valueType="num">
                                      <p:cBhvr>
                                        <p:cTn id="15" dur="600" decel="100000" fill="hold"/>
                                        <p:tgtEl>
                                          <p:spTgt spid="4"/>
                                        </p:tgtEl>
                                        <p:attrNameLst>
                                          <p:attrName>ppt_y</p:attrName>
                                        </p:attrNameLst>
                                      </p:cBhvr>
                                      <p:tavLst>
                                        <p:tav tm="0">
                                          <p:val>
                                            <p:strVal val="#ppt_y+.08"/>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
                                          </p:val>
                                        </p:tav>
                                        <p:tav tm="100000">
                                          <p:val>
                                            <p:strVal val="#ppt_x"/>
                                          </p:val>
                                        </p:tav>
                                      </p:tavLst>
                                    </p:anim>
                                    <p:anim calcmode="lin" valueType="num">
                                      <p:cBhvr>
                                        <p:cTn id="20" dur="600" decel="100000" fill="hold"/>
                                        <p:tgtEl>
                                          <p:spTgt spid="5"/>
                                        </p:tgtEl>
                                        <p:attrNameLst>
                                          <p:attrName>ppt_y</p:attrName>
                                        </p:attrNameLst>
                                      </p:cBhvr>
                                      <p:tavLst>
                                        <p:tav tm="0">
                                          <p:val>
                                            <p:strVal val="#ppt_y+.08"/>
                                          </p:val>
                                        </p:tav>
                                        <p:tav tm="100000">
                                          <p:val>
                                            <p:strVal val="#ppt_y"/>
                                          </p:val>
                                        </p:tav>
                                      </p:tavLst>
                                    </p:anim>
                                  </p:childTnLst>
                                </p:cTn>
                              </p:par>
                              <p:par>
                                <p:cTn id="26" presetID="42" presetClass="entr" presetSubtype="0"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
                                          </p:val>
                                        </p:tav>
                                        <p:tav tm="100000">
                                          <p:val>
                                            <p:strVal val="#ppt_x"/>
                                          </p:val>
                                        </p:tav>
                                      </p:tavLst>
                                    </p:anim>
                                    <p:anim calcmode="lin" valueType="num">
                                      <p:cBhvr>
                                        <p:cTn id="25" dur="600" decel="100000" fill="hold"/>
                                        <p:tgtEl>
                                          <p:spTgt spid="6"/>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2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
                                          </p:val>
                                        </p:tav>
                                        <p:tav tm="100000">
                                          <p:val>
                                            <p:strVal val="#ppt_x"/>
                                          </p:val>
                                        </p:tav>
                                      </p:tavLst>
                                    </p:anim>
                                    <p:anim calcmode="lin" valueType="num">
                                      <p:cBhvr>
                                        <p:cTn id="30" dur="600" decel="100000" fill="hold"/>
                                        <p:tgtEl>
                                          <p:spTgt spid="7"/>
                                        </p:tgtEl>
                                        <p:attrNameLst>
                                          <p:attrName>ppt_y</p:attrName>
                                        </p:attrNameLst>
                                      </p:cBhvr>
                                      <p:tavLst>
                                        <p:tav tm="0">
                                          <p:val>
                                            <p:strVal val="#ppt_y+.08"/>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
                                          </p:val>
                                        </p:tav>
                                        <p:tav tm="100000">
                                          <p:val>
                                            <p:strVal val="#ppt_x"/>
                                          </p:val>
                                        </p:tav>
                                      </p:tavLst>
                                    </p:anim>
                                    <p:anim calcmode="lin" valueType="num">
                                      <p:cBhvr>
                                        <p:cTn id="35" dur="600" decel="100000" fill="hold"/>
                                        <p:tgtEl>
                                          <p:spTgt spid="8"/>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4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
                                          </p:val>
                                        </p:tav>
                                        <p:tav tm="100000">
                                          <p:val>
                                            <p:strVal val="#ppt_x"/>
                                          </p:val>
                                        </p:tav>
                                      </p:tavLst>
                                    </p:anim>
                                    <p:anim calcmode="lin" valueType="num">
                                      <p:cBhvr>
                                        <p:cTn id="40" dur="600" decel="100000" fill="hold"/>
                                        <p:tgtEl>
                                          <p:spTgt spid="9"/>
                                        </p:tgtEl>
                                        <p:attrNameLst>
                                          <p:attrName>ppt_y</p:attrName>
                                        </p:attrNameLst>
                                      </p:cBhvr>
                                      <p:tavLst>
                                        <p:tav tm="0">
                                          <p:val>
                                            <p:strVal val="#ppt_y+.08"/>
                                          </p:val>
                                        </p:tav>
                                        <p:tav tm="100000">
                                          <p:val>
                                            <p:strVal val="#ppt_y"/>
                                          </p:val>
                                        </p:tav>
                                      </p:tavLst>
                                    </p:anim>
                                  </p:childTnLst>
                                </p:cTn>
                              </p:par>
                              <p:par>
                                <p:cTn id="46" presetID="42" presetClass="entr" presetSubtype="0" fill="hold" grpId="0" nodeType="withEffect">
                                  <p:stCondLst>
                                    <p:cond delay="4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
                                          </p:val>
                                        </p:tav>
                                        <p:tav tm="100000">
                                          <p:val>
                                            <p:strVal val="#ppt_x"/>
                                          </p:val>
                                        </p:tav>
                                      </p:tavLst>
                                    </p:anim>
                                    <p:anim calcmode="lin" valueType="num">
                                      <p:cBhvr>
                                        <p:cTn id="45" dur="600" decel="100000" fill="hold"/>
                                        <p:tgtEl>
                                          <p:spTgt spid="10"/>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4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
                                          </p:val>
                                        </p:tav>
                                        <p:tav tm="100000">
                                          <p:val>
                                            <p:strVal val="#ppt_x"/>
                                          </p:val>
                                        </p:tav>
                                      </p:tavLst>
                                    </p:anim>
                                    <p:anim calcmode="lin" valueType="num">
                                      <p:cBhvr>
                                        <p:cTn id="50" dur="600" decel="100000" fill="hold"/>
                                        <p:tgtEl>
                                          <p:spTgt spid="11"/>
                                        </p:tgtEl>
                                        <p:attrNameLst>
                                          <p:attrName>ppt_y</p:attrName>
                                        </p:attrNameLst>
                                      </p:cBhvr>
                                      <p:tavLst>
                                        <p:tav tm="0">
                                          <p:val>
                                            <p:strVal val="#ppt_y+.08"/>
                                          </p:val>
                                        </p:tav>
                                        <p:tav tm="100000">
                                          <p:val>
                                            <p:strVal val="#ppt_y"/>
                                          </p:val>
                                        </p:tav>
                                      </p:tavLst>
                                    </p:anim>
                                  </p:childTnLst>
                                </p:cTn>
                              </p:par>
                              <p:par>
                                <p:cTn id="56" presetID="42" presetClass="entr" presetSubtype="0" fill="hold" grpId="0" nodeType="withEffect">
                                  <p:stCondLst>
                                    <p:cond delay="4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
                                          </p:val>
                                        </p:tav>
                                        <p:tav tm="100000">
                                          <p:val>
                                            <p:strVal val="#ppt_x"/>
                                          </p:val>
                                        </p:tav>
                                      </p:tavLst>
                                    </p:anim>
                                    <p:anim calcmode="lin" valueType="num">
                                      <p:cBhvr>
                                        <p:cTn id="55" dur="600" decel="100000" fill="hold"/>
                                        <p:tgtEl>
                                          <p:spTgt spid="12"/>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6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
                                          </p:val>
                                        </p:tav>
                                        <p:tav tm="100000">
                                          <p:val>
                                            <p:strVal val="#ppt_x"/>
                                          </p:val>
                                        </p:tav>
                                      </p:tavLst>
                                    </p:anim>
                                    <p:anim calcmode="lin" valueType="num">
                                      <p:cBhvr>
                                        <p:cTn id="60" dur="600" decel="100000" fill="hold"/>
                                        <p:tgtEl>
                                          <p:spTgt spid="13"/>
                                        </p:tgtEl>
                                        <p:attrNameLst>
                                          <p:attrName>ppt_y</p:attrName>
                                        </p:attrNameLst>
                                      </p:cBhvr>
                                      <p:tavLst>
                                        <p:tav tm="0">
                                          <p:val>
                                            <p:strVal val="#ppt_y+.08"/>
                                          </p:val>
                                        </p:tav>
                                        <p:tav tm="100000">
                                          <p:val>
                                            <p:strVal val="#ppt_y"/>
                                          </p:val>
                                        </p:tav>
                                      </p:tavLst>
                                    </p:anim>
                                  </p:childTnLst>
                                </p:cTn>
                              </p:par>
                              <p:par>
                                <p:cTn id="66" presetID="42" presetClass="entr" presetSubtype="0" fill="hold" grpId="0" nodeType="withEffect">
                                  <p:stCondLst>
                                    <p:cond delay="6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
                                          </p:val>
                                        </p:tav>
                                        <p:tav tm="100000">
                                          <p:val>
                                            <p:strVal val="#ppt_x"/>
                                          </p:val>
                                        </p:tav>
                                      </p:tavLst>
                                    </p:anim>
                                    <p:anim calcmode="lin" valueType="num">
                                      <p:cBhvr>
                                        <p:cTn id="65" dur="600" decel="100000" fill="hold"/>
                                        <p:tgtEl>
                                          <p:spTgt spid="14"/>
                                        </p:tgtEl>
                                        <p:attrNameLst>
                                          <p:attrName>ppt_y</p:attrName>
                                        </p:attrNameLst>
                                      </p:cBhvr>
                                      <p:tavLst>
                                        <p:tav tm="0">
                                          <p:val>
                                            <p:strVal val="#ppt_y+.08"/>
                                          </p:val>
                                        </p:tav>
                                        <p:tav tm="100000">
                                          <p:val>
                                            <p:strVal val="#ppt_y"/>
                                          </p:val>
                                        </p:tav>
                                      </p:tavLst>
                                    </p:anim>
                                  </p:childTnLst>
                                </p:cTn>
                              </p:par>
                              <p:par>
                                <p:cTn id="71" presetID="42" presetClass="entr" presetSubtype="0" fill="hold" grpId="0" nodeType="withEffect">
                                  <p:stCondLst>
                                    <p:cond delay="6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p:cTn id="69" dur="600" decel="100000" fill="hold"/>
                                        <p:tgtEl>
                                          <p:spTgt spid="15"/>
                                        </p:tgtEl>
                                        <p:attrNameLst>
                                          <p:attrName>ppt_x</p:attrName>
                                        </p:attrNameLst>
                                      </p:cBhvr>
                                      <p:tavLst>
                                        <p:tav tm="0">
                                          <p:val>
                                            <p:strVal val="#ppt_x"/>
                                          </p:val>
                                        </p:tav>
                                        <p:tav tm="100000">
                                          <p:val>
                                            <p:strVal val="#ppt_x"/>
                                          </p:val>
                                        </p:tav>
                                      </p:tavLst>
                                    </p:anim>
                                    <p:anim calcmode="lin" valueType="num">
                                      <p:cBhvr>
                                        <p:cTn id="70" dur="600" decel="100000" fill="hold"/>
                                        <p:tgtEl>
                                          <p:spTgt spid="15"/>
                                        </p:tgtEl>
                                        <p:attrNameLst>
                                          <p:attrName>ppt_y</p:attrName>
                                        </p:attrNameLst>
                                      </p:cBhvr>
                                      <p:tavLst>
                                        <p:tav tm="0">
                                          <p:val>
                                            <p:strVal val="#ppt_y+.08"/>
                                          </p:val>
                                        </p:tav>
                                        <p:tav tm="100000">
                                          <p:val>
                                            <p:strVal val="#ppt_y"/>
                                          </p:val>
                                        </p:tav>
                                      </p:tavLst>
                                    </p:anim>
                                  </p:childTnLst>
                                </p:cTn>
                              </p:par>
                              <p:par>
                                <p:cTn id="76" presetID="42" presetClass="entr" presetSubtype="0" fill="hold" grpId="0" nodeType="withEffect">
                                  <p:stCondLst>
                                    <p:cond delay="6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decel="1000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8"/>
                                          </p:val>
                                        </p:tav>
                                        <p:tav tm="100000">
                                          <p:val>
                                            <p:strVal val="#ppt_y"/>
                                          </p:val>
                                        </p:tav>
                                      </p:tavLst>
                                    </p:anim>
                                  </p:childTnLst>
                                </p:cTn>
                              </p:par>
                              <p:par>
                                <p:cTn id="81" presetID="42" presetClass="entr" presetSubtype="0" fill="hold" grpId="0" nodeType="withEffect">
                                  <p:stCondLst>
                                    <p:cond delay="6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600"/>
                                        <p:tgtEl>
                                          <p:spTgt spid="17"/>
                                        </p:tgtEl>
                                      </p:cBhvr>
                                    </p:animEffect>
                                    <p:anim calcmode="lin" valueType="num">
                                      <p:cBhvr>
                                        <p:cTn id="79" dur="600" decel="100000" fill="hold"/>
                                        <p:tgtEl>
                                          <p:spTgt spid="17"/>
                                        </p:tgtEl>
                                        <p:attrNameLst>
                                          <p:attrName>ppt_x</p:attrName>
                                        </p:attrNameLst>
                                      </p:cBhvr>
                                      <p:tavLst>
                                        <p:tav tm="0">
                                          <p:val>
                                            <p:strVal val="#ppt_x"/>
                                          </p:val>
                                        </p:tav>
                                        <p:tav tm="100000">
                                          <p:val>
                                            <p:strVal val="#ppt_x"/>
                                          </p:val>
                                        </p:tav>
                                      </p:tavLst>
                                    </p:anim>
                                    <p:anim calcmode="lin" valueType="num">
                                      <p:cBhvr>
                                        <p:cTn id="80" dur="600" decel="100000" fill="hold"/>
                                        <p:tgtEl>
                                          <p:spTgt spid="17"/>
                                        </p:tgtEl>
                                        <p:attrNameLst>
                                          <p:attrName>ppt_y</p:attrName>
                                        </p:attrNameLst>
                                      </p:cBhvr>
                                      <p:tavLst>
                                        <p:tav tm="0">
                                          <p:val>
                                            <p:strVal val="#ppt_y+.08"/>
                                          </p:val>
                                        </p:tav>
                                        <p:tav tm="100000">
                                          <p:val>
                                            <p:strVal val="#ppt_y"/>
                                          </p:val>
                                        </p:tav>
                                      </p:tavLst>
                                    </p:anim>
                                  </p:childTnLst>
                                </p:cTn>
                              </p:par>
                              <p:par>
                                <p:cTn id="86" presetID="42" presetClass="entr" presetSubtype="0" fill="hold" grpId="0" nodeType="withEffect">
                                  <p:stCondLst>
                                    <p:cond delay="8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600"/>
                                        <p:tgtEl>
                                          <p:spTgt spid="18"/>
                                        </p:tgtEl>
                                      </p:cBhvr>
                                    </p:animEffect>
                                    <p:anim calcmode="lin" valueType="num">
                                      <p:cBhvr>
                                        <p:cTn id="84" dur="600" decel="100000" fill="hold"/>
                                        <p:tgtEl>
                                          <p:spTgt spid="18"/>
                                        </p:tgtEl>
                                        <p:attrNameLst>
                                          <p:attrName>ppt_x</p:attrName>
                                        </p:attrNameLst>
                                      </p:cBhvr>
                                      <p:tavLst>
                                        <p:tav tm="0">
                                          <p:val>
                                            <p:strVal val="#ppt_x"/>
                                          </p:val>
                                        </p:tav>
                                        <p:tav tm="100000">
                                          <p:val>
                                            <p:strVal val="#ppt_x"/>
                                          </p:val>
                                        </p:tav>
                                      </p:tavLst>
                                    </p:anim>
                                    <p:anim calcmode="lin" valueType="num">
                                      <p:cBhvr>
                                        <p:cTn id="85" dur="600" decel="100000" fill="hold"/>
                                        <p:tgtEl>
                                          <p:spTgt spid="18"/>
                                        </p:tgtEl>
                                        <p:attrNameLst>
                                          <p:attrName>ppt_y</p:attrName>
                                        </p:attrNameLst>
                                      </p:cBhvr>
                                      <p:tavLst>
                                        <p:tav tm="0">
                                          <p:val>
                                            <p:strVal val="#ppt_y+.08"/>
                                          </p:val>
                                        </p:tav>
                                        <p:tav tm="100000">
                                          <p:val>
                                            <p:strVal val="#ppt_y"/>
                                          </p:val>
                                        </p:tav>
                                      </p:tavLst>
                                    </p:anim>
                                  </p:childTnLst>
                                </p:cTn>
                              </p:par>
                              <p:par>
                                <p:cTn id="91" presetID="42" presetClass="entr" presetSubtype="0" fill="hold" grpId="0" nodeType="withEffect">
                                  <p:stCondLst>
                                    <p:cond delay="8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600"/>
                                        <p:tgtEl>
                                          <p:spTgt spid="19"/>
                                        </p:tgtEl>
                                      </p:cBhvr>
                                    </p:animEffect>
                                    <p:anim calcmode="lin" valueType="num">
                                      <p:cBhvr>
                                        <p:cTn id="89" dur="600" decel="100000" fill="hold"/>
                                        <p:tgtEl>
                                          <p:spTgt spid="19"/>
                                        </p:tgtEl>
                                        <p:attrNameLst>
                                          <p:attrName>ppt_x</p:attrName>
                                        </p:attrNameLst>
                                      </p:cBhvr>
                                      <p:tavLst>
                                        <p:tav tm="0">
                                          <p:val>
                                            <p:strVal val="#ppt_x"/>
                                          </p:val>
                                        </p:tav>
                                        <p:tav tm="100000">
                                          <p:val>
                                            <p:strVal val="#ppt_x"/>
                                          </p:val>
                                        </p:tav>
                                      </p:tavLst>
                                    </p:anim>
                                    <p:anim calcmode="lin" valueType="num">
                                      <p:cBhvr>
                                        <p:cTn id="90" dur="600" decel="100000" fill="hold"/>
                                        <p:tgtEl>
                                          <p:spTgt spid="19"/>
                                        </p:tgtEl>
                                        <p:attrNameLst>
                                          <p:attrName>ppt_y</p:attrName>
                                        </p:attrNameLst>
                                      </p:cBhvr>
                                      <p:tavLst>
                                        <p:tav tm="0">
                                          <p:val>
                                            <p:strVal val="#ppt_y+.08"/>
                                          </p:val>
                                        </p:tav>
                                        <p:tav tm="100000">
                                          <p:val>
                                            <p:strVal val="#ppt_y"/>
                                          </p:val>
                                        </p:tav>
                                      </p:tavLst>
                                    </p:anim>
                                  </p:childTnLst>
                                </p:cTn>
                              </p:par>
                              <p:par>
                                <p:cTn id="96" presetID="42" presetClass="entr" presetSubtype="0" fill="hold" grpId="0" nodeType="withEffect">
                                  <p:stCondLst>
                                    <p:cond delay="8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600"/>
                                        <p:tgtEl>
                                          <p:spTgt spid="20"/>
                                        </p:tgtEl>
                                      </p:cBhvr>
                                    </p:animEffect>
                                    <p:anim calcmode="lin" valueType="num">
                                      <p:cBhvr>
                                        <p:cTn id="94" dur="600" decel="100000" fill="hold"/>
                                        <p:tgtEl>
                                          <p:spTgt spid="20"/>
                                        </p:tgtEl>
                                        <p:attrNameLst>
                                          <p:attrName>ppt_x</p:attrName>
                                        </p:attrNameLst>
                                      </p:cBhvr>
                                      <p:tavLst>
                                        <p:tav tm="0">
                                          <p:val>
                                            <p:strVal val="#ppt_x"/>
                                          </p:val>
                                        </p:tav>
                                        <p:tav tm="100000">
                                          <p:val>
                                            <p:strVal val="#ppt_x"/>
                                          </p:val>
                                        </p:tav>
                                      </p:tavLst>
                                    </p:anim>
                                    <p:anim calcmode="lin" valueType="num">
                                      <p:cBhvr>
                                        <p:cTn id="95" dur="600" decel="100000" fill="hold"/>
                                        <p:tgtEl>
                                          <p:spTgt spid="20"/>
                                        </p:tgtEl>
                                        <p:attrNameLst>
                                          <p:attrName>ppt_y</p:attrName>
                                        </p:attrNameLst>
                                      </p:cBhvr>
                                      <p:tavLst>
                                        <p:tav tm="0">
                                          <p:val>
                                            <p:strVal val="#ppt_y+.08"/>
                                          </p:val>
                                        </p:tav>
                                        <p:tav tm="100000">
                                          <p:val>
                                            <p:strVal val="#ppt_y"/>
                                          </p:val>
                                        </p:tav>
                                      </p:tavLst>
                                    </p:anim>
                                  </p:childTnLst>
                                </p:cTn>
                              </p:par>
                              <p:par>
                                <p:cTn id="101" presetID="42" presetClass="entr" presetSubtype="0" fill="hold" grpId="0" nodeType="withEffect">
                                  <p:stCondLst>
                                    <p:cond delay="8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600"/>
                                        <p:tgtEl>
                                          <p:spTgt spid="21"/>
                                        </p:tgtEl>
                                      </p:cBhvr>
                                    </p:animEffect>
                                    <p:anim calcmode="lin" valueType="num">
                                      <p:cBhvr>
                                        <p:cTn id="99" dur="600" decel="100000" fill="hold"/>
                                        <p:tgtEl>
                                          <p:spTgt spid="21"/>
                                        </p:tgtEl>
                                        <p:attrNameLst>
                                          <p:attrName>ppt_x</p:attrName>
                                        </p:attrNameLst>
                                      </p:cBhvr>
                                      <p:tavLst>
                                        <p:tav tm="0">
                                          <p:val>
                                            <p:strVal val="#ppt_x"/>
                                          </p:val>
                                        </p:tav>
                                        <p:tav tm="100000">
                                          <p:val>
                                            <p:strVal val="#ppt_x"/>
                                          </p:val>
                                        </p:tav>
                                      </p:tavLst>
                                    </p:anim>
                                    <p:anim calcmode="lin" valueType="num">
                                      <p:cBhvr>
                                        <p:cTn id="100" dur="600" decel="100000" fill="hold"/>
                                        <p:tgtEl>
                                          <p:spTgt spid="21"/>
                                        </p:tgtEl>
                                        <p:attrNameLst>
                                          <p:attrName>ppt_y</p:attrName>
                                        </p:attrNameLst>
                                      </p:cBhvr>
                                      <p:tavLst>
                                        <p:tav tm="0">
                                          <p:val>
                                            <p:strVal val="#ppt_y+.08"/>
                                          </p:val>
                                        </p:tav>
                                        <p:tav tm="100000">
                                          <p:val>
                                            <p:strVal val="#ppt_y"/>
                                          </p:val>
                                        </p:tav>
                                      </p:tavLst>
                                    </p:anim>
                                  </p:childTnLst>
                                </p:cTn>
                              </p:par>
                              <p:par>
                                <p:cTn id="106" presetID="42" presetClass="entr" presetSubtype="0" fill="hold" grpId="0" nodeType="withEffect">
                                  <p:stCondLst>
                                    <p:cond delay="8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600"/>
                                        <p:tgtEl>
                                          <p:spTgt spid="22"/>
                                        </p:tgtEl>
                                      </p:cBhvr>
                                    </p:animEffect>
                                    <p:anim calcmode="lin" valueType="num">
                                      <p:cBhvr>
                                        <p:cTn id="104" dur="600" decel="100000" fill="hold"/>
                                        <p:tgtEl>
                                          <p:spTgt spid="22"/>
                                        </p:tgtEl>
                                        <p:attrNameLst>
                                          <p:attrName>ppt_x</p:attrName>
                                        </p:attrNameLst>
                                      </p:cBhvr>
                                      <p:tavLst>
                                        <p:tav tm="0">
                                          <p:val>
                                            <p:strVal val="#ppt_x"/>
                                          </p:val>
                                        </p:tav>
                                        <p:tav tm="100000">
                                          <p:val>
                                            <p:strVal val="#ppt_x"/>
                                          </p:val>
                                        </p:tav>
                                      </p:tavLst>
                                    </p:anim>
                                    <p:anim calcmode="lin" valueType="num">
                                      <p:cBhvr>
                                        <p:cTn id="105" dur="600" decel="100000" fill="hold"/>
                                        <p:tgtEl>
                                          <p:spTgt spid="22"/>
                                        </p:tgtEl>
                                        <p:attrNameLst>
                                          <p:attrName>ppt_y</p:attrName>
                                        </p:attrNameLst>
                                      </p:cBhvr>
                                      <p:tavLst>
                                        <p:tav tm="0">
                                          <p:val>
                                            <p:strVal val="#ppt_y+.08"/>
                                          </p:val>
                                        </p:tav>
                                        <p:tav tm="100000">
                                          <p:val>
                                            <p:strVal val="#ppt_y"/>
                                          </p:val>
                                        </p:tav>
                                      </p:tavLst>
                                    </p:anim>
                                  </p:childTnLst>
                                </p:cTn>
                              </p:par>
                              <p:par>
                                <p:cTn id="111" presetID="42" presetClass="entr" presetSubtype="0" fill="hold" grpId="0" nodeType="withEffect">
                                  <p:stCondLst>
                                    <p:cond delay="10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600"/>
                                        <p:tgtEl>
                                          <p:spTgt spid="23"/>
                                        </p:tgtEl>
                                      </p:cBhvr>
                                    </p:animEffect>
                                    <p:anim calcmode="lin" valueType="num">
                                      <p:cBhvr>
                                        <p:cTn id="109" dur="600" decel="100000" fill="hold"/>
                                        <p:tgtEl>
                                          <p:spTgt spid="23"/>
                                        </p:tgtEl>
                                        <p:attrNameLst>
                                          <p:attrName>ppt_x</p:attrName>
                                        </p:attrNameLst>
                                      </p:cBhvr>
                                      <p:tavLst>
                                        <p:tav tm="0">
                                          <p:val>
                                            <p:strVal val="#ppt_x"/>
                                          </p:val>
                                        </p:tav>
                                        <p:tav tm="100000">
                                          <p:val>
                                            <p:strVal val="#ppt_x"/>
                                          </p:val>
                                        </p:tav>
                                      </p:tavLst>
                                    </p:anim>
                                    <p:anim calcmode="lin" valueType="num">
                                      <p:cBhvr>
                                        <p:cTn id="110" dur="600" decel="100000" fill="hold"/>
                                        <p:tgtEl>
                                          <p:spTgt spid="23"/>
                                        </p:tgtEl>
                                        <p:attrNameLst>
                                          <p:attrName>ppt_y</p:attrName>
                                        </p:attrNameLst>
                                      </p:cBhvr>
                                      <p:tavLst>
                                        <p:tav tm="0">
                                          <p:val>
                                            <p:strVal val="#ppt_y+.08"/>
                                          </p:val>
                                        </p:tav>
                                        <p:tav tm="100000">
                                          <p:val>
                                            <p:strVal val="#ppt_y"/>
                                          </p:val>
                                        </p:tav>
                                      </p:tavLst>
                                    </p:anim>
                                  </p:childTnLst>
                                </p:cTn>
                              </p:par>
                              <p:par>
                                <p:cTn id="116" presetID="42" presetClass="entr" presetSubtype="0" fill="hold" grpId="0" nodeType="withEffect">
                                  <p:stCondLst>
                                    <p:cond delay="10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600"/>
                                        <p:tgtEl>
                                          <p:spTgt spid="24"/>
                                        </p:tgtEl>
                                      </p:cBhvr>
                                    </p:animEffect>
                                    <p:anim calcmode="lin" valueType="num">
                                      <p:cBhvr>
                                        <p:cTn id="114" dur="600" decel="100000" fill="hold"/>
                                        <p:tgtEl>
                                          <p:spTgt spid="24"/>
                                        </p:tgtEl>
                                        <p:attrNameLst>
                                          <p:attrName>ppt_x</p:attrName>
                                        </p:attrNameLst>
                                      </p:cBhvr>
                                      <p:tavLst>
                                        <p:tav tm="0">
                                          <p:val>
                                            <p:strVal val="#ppt_x"/>
                                          </p:val>
                                        </p:tav>
                                        <p:tav tm="100000">
                                          <p:val>
                                            <p:strVal val="#ppt_x"/>
                                          </p:val>
                                        </p:tav>
                                      </p:tavLst>
                                    </p:anim>
                                    <p:anim calcmode="lin" valueType="num">
                                      <p:cBhvr>
                                        <p:cTn id="115" dur="600" decel="100000" fill="hold"/>
                                        <p:tgtEl>
                                          <p:spTgt spid="24"/>
                                        </p:tgtEl>
                                        <p:attrNameLst>
                                          <p:attrName>ppt_y</p:attrName>
                                        </p:attrNameLst>
                                      </p:cBhvr>
                                      <p:tavLst>
                                        <p:tav tm="0">
                                          <p:val>
                                            <p:strVal val="#ppt_y+.08"/>
                                          </p:val>
                                        </p:tav>
                                        <p:tav tm="100000">
                                          <p:val>
                                            <p:strVal val="#ppt_y"/>
                                          </p:val>
                                        </p:tav>
                                      </p:tavLst>
                                    </p:anim>
                                  </p:childTnLst>
                                </p:cTn>
                              </p:par>
                              <p:par>
                                <p:cTn id="121" presetID="42" presetClass="entr" presetSubtype="0" fill="hold" grpId="0" nodeType="withEffect">
                                  <p:stCondLst>
                                    <p:cond delay="10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600"/>
                                        <p:tgtEl>
                                          <p:spTgt spid="25"/>
                                        </p:tgtEl>
                                      </p:cBhvr>
                                    </p:animEffect>
                                    <p:anim calcmode="lin" valueType="num">
                                      <p:cBhvr>
                                        <p:cTn id="119" dur="600" decel="100000" fill="hold"/>
                                        <p:tgtEl>
                                          <p:spTgt spid="25"/>
                                        </p:tgtEl>
                                        <p:attrNameLst>
                                          <p:attrName>ppt_x</p:attrName>
                                        </p:attrNameLst>
                                      </p:cBhvr>
                                      <p:tavLst>
                                        <p:tav tm="0">
                                          <p:val>
                                            <p:strVal val="#ppt_x"/>
                                          </p:val>
                                        </p:tav>
                                        <p:tav tm="100000">
                                          <p:val>
                                            <p:strVal val="#ppt_x"/>
                                          </p:val>
                                        </p:tav>
                                      </p:tavLst>
                                    </p:anim>
                                    <p:anim calcmode="lin" valueType="num">
                                      <p:cBhvr>
                                        <p:cTn id="120" dur="600" decel="100000" fill="hold"/>
                                        <p:tgtEl>
                                          <p:spTgt spid="25"/>
                                        </p:tgtEl>
                                        <p:attrNameLst>
                                          <p:attrName>ppt_y</p:attrName>
                                        </p:attrNameLst>
                                      </p:cBhvr>
                                      <p:tavLst>
                                        <p:tav tm="0">
                                          <p:val>
                                            <p:strVal val="#ppt_y+.08"/>
                                          </p:val>
                                        </p:tav>
                                        <p:tav tm="100000">
                                          <p:val>
                                            <p:strVal val="#ppt_y"/>
                                          </p:val>
                                        </p:tav>
                                      </p:tavLst>
                                    </p:anim>
                                  </p:childTnLst>
                                </p:cTn>
                              </p:par>
                              <p:par>
                                <p:cTn id="126" presetID="42" presetClass="entr" presetSubtype="0" fill="hold" grpId="0" nodeType="withEffect">
                                  <p:stCondLst>
                                    <p:cond delay="10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600"/>
                                        <p:tgtEl>
                                          <p:spTgt spid="26"/>
                                        </p:tgtEl>
                                      </p:cBhvr>
                                    </p:animEffect>
                                    <p:anim calcmode="lin" valueType="num">
                                      <p:cBhvr>
                                        <p:cTn id="124" dur="600" decel="100000" fill="hold"/>
                                        <p:tgtEl>
                                          <p:spTgt spid="26"/>
                                        </p:tgtEl>
                                        <p:attrNameLst>
                                          <p:attrName>ppt_x</p:attrName>
                                        </p:attrNameLst>
                                      </p:cBhvr>
                                      <p:tavLst>
                                        <p:tav tm="0">
                                          <p:val>
                                            <p:strVal val="#ppt_x"/>
                                          </p:val>
                                        </p:tav>
                                        <p:tav tm="100000">
                                          <p:val>
                                            <p:strVal val="#ppt_x"/>
                                          </p:val>
                                        </p:tav>
                                      </p:tavLst>
                                    </p:anim>
                                    <p:anim calcmode="lin" valueType="num">
                                      <p:cBhvr>
                                        <p:cTn id="125" dur="600" decel="100000" fill="hold"/>
                                        <p:tgtEl>
                                          <p:spTgt spid="26"/>
                                        </p:tgtEl>
                                        <p:attrNameLst>
                                          <p:attrName>ppt_y</p:attrName>
                                        </p:attrNameLst>
                                      </p:cBhvr>
                                      <p:tavLst>
                                        <p:tav tm="0">
                                          <p:val>
                                            <p:strVal val="#ppt_y+.08"/>
                                          </p:val>
                                        </p:tav>
                                        <p:tav tm="100000">
                                          <p:val>
                                            <p:strVal val="#ppt_y"/>
                                          </p:val>
                                        </p:tav>
                                      </p:tavLst>
                                    </p:anim>
                                  </p:childTnLst>
                                </p:cTn>
                              </p:par>
                              <p:par>
                                <p:cTn id="131" presetID="42" presetClass="entr" presetSubtype="0" fill="hold" grpId="0" nodeType="withEffect">
                                  <p:stCondLst>
                                    <p:cond delay="10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600"/>
                                        <p:tgtEl>
                                          <p:spTgt spid="27"/>
                                        </p:tgtEl>
                                      </p:cBhvr>
                                    </p:animEffect>
                                    <p:anim calcmode="lin" valueType="num">
                                      <p:cBhvr>
                                        <p:cTn id="129" dur="600" decel="100000" fill="hold"/>
                                        <p:tgtEl>
                                          <p:spTgt spid="27"/>
                                        </p:tgtEl>
                                        <p:attrNameLst>
                                          <p:attrName>ppt_x</p:attrName>
                                        </p:attrNameLst>
                                      </p:cBhvr>
                                      <p:tavLst>
                                        <p:tav tm="0">
                                          <p:val>
                                            <p:strVal val="#ppt_x"/>
                                          </p:val>
                                        </p:tav>
                                        <p:tav tm="100000">
                                          <p:val>
                                            <p:strVal val="#ppt_x"/>
                                          </p:val>
                                        </p:tav>
                                      </p:tavLst>
                                    </p:anim>
                                    <p:anim calcmode="lin" valueType="num">
                                      <p:cBhvr>
                                        <p:cTn id="130" dur="600" decel="100000" fill="hold"/>
                                        <p:tgtEl>
                                          <p:spTgt spid="27"/>
                                        </p:tgtEl>
                                        <p:attrNameLst>
                                          <p:attrName>ppt_y</p:attrName>
                                        </p:attrNameLst>
                                      </p:cBhvr>
                                      <p:tavLst>
                                        <p:tav tm="0">
                                          <p:val>
                                            <p:strVal val="#ppt_y+.08"/>
                                          </p:val>
                                        </p:tav>
                                        <p:tav tm="100000">
                                          <p:val>
                                            <p:strVal val="#ppt_y"/>
                                          </p:val>
                                        </p:tav>
                                      </p:tavLst>
                                    </p:anim>
                                  </p:childTnLst>
                                </p:cTn>
                              </p:par>
                              <p:par>
                                <p:cTn id="136" presetID="42" presetClass="entr" presetSubtype="0" fill="hold" grpId="0" nodeType="withEffect">
                                  <p:stCondLst>
                                    <p:cond delay="12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600"/>
                                        <p:tgtEl>
                                          <p:spTgt spid="28"/>
                                        </p:tgtEl>
                                      </p:cBhvr>
                                    </p:animEffect>
                                    <p:anim calcmode="lin" valueType="num">
                                      <p:cBhvr>
                                        <p:cTn id="134" dur="600" decel="100000" fill="hold"/>
                                        <p:tgtEl>
                                          <p:spTgt spid="28"/>
                                        </p:tgtEl>
                                        <p:attrNameLst>
                                          <p:attrName>ppt_x</p:attrName>
                                        </p:attrNameLst>
                                      </p:cBhvr>
                                      <p:tavLst>
                                        <p:tav tm="0">
                                          <p:val>
                                            <p:strVal val="#ppt_x"/>
                                          </p:val>
                                        </p:tav>
                                        <p:tav tm="100000">
                                          <p:val>
                                            <p:strVal val="#ppt_x"/>
                                          </p:val>
                                        </p:tav>
                                      </p:tavLst>
                                    </p:anim>
                                    <p:anim calcmode="lin" valueType="num">
                                      <p:cBhvr>
                                        <p:cTn id="135" dur="600" decel="100000" fill="hold"/>
                                        <p:tgtEl>
                                          <p:spTgt spid="28"/>
                                        </p:tgtEl>
                                        <p:attrNameLst>
                                          <p:attrName>ppt_y</p:attrName>
                                        </p:attrNameLst>
                                      </p:cBhvr>
                                      <p:tavLst>
                                        <p:tav tm="0">
                                          <p:val>
                                            <p:strVal val="#ppt_y+.08"/>
                                          </p:val>
                                        </p:tav>
                                        <p:tav tm="100000">
                                          <p:val>
                                            <p:strVal val="#ppt_y"/>
                                          </p:val>
                                        </p:tav>
                                      </p:tavLst>
                                    </p:anim>
                                  </p:childTnLst>
                                </p:cTn>
                              </p:par>
                              <p:par>
                                <p:cTn id="141" presetID="42" presetClass="entr" presetSubtype="0" fill="hold" grpId="0" nodeType="withEffect">
                                  <p:stCondLst>
                                    <p:cond delay="12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600"/>
                                        <p:tgtEl>
                                          <p:spTgt spid="29"/>
                                        </p:tgtEl>
                                      </p:cBhvr>
                                    </p:animEffect>
                                    <p:anim calcmode="lin" valueType="num">
                                      <p:cBhvr>
                                        <p:cTn id="139" dur="600" decel="100000" fill="hold"/>
                                        <p:tgtEl>
                                          <p:spTgt spid="29"/>
                                        </p:tgtEl>
                                        <p:attrNameLst>
                                          <p:attrName>ppt_x</p:attrName>
                                        </p:attrNameLst>
                                      </p:cBhvr>
                                      <p:tavLst>
                                        <p:tav tm="0">
                                          <p:val>
                                            <p:strVal val="#ppt_x"/>
                                          </p:val>
                                        </p:tav>
                                        <p:tav tm="100000">
                                          <p:val>
                                            <p:strVal val="#ppt_x"/>
                                          </p:val>
                                        </p:tav>
                                      </p:tavLst>
                                    </p:anim>
                                    <p:anim calcmode="lin" valueType="num">
                                      <p:cBhvr>
                                        <p:cTn id="140" dur="600" decel="100000" fill="hold"/>
                                        <p:tgtEl>
                                          <p:spTgt spid="29"/>
                                        </p:tgtEl>
                                        <p:attrNameLst>
                                          <p:attrName>ppt_y</p:attrName>
                                        </p:attrNameLst>
                                      </p:cBhvr>
                                      <p:tavLst>
                                        <p:tav tm="0">
                                          <p:val>
                                            <p:strVal val="#ppt_y+.08"/>
                                          </p:val>
                                        </p:tav>
                                        <p:tav tm="100000">
                                          <p:val>
                                            <p:strVal val="#ppt_y"/>
                                          </p:val>
                                        </p:tav>
                                      </p:tavLst>
                                    </p:anim>
                                  </p:childTnLst>
                                </p:cTn>
                              </p:par>
                              <p:par>
                                <p:cTn id="146" presetID="42" presetClass="entr" presetSubtype="0" fill="hold" grpId="0" nodeType="withEffect">
                                  <p:stCondLst>
                                    <p:cond delay="12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600"/>
                                        <p:tgtEl>
                                          <p:spTgt spid="30"/>
                                        </p:tgtEl>
                                      </p:cBhvr>
                                    </p:animEffect>
                                    <p:anim calcmode="lin" valueType="num">
                                      <p:cBhvr>
                                        <p:cTn id="144" dur="600" decel="100000" fill="hold"/>
                                        <p:tgtEl>
                                          <p:spTgt spid="30"/>
                                        </p:tgtEl>
                                        <p:attrNameLst>
                                          <p:attrName>ppt_x</p:attrName>
                                        </p:attrNameLst>
                                      </p:cBhvr>
                                      <p:tavLst>
                                        <p:tav tm="0">
                                          <p:val>
                                            <p:strVal val="#ppt_x"/>
                                          </p:val>
                                        </p:tav>
                                        <p:tav tm="100000">
                                          <p:val>
                                            <p:strVal val="#ppt_x"/>
                                          </p:val>
                                        </p:tav>
                                      </p:tavLst>
                                    </p:anim>
                                    <p:anim calcmode="lin" valueType="num">
                                      <p:cBhvr>
                                        <p:cTn id="145" dur="600" decel="100000" fill="hold"/>
                                        <p:tgtEl>
                                          <p:spTgt spid="30"/>
                                        </p:tgtEl>
                                        <p:attrNameLst>
                                          <p:attrName>ppt_y</p:attrName>
                                        </p:attrNameLst>
                                      </p:cBhvr>
                                      <p:tavLst>
                                        <p:tav tm="0">
                                          <p:val>
                                            <p:strVal val="#ppt_y+.08"/>
                                          </p:val>
                                        </p:tav>
                                        <p:tav tm="100000">
                                          <p:val>
                                            <p:strVal val="#ppt_y"/>
                                          </p:val>
                                        </p:tav>
                                      </p:tavLst>
                                    </p:anim>
                                  </p:childTnLst>
                                </p:cTn>
                              </p:par>
                              <p:par>
                                <p:cTn id="151" presetID="42" presetClass="entr" presetSubtype="0" fill="hold" grpId="0" nodeType="withEffect">
                                  <p:stCondLst>
                                    <p:cond delay="12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600"/>
                                        <p:tgtEl>
                                          <p:spTgt spid="31"/>
                                        </p:tgtEl>
                                      </p:cBhvr>
                                    </p:animEffect>
                                    <p:anim calcmode="lin" valueType="num">
                                      <p:cBhvr>
                                        <p:cTn id="149" dur="600" decel="100000" fill="hold"/>
                                        <p:tgtEl>
                                          <p:spTgt spid="31"/>
                                        </p:tgtEl>
                                        <p:attrNameLst>
                                          <p:attrName>ppt_x</p:attrName>
                                        </p:attrNameLst>
                                      </p:cBhvr>
                                      <p:tavLst>
                                        <p:tav tm="0">
                                          <p:val>
                                            <p:strVal val="#ppt_x"/>
                                          </p:val>
                                        </p:tav>
                                        <p:tav tm="100000">
                                          <p:val>
                                            <p:strVal val="#ppt_x"/>
                                          </p:val>
                                        </p:tav>
                                      </p:tavLst>
                                    </p:anim>
                                    <p:anim calcmode="lin" valueType="num">
                                      <p:cBhvr>
                                        <p:cTn id="150" dur="600" decel="100000" fill="hold"/>
                                        <p:tgtEl>
                                          <p:spTgt spid="31"/>
                                        </p:tgtEl>
                                        <p:attrNameLst>
                                          <p:attrName>ppt_y</p:attrName>
                                        </p:attrNameLst>
                                      </p:cBhvr>
                                      <p:tavLst>
                                        <p:tav tm="0">
                                          <p:val>
                                            <p:strVal val="#ppt_y+.08"/>
                                          </p:val>
                                        </p:tav>
                                        <p:tav tm="100000">
                                          <p:val>
                                            <p:strVal val="#ppt_y"/>
                                          </p:val>
                                        </p:tav>
                                      </p:tavLst>
                                    </p:anim>
                                  </p:childTnLst>
                                </p:cTn>
                              </p:par>
                              <p:par>
                                <p:cTn id="156" presetID="42" presetClass="entr" presetSubtype="0" fill="hold" grpId="0" nodeType="withEffect">
                                  <p:stCondLst>
                                    <p:cond delay="12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600"/>
                                        <p:tgtEl>
                                          <p:spTgt spid="32"/>
                                        </p:tgtEl>
                                      </p:cBhvr>
                                    </p:animEffect>
                                    <p:anim calcmode="lin" valueType="num">
                                      <p:cBhvr>
                                        <p:cTn id="154" dur="600" decel="100000" fill="hold"/>
                                        <p:tgtEl>
                                          <p:spTgt spid="32"/>
                                        </p:tgtEl>
                                        <p:attrNameLst>
                                          <p:attrName>ppt_x</p:attrName>
                                        </p:attrNameLst>
                                      </p:cBhvr>
                                      <p:tavLst>
                                        <p:tav tm="0">
                                          <p:val>
                                            <p:strVal val="#ppt_x"/>
                                          </p:val>
                                        </p:tav>
                                        <p:tav tm="100000">
                                          <p:val>
                                            <p:strVal val="#ppt_x"/>
                                          </p:val>
                                        </p:tav>
                                      </p:tavLst>
                                    </p:anim>
                                    <p:anim calcmode="lin" valueType="num">
                                      <p:cBhvr>
                                        <p:cTn id="155" dur="600" decel="100000" fill="hold"/>
                                        <p:tgtEl>
                                          <p:spTgt spid="32"/>
                                        </p:tgtEl>
                                        <p:attrNameLst>
                                          <p:attrName>ppt_y</p:attrName>
                                        </p:attrNameLst>
                                      </p:cBhvr>
                                      <p:tavLst>
                                        <p:tav tm="0">
                                          <p:val>
                                            <p:strVal val="#ppt_y+.08"/>
                                          </p:val>
                                        </p:tav>
                                        <p:tav tm="100000">
                                          <p:val>
                                            <p:strVal val="#ppt_y"/>
                                          </p:val>
                                        </p:tav>
                                      </p:tavLst>
                                    </p:anim>
                                  </p:childTnLst>
                                </p:cTn>
                              </p:par>
                              <p:par>
                                <p:cTn id="159" presetID="10" presetClass="entr" presetSubtype="0" fill="hold" grpId="0" nodeType="withEffect">
                                  <p:stCondLst>
                                    <p:cond delay="1400"/>
                                  </p:stCondLst>
                                  <p:childTnLst>
                                    <p:set>
                                      <p:cBhvr>
                                        <p:cTn id="157" dur="1" fill="hold">
                                          <p:stCondLst>
                                            <p:cond delay="0"/>
                                          </p:stCondLst>
                                        </p:cTn>
                                        <p:tgtEl>
                                          <p:spTgt spid="25"/>
                                        </p:tgtEl>
                                        <p:attrNameLst>
                                          <p:attrName>style.visibility</p:attrName>
                                        </p:attrNameLst>
                                      </p:cBhvr>
                                      <p:to>
                                        <p:strVal val="visible"/>
                                      </p:to>
                                    </p:set>
                                    <p:animEffect transition="in" filter="fade">
                                      <p:cBhvr>
                                        <p:cTn id="15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7" grpId="0" animBg="1"/>
      <p:bldP spid="9" grpId="0" animBg="1"/>
      <p:bldP spid="11" grpId="0" animBg="1"/>
      <p:bldP spid="12" grpId="0" animBg="1"/>
      <p:bldP spid="14" grpId="0" animBg="1"/>
      <p:bldP spid="16" grpId="0" animBg="1"/>
      <p:bldP spid="17" grpId="0" animBg="1"/>
      <p:bldP spid="19" grpId="0" animBg="1"/>
      <p:bldP spid="21" grpId="0" animBg="1"/>
      <p:bldP spid="22" grpId="0" animBg="1"/>
      <p:bldP spid="24" grpId="0" animBg="1"/>
      <p:bldP spid="26" grpId="0" animBg="1"/>
      <p:bldP spid="27" grpId="0" animBg="1"/>
      <p:bldP spid="29" grpId="0" animBg="1"/>
      <p:bldP spid="31" grpId="0" animBg="1"/>
      <p:bldP spid="32"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The challenge: a growing network run on paper</a:t>
            </a:r>
            <a:endParaRPr lang="en-US" sz="3200" dirty="0"/>
          </a:p>
        </p:txBody>
      </p:sp>
      <p:sp>
        <p:nvSpPr>
          <p:cNvPr id="3" name="a-left-pi0"/>
          <p:cNvSpPr/>
          <p:nvPr/>
        </p:nvSpPr>
        <p:spPr>
          <a:xfrm>
            <a:off x="548640" y="1417320"/>
            <a:ext cx="777240" cy="777240"/>
          </a:xfrm>
          <a:prstGeom prst="ellipse">
            <a:avLst/>
          </a:prstGeom>
          <a:solidFill>
            <a:schemeClr val="accent5"/>
          </a:solidFill>
          <a:ln/>
        </p:spPr>
      </p:sp>
      <p:pic>
        <p:nvPicPr>
          <p:cNvPr id="4" name="a-left-w-pi0-i" descr="/tmp/claude-0/-home-user-done/4a4296a4-6fd8-5cee-98c2-5de0aee80c99/scratchpad/docs/img/icons/paper-w.png">    </p:cNvPr>
          <p:cNvPicPr>
            <a:picLocks noChangeAspect="1"/>
          </p:cNvPicPr>
          <p:nvPr/>
        </p:nvPicPr>
        <p:blipFill>
          <a:blip r:embed="rId1"/>
          <a:stretch>
            <a:fillRect/>
          </a:stretch>
        </p:blipFill>
        <p:spPr>
          <a:xfrm>
            <a:off x="742950" y="1611630"/>
            <a:ext cx="388620" cy="388620"/>
          </a:xfrm>
          <a:prstGeom prst="rect">
            <a:avLst/>
          </a:prstGeom>
        </p:spPr>
      </p:pic>
      <p:sp>
        <p:nvSpPr>
          <p:cNvPr id="5" name="a-left-w-pt0"/>
          <p:cNvSpPr txBox="1"/>
          <p:nvPr/>
        </p:nvSpPr>
        <p:spPr>
          <a:xfrm>
            <a:off x="1600200" y="1417320"/>
            <a:ext cx="5120640" cy="365760"/>
          </a:xfrm>
          <a:prstGeom prst="rect">
            <a:avLst/>
          </a:prstGeom>
          <a:noFill/>
          <a:ln/>
        </p:spPr>
        <p:txBody>
          <a:bodyPr wrap="square" lIns="0" tIns="0" rIns="0" bIns="0" rtlCol="0" anchor="t"/>
          <a:lstStyle/>
          <a:p>
            <a:pPr indent="0" marL="0">
              <a:buNone/>
            </a:pPr>
            <a:r>
              <a:rPr lang="en-US" sz="1900" b="1" dirty="0">
                <a:solidFill>
                  <a:schemeClr val="tx2"/>
                </a:solidFill>
              </a:rPr>
              <a:t>Records on paper</a:t>
            </a:r>
            <a:endParaRPr lang="en-US" sz="1900" dirty="0"/>
          </a:p>
        </p:txBody>
      </p:sp>
      <p:sp>
        <p:nvSpPr>
          <p:cNvPr id="6" name="a-left-w-pd0"/>
          <p:cNvSpPr txBox="1"/>
          <p:nvPr/>
        </p:nvSpPr>
        <p:spPr>
          <a:xfrm>
            <a:off x="1600200" y="1801368"/>
            <a:ext cx="5120640" cy="685800"/>
          </a:xfrm>
          <a:prstGeom prst="rect">
            <a:avLst/>
          </a:prstGeom>
          <a:noFill/>
          <a:ln/>
        </p:spPr>
        <p:txBody>
          <a:bodyPr wrap="square" lIns="0" tIns="0" rIns="0" bIns="0" rtlCol="0" anchor="t"/>
          <a:lstStyle/>
          <a:p>
            <a:pPr indent="0" marL="0">
              <a:buNone/>
            </a:pPr>
            <a:r>
              <a:rPr lang="en-US" sz="1400" dirty="0">
                <a:solidFill>
                  <a:schemeClr val="accent6"/>
                </a:solidFill>
              </a:rPr>
              <a:t>Customers, orders, connections, vendors and payments kept by hand - slip-ups and slow searches.</a:t>
            </a:r>
            <a:endParaRPr lang="en-US" sz="1400" dirty="0"/>
          </a:p>
        </p:txBody>
      </p:sp>
      <p:sp>
        <p:nvSpPr>
          <p:cNvPr id="7" name="a-left-pi1"/>
          <p:cNvSpPr/>
          <p:nvPr/>
        </p:nvSpPr>
        <p:spPr>
          <a:xfrm>
            <a:off x="548640" y="2606040"/>
            <a:ext cx="777240" cy="777240"/>
          </a:xfrm>
          <a:prstGeom prst="ellipse">
            <a:avLst/>
          </a:prstGeom>
          <a:solidFill>
            <a:schemeClr val="accent5"/>
          </a:solidFill>
          <a:ln/>
        </p:spPr>
      </p:sp>
      <p:pic>
        <p:nvPicPr>
          <p:cNvPr id="8" name="a-left-w-pi1-i" descr="/tmp/claude-0/-home-user-done/4a4296a4-6fd8-5cee-98c2-5de0aee80c99/scratchpad/docs/img/icons/clock-w.png">    </p:cNvPr>
          <p:cNvPicPr>
            <a:picLocks noChangeAspect="1"/>
          </p:cNvPicPr>
          <p:nvPr/>
        </p:nvPicPr>
        <p:blipFill>
          <a:blip r:embed="rId2"/>
          <a:stretch>
            <a:fillRect/>
          </a:stretch>
        </p:blipFill>
        <p:spPr>
          <a:xfrm>
            <a:off x="742950" y="2800350"/>
            <a:ext cx="388620" cy="388620"/>
          </a:xfrm>
          <a:prstGeom prst="rect">
            <a:avLst/>
          </a:prstGeom>
        </p:spPr>
      </p:pic>
      <p:sp>
        <p:nvSpPr>
          <p:cNvPr id="9" name="a-left-w-pt1"/>
          <p:cNvSpPr txBox="1"/>
          <p:nvPr/>
        </p:nvSpPr>
        <p:spPr>
          <a:xfrm>
            <a:off x="1600200" y="2606040"/>
            <a:ext cx="5120640" cy="365760"/>
          </a:xfrm>
          <a:prstGeom prst="rect">
            <a:avLst/>
          </a:prstGeom>
          <a:noFill/>
          <a:ln/>
        </p:spPr>
        <p:txBody>
          <a:bodyPr wrap="square" lIns="0" tIns="0" rIns="0" bIns="0" rtlCol="0" anchor="t"/>
          <a:lstStyle/>
          <a:p>
            <a:pPr indent="0" marL="0">
              <a:buNone/>
            </a:pPr>
            <a:r>
              <a:rPr lang="en-US" sz="1900" b="1" dirty="0">
                <a:solidFill>
                  <a:schemeClr val="tx2"/>
                </a:solidFill>
              </a:rPr>
              <a:t>Manual feasibility</a:t>
            </a:r>
            <a:endParaRPr lang="en-US" sz="1900" dirty="0"/>
          </a:p>
        </p:txBody>
      </p:sp>
      <p:sp>
        <p:nvSpPr>
          <p:cNvPr id="10" name="a-left-w-pd1"/>
          <p:cNvSpPr txBox="1"/>
          <p:nvPr/>
        </p:nvSpPr>
        <p:spPr>
          <a:xfrm>
            <a:off x="1600200" y="2990088"/>
            <a:ext cx="5120640" cy="685800"/>
          </a:xfrm>
          <a:prstGeom prst="rect">
            <a:avLst/>
          </a:prstGeom>
          <a:noFill/>
          <a:ln/>
        </p:spPr>
        <p:txBody>
          <a:bodyPr wrap="square" lIns="0" tIns="0" rIns="0" bIns="0" rtlCol="0" anchor="t"/>
          <a:lstStyle/>
          <a:p>
            <a:pPr indent="0" marL="0">
              <a:buNone/>
            </a:pPr>
            <a:r>
              <a:rPr lang="en-US" sz="1400" dirty="0">
                <a:solidFill>
                  <a:schemeClr val="accent6"/>
                </a:solidFill>
              </a:rPr>
              <a:t>Distance and server checks tracked outside any system, so customers cannot follow their order.</a:t>
            </a:r>
            <a:endParaRPr lang="en-US" sz="1400" dirty="0"/>
          </a:p>
        </p:txBody>
      </p:sp>
      <p:sp>
        <p:nvSpPr>
          <p:cNvPr id="11" name="a-left-pi2"/>
          <p:cNvSpPr/>
          <p:nvPr/>
        </p:nvSpPr>
        <p:spPr>
          <a:xfrm>
            <a:off x="548640" y="3794760"/>
            <a:ext cx="777240" cy="777240"/>
          </a:xfrm>
          <a:prstGeom prst="ellipse">
            <a:avLst/>
          </a:prstGeom>
          <a:solidFill>
            <a:schemeClr val="accent5"/>
          </a:solidFill>
          <a:ln/>
        </p:spPr>
      </p:sp>
      <p:pic>
        <p:nvPicPr>
          <p:cNvPr id="12" name="a-left-w-pi2-i" descr="/tmp/claude-0/-home-user-done/4a4296a4-6fd8-5cee-98c2-5de0aee80c99/scratchpad/docs/img/icons/money-w.png">    </p:cNvPr>
          <p:cNvPicPr>
            <a:picLocks noChangeAspect="1"/>
          </p:cNvPicPr>
          <p:nvPr/>
        </p:nvPicPr>
        <p:blipFill>
          <a:blip r:embed="rId3"/>
          <a:stretch>
            <a:fillRect/>
          </a:stretch>
        </p:blipFill>
        <p:spPr>
          <a:xfrm>
            <a:off x="742950" y="3989070"/>
            <a:ext cx="388620" cy="388620"/>
          </a:xfrm>
          <a:prstGeom prst="rect">
            <a:avLst/>
          </a:prstGeom>
        </p:spPr>
      </p:pic>
      <p:sp>
        <p:nvSpPr>
          <p:cNvPr id="13" name="a-left-w-pt2"/>
          <p:cNvSpPr txBox="1"/>
          <p:nvPr/>
        </p:nvSpPr>
        <p:spPr>
          <a:xfrm>
            <a:off x="1600200" y="3794760"/>
            <a:ext cx="5120640" cy="365760"/>
          </a:xfrm>
          <a:prstGeom prst="rect">
            <a:avLst/>
          </a:prstGeom>
          <a:noFill/>
          <a:ln/>
        </p:spPr>
        <p:txBody>
          <a:bodyPr wrap="square" lIns="0" tIns="0" rIns="0" bIns="0" rtlCol="0" anchor="t"/>
          <a:lstStyle/>
          <a:p>
            <a:pPr indent="0" marL="0">
              <a:buNone/>
            </a:pPr>
            <a:r>
              <a:rPr lang="en-US" sz="1900" b="1" dirty="0">
                <a:solidFill>
                  <a:schemeClr val="tx2"/>
                </a:solidFill>
              </a:rPr>
              <a:t>Hand-made bills</a:t>
            </a:r>
            <a:endParaRPr lang="en-US" sz="1900" dirty="0"/>
          </a:p>
        </p:txBody>
      </p:sp>
      <p:sp>
        <p:nvSpPr>
          <p:cNvPr id="14" name="a-left-w-pd2"/>
          <p:cNvSpPr txBox="1"/>
          <p:nvPr/>
        </p:nvSpPr>
        <p:spPr>
          <a:xfrm>
            <a:off x="1600200" y="4178808"/>
            <a:ext cx="5120640" cy="685800"/>
          </a:xfrm>
          <a:prstGeom prst="rect">
            <a:avLst/>
          </a:prstGeom>
          <a:noFill/>
          <a:ln/>
        </p:spPr>
        <p:txBody>
          <a:bodyPr wrap="square" lIns="0" tIns="0" rIns="0" bIns="0" rtlCol="0" anchor="t"/>
          <a:lstStyle/>
          <a:p>
            <a:pPr indent="0" marL="0">
              <a:buNone/>
            </a:pPr>
            <a:r>
              <a:rPr lang="en-US" sz="1400" dirty="0">
                <a:solidFill>
                  <a:schemeClr val="accent6"/>
                </a:solidFill>
              </a:rPr>
              <a:t>Plan fees, call charges, deposits, bulk discounts and 12.24% tax calculated manually every month.</a:t>
            </a:r>
            <a:endParaRPr lang="en-US" sz="1400" dirty="0"/>
          </a:p>
        </p:txBody>
      </p:sp>
      <p:sp>
        <p:nvSpPr>
          <p:cNvPr id="15" name="a-left-pi3"/>
          <p:cNvSpPr/>
          <p:nvPr/>
        </p:nvSpPr>
        <p:spPr>
          <a:xfrm>
            <a:off x="548640" y="4983480"/>
            <a:ext cx="777240" cy="777240"/>
          </a:xfrm>
          <a:prstGeom prst="ellipse">
            <a:avLst/>
          </a:prstGeom>
          <a:solidFill>
            <a:schemeClr val="accent5"/>
          </a:solidFill>
          <a:ln/>
        </p:spPr>
      </p:sp>
      <p:pic>
        <p:nvPicPr>
          <p:cNvPr id="16" name="a-left-w-pi3-i" descr="/tmp/claude-0/-home-user-done/4a4296a4-6fd8-5cee-98c2-5de0aee80c99/scratchpad/docs/img/icons/folder-w.png">    </p:cNvPr>
          <p:cNvPicPr>
            <a:picLocks noChangeAspect="1"/>
          </p:cNvPicPr>
          <p:nvPr/>
        </p:nvPicPr>
        <p:blipFill>
          <a:blip r:embed="rId4"/>
          <a:stretch>
            <a:fillRect/>
          </a:stretch>
        </p:blipFill>
        <p:spPr>
          <a:xfrm>
            <a:off x="742950" y="5177790"/>
            <a:ext cx="388620" cy="388620"/>
          </a:xfrm>
          <a:prstGeom prst="rect">
            <a:avLst/>
          </a:prstGeom>
        </p:spPr>
      </p:pic>
      <p:sp>
        <p:nvSpPr>
          <p:cNvPr id="17" name="a-left-w-pt3"/>
          <p:cNvSpPr txBox="1"/>
          <p:nvPr/>
        </p:nvSpPr>
        <p:spPr>
          <a:xfrm>
            <a:off x="1600200" y="4983480"/>
            <a:ext cx="5120640" cy="365760"/>
          </a:xfrm>
          <a:prstGeom prst="rect">
            <a:avLst/>
          </a:prstGeom>
          <a:noFill/>
          <a:ln/>
        </p:spPr>
        <p:txBody>
          <a:bodyPr wrap="square" lIns="0" tIns="0" rIns="0" bIns="0" rtlCol="0" anchor="t"/>
          <a:lstStyle/>
          <a:p>
            <a:pPr indent="0" marL="0">
              <a:buNone/>
            </a:pPr>
            <a:r>
              <a:rPr lang="en-US" sz="1900" b="1" dirty="0">
                <a:solidFill>
                  <a:schemeClr val="tx2"/>
                </a:solidFill>
              </a:rPr>
              <a:t>Paper filing</a:t>
            </a:r>
            <a:endParaRPr lang="en-US" sz="1900" dirty="0"/>
          </a:p>
        </p:txBody>
      </p:sp>
      <p:sp>
        <p:nvSpPr>
          <p:cNvPr id="18" name="a-left-w-pd3"/>
          <p:cNvSpPr txBox="1"/>
          <p:nvPr/>
        </p:nvSpPr>
        <p:spPr>
          <a:xfrm>
            <a:off x="1600200" y="5367528"/>
            <a:ext cx="5120640" cy="685800"/>
          </a:xfrm>
          <a:prstGeom prst="rect">
            <a:avLst/>
          </a:prstGeom>
          <a:noFill/>
          <a:ln/>
        </p:spPr>
        <p:txBody>
          <a:bodyPr wrap="square" lIns="0" tIns="0" rIns="0" bIns="0" rtlCol="0" anchor="t"/>
          <a:lstStyle/>
          <a:p>
            <a:pPr indent="0" marL="0">
              <a:buNone/>
            </a:pPr>
            <a:r>
              <a:rPr lang="en-US" sz="1400" dirty="0">
                <a:solidFill>
                  <a:schemeClr val="accent6"/>
                </a:solidFill>
              </a:rPr>
              <a:t>Address proofs, forms and receipts filed by year and area in cabinets.</a:t>
            </a:r>
            <a:endParaRPr lang="en-US" sz="1400" dirty="0"/>
          </a:p>
        </p:txBody>
      </p:sp>
      <p:sp>
        <p:nvSpPr>
          <p:cNvPr id="19" name="a-zoom-quote"/>
          <p:cNvSpPr/>
          <p:nvPr/>
        </p:nvSpPr>
        <p:spPr>
          <a:xfrm>
            <a:off x="7223760" y="1463040"/>
            <a:ext cx="4389120" cy="4343400"/>
          </a:xfrm>
          <a:prstGeom prst="roundRect">
            <a:avLst>
              <a:gd name="adj" fmla="val 2526"/>
            </a:avLst>
          </a:prstGeom>
          <a:solidFill>
            <a:schemeClr val="bg2"/>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20" name="a-fade-qbig"/>
          <p:cNvSpPr txBox="1"/>
          <p:nvPr/>
        </p:nvSpPr>
        <p:spPr>
          <a:xfrm>
            <a:off x="7589520" y="1783080"/>
            <a:ext cx="3657600" cy="1097280"/>
          </a:xfrm>
          <a:prstGeom prst="rect">
            <a:avLst/>
          </a:prstGeom>
          <a:noFill/>
          <a:ln/>
        </p:spPr>
        <p:txBody>
          <a:bodyPr wrap="square" lIns="0" tIns="0" rIns="0" bIns="0" rtlCol="0" anchor="t"/>
          <a:lstStyle/>
          <a:p>
            <a:pPr indent="0" marL="0">
              <a:buNone/>
            </a:pPr>
            <a:r>
              <a:rPr lang="en-US" sz="7200" b="1" dirty="0">
                <a:solidFill>
                  <a:schemeClr val="accent1"/>
                </a:solidFill>
              </a:rPr>
              <a:t>5</a:t>
            </a:r>
            <a:endParaRPr lang="en-US" sz="7200" dirty="0"/>
          </a:p>
        </p:txBody>
      </p:sp>
      <p:sp>
        <p:nvSpPr>
          <p:cNvPr id="21" name="a-fade-qtxt"/>
          <p:cNvSpPr txBox="1"/>
          <p:nvPr/>
        </p:nvSpPr>
        <p:spPr>
          <a:xfrm>
            <a:off x="7589520" y="2971800"/>
            <a:ext cx="3749040" cy="1280160"/>
          </a:xfrm>
          <a:prstGeom prst="rect">
            <a:avLst/>
          </a:prstGeom>
          <a:noFill/>
          <a:ln/>
        </p:spPr>
        <p:txBody>
          <a:bodyPr wrap="square" lIns="0" tIns="0" rIns="0" bIns="0" rtlCol="0" anchor="t"/>
          <a:lstStyle/>
          <a:p>
            <a:pPr indent="0" marL="0">
              <a:buNone/>
            </a:pPr>
            <a:r>
              <a:rPr lang="en-US" sz="1700" dirty="0">
                <a:solidFill>
                  <a:schemeClr val="tx2"/>
                </a:solidFill>
              </a:rPr>
              <a:t>roles - Admin, Accounts, Technical, Retail staff and Customers - all working from the same paper files</a:t>
            </a:r>
            <a:endParaRPr lang="en-US" sz="1700" dirty="0"/>
          </a:p>
        </p:txBody>
      </p:sp>
      <p:sp>
        <p:nvSpPr>
          <p:cNvPr id="22" name="a-fade-qnote"/>
          <p:cNvSpPr txBox="1"/>
          <p:nvPr/>
        </p:nvSpPr>
        <p:spPr>
          <a:xfrm>
            <a:off x="7589520" y="4434840"/>
            <a:ext cx="3749040" cy="1097280"/>
          </a:xfrm>
          <a:prstGeom prst="rect">
            <a:avLst/>
          </a:prstGeom>
          <a:noFill/>
          <a:ln/>
        </p:spPr>
        <p:txBody>
          <a:bodyPr wrap="square" lIns="0" tIns="0" rIns="0" bIns="0" rtlCol="0" anchor="t"/>
          <a:lstStyle/>
          <a:p>
            <a:pPr indent="0" marL="0">
              <a:buNone/>
            </a:pPr>
            <a:r>
              <a:rPr lang="en-US" sz="1400" i="1" dirty="0">
                <a:solidFill>
                  <a:schemeClr val="accent6"/>
                </a:solidFill>
              </a:rPr>
              <a:t>Expansion to every city made the paper process impossible to scale.</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4"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42" presetClass="entr" presetSubtype="0"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600"/>
                                        <p:tgtEl>
                                          <p:spTgt spid="3"/>
                                        </p:tgtEl>
                                      </p:cBhvr>
                                    </p:animEffect>
                                    <p:anim calcmode="lin" valueType="num">
                                      <p:cBhvr>
                                        <p:cTn id="9" dur="600" decel="100000" fill="hold"/>
                                        <p:tgtEl>
                                          <p:spTgt spid="3"/>
                                        </p:tgtEl>
                                        <p:attrNameLst>
                                          <p:attrName>ppt_x</p:attrName>
                                        </p:attrNameLst>
                                      </p:cBhvr>
                                      <p:tavLst>
                                        <p:tav tm="0">
                                          <p:val>
                                            <p:strVal val="#ppt_x-.08"/>
                                          </p:val>
                                        </p:tav>
                                        <p:tav tm="100000">
                                          <p:val>
                                            <p:strVal val="#ppt_x"/>
                                          </p:val>
                                        </p:tav>
                                      </p:tavLst>
                                    </p:anim>
                                    <p:anim calcmode="lin" valueType="num">
                                      <p:cBhvr>
                                        <p:cTn id="10" dur="600" decel="100000" fill="hold"/>
                                        <p:tgtEl>
                                          <p:spTgt spid="3"/>
                                        </p:tgtEl>
                                        <p:attrNameLst>
                                          <p:attrName>ppt_y</p:attrName>
                                        </p:attrNameLst>
                                      </p:cBhvr>
                                      <p:tavLst>
                                        <p:tav tm="0">
                                          <p:val>
                                            <p:strVal val="#ppt_y"/>
                                          </p:val>
                                        </p:tav>
                                        <p:tav tm="100000">
                                          <p:val>
                                            <p:strVal val="#ppt_y"/>
                                          </p:val>
                                        </p:tav>
                                      </p:tavLst>
                                    </p:anim>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anim calcmode="lin" valueType="num">
                                      <p:cBhvr>
                                        <p:cTn id="14" dur="600" decel="100000" fill="hold"/>
                                        <p:tgtEl>
                                          <p:spTgt spid="4"/>
                                        </p:tgtEl>
                                        <p:attrNameLst>
                                          <p:attrName>ppt_x</p:attrName>
                                        </p:attrNameLst>
                                      </p:cBhvr>
                                      <p:tavLst>
                                        <p:tav tm="0">
                                          <p:val>
                                            <p:strVal val="#ppt_x-.08"/>
                                          </p:val>
                                        </p:tav>
                                        <p:tav tm="100000">
                                          <p:val>
                                            <p:strVal val="#ppt_x"/>
                                          </p:val>
                                        </p:tav>
                                      </p:tavLst>
                                    </p:anim>
                                    <p:anim calcmode="lin" valueType="num">
                                      <p:cBhvr>
                                        <p:cTn id="15" dur="600" decel="100000" fill="hold"/>
                                        <p:tgtEl>
                                          <p:spTgt spid="4"/>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08"/>
                                          </p:val>
                                        </p:tav>
                                        <p:tav tm="100000">
                                          <p:val>
                                            <p:strVal val="#ppt_x"/>
                                          </p:val>
                                        </p:tav>
                                      </p:tavLst>
                                    </p:anim>
                                    <p:anim calcmode="lin" valueType="num">
                                      <p:cBhvr>
                                        <p:cTn id="20" dur="600" decel="1000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08"/>
                                          </p:val>
                                        </p:tav>
                                        <p:tav tm="100000">
                                          <p:val>
                                            <p:strVal val="#ppt_x"/>
                                          </p:val>
                                        </p:tav>
                                      </p:tavLst>
                                    </p:anim>
                                    <p:anim calcmode="lin" valueType="num">
                                      <p:cBhvr>
                                        <p:cTn id="25" dur="600" decel="1000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4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08"/>
                                          </p:val>
                                        </p:tav>
                                        <p:tav tm="100000">
                                          <p:val>
                                            <p:strVal val="#ppt_x"/>
                                          </p:val>
                                        </p:tav>
                                      </p:tavLst>
                                    </p:anim>
                                    <p:anim calcmode="lin" valueType="num">
                                      <p:cBhvr>
                                        <p:cTn id="30" dur="600" decel="1000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08"/>
                                          </p:val>
                                        </p:tav>
                                        <p:tav tm="100000">
                                          <p:val>
                                            <p:strVal val="#ppt_x"/>
                                          </p:val>
                                        </p:tav>
                                      </p:tavLst>
                                    </p:anim>
                                    <p:anim calcmode="lin" valueType="num">
                                      <p:cBhvr>
                                        <p:cTn id="35" dur="600" decel="1000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4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08"/>
                                          </p:val>
                                        </p:tav>
                                        <p:tav tm="100000">
                                          <p:val>
                                            <p:strVal val="#ppt_x"/>
                                          </p:val>
                                        </p:tav>
                                      </p:tavLst>
                                    </p:anim>
                                    <p:anim calcmode="lin" valueType="num">
                                      <p:cBhvr>
                                        <p:cTn id="40" dur="600" decel="1000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4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08"/>
                                          </p:val>
                                        </p:tav>
                                        <p:tav tm="100000">
                                          <p:val>
                                            <p:strVal val="#ppt_x"/>
                                          </p:val>
                                        </p:tav>
                                      </p:tavLst>
                                    </p:anim>
                                    <p:anim calcmode="lin" valueType="num">
                                      <p:cBhvr>
                                        <p:cTn id="45" dur="600" decel="1000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6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08"/>
                                          </p:val>
                                        </p:tav>
                                        <p:tav tm="100000">
                                          <p:val>
                                            <p:strVal val="#ppt_x"/>
                                          </p:val>
                                        </p:tav>
                                      </p:tavLst>
                                    </p:anim>
                                    <p:anim calcmode="lin" valueType="num">
                                      <p:cBhvr>
                                        <p:cTn id="50" dur="600" decel="1000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6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08"/>
                                          </p:val>
                                        </p:tav>
                                        <p:tav tm="100000">
                                          <p:val>
                                            <p:strVal val="#ppt_x"/>
                                          </p:val>
                                        </p:tav>
                                      </p:tavLst>
                                    </p:anim>
                                    <p:anim calcmode="lin" valueType="num">
                                      <p:cBhvr>
                                        <p:cTn id="55" dur="600" decel="1000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6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08"/>
                                          </p:val>
                                        </p:tav>
                                        <p:tav tm="100000">
                                          <p:val>
                                            <p:strVal val="#ppt_x"/>
                                          </p:val>
                                        </p:tav>
                                      </p:tavLst>
                                    </p:anim>
                                    <p:anim calcmode="lin" valueType="num">
                                      <p:cBhvr>
                                        <p:cTn id="60" dur="600" decel="1000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6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08"/>
                                          </p:val>
                                        </p:tav>
                                        <p:tav tm="100000">
                                          <p:val>
                                            <p:strVal val="#ppt_x"/>
                                          </p:val>
                                        </p:tav>
                                      </p:tavLst>
                                    </p:anim>
                                    <p:anim calcmode="lin" valueType="num">
                                      <p:cBhvr>
                                        <p:cTn id="65" dur="600" decel="1000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8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p:cTn id="69" dur="600" decel="100000" fill="hold"/>
                                        <p:tgtEl>
                                          <p:spTgt spid="15"/>
                                        </p:tgtEl>
                                        <p:attrNameLst>
                                          <p:attrName>ppt_x</p:attrName>
                                        </p:attrNameLst>
                                      </p:cBhvr>
                                      <p:tavLst>
                                        <p:tav tm="0">
                                          <p:val>
                                            <p:strVal val="#ppt_x-.08"/>
                                          </p:val>
                                        </p:tav>
                                        <p:tav tm="100000">
                                          <p:val>
                                            <p:strVal val="#ppt_x"/>
                                          </p:val>
                                        </p:tav>
                                      </p:tavLst>
                                    </p:anim>
                                    <p:anim calcmode="lin" valueType="num">
                                      <p:cBhvr>
                                        <p:cTn id="70" dur="600" decel="1000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8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decel="100000" fill="hold"/>
                                        <p:tgtEl>
                                          <p:spTgt spid="16"/>
                                        </p:tgtEl>
                                        <p:attrNameLst>
                                          <p:attrName>ppt_x</p:attrName>
                                        </p:attrNameLst>
                                      </p:cBhvr>
                                      <p:tavLst>
                                        <p:tav tm="0">
                                          <p:val>
                                            <p:strVal val="#ppt_x-.08"/>
                                          </p:val>
                                        </p:tav>
                                        <p:tav tm="100000">
                                          <p:val>
                                            <p:strVal val="#ppt_x"/>
                                          </p:val>
                                        </p:tav>
                                      </p:tavLst>
                                    </p:anim>
                                    <p:anim calcmode="lin" valueType="num">
                                      <p:cBhvr>
                                        <p:cTn id="75" dur="600" decel="1000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8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600"/>
                                        <p:tgtEl>
                                          <p:spTgt spid="17"/>
                                        </p:tgtEl>
                                      </p:cBhvr>
                                    </p:animEffect>
                                    <p:anim calcmode="lin" valueType="num">
                                      <p:cBhvr>
                                        <p:cTn id="79" dur="600" decel="100000" fill="hold"/>
                                        <p:tgtEl>
                                          <p:spTgt spid="17"/>
                                        </p:tgtEl>
                                        <p:attrNameLst>
                                          <p:attrName>ppt_x</p:attrName>
                                        </p:attrNameLst>
                                      </p:cBhvr>
                                      <p:tavLst>
                                        <p:tav tm="0">
                                          <p:val>
                                            <p:strVal val="#ppt_x-.08"/>
                                          </p:val>
                                        </p:tav>
                                        <p:tav tm="100000">
                                          <p:val>
                                            <p:strVal val="#ppt_x"/>
                                          </p:val>
                                        </p:tav>
                                      </p:tavLst>
                                    </p:anim>
                                    <p:anim calcmode="lin" valueType="num">
                                      <p:cBhvr>
                                        <p:cTn id="80" dur="600" decel="1000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8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600"/>
                                        <p:tgtEl>
                                          <p:spTgt spid="18"/>
                                        </p:tgtEl>
                                      </p:cBhvr>
                                    </p:animEffect>
                                    <p:anim calcmode="lin" valueType="num">
                                      <p:cBhvr>
                                        <p:cTn id="84" dur="600" decel="100000" fill="hold"/>
                                        <p:tgtEl>
                                          <p:spTgt spid="18"/>
                                        </p:tgtEl>
                                        <p:attrNameLst>
                                          <p:attrName>ppt_x</p:attrName>
                                        </p:attrNameLst>
                                      </p:cBhvr>
                                      <p:tavLst>
                                        <p:tav tm="0">
                                          <p:val>
                                            <p:strVal val="#ppt_x-.08"/>
                                          </p:val>
                                        </p:tav>
                                        <p:tav tm="100000">
                                          <p:val>
                                            <p:strVal val="#ppt_x"/>
                                          </p:val>
                                        </p:tav>
                                      </p:tavLst>
                                    </p:anim>
                                    <p:anim calcmode="lin" valueType="num">
                                      <p:cBhvr>
                                        <p:cTn id="85" dur="600" decel="100000" fill="hold"/>
                                        <p:tgtEl>
                                          <p:spTgt spid="18"/>
                                        </p:tgtEl>
                                        <p:attrNameLst>
                                          <p:attrName>ppt_y</p:attrName>
                                        </p:attrNameLst>
                                      </p:cBhvr>
                                      <p:tavLst>
                                        <p:tav tm="0">
                                          <p:val>
                                            <p:strVal val="#ppt_y"/>
                                          </p:val>
                                        </p:tav>
                                        <p:tav tm="100000">
                                          <p:val>
                                            <p:strVal val="#ppt_y"/>
                                          </p:val>
                                        </p:tav>
                                      </p:tavLst>
                                    </p:anim>
                                  </p:childTnLst>
                                </p:cTn>
                              </p:par>
                              <p:par>
                                <p:cTn id="91" presetID="53" presetClass="entr" presetSubtype="16" fill="hold" grpId="0" nodeType="withEffect">
                                  <p:stCondLst>
                                    <p:cond delay="1000"/>
                                  </p:stCondLst>
                                  <p:childTnLst>
                                    <p:set>
                                      <p:cBhvr>
                                        <p:cTn id="87" dur="1" fill="hold">
                                          <p:stCondLst>
                                            <p:cond delay="0"/>
                                          </p:stCondLst>
                                        </p:cTn>
                                        <p:tgtEl>
                                          <p:spTgt spid="19"/>
                                        </p:tgtEl>
                                        <p:attrNameLst>
                                          <p:attrName>style.visibility</p:attrName>
                                        </p:attrNameLst>
                                      </p:cBhvr>
                                      <p:to>
                                        <p:strVal val="visible"/>
                                      </p:to>
                                    </p:set>
                                    <p:anim calcmode="lin" valueType="num">
                                      <p:cBhvr>
                                        <p:cTn id="89" dur="650" decel="100000" fill="hold"/>
                                        <p:tgtEl>
                                          <p:spTgt spid="19"/>
                                        </p:tgtEl>
                                        <p:attrNameLst>
                                          <p:attrName>ppt_w</p:attrName>
                                        </p:attrNameLst>
                                      </p:cBhvr>
                                      <p:tavLst>
                                        <p:tav tm="0">
                                          <p:val>
                                            <p:strVal val="#ppt_w*0.7"/>
                                          </p:val>
                                        </p:tav>
                                        <p:tav tm="100000">
                                          <p:val>
                                            <p:strVal val="#ppt_w"/>
                                          </p:val>
                                        </p:tav>
                                      </p:tavLst>
                                    </p:anim>
                                    <p:anim calcmode="lin" valueType="num">
                                      <p:cBhvr>
                                        <p:cTn id="90" dur="650" decel="100000" fill="hold"/>
                                        <p:tgtEl>
                                          <p:spTgt spid="19"/>
                                        </p:tgtEl>
                                        <p:attrNameLst>
                                          <p:attrName>ppt_h</p:attrName>
                                        </p:attrNameLst>
                                      </p:cBhvr>
                                      <p:tavLst>
                                        <p:tav tm="0">
                                          <p:val>
                                            <p:strVal val="#ppt_h*0.7"/>
                                          </p:val>
                                        </p:tav>
                                        <p:tav tm="100000">
                                          <p:val>
                                            <p:strVal val="#ppt_h"/>
                                          </p:val>
                                        </p:tav>
                                      </p:tavLst>
                                    </p:anim>
                                    <p:animEffect transition="in" filter="fade">
                                      <p:cBhvr>
                                        <p:cTn id="88" dur="650"/>
                                        <p:tgtEl>
                                          <p:spTgt spid="19"/>
                                        </p:tgtEl>
                                      </p:cBhvr>
                                    </p:animEffect>
                                  </p:childTnLst>
                                </p:cTn>
                              </p:par>
                              <p:par>
                                <p:cTn id="94" presetID="10" presetClass="entr" presetSubtype="0" fill="hold" grpId="0" nodeType="withEffect">
                                  <p:stCondLst>
                                    <p:cond delay="12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500"/>
                                        <p:tgtEl>
                                          <p:spTgt spid="20"/>
                                        </p:tgtEl>
                                      </p:cBhvr>
                                    </p:animEffect>
                                  </p:childTnLst>
                                </p:cTn>
                              </p:par>
                              <p:par>
                                <p:cTn id="97" presetID="10" presetClass="entr" presetSubtype="0" fill="hold" grpId="0" nodeType="withEffect">
                                  <p:stCondLst>
                                    <p:cond delay="1400"/>
                                  </p:stCondLst>
                                  <p:childTnLst>
                                    <p:set>
                                      <p:cBhvr>
                                        <p:cTn id="95" dur="1" fill="hold">
                                          <p:stCondLst>
                                            <p:cond delay="0"/>
                                          </p:stCondLst>
                                        </p:cTn>
                                        <p:tgtEl>
                                          <p:spTgt spid="21"/>
                                        </p:tgtEl>
                                        <p:attrNameLst>
                                          <p:attrName>style.visibility</p:attrName>
                                        </p:attrNameLst>
                                      </p:cBhvr>
                                      <p:to>
                                        <p:strVal val="visible"/>
                                      </p:to>
                                    </p:set>
                                    <p:animEffect transition="in" filter="fade">
                                      <p:cBhvr>
                                        <p:cTn id="96" dur="500"/>
                                        <p:tgtEl>
                                          <p:spTgt spid="21"/>
                                        </p:tgtEl>
                                      </p:cBhvr>
                                    </p:animEffect>
                                  </p:childTnLst>
                                </p:cTn>
                              </p:par>
                              <p:par>
                                <p:cTn id="100" presetID="10" presetClass="entr" presetSubtype="0" fill="hold" grpId="0" nodeType="withEffect">
                                  <p:stCondLst>
                                    <p:cond delay="160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500"/>
                                        <p:tgtEl>
                                          <p:spTgt spid="22"/>
                                        </p:tgtEl>
                                      </p:cBhvr>
                                    </p:animEffect>
                                  </p:childTnLst>
                                </p:cTn>
                              </p:par>
                              <p:par>
                                <p:cTn id="103" presetID="10" presetClass="entr" presetSubtype="0" fill="hold" grpId="0" nodeType="withEffect">
                                  <p:stCondLst>
                                    <p:cond delay="180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9" grpId="0" animBg="1"/>
      <p:bldP spid="10" grpId="0" animBg="1"/>
      <p:bldP spid="13" grpId="0" animBg="1"/>
      <p:bldP spid="14" grpId="0" animBg="1"/>
      <p:bldP spid="17" grpId="0" animBg="1"/>
      <p:bldP spid="18" grpId="0" animBg="1"/>
      <p:bldP spid="20" grpId="0" animBg="1"/>
      <p:bldP spid="21" grpId="0" animBg="1"/>
      <p:bldP spid="22"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Our solution: one system, five secure roles</a:t>
            </a:r>
            <a:endParaRPr lang="en-US" sz="3200" dirty="0"/>
          </a:p>
        </p:txBody>
      </p:sp>
      <p:sp>
        <p:nvSpPr>
          <p:cNvPr id="3" name="a-up-rc0"/>
          <p:cNvSpPr/>
          <p:nvPr/>
        </p:nvSpPr>
        <p:spPr>
          <a:xfrm>
            <a:off x="548640" y="1554480"/>
            <a:ext cx="2057400" cy="329184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4" name="a-up-w-ri0"/>
          <p:cNvSpPr/>
          <p:nvPr/>
        </p:nvSpPr>
        <p:spPr>
          <a:xfrm>
            <a:off x="1143000" y="1828800"/>
            <a:ext cx="868680" cy="868680"/>
          </a:xfrm>
          <a:prstGeom prst="ellipse">
            <a:avLst/>
          </a:prstGeom>
          <a:solidFill>
            <a:schemeClr val="accent1"/>
          </a:solidFill>
          <a:ln/>
        </p:spPr>
      </p:sp>
      <p:pic>
        <p:nvPicPr>
          <p:cNvPr id="5" name="a-up-w-w-ri0-i" descr="/tmp/claude-0/-home-user-done/4a4296a4-6fd8-5cee-98c2-5de0aee80c99/scratchpad/docs/img/icons/user-w.png">    </p:cNvPr>
          <p:cNvPicPr>
            <a:picLocks noChangeAspect="1"/>
          </p:cNvPicPr>
          <p:nvPr/>
        </p:nvPicPr>
        <p:blipFill>
          <a:blip r:embed="rId1"/>
          <a:stretch>
            <a:fillRect/>
          </a:stretch>
        </p:blipFill>
        <p:spPr>
          <a:xfrm>
            <a:off x="1360170" y="2045970"/>
            <a:ext cx="434340" cy="434340"/>
          </a:xfrm>
          <a:prstGeom prst="rect">
            <a:avLst/>
          </a:prstGeom>
        </p:spPr>
      </p:pic>
      <p:sp>
        <p:nvSpPr>
          <p:cNvPr id="6" name="a-up-w-rt0"/>
          <p:cNvSpPr txBox="1"/>
          <p:nvPr/>
        </p:nvSpPr>
        <p:spPr>
          <a:xfrm>
            <a:off x="731520" y="2880360"/>
            <a:ext cx="1691640" cy="411480"/>
          </a:xfrm>
          <a:prstGeom prst="rect">
            <a:avLst/>
          </a:prstGeom>
          <a:noFill/>
          <a:ln/>
        </p:spPr>
        <p:txBody>
          <a:bodyPr wrap="square" lIns="0" tIns="0" rIns="0" bIns="0" rtlCol="0" anchor="t"/>
          <a:lstStyle/>
          <a:p>
            <a:pPr algn="ctr" indent="0" marL="0">
              <a:buNone/>
            </a:pPr>
            <a:r>
              <a:rPr lang="en-US" sz="1900" b="1" dirty="0">
                <a:solidFill>
                  <a:schemeClr val="tx2"/>
                </a:solidFill>
              </a:rPr>
              <a:t>Admin</a:t>
            </a:r>
            <a:endParaRPr lang="en-US" sz="1900" dirty="0"/>
          </a:p>
        </p:txBody>
      </p:sp>
      <p:sp>
        <p:nvSpPr>
          <p:cNvPr id="7" name="a-up-w-rd0"/>
          <p:cNvSpPr txBox="1"/>
          <p:nvPr/>
        </p:nvSpPr>
        <p:spPr>
          <a:xfrm>
            <a:off x="731520" y="3337560"/>
            <a:ext cx="1691640" cy="1371600"/>
          </a:xfrm>
          <a:prstGeom prst="rect">
            <a:avLst/>
          </a:prstGeom>
          <a:noFill/>
          <a:ln/>
        </p:spPr>
        <p:txBody>
          <a:bodyPr wrap="square" lIns="0" tIns="0" rIns="0" bIns="0" rtlCol="0" anchor="t"/>
          <a:lstStyle/>
          <a:p>
            <a:pPr algn="ctr" indent="0" marL="0">
              <a:buNone/>
            </a:pPr>
            <a:r>
              <a:rPr lang="en-US" sz="1300" dirty="0">
                <a:solidFill>
                  <a:schemeClr val="accent6"/>
                </a:solidFill>
              </a:rPr>
              <a:t>Cities, shops, employees, plans, stock, vendors, reports</a:t>
            </a:r>
            <a:endParaRPr lang="en-US" sz="1300" dirty="0"/>
          </a:p>
        </p:txBody>
      </p:sp>
      <p:sp>
        <p:nvSpPr>
          <p:cNvPr id="8" name="a-up-rc1"/>
          <p:cNvSpPr/>
          <p:nvPr/>
        </p:nvSpPr>
        <p:spPr>
          <a:xfrm>
            <a:off x="2816352" y="1554480"/>
            <a:ext cx="2057400" cy="329184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9" name="a-up-w-ri1"/>
          <p:cNvSpPr/>
          <p:nvPr/>
        </p:nvSpPr>
        <p:spPr>
          <a:xfrm>
            <a:off x="3410712" y="1828800"/>
            <a:ext cx="868680" cy="868680"/>
          </a:xfrm>
          <a:prstGeom prst="ellipse">
            <a:avLst/>
          </a:prstGeom>
          <a:solidFill>
            <a:schemeClr val="accent2"/>
          </a:solidFill>
          <a:ln/>
        </p:spPr>
      </p:sp>
      <p:pic>
        <p:nvPicPr>
          <p:cNvPr id="10" name="a-up-w-w-ri1-i" descr="/tmp/claude-0/-home-user-done/4a4296a4-6fd8-5cee-98c2-5de0aee80c99/scratchpad/docs/img/icons/store-w.png">    </p:cNvPr>
          <p:cNvPicPr>
            <a:picLocks noChangeAspect="1"/>
          </p:cNvPicPr>
          <p:nvPr/>
        </p:nvPicPr>
        <p:blipFill>
          <a:blip r:embed="rId2"/>
          <a:stretch>
            <a:fillRect/>
          </a:stretch>
        </p:blipFill>
        <p:spPr>
          <a:xfrm>
            <a:off x="3627882" y="2045970"/>
            <a:ext cx="434340" cy="434340"/>
          </a:xfrm>
          <a:prstGeom prst="rect">
            <a:avLst/>
          </a:prstGeom>
        </p:spPr>
      </p:pic>
      <p:sp>
        <p:nvSpPr>
          <p:cNvPr id="11" name="a-up-w-rt1"/>
          <p:cNvSpPr txBox="1"/>
          <p:nvPr/>
        </p:nvSpPr>
        <p:spPr>
          <a:xfrm>
            <a:off x="2999232" y="2880360"/>
            <a:ext cx="1691640" cy="411480"/>
          </a:xfrm>
          <a:prstGeom prst="rect">
            <a:avLst/>
          </a:prstGeom>
          <a:noFill/>
          <a:ln/>
        </p:spPr>
        <p:txBody>
          <a:bodyPr wrap="square" lIns="0" tIns="0" rIns="0" bIns="0" rtlCol="0" anchor="t"/>
          <a:lstStyle/>
          <a:p>
            <a:pPr algn="ctr" indent="0" marL="0">
              <a:buNone/>
            </a:pPr>
            <a:r>
              <a:rPr lang="en-US" sz="1900" b="1" dirty="0">
                <a:solidFill>
                  <a:schemeClr val="tx2"/>
                </a:solidFill>
              </a:rPr>
              <a:t>Retail staff</a:t>
            </a:r>
            <a:endParaRPr lang="en-US" sz="1900" dirty="0"/>
          </a:p>
        </p:txBody>
      </p:sp>
      <p:sp>
        <p:nvSpPr>
          <p:cNvPr id="12" name="a-up-w-rd1"/>
          <p:cNvSpPr txBox="1"/>
          <p:nvPr/>
        </p:nvSpPr>
        <p:spPr>
          <a:xfrm>
            <a:off x="2999232" y="3337560"/>
            <a:ext cx="1691640" cy="1371600"/>
          </a:xfrm>
          <a:prstGeom prst="rect">
            <a:avLst/>
          </a:prstGeom>
          <a:noFill/>
          <a:ln/>
        </p:spPr>
        <p:txBody>
          <a:bodyPr wrap="square" lIns="0" tIns="0" rIns="0" bIns="0" rtlCol="0" anchor="t"/>
          <a:lstStyle/>
          <a:p>
            <a:pPr algn="ctr" indent="0" marL="0">
              <a:buNone/>
            </a:pPr>
            <a:r>
              <a:rPr lang="en-US" sz="1300" dirty="0">
                <a:solidFill>
                  <a:schemeClr val="accent6"/>
                </a:solidFill>
              </a:rPr>
              <a:t>Register customers, place orders, collect payments</a:t>
            </a:r>
            <a:endParaRPr lang="en-US" sz="1300" dirty="0"/>
          </a:p>
        </p:txBody>
      </p:sp>
      <p:sp>
        <p:nvSpPr>
          <p:cNvPr id="13" name="a-up-rc2"/>
          <p:cNvSpPr/>
          <p:nvPr/>
        </p:nvSpPr>
        <p:spPr>
          <a:xfrm>
            <a:off x="5084064" y="1554480"/>
            <a:ext cx="2057400" cy="329184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4" name="a-up-w-ri2"/>
          <p:cNvSpPr/>
          <p:nvPr/>
        </p:nvSpPr>
        <p:spPr>
          <a:xfrm>
            <a:off x="5678424" y="1828800"/>
            <a:ext cx="868680" cy="868680"/>
          </a:xfrm>
          <a:prstGeom prst="ellipse">
            <a:avLst/>
          </a:prstGeom>
          <a:solidFill>
            <a:schemeClr val="accent1"/>
          </a:solidFill>
          <a:ln/>
        </p:spPr>
      </p:sp>
      <p:pic>
        <p:nvPicPr>
          <p:cNvPr id="15" name="a-up-w-w-ri2-i" descr="/tmp/claude-0/-home-user-done/4a4296a4-6fd8-5cee-98c2-5de0aee80c99/scratchpad/docs/img/icons/tools-w.png">    </p:cNvPr>
          <p:cNvPicPr>
            <a:picLocks noChangeAspect="1"/>
          </p:cNvPicPr>
          <p:nvPr/>
        </p:nvPicPr>
        <p:blipFill>
          <a:blip r:embed="rId3"/>
          <a:stretch>
            <a:fillRect/>
          </a:stretch>
        </p:blipFill>
        <p:spPr>
          <a:xfrm>
            <a:off x="5895594" y="2045970"/>
            <a:ext cx="434340" cy="434340"/>
          </a:xfrm>
          <a:prstGeom prst="rect">
            <a:avLst/>
          </a:prstGeom>
        </p:spPr>
      </p:pic>
      <p:sp>
        <p:nvSpPr>
          <p:cNvPr id="16" name="a-up-w-rt2"/>
          <p:cNvSpPr txBox="1"/>
          <p:nvPr/>
        </p:nvSpPr>
        <p:spPr>
          <a:xfrm>
            <a:off x="5266944" y="2880360"/>
            <a:ext cx="1691640" cy="411480"/>
          </a:xfrm>
          <a:prstGeom prst="rect">
            <a:avLst/>
          </a:prstGeom>
          <a:noFill/>
          <a:ln/>
        </p:spPr>
        <p:txBody>
          <a:bodyPr wrap="square" lIns="0" tIns="0" rIns="0" bIns="0" rtlCol="0" anchor="t"/>
          <a:lstStyle/>
          <a:p>
            <a:pPr algn="ctr" indent="0" marL="0">
              <a:buNone/>
            </a:pPr>
            <a:r>
              <a:rPr lang="en-US" sz="1900" b="1" dirty="0">
                <a:solidFill>
                  <a:schemeClr val="tx2"/>
                </a:solidFill>
              </a:rPr>
              <a:t>Technical</a:t>
            </a:r>
            <a:endParaRPr lang="en-US" sz="1900" dirty="0"/>
          </a:p>
        </p:txBody>
      </p:sp>
      <p:sp>
        <p:nvSpPr>
          <p:cNvPr id="17" name="a-up-w-rd2"/>
          <p:cNvSpPr txBox="1"/>
          <p:nvPr/>
        </p:nvSpPr>
        <p:spPr>
          <a:xfrm>
            <a:off x="5266944" y="3337560"/>
            <a:ext cx="1691640" cy="1371600"/>
          </a:xfrm>
          <a:prstGeom prst="rect">
            <a:avLst/>
          </a:prstGeom>
          <a:noFill/>
          <a:ln/>
        </p:spPr>
        <p:txBody>
          <a:bodyPr wrap="square" lIns="0" tIns="0" rIns="0" bIns="0" rtlCol="0" anchor="t"/>
          <a:lstStyle/>
          <a:p>
            <a:pPr algn="ctr" indent="0" marL="0">
              <a:buNone/>
            </a:pPr>
            <a:r>
              <a:rPr lang="en-US" sz="1300" dirty="0">
                <a:solidFill>
                  <a:schemeClr val="accent6"/>
                </a:solidFill>
              </a:rPr>
              <a:t>Feasibility, connections, suspend and reactivate</a:t>
            </a:r>
            <a:endParaRPr lang="en-US" sz="1300" dirty="0"/>
          </a:p>
        </p:txBody>
      </p:sp>
      <p:sp>
        <p:nvSpPr>
          <p:cNvPr id="18" name="a-up-rc3"/>
          <p:cNvSpPr/>
          <p:nvPr/>
        </p:nvSpPr>
        <p:spPr>
          <a:xfrm>
            <a:off x="7351776" y="1554480"/>
            <a:ext cx="2057400" cy="329184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9" name="a-up-w-ri3"/>
          <p:cNvSpPr/>
          <p:nvPr/>
        </p:nvSpPr>
        <p:spPr>
          <a:xfrm>
            <a:off x="7946136" y="1828800"/>
            <a:ext cx="868680" cy="868680"/>
          </a:xfrm>
          <a:prstGeom prst="ellipse">
            <a:avLst/>
          </a:prstGeom>
          <a:solidFill>
            <a:schemeClr val="accent2"/>
          </a:solidFill>
          <a:ln/>
        </p:spPr>
      </p:sp>
      <p:pic>
        <p:nvPicPr>
          <p:cNvPr id="20" name="a-up-w-w-ri3-i" descr="/tmp/claude-0/-home-user-done/4a4296a4-6fd8-5cee-98c2-5de0aee80c99/scratchpad/docs/img/icons/calc-w.png">    </p:cNvPr>
          <p:cNvPicPr>
            <a:picLocks noChangeAspect="1"/>
          </p:cNvPicPr>
          <p:nvPr/>
        </p:nvPicPr>
        <p:blipFill>
          <a:blip r:embed="rId4"/>
          <a:stretch>
            <a:fillRect/>
          </a:stretch>
        </p:blipFill>
        <p:spPr>
          <a:xfrm>
            <a:off x="8163306" y="2045970"/>
            <a:ext cx="434340" cy="434340"/>
          </a:xfrm>
          <a:prstGeom prst="rect">
            <a:avLst/>
          </a:prstGeom>
        </p:spPr>
      </p:pic>
      <p:sp>
        <p:nvSpPr>
          <p:cNvPr id="21" name="a-up-w-rt3"/>
          <p:cNvSpPr txBox="1"/>
          <p:nvPr/>
        </p:nvSpPr>
        <p:spPr>
          <a:xfrm>
            <a:off x="7534656" y="2880360"/>
            <a:ext cx="1691640" cy="411480"/>
          </a:xfrm>
          <a:prstGeom prst="rect">
            <a:avLst/>
          </a:prstGeom>
          <a:noFill/>
          <a:ln/>
        </p:spPr>
        <p:txBody>
          <a:bodyPr wrap="square" lIns="0" tIns="0" rIns="0" bIns="0" rtlCol="0" anchor="t"/>
          <a:lstStyle/>
          <a:p>
            <a:pPr algn="ctr" indent="0" marL="0">
              <a:buNone/>
            </a:pPr>
            <a:r>
              <a:rPr lang="en-US" sz="1900" b="1" dirty="0">
                <a:solidFill>
                  <a:schemeClr val="tx2"/>
                </a:solidFill>
              </a:rPr>
              <a:t>Accounts</a:t>
            </a:r>
            <a:endParaRPr lang="en-US" sz="1900" dirty="0"/>
          </a:p>
        </p:txBody>
      </p:sp>
      <p:sp>
        <p:nvSpPr>
          <p:cNvPr id="22" name="a-up-w-rd3"/>
          <p:cNvSpPr txBox="1"/>
          <p:nvPr/>
        </p:nvSpPr>
        <p:spPr>
          <a:xfrm>
            <a:off x="7534656" y="3337560"/>
            <a:ext cx="1691640" cy="1371600"/>
          </a:xfrm>
          <a:prstGeom prst="rect">
            <a:avLst/>
          </a:prstGeom>
          <a:noFill/>
          <a:ln/>
        </p:spPr>
        <p:txBody>
          <a:bodyPr wrap="square" lIns="0" tIns="0" rIns="0" bIns="0" rtlCol="0" anchor="t"/>
          <a:lstStyle/>
          <a:p>
            <a:pPr algn="ctr" indent="0" marL="0">
              <a:buNone/>
            </a:pPr>
            <a:r>
              <a:rPr lang="en-US" sz="1300" dirty="0">
                <a:solidFill>
                  <a:schemeClr val="accent6"/>
                </a:solidFill>
              </a:rPr>
              <a:t>Generate postpaid bills, record office payments</a:t>
            </a:r>
            <a:endParaRPr lang="en-US" sz="1300" dirty="0"/>
          </a:p>
        </p:txBody>
      </p:sp>
      <p:sp>
        <p:nvSpPr>
          <p:cNvPr id="23" name="a-up-rc4"/>
          <p:cNvSpPr/>
          <p:nvPr/>
        </p:nvSpPr>
        <p:spPr>
          <a:xfrm>
            <a:off x="9619488" y="1554480"/>
            <a:ext cx="2057400" cy="3291840"/>
          </a:xfrm>
          <a:prstGeom prst="roundRect">
            <a:avLst>
              <a:gd name="adj" fmla="val 533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24" name="a-up-w-ri4"/>
          <p:cNvSpPr/>
          <p:nvPr/>
        </p:nvSpPr>
        <p:spPr>
          <a:xfrm>
            <a:off x="10213848" y="1828800"/>
            <a:ext cx="868680" cy="868680"/>
          </a:xfrm>
          <a:prstGeom prst="ellipse">
            <a:avLst/>
          </a:prstGeom>
          <a:solidFill>
            <a:schemeClr val="accent1"/>
          </a:solidFill>
          <a:ln/>
        </p:spPr>
      </p:sp>
      <p:pic>
        <p:nvPicPr>
          <p:cNvPr id="25" name="a-up-w-w-ri4-i" descr="/tmp/claude-0/-home-user-done/4a4296a4-6fd8-5cee-98c2-5de0aee80c99/scratchpad/docs/img/icons/customer-w.png">    </p:cNvPr>
          <p:cNvPicPr>
            <a:picLocks noChangeAspect="1"/>
          </p:cNvPicPr>
          <p:nvPr/>
        </p:nvPicPr>
        <p:blipFill>
          <a:blip r:embed="rId5"/>
          <a:stretch>
            <a:fillRect/>
          </a:stretch>
        </p:blipFill>
        <p:spPr>
          <a:xfrm>
            <a:off x="10431018" y="2045970"/>
            <a:ext cx="434340" cy="434340"/>
          </a:xfrm>
          <a:prstGeom prst="rect">
            <a:avLst/>
          </a:prstGeom>
        </p:spPr>
      </p:pic>
      <p:sp>
        <p:nvSpPr>
          <p:cNvPr id="26" name="a-up-w-rt4"/>
          <p:cNvSpPr txBox="1"/>
          <p:nvPr/>
        </p:nvSpPr>
        <p:spPr>
          <a:xfrm>
            <a:off x="9802368" y="2880360"/>
            <a:ext cx="1691640" cy="411480"/>
          </a:xfrm>
          <a:prstGeom prst="rect">
            <a:avLst/>
          </a:prstGeom>
          <a:noFill/>
          <a:ln/>
        </p:spPr>
        <p:txBody>
          <a:bodyPr wrap="square" lIns="0" tIns="0" rIns="0" bIns="0" rtlCol="0" anchor="t"/>
          <a:lstStyle/>
          <a:p>
            <a:pPr algn="ctr" indent="0" marL="0">
              <a:buNone/>
            </a:pPr>
            <a:r>
              <a:rPr lang="en-US" sz="1900" b="1" dirty="0">
                <a:solidFill>
                  <a:schemeClr val="tx2"/>
                </a:solidFill>
              </a:rPr>
              <a:t>Customer</a:t>
            </a:r>
            <a:endParaRPr lang="en-US" sz="1900" dirty="0"/>
          </a:p>
        </p:txBody>
      </p:sp>
      <p:sp>
        <p:nvSpPr>
          <p:cNvPr id="27" name="a-up-w-rd4"/>
          <p:cNvSpPr txBox="1"/>
          <p:nvPr/>
        </p:nvSpPr>
        <p:spPr>
          <a:xfrm>
            <a:off x="9802368" y="3337560"/>
            <a:ext cx="1691640" cy="1371600"/>
          </a:xfrm>
          <a:prstGeom prst="rect">
            <a:avLst/>
          </a:prstGeom>
          <a:noFill/>
          <a:ln/>
        </p:spPr>
        <p:txBody>
          <a:bodyPr wrap="square" lIns="0" tIns="0" rIns="0" bIns="0" rtlCol="0" anchor="t"/>
          <a:lstStyle/>
          <a:p>
            <a:pPr algn="ctr" indent="0" marL="0">
              <a:buNone/>
            </a:pPr>
            <a:r>
              <a:rPr lang="en-US" sz="1300" dirty="0">
                <a:solidFill>
                  <a:schemeClr val="accent6"/>
                </a:solidFill>
              </a:rPr>
              <a:t>Orders, bills, dues, documents and feedback</a:t>
            </a:r>
            <a:endParaRPr lang="en-US" sz="1300" dirty="0"/>
          </a:p>
        </p:txBody>
      </p:sp>
      <p:sp>
        <p:nvSpPr>
          <p:cNvPr id="28" name="a-fade-pub"/>
          <p:cNvSpPr/>
          <p:nvPr/>
        </p:nvSpPr>
        <p:spPr>
          <a:xfrm>
            <a:off x="548640" y="5120640"/>
            <a:ext cx="11064240" cy="868680"/>
          </a:xfrm>
          <a:prstGeom prst="roundRect">
            <a:avLst>
              <a:gd name="adj" fmla="val 12632"/>
            </a:avLst>
          </a:prstGeom>
          <a:solidFill>
            <a:schemeClr val="bg2"/>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29" name="a-fade-w-pubi" descr="/tmp/claude-0/-home-user-done/4a4296a4-6fd8-5cee-98c2-5de0aee80c99/scratchpad/docs/img/icons/globe-b.png">    </p:cNvPr>
          <p:cNvPicPr>
            <a:picLocks noChangeAspect="1"/>
          </p:cNvPicPr>
          <p:nvPr/>
        </p:nvPicPr>
        <p:blipFill>
          <a:blip r:embed="rId6"/>
          <a:stretch>
            <a:fillRect/>
          </a:stretch>
        </p:blipFill>
        <p:spPr>
          <a:xfrm>
            <a:off x="868680" y="5349240"/>
            <a:ext cx="411480" cy="411480"/>
          </a:xfrm>
          <a:prstGeom prst="rect">
            <a:avLst/>
          </a:prstGeom>
        </p:spPr>
      </p:pic>
      <p:sp>
        <p:nvSpPr>
          <p:cNvPr id="30" name="a-fade-w-pubt"/>
          <p:cNvSpPr txBox="1"/>
          <p:nvPr/>
        </p:nvSpPr>
        <p:spPr>
          <a:xfrm>
            <a:off x="1508760" y="5285232"/>
            <a:ext cx="9875520" cy="548640"/>
          </a:xfrm>
          <a:prstGeom prst="rect">
            <a:avLst/>
          </a:prstGeom>
          <a:noFill/>
          <a:ln/>
        </p:spPr>
        <p:txBody>
          <a:bodyPr wrap="square" lIns="0" tIns="0" rIns="0" bIns="0" rtlCol="0" anchor="ctr"/>
          <a:lstStyle/>
          <a:p>
            <a:pPr indent="0" marL="0">
              <a:buNone/>
            </a:pPr>
            <a:r>
              <a:rPr lang="en-US" sz="1500" b="1" dirty="0">
                <a:solidFill>
                  <a:schemeClr val="tx2"/>
                </a:solidFill>
              </a:rPr>
              <a:t>Public visitors </a:t>
            </a:r>
            <a:pPr indent="0" marL="0">
              <a:buNone/>
            </a:pPr>
            <a:r>
              <a:rPr lang="en-US" sz="1500" dirty="0">
                <a:solidFill>
                  <a:schemeClr val="accent6"/>
                </a:solidFill>
              </a:rPr>
              <a:t>see plans and prices and track any order number or account ID - amounts appear only after signing in.</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4"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42" presetClass="entr" presetSubtype="0"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600"/>
                                        <p:tgtEl>
                                          <p:spTgt spid="3"/>
                                        </p:tgtEl>
                                      </p:cBhvr>
                                    </p:animEffect>
                                    <p:anim calcmode="lin" valueType="num">
                                      <p:cBhvr>
                                        <p:cTn id="9" dur="600" decel="100000" fill="hold"/>
                                        <p:tgtEl>
                                          <p:spTgt spid="3"/>
                                        </p:tgtEl>
                                        <p:attrNameLst>
                                          <p:attrName>ppt_x</p:attrName>
                                        </p:attrNameLst>
                                      </p:cBhvr>
                                      <p:tavLst>
                                        <p:tav tm="0">
                                          <p:val>
                                            <p:strVal val="#ppt_x"/>
                                          </p:val>
                                        </p:tav>
                                        <p:tav tm="100000">
                                          <p:val>
                                            <p:strVal val="#ppt_x"/>
                                          </p:val>
                                        </p:tav>
                                      </p:tavLst>
                                    </p:anim>
                                    <p:anim calcmode="lin" valueType="num">
                                      <p:cBhvr>
                                        <p:cTn id="10" dur="600" decel="100000" fill="hold"/>
                                        <p:tgtEl>
                                          <p:spTgt spid="3"/>
                                        </p:tgtEl>
                                        <p:attrNameLst>
                                          <p:attrName>ppt_y</p:attrName>
                                        </p:attrNameLst>
                                      </p:cBhvr>
                                      <p:tavLst>
                                        <p:tav tm="0">
                                          <p:val>
                                            <p:strVal val="#ppt_y+.08"/>
                                          </p:val>
                                        </p:tav>
                                        <p:tav tm="100000">
                                          <p:val>
                                            <p:strVal val="#ppt_y"/>
                                          </p:val>
                                        </p:tav>
                                      </p:tavLst>
                                    </p:anim>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anim calcmode="lin" valueType="num">
                                      <p:cBhvr>
                                        <p:cTn id="14" dur="600" decel="100000" fill="hold"/>
                                        <p:tgtEl>
                                          <p:spTgt spid="4"/>
                                        </p:tgtEl>
                                        <p:attrNameLst>
                                          <p:attrName>ppt_x</p:attrName>
                                        </p:attrNameLst>
                                      </p:cBhvr>
                                      <p:tavLst>
                                        <p:tav tm="0">
                                          <p:val>
                                            <p:strVal val="#ppt_x"/>
                                          </p:val>
                                        </p:tav>
                                        <p:tav tm="100000">
                                          <p:val>
                                            <p:strVal val="#ppt_x"/>
                                          </p:val>
                                        </p:tav>
                                      </p:tavLst>
                                    </p:anim>
                                    <p:anim calcmode="lin" valueType="num">
                                      <p:cBhvr>
                                        <p:cTn id="15" dur="600" decel="100000" fill="hold"/>
                                        <p:tgtEl>
                                          <p:spTgt spid="4"/>
                                        </p:tgtEl>
                                        <p:attrNameLst>
                                          <p:attrName>ppt_y</p:attrName>
                                        </p:attrNameLst>
                                      </p:cBhvr>
                                      <p:tavLst>
                                        <p:tav tm="0">
                                          <p:val>
                                            <p:strVal val="#ppt_y+.08"/>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
                                          </p:val>
                                        </p:tav>
                                        <p:tav tm="100000">
                                          <p:val>
                                            <p:strVal val="#ppt_x"/>
                                          </p:val>
                                        </p:tav>
                                      </p:tavLst>
                                    </p:anim>
                                    <p:anim calcmode="lin" valueType="num">
                                      <p:cBhvr>
                                        <p:cTn id="20" dur="600" decel="100000" fill="hold"/>
                                        <p:tgtEl>
                                          <p:spTgt spid="5"/>
                                        </p:tgtEl>
                                        <p:attrNameLst>
                                          <p:attrName>ppt_y</p:attrName>
                                        </p:attrNameLst>
                                      </p:cBhvr>
                                      <p:tavLst>
                                        <p:tav tm="0">
                                          <p:val>
                                            <p:strVal val="#ppt_y+.08"/>
                                          </p:val>
                                        </p:tav>
                                        <p:tav tm="100000">
                                          <p:val>
                                            <p:strVal val="#ppt_y"/>
                                          </p:val>
                                        </p:tav>
                                      </p:tavLst>
                                    </p:anim>
                                  </p:childTnLst>
                                </p:cTn>
                              </p:par>
                              <p:par>
                                <p:cTn id="26" presetID="42" presetClass="entr" presetSubtype="0"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
                                          </p:val>
                                        </p:tav>
                                        <p:tav tm="100000">
                                          <p:val>
                                            <p:strVal val="#ppt_x"/>
                                          </p:val>
                                        </p:tav>
                                      </p:tavLst>
                                    </p:anim>
                                    <p:anim calcmode="lin" valueType="num">
                                      <p:cBhvr>
                                        <p:cTn id="25" dur="600" decel="100000" fill="hold"/>
                                        <p:tgtEl>
                                          <p:spTgt spid="6"/>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2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
                                          </p:val>
                                        </p:tav>
                                        <p:tav tm="100000">
                                          <p:val>
                                            <p:strVal val="#ppt_x"/>
                                          </p:val>
                                        </p:tav>
                                      </p:tavLst>
                                    </p:anim>
                                    <p:anim calcmode="lin" valueType="num">
                                      <p:cBhvr>
                                        <p:cTn id="30" dur="600" decel="100000" fill="hold"/>
                                        <p:tgtEl>
                                          <p:spTgt spid="7"/>
                                        </p:tgtEl>
                                        <p:attrNameLst>
                                          <p:attrName>ppt_y</p:attrName>
                                        </p:attrNameLst>
                                      </p:cBhvr>
                                      <p:tavLst>
                                        <p:tav tm="0">
                                          <p:val>
                                            <p:strVal val="#ppt_y+.08"/>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
                                          </p:val>
                                        </p:tav>
                                        <p:tav tm="100000">
                                          <p:val>
                                            <p:strVal val="#ppt_x"/>
                                          </p:val>
                                        </p:tav>
                                      </p:tavLst>
                                    </p:anim>
                                    <p:anim calcmode="lin" valueType="num">
                                      <p:cBhvr>
                                        <p:cTn id="35" dur="600" decel="100000" fill="hold"/>
                                        <p:tgtEl>
                                          <p:spTgt spid="8"/>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4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
                                          </p:val>
                                        </p:tav>
                                        <p:tav tm="100000">
                                          <p:val>
                                            <p:strVal val="#ppt_x"/>
                                          </p:val>
                                        </p:tav>
                                      </p:tavLst>
                                    </p:anim>
                                    <p:anim calcmode="lin" valueType="num">
                                      <p:cBhvr>
                                        <p:cTn id="40" dur="600" decel="100000" fill="hold"/>
                                        <p:tgtEl>
                                          <p:spTgt spid="9"/>
                                        </p:tgtEl>
                                        <p:attrNameLst>
                                          <p:attrName>ppt_y</p:attrName>
                                        </p:attrNameLst>
                                      </p:cBhvr>
                                      <p:tavLst>
                                        <p:tav tm="0">
                                          <p:val>
                                            <p:strVal val="#ppt_y+.08"/>
                                          </p:val>
                                        </p:tav>
                                        <p:tav tm="100000">
                                          <p:val>
                                            <p:strVal val="#ppt_y"/>
                                          </p:val>
                                        </p:tav>
                                      </p:tavLst>
                                    </p:anim>
                                  </p:childTnLst>
                                </p:cTn>
                              </p:par>
                              <p:par>
                                <p:cTn id="46" presetID="42" presetClass="entr" presetSubtype="0" fill="hold" grpId="0" nodeType="withEffect">
                                  <p:stCondLst>
                                    <p:cond delay="4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
                                          </p:val>
                                        </p:tav>
                                        <p:tav tm="100000">
                                          <p:val>
                                            <p:strVal val="#ppt_x"/>
                                          </p:val>
                                        </p:tav>
                                      </p:tavLst>
                                    </p:anim>
                                    <p:anim calcmode="lin" valueType="num">
                                      <p:cBhvr>
                                        <p:cTn id="45" dur="600" decel="100000" fill="hold"/>
                                        <p:tgtEl>
                                          <p:spTgt spid="10"/>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4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
                                          </p:val>
                                        </p:tav>
                                        <p:tav tm="100000">
                                          <p:val>
                                            <p:strVal val="#ppt_x"/>
                                          </p:val>
                                        </p:tav>
                                      </p:tavLst>
                                    </p:anim>
                                    <p:anim calcmode="lin" valueType="num">
                                      <p:cBhvr>
                                        <p:cTn id="50" dur="600" decel="100000" fill="hold"/>
                                        <p:tgtEl>
                                          <p:spTgt spid="11"/>
                                        </p:tgtEl>
                                        <p:attrNameLst>
                                          <p:attrName>ppt_y</p:attrName>
                                        </p:attrNameLst>
                                      </p:cBhvr>
                                      <p:tavLst>
                                        <p:tav tm="0">
                                          <p:val>
                                            <p:strVal val="#ppt_y+.08"/>
                                          </p:val>
                                        </p:tav>
                                        <p:tav tm="100000">
                                          <p:val>
                                            <p:strVal val="#ppt_y"/>
                                          </p:val>
                                        </p:tav>
                                      </p:tavLst>
                                    </p:anim>
                                  </p:childTnLst>
                                </p:cTn>
                              </p:par>
                              <p:par>
                                <p:cTn id="56" presetID="42" presetClass="entr" presetSubtype="0" fill="hold" grpId="0" nodeType="withEffect">
                                  <p:stCondLst>
                                    <p:cond delay="4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
                                          </p:val>
                                        </p:tav>
                                        <p:tav tm="100000">
                                          <p:val>
                                            <p:strVal val="#ppt_x"/>
                                          </p:val>
                                        </p:tav>
                                      </p:tavLst>
                                    </p:anim>
                                    <p:anim calcmode="lin" valueType="num">
                                      <p:cBhvr>
                                        <p:cTn id="55" dur="600" decel="100000" fill="hold"/>
                                        <p:tgtEl>
                                          <p:spTgt spid="12"/>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6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
                                          </p:val>
                                        </p:tav>
                                        <p:tav tm="100000">
                                          <p:val>
                                            <p:strVal val="#ppt_x"/>
                                          </p:val>
                                        </p:tav>
                                      </p:tavLst>
                                    </p:anim>
                                    <p:anim calcmode="lin" valueType="num">
                                      <p:cBhvr>
                                        <p:cTn id="60" dur="600" decel="100000" fill="hold"/>
                                        <p:tgtEl>
                                          <p:spTgt spid="13"/>
                                        </p:tgtEl>
                                        <p:attrNameLst>
                                          <p:attrName>ppt_y</p:attrName>
                                        </p:attrNameLst>
                                      </p:cBhvr>
                                      <p:tavLst>
                                        <p:tav tm="0">
                                          <p:val>
                                            <p:strVal val="#ppt_y+.08"/>
                                          </p:val>
                                        </p:tav>
                                        <p:tav tm="100000">
                                          <p:val>
                                            <p:strVal val="#ppt_y"/>
                                          </p:val>
                                        </p:tav>
                                      </p:tavLst>
                                    </p:anim>
                                  </p:childTnLst>
                                </p:cTn>
                              </p:par>
                              <p:par>
                                <p:cTn id="66" presetID="42" presetClass="entr" presetSubtype="0" fill="hold" grpId="0" nodeType="withEffect">
                                  <p:stCondLst>
                                    <p:cond delay="6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
                                          </p:val>
                                        </p:tav>
                                        <p:tav tm="100000">
                                          <p:val>
                                            <p:strVal val="#ppt_x"/>
                                          </p:val>
                                        </p:tav>
                                      </p:tavLst>
                                    </p:anim>
                                    <p:anim calcmode="lin" valueType="num">
                                      <p:cBhvr>
                                        <p:cTn id="65" dur="600" decel="100000" fill="hold"/>
                                        <p:tgtEl>
                                          <p:spTgt spid="14"/>
                                        </p:tgtEl>
                                        <p:attrNameLst>
                                          <p:attrName>ppt_y</p:attrName>
                                        </p:attrNameLst>
                                      </p:cBhvr>
                                      <p:tavLst>
                                        <p:tav tm="0">
                                          <p:val>
                                            <p:strVal val="#ppt_y+.08"/>
                                          </p:val>
                                        </p:tav>
                                        <p:tav tm="100000">
                                          <p:val>
                                            <p:strVal val="#ppt_y"/>
                                          </p:val>
                                        </p:tav>
                                      </p:tavLst>
                                    </p:anim>
                                  </p:childTnLst>
                                </p:cTn>
                              </p:par>
                              <p:par>
                                <p:cTn id="71" presetID="42" presetClass="entr" presetSubtype="0" fill="hold" grpId="0" nodeType="withEffect">
                                  <p:stCondLst>
                                    <p:cond delay="6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p:cTn id="69" dur="600" decel="100000" fill="hold"/>
                                        <p:tgtEl>
                                          <p:spTgt spid="15"/>
                                        </p:tgtEl>
                                        <p:attrNameLst>
                                          <p:attrName>ppt_x</p:attrName>
                                        </p:attrNameLst>
                                      </p:cBhvr>
                                      <p:tavLst>
                                        <p:tav tm="0">
                                          <p:val>
                                            <p:strVal val="#ppt_x"/>
                                          </p:val>
                                        </p:tav>
                                        <p:tav tm="100000">
                                          <p:val>
                                            <p:strVal val="#ppt_x"/>
                                          </p:val>
                                        </p:tav>
                                      </p:tavLst>
                                    </p:anim>
                                    <p:anim calcmode="lin" valueType="num">
                                      <p:cBhvr>
                                        <p:cTn id="70" dur="600" decel="100000" fill="hold"/>
                                        <p:tgtEl>
                                          <p:spTgt spid="15"/>
                                        </p:tgtEl>
                                        <p:attrNameLst>
                                          <p:attrName>ppt_y</p:attrName>
                                        </p:attrNameLst>
                                      </p:cBhvr>
                                      <p:tavLst>
                                        <p:tav tm="0">
                                          <p:val>
                                            <p:strVal val="#ppt_y+.08"/>
                                          </p:val>
                                        </p:tav>
                                        <p:tav tm="100000">
                                          <p:val>
                                            <p:strVal val="#ppt_y"/>
                                          </p:val>
                                        </p:tav>
                                      </p:tavLst>
                                    </p:anim>
                                  </p:childTnLst>
                                </p:cTn>
                              </p:par>
                              <p:par>
                                <p:cTn id="76" presetID="42" presetClass="entr" presetSubtype="0" fill="hold" grpId="0" nodeType="withEffect">
                                  <p:stCondLst>
                                    <p:cond delay="6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decel="1000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8"/>
                                          </p:val>
                                        </p:tav>
                                        <p:tav tm="100000">
                                          <p:val>
                                            <p:strVal val="#ppt_y"/>
                                          </p:val>
                                        </p:tav>
                                      </p:tavLst>
                                    </p:anim>
                                  </p:childTnLst>
                                </p:cTn>
                              </p:par>
                              <p:par>
                                <p:cTn id="81" presetID="42" presetClass="entr" presetSubtype="0" fill="hold" grpId="0" nodeType="withEffect">
                                  <p:stCondLst>
                                    <p:cond delay="6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600"/>
                                        <p:tgtEl>
                                          <p:spTgt spid="17"/>
                                        </p:tgtEl>
                                      </p:cBhvr>
                                    </p:animEffect>
                                    <p:anim calcmode="lin" valueType="num">
                                      <p:cBhvr>
                                        <p:cTn id="79" dur="600" decel="100000" fill="hold"/>
                                        <p:tgtEl>
                                          <p:spTgt spid="17"/>
                                        </p:tgtEl>
                                        <p:attrNameLst>
                                          <p:attrName>ppt_x</p:attrName>
                                        </p:attrNameLst>
                                      </p:cBhvr>
                                      <p:tavLst>
                                        <p:tav tm="0">
                                          <p:val>
                                            <p:strVal val="#ppt_x"/>
                                          </p:val>
                                        </p:tav>
                                        <p:tav tm="100000">
                                          <p:val>
                                            <p:strVal val="#ppt_x"/>
                                          </p:val>
                                        </p:tav>
                                      </p:tavLst>
                                    </p:anim>
                                    <p:anim calcmode="lin" valueType="num">
                                      <p:cBhvr>
                                        <p:cTn id="80" dur="600" decel="100000" fill="hold"/>
                                        <p:tgtEl>
                                          <p:spTgt spid="17"/>
                                        </p:tgtEl>
                                        <p:attrNameLst>
                                          <p:attrName>ppt_y</p:attrName>
                                        </p:attrNameLst>
                                      </p:cBhvr>
                                      <p:tavLst>
                                        <p:tav tm="0">
                                          <p:val>
                                            <p:strVal val="#ppt_y+.08"/>
                                          </p:val>
                                        </p:tav>
                                        <p:tav tm="100000">
                                          <p:val>
                                            <p:strVal val="#ppt_y"/>
                                          </p:val>
                                        </p:tav>
                                      </p:tavLst>
                                    </p:anim>
                                  </p:childTnLst>
                                </p:cTn>
                              </p:par>
                              <p:par>
                                <p:cTn id="86" presetID="42" presetClass="entr" presetSubtype="0" fill="hold" grpId="0" nodeType="withEffect">
                                  <p:stCondLst>
                                    <p:cond delay="8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600"/>
                                        <p:tgtEl>
                                          <p:spTgt spid="18"/>
                                        </p:tgtEl>
                                      </p:cBhvr>
                                    </p:animEffect>
                                    <p:anim calcmode="lin" valueType="num">
                                      <p:cBhvr>
                                        <p:cTn id="84" dur="600" decel="100000" fill="hold"/>
                                        <p:tgtEl>
                                          <p:spTgt spid="18"/>
                                        </p:tgtEl>
                                        <p:attrNameLst>
                                          <p:attrName>ppt_x</p:attrName>
                                        </p:attrNameLst>
                                      </p:cBhvr>
                                      <p:tavLst>
                                        <p:tav tm="0">
                                          <p:val>
                                            <p:strVal val="#ppt_x"/>
                                          </p:val>
                                        </p:tav>
                                        <p:tav tm="100000">
                                          <p:val>
                                            <p:strVal val="#ppt_x"/>
                                          </p:val>
                                        </p:tav>
                                      </p:tavLst>
                                    </p:anim>
                                    <p:anim calcmode="lin" valueType="num">
                                      <p:cBhvr>
                                        <p:cTn id="85" dur="600" decel="100000" fill="hold"/>
                                        <p:tgtEl>
                                          <p:spTgt spid="18"/>
                                        </p:tgtEl>
                                        <p:attrNameLst>
                                          <p:attrName>ppt_y</p:attrName>
                                        </p:attrNameLst>
                                      </p:cBhvr>
                                      <p:tavLst>
                                        <p:tav tm="0">
                                          <p:val>
                                            <p:strVal val="#ppt_y+.08"/>
                                          </p:val>
                                        </p:tav>
                                        <p:tav tm="100000">
                                          <p:val>
                                            <p:strVal val="#ppt_y"/>
                                          </p:val>
                                        </p:tav>
                                      </p:tavLst>
                                    </p:anim>
                                  </p:childTnLst>
                                </p:cTn>
                              </p:par>
                              <p:par>
                                <p:cTn id="91" presetID="42" presetClass="entr" presetSubtype="0" fill="hold" grpId="0" nodeType="withEffect">
                                  <p:stCondLst>
                                    <p:cond delay="8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600"/>
                                        <p:tgtEl>
                                          <p:spTgt spid="19"/>
                                        </p:tgtEl>
                                      </p:cBhvr>
                                    </p:animEffect>
                                    <p:anim calcmode="lin" valueType="num">
                                      <p:cBhvr>
                                        <p:cTn id="89" dur="600" decel="100000" fill="hold"/>
                                        <p:tgtEl>
                                          <p:spTgt spid="19"/>
                                        </p:tgtEl>
                                        <p:attrNameLst>
                                          <p:attrName>ppt_x</p:attrName>
                                        </p:attrNameLst>
                                      </p:cBhvr>
                                      <p:tavLst>
                                        <p:tav tm="0">
                                          <p:val>
                                            <p:strVal val="#ppt_x"/>
                                          </p:val>
                                        </p:tav>
                                        <p:tav tm="100000">
                                          <p:val>
                                            <p:strVal val="#ppt_x"/>
                                          </p:val>
                                        </p:tav>
                                      </p:tavLst>
                                    </p:anim>
                                    <p:anim calcmode="lin" valueType="num">
                                      <p:cBhvr>
                                        <p:cTn id="90" dur="600" decel="100000" fill="hold"/>
                                        <p:tgtEl>
                                          <p:spTgt spid="19"/>
                                        </p:tgtEl>
                                        <p:attrNameLst>
                                          <p:attrName>ppt_y</p:attrName>
                                        </p:attrNameLst>
                                      </p:cBhvr>
                                      <p:tavLst>
                                        <p:tav tm="0">
                                          <p:val>
                                            <p:strVal val="#ppt_y+.08"/>
                                          </p:val>
                                        </p:tav>
                                        <p:tav tm="100000">
                                          <p:val>
                                            <p:strVal val="#ppt_y"/>
                                          </p:val>
                                        </p:tav>
                                      </p:tavLst>
                                    </p:anim>
                                  </p:childTnLst>
                                </p:cTn>
                              </p:par>
                              <p:par>
                                <p:cTn id="96" presetID="42" presetClass="entr" presetSubtype="0" fill="hold" grpId="0" nodeType="withEffect">
                                  <p:stCondLst>
                                    <p:cond delay="8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600"/>
                                        <p:tgtEl>
                                          <p:spTgt spid="20"/>
                                        </p:tgtEl>
                                      </p:cBhvr>
                                    </p:animEffect>
                                    <p:anim calcmode="lin" valueType="num">
                                      <p:cBhvr>
                                        <p:cTn id="94" dur="600" decel="100000" fill="hold"/>
                                        <p:tgtEl>
                                          <p:spTgt spid="20"/>
                                        </p:tgtEl>
                                        <p:attrNameLst>
                                          <p:attrName>ppt_x</p:attrName>
                                        </p:attrNameLst>
                                      </p:cBhvr>
                                      <p:tavLst>
                                        <p:tav tm="0">
                                          <p:val>
                                            <p:strVal val="#ppt_x"/>
                                          </p:val>
                                        </p:tav>
                                        <p:tav tm="100000">
                                          <p:val>
                                            <p:strVal val="#ppt_x"/>
                                          </p:val>
                                        </p:tav>
                                      </p:tavLst>
                                    </p:anim>
                                    <p:anim calcmode="lin" valueType="num">
                                      <p:cBhvr>
                                        <p:cTn id="95" dur="600" decel="100000" fill="hold"/>
                                        <p:tgtEl>
                                          <p:spTgt spid="20"/>
                                        </p:tgtEl>
                                        <p:attrNameLst>
                                          <p:attrName>ppt_y</p:attrName>
                                        </p:attrNameLst>
                                      </p:cBhvr>
                                      <p:tavLst>
                                        <p:tav tm="0">
                                          <p:val>
                                            <p:strVal val="#ppt_y+.08"/>
                                          </p:val>
                                        </p:tav>
                                        <p:tav tm="100000">
                                          <p:val>
                                            <p:strVal val="#ppt_y"/>
                                          </p:val>
                                        </p:tav>
                                      </p:tavLst>
                                    </p:anim>
                                  </p:childTnLst>
                                </p:cTn>
                              </p:par>
                              <p:par>
                                <p:cTn id="101" presetID="42" presetClass="entr" presetSubtype="0" fill="hold" grpId="0" nodeType="withEffect">
                                  <p:stCondLst>
                                    <p:cond delay="8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600"/>
                                        <p:tgtEl>
                                          <p:spTgt spid="21"/>
                                        </p:tgtEl>
                                      </p:cBhvr>
                                    </p:animEffect>
                                    <p:anim calcmode="lin" valueType="num">
                                      <p:cBhvr>
                                        <p:cTn id="99" dur="600" decel="100000" fill="hold"/>
                                        <p:tgtEl>
                                          <p:spTgt spid="21"/>
                                        </p:tgtEl>
                                        <p:attrNameLst>
                                          <p:attrName>ppt_x</p:attrName>
                                        </p:attrNameLst>
                                      </p:cBhvr>
                                      <p:tavLst>
                                        <p:tav tm="0">
                                          <p:val>
                                            <p:strVal val="#ppt_x"/>
                                          </p:val>
                                        </p:tav>
                                        <p:tav tm="100000">
                                          <p:val>
                                            <p:strVal val="#ppt_x"/>
                                          </p:val>
                                        </p:tav>
                                      </p:tavLst>
                                    </p:anim>
                                    <p:anim calcmode="lin" valueType="num">
                                      <p:cBhvr>
                                        <p:cTn id="100" dur="600" decel="100000" fill="hold"/>
                                        <p:tgtEl>
                                          <p:spTgt spid="21"/>
                                        </p:tgtEl>
                                        <p:attrNameLst>
                                          <p:attrName>ppt_y</p:attrName>
                                        </p:attrNameLst>
                                      </p:cBhvr>
                                      <p:tavLst>
                                        <p:tav tm="0">
                                          <p:val>
                                            <p:strVal val="#ppt_y+.08"/>
                                          </p:val>
                                        </p:tav>
                                        <p:tav tm="100000">
                                          <p:val>
                                            <p:strVal val="#ppt_y"/>
                                          </p:val>
                                        </p:tav>
                                      </p:tavLst>
                                    </p:anim>
                                  </p:childTnLst>
                                </p:cTn>
                              </p:par>
                              <p:par>
                                <p:cTn id="106" presetID="42" presetClass="entr" presetSubtype="0" fill="hold" grpId="0" nodeType="withEffect">
                                  <p:stCondLst>
                                    <p:cond delay="8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600"/>
                                        <p:tgtEl>
                                          <p:spTgt spid="22"/>
                                        </p:tgtEl>
                                      </p:cBhvr>
                                    </p:animEffect>
                                    <p:anim calcmode="lin" valueType="num">
                                      <p:cBhvr>
                                        <p:cTn id="104" dur="600" decel="100000" fill="hold"/>
                                        <p:tgtEl>
                                          <p:spTgt spid="22"/>
                                        </p:tgtEl>
                                        <p:attrNameLst>
                                          <p:attrName>ppt_x</p:attrName>
                                        </p:attrNameLst>
                                      </p:cBhvr>
                                      <p:tavLst>
                                        <p:tav tm="0">
                                          <p:val>
                                            <p:strVal val="#ppt_x"/>
                                          </p:val>
                                        </p:tav>
                                        <p:tav tm="100000">
                                          <p:val>
                                            <p:strVal val="#ppt_x"/>
                                          </p:val>
                                        </p:tav>
                                      </p:tavLst>
                                    </p:anim>
                                    <p:anim calcmode="lin" valueType="num">
                                      <p:cBhvr>
                                        <p:cTn id="105" dur="600" decel="100000" fill="hold"/>
                                        <p:tgtEl>
                                          <p:spTgt spid="22"/>
                                        </p:tgtEl>
                                        <p:attrNameLst>
                                          <p:attrName>ppt_y</p:attrName>
                                        </p:attrNameLst>
                                      </p:cBhvr>
                                      <p:tavLst>
                                        <p:tav tm="0">
                                          <p:val>
                                            <p:strVal val="#ppt_y+.08"/>
                                          </p:val>
                                        </p:tav>
                                        <p:tav tm="100000">
                                          <p:val>
                                            <p:strVal val="#ppt_y"/>
                                          </p:val>
                                        </p:tav>
                                      </p:tavLst>
                                    </p:anim>
                                  </p:childTnLst>
                                </p:cTn>
                              </p:par>
                              <p:par>
                                <p:cTn id="111" presetID="42" presetClass="entr" presetSubtype="0" fill="hold" grpId="0" nodeType="withEffect">
                                  <p:stCondLst>
                                    <p:cond delay="10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600"/>
                                        <p:tgtEl>
                                          <p:spTgt spid="23"/>
                                        </p:tgtEl>
                                      </p:cBhvr>
                                    </p:animEffect>
                                    <p:anim calcmode="lin" valueType="num">
                                      <p:cBhvr>
                                        <p:cTn id="109" dur="600" decel="100000" fill="hold"/>
                                        <p:tgtEl>
                                          <p:spTgt spid="23"/>
                                        </p:tgtEl>
                                        <p:attrNameLst>
                                          <p:attrName>ppt_x</p:attrName>
                                        </p:attrNameLst>
                                      </p:cBhvr>
                                      <p:tavLst>
                                        <p:tav tm="0">
                                          <p:val>
                                            <p:strVal val="#ppt_x"/>
                                          </p:val>
                                        </p:tav>
                                        <p:tav tm="100000">
                                          <p:val>
                                            <p:strVal val="#ppt_x"/>
                                          </p:val>
                                        </p:tav>
                                      </p:tavLst>
                                    </p:anim>
                                    <p:anim calcmode="lin" valueType="num">
                                      <p:cBhvr>
                                        <p:cTn id="110" dur="600" decel="100000" fill="hold"/>
                                        <p:tgtEl>
                                          <p:spTgt spid="23"/>
                                        </p:tgtEl>
                                        <p:attrNameLst>
                                          <p:attrName>ppt_y</p:attrName>
                                        </p:attrNameLst>
                                      </p:cBhvr>
                                      <p:tavLst>
                                        <p:tav tm="0">
                                          <p:val>
                                            <p:strVal val="#ppt_y+.08"/>
                                          </p:val>
                                        </p:tav>
                                        <p:tav tm="100000">
                                          <p:val>
                                            <p:strVal val="#ppt_y"/>
                                          </p:val>
                                        </p:tav>
                                      </p:tavLst>
                                    </p:anim>
                                  </p:childTnLst>
                                </p:cTn>
                              </p:par>
                              <p:par>
                                <p:cTn id="116" presetID="42" presetClass="entr" presetSubtype="0" fill="hold" grpId="0" nodeType="withEffect">
                                  <p:stCondLst>
                                    <p:cond delay="10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600"/>
                                        <p:tgtEl>
                                          <p:spTgt spid="24"/>
                                        </p:tgtEl>
                                      </p:cBhvr>
                                    </p:animEffect>
                                    <p:anim calcmode="lin" valueType="num">
                                      <p:cBhvr>
                                        <p:cTn id="114" dur="600" decel="100000" fill="hold"/>
                                        <p:tgtEl>
                                          <p:spTgt spid="24"/>
                                        </p:tgtEl>
                                        <p:attrNameLst>
                                          <p:attrName>ppt_x</p:attrName>
                                        </p:attrNameLst>
                                      </p:cBhvr>
                                      <p:tavLst>
                                        <p:tav tm="0">
                                          <p:val>
                                            <p:strVal val="#ppt_x"/>
                                          </p:val>
                                        </p:tav>
                                        <p:tav tm="100000">
                                          <p:val>
                                            <p:strVal val="#ppt_x"/>
                                          </p:val>
                                        </p:tav>
                                      </p:tavLst>
                                    </p:anim>
                                    <p:anim calcmode="lin" valueType="num">
                                      <p:cBhvr>
                                        <p:cTn id="115" dur="600" decel="100000" fill="hold"/>
                                        <p:tgtEl>
                                          <p:spTgt spid="24"/>
                                        </p:tgtEl>
                                        <p:attrNameLst>
                                          <p:attrName>ppt_y</p:attrName>
                                        </p:attrNameLst>
                                      </p:cBhvr>
                                      <p:tavLst>
                                        <p:tav tm="0">
                                          <p:val>
                                            <p:strVal val="#ppt_y+.08"/>
                                          </p:val>
                                        </p:tav>
                                        <p:tav tm="100000">
                                          <p:val>
                                            <p:strVal val="#ppt_y"/>
                                          </p:val>
                                        </p:tav>
                                      </p:tavLst>
                                    </p:anim>
                                  </p:childTnLst>
                                </p:cTn>
                              </p:par>
                              <p:par>
                                <p:cTn id="121" presetID="42" presetClass="entr" presetSubtype="0" fill="hold" grpId="0" nodeType="withEffect">
                                  <p:stCondLst>
                                    <p:cond delay="10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600"/>
                                        <p:tgtEl>
                                          <p:spTgt spid="25"/>
                                        </p:tgtEl>
                                      </p:cBhvr>
                                    </p:animEffect>
                                    <p:anim calcmode="lin" valueType="num">
                                      <p:cBhvr>
                                        <p:cTn id="119" dur="600" decel="100000" fill="hold"/>
                                        <p:tgtEl>
                                          <p:spTgt spid="25"/>
                                        </p:tgtEl>
                                        <p:attrNameLst>
                                          <p:attrName>ppt_x</p:attrName>
                                        </p:attrNameLst>
                                      </p:cBhvr>
                                      <p:tavLst>
                                        <p:tav tm="0">
                                          <p:val>
                                            <p:strVal val="#ppt_x"/>
                                          </p:val>
                                        </p:tav>
                                        <p:tav tm="100000">
                                          <p:val>
                                            <p:strVal val="#ppt_x"/>
                                          </p:val>
                                        </p:tav>
                                      </p:tavLst>
                                    </p:anim>
                                    <p:anim calcmode="lin" valueType="num">
                                      <p:cBhvr>
                                        <p:cTn id="120" dur="600" decel="100000" fill="hold"/>
                                        <p:tgtEl>
                                          <p:spTgt spid="25"/>
                                        </p:tgtEl>
                                        <p:attrNameLst>
                                          <p:attrName>ppt_y</p:attrName>
                                        </p:attrNameLst>
                                      </p:cBhvr>
                                      <p:tavLst>
                                        <p:tav tm="0">
                                          <p:val>
                                            <p:strVal val="#ppt_y+.08"/>
                                          </p:val>
                                        </p:tav>
                                        <p:tav tm="100000">
                                          <p:val>
                                            <p:strVal val="#ppt_y"/>
                                          </p:val>
                                        </p:tav>
                                      </p:tavLst>
                                    </p:anim>
                                  </p:childTnLst>
                                </p:cTn>
                              </p:par>
                              <p:par>
                                <p:cTn id="126" presetID="42" presetClass="entr" presetSubtype="0" fill="hold" grpId="0" nodeType="withEffect">
                                  <p:stCondLst>
                                    <p:cond delay="10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600"/>
                                        <p:tgtEl>
                                          <p:spTgt spid="26"/>
                                        </p:tgtEl>
                                      </p:cBhvr>
                                    </p:animEffect>
                                    <p:anim calcmode="lin" valueType="num">
                                      <p:cBhvr>
                                        <p:cTn id="124" dur="600" decel="100000" fill="hold"/>
                                        <p:tgtEl>
                                          <p:spTgt spid="26"/>
                                        </p:tgtEl>
                                        <p:attrNameLst>
                                          <p:attrName>ppt_x</p:attrName>
                                        </p:attrNameLst>
                                      </p:cBhvr>
                                      <p:tavLst>
                                        <p:tav tm="0">
                                          <p:val>
                                            <p:strVal val="#ppt_x"/>
                                          </p:val>
                                        </p:tav>
                                        <p:tav tm="100000">
                                          <p:val>
                                            <p:strVal val="#ppt_x"/>
                                          </p:val>
                                        </p:tav>
                                      </p:tavLst>
                                    </p:anim>
                                    <p:anim calcmode="lin" valueType="num">
                                      <p:cBhvr>
                                        <p:cTn id="125" dur="600" decel="100000" fill="hold"/>
                                        <p:tgtEl>
                                          <p:spTgt spid="26"/>
                                        </p:tgtEl>
                                        <p:attrNameLst>
                                          <p:attrName>ppt_y</p:attrName>
                                        </p:attrNameLst>
                                      </p:cBhvr>
                                      <p:tavLst>
                                        <p:tav tm="0">
                                          <p:val>
                                            <p:strVal val="#ppt_y+.08"/>
                                          </p:val>
                                        </p:tav>
                                        <p:tav tm="100000">
                                          <p:val>
                                            <p:strVal val="#ppt_y"/>
                                          </p:val>
                                        </p:tav>
                                      </p:tavLst>
                                    </p:anim>
                                  </p:childTnLst>
                                </p:cTn>
                              </p:par>
                              <p:par>
                                <p:cTn id="131" presetID="42" presetClass="entr" presetSubtype="0" fill="hold" grpId="0" nodeType="withEffect">
                                  <p:stCondLst>
                                    <p:cond delay="10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600"/>
                                        <p:tgtEl>
                                          <p:spTgt spid="27"/>
                                        </p:tgtEl>
                                      </p:cBhvr>
                                    </p:animEffect>
                                    <p:anim calcmode="lin" valueType="num">
                                      <p:cBhvr>
                                        <p:cTn id="129" dur="600" decel="100000" fill="hold"/>
                                        <p:tgtEl>
                                          <p:spTgt spid="27"/>
                                        </p:tgtEl>
                                        <p:attrNameLst>
                                          <p:attrName>ppt_x</p:attrName>
                                        </p:attrNameLst>
                                      </p:cBhvr>
                                      <p:tavLst>
                                        <p:tav tm="0">
                                          <p:val>
                                            <p:strVal val="#ppt_x"/>
                                          </p:val>
                                        </p:tav>
                                        <p:tav tm="100000">
                                          <p:val>
                                            <p:strVal val="#ppt_x"/>
                                          </p:val>
                                        </p:tav>
                                      </p:tavLst>
                                    </p:anim>
                                    <p:anim calcmode="lin" valueType="num">
                                      <p:cBhvr>
                                        <p:cTn id="130" dur="600" decel="100000" fill="hold"/>
                                        <p:tgtEl>
                                          <p:spTgt spid="27"/>
                                        </p:tgtEl>
                                        <p:attrNameLst>
                                          <p:attrName>ppt_y</p:attrName>
                                        </p:attrNameLst>
                                      </p:cBhvr>
                                      <p:tavLst>
                                        <p:tav tm="0">
                                          <p:val>
                                            <p:strVal val="#ppt_y+.08"/>
                                          </p:val>
                                        </p:tav>
                                        <p:tav tm="100000">
                                          <p:val>
                                            <p:strVal val="#ppt_y"/>
                                          </p:val>
                                        </p:tav>
                                      </p:tavLst>
                                    </p:anim>
                                  </p:childTnLst>
                                </p:cTn>
                              </p:par>
                              <p:par>
                                <p:cTn id="134" presetID="10" presetClass="entr" presetSubtype="0" fill="hold" grpId="0" nodeType="withEffect">
                                  <p:stCondLst>
                                    <p:cond delay="12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500"/>
                                        <p:tgtEl>
                                          <p:spTgt spid="28"/>
                                        </p:tgtEl>
                                      </p:cBhvr>
                                    </p:animEffect>
                                  </p:childTnLst>
                                </p:cTn>
                              </p:par>
                              <p:par>
                                <p:cTn id="137" presetID="10" presetClass="entr" presetSubtype="0" fill="hold" grpId="0" nodeType="withEffect">
                                  <p:stCondLst>
                                    <p:cond delay="1200"/>
                                  </p:stCondLst>
                                  <p:childTnLst>
                                    <p:set>
                                      <p:cBhvr>
                                        <p:cTn id="135" dur="1" fill="hold">
                                          <p:stCondLst>
                                            <p:cond delay="0"/>
                                          </p:stCondLst>
                                        </p:cTn>
                                        <p:tgtEl>
                                          <p:spTgt spid="29"/>
                                        </p:tgtEl>
                                        <p:attrNameLst>
                                          <p:attrName>style.visibility</p:attrName>
                                        </p:attrNameLst>
                                      </p:cBhvr>
                                      <p:to>
                                        <p:strVal val="visible"/>
                                      </p:to>
                                    </p:set>
                                    <p:animEffect transition="in" filter="fade">
                                      <p:cBhvr>
                                        <p:cTn id="136" dur="500"/>
                                        <p:tgtEl>
                                          <p:spTgt spid="29"/>
                                        </p:tgtEl>
                                      </p:cBhvr>
                                    </p:animEffect>
                                  </p:childTnLst>
                                </p:cTn>
                              </p:par>
                              <p:par>
                                <p:cTn id="140" presetID="10" presetClass="entr" presetSubtype="0" fill="hold" grpId="0" nodeType="withEffect">
                                  <p:stCondLst>
                                    <p:cond delay="1200"/>
                                  </p:stCondLst>
                                  <p:childTnLst>
                                    <p:set>
                                      <p:cBhvr>
                                        <p:cTn id="138" dur="1" fill="hold">
                                          <p:stCondLst>
                                            <p:cond delay="0"/>
                                          </p:stCondLst>
                                        </p:cTn>
                                        <p:tgtEl>
                                          <p:spTgt spid="30"/>
                                        </p:tgtEl>
                                        <p:attrNameLst>
                                          <p:attrName>style.visibility</p:attrName>
                                        </p:attrNameLst>
                                      </p:cBhvr>
                                      <p:to>
                                        <p:strVal val="visible"/>
                                      </p:to>
                                    </p:set>
                                    <p:animEffect transition="in" filter="fade">
                                      <p:cBhvr>
                                        <p:cTn id="139" dur="500"/>
                                        <p:tgtEl>
                                          <p:spTgt spid="30"/>
                                        </p:tgtEl>
                                      </p:cBhvr>
                                    </p:animEffect>
                                  </p:childTnLst>
                                </p:cTn>
                              </p:par>
                              <p:par>
                                <p:cTn id="143" presetID="10" presetClass="entr" presetSubtype="0" fill="hold" grpId="0" nodeType="withEffect">
                                  <p:stCondLst>
                                    <p:cond delay="1400"/>
                                  </p:stCondLst>
                                  <p:childTnLst>
                                    <p:set>
                                      <p:cBhvr>
                                        <p:cTn id="141" dur="1" fill="hold">
                                          <p:stCondLst>
                                            <p:cond delay="0"/>
                                          </p:stCondLst>
                                        </p:cTn>
                                        <p:tgtEl>
                                          <p:spTgt spid="25"/>
                                        </p:tgtEl>
                                        <p:attrNameLst>
                                          <p:attrName>style.visibility</p:attrName>
                                        </p:attrNameLst>
                                      </p:cBhvr>
                                      <p:to>
                                        <p:strVal val="visible"/>
                                      </p:to>
                                    </p:set>
                                    <p:animEffect transition="in" filter="fade">
                                      <p:cBhvr>
                                        <p:cTn id="1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1" grpId="0" animBg="1"/>
      <p:bldP spid="12" grpId="0" animBg="1"/>
      <p:bldP spid="16" grpId="0" animBg="1"/>
      <p:bldP spid="17" grpId="0" animBg="1"/>
      <p:bldP spid="21" grpId="0" animBg="1"/>
      <p:bldP spid="22" grpId="0" animBg="1"/>
      <p:bldP spid="26" grpId="0" animBg="1"/>
      <p:bldP spid="27" grpId="0" animBg="1"/>
      <p:bldP spid="30"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Architecture: layered and rule-driven</a:t>
            </a:r>
            <a:endParaRPr lang="en-US" sz="3200" dirty="0"/>
          </a:p>
        </p:txBody>
      </p:sp>
      <p:sp>
        <p:nvSpPr>
          <p:cNvPr id="3" name="a-zoom-arch"/>
          <p:cNvSpPr/>
          <p:nvPr/>
        </p:nvSpPr>
        <p:spPr>
          <a:xfrm>
            <a:off x="493776" y="1362456"/>
            <a:ext cx="7059168" cy="2414016"/>
          </a:xfrm>
          <a:prstGeom prst="roundRect">
            <a:avLst>
              <a:gd name="adj" fmla="val 3030"/>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4" name="a-zoom-w-arch-img" descr="/tmp/claude-0/-home-user-done/4a4296a4-6fd8-5cee-98c2-5de0aee80c99/scratchpad/docs/img/architecture.png">    </p:cNvPr>
          <p:cNvPicPr>
            <a:picLocks noChangeAspect="1"/>
          </p:cNvPicPr>
          <p:nvPr/>
        </p:nvPicPr>
        <p:blipFill>
          <a:blip r:embed="rId1"/>
          <a:stretch>
            <a:fillRect/>
          </a:stretch>
        </p:blipFill>
        <p:spPr>
          <a:xfrm>
            <a:off x="548640" y="1417320"/>
            <a:ext cx="6949440" cy="2304288"/>
          </a:xfrm>
          <a:prstGeom prst="rect">
            <a:avLst/>
          </a:prstGeom>
        </p:spPr>
      </p:pic>
      <p:sp>
        <p:nvSpPr>
          <p:cNvPr id="5" name="a-right-ai0"/>
          <p:cNvSpPr/>
          <p:nvPr/>
        </p:nvSpPr>
        <p:spPr>
          <a:xfrm>
            <a:off x="7863840" y="1417320"/>
            <a:ext cx="685800" cy="685800"/>
          </a:xfrm>
          <a:prstGeom prst="ellipse">
            <a:avLst/>
          </a:prstGeom>
          <a:solidFill>
            <a:schemeClr val="accent1"/>
          </a:solidFill>
          <a:ln/>
        </p:spPr>
      </p:sp>
      <p:pic>
        <p:nvPicPr>
          <p:cNvPr id="6" name="a-right-w-ai0-i" descr="/tmp/claude-0/-home-user-done/4a4296a4-6fd8-5cee-98c2-5de0aee80c99/scratchpad/docs/img/icons/shield-w.png">    </p:cNvPr>
          <p:cNvPicPr>
            <a:picLocks noChangeAspect="1"/>
          </p:cNvPicPr>
          <p:nvPr/>
        </p:nvPicPr>
        <p:blipFill>
          <a:blip r:embed="rId2"/>
          <a:stretch>
            <a:fillRect/>
          </a:stretch>
        </p:blipFill>
        <p:spPr>
          <a:xfrm>
            <a:off x="8035290" y="1588770"/>
            <a:ext cx="342900" cy="342900"/>
          </a:xfrm>
          <a:prstGeom prst="rect">
            <a:avLst/>
          </a:prstGeom>
        </p:spPr>
      </p:pic>
      <p:sp>
        <p:nvSpPr>
          <p:cNvPr id="7" name="a-right-w-at0"/>
          <p:cNvSpPr txBox="1"/>
          <p:nvPr/>
        </p:nvSpPr>
        <p:spPr>
          <a:xfrm>
            <a:off x="8686800" y="1399032"/>
            <a:ext cx="2953512" cy="365760"/>
          </a:xfrm>
          <a:prstGeom prst="rect">
            <a:avLst/>
          </a:prstGeom>
          <a:noFill/>
          <a:ln/>
        </p:spPr>
        <p:txBody>
          <a:bodyPr wrap="square" lIns="0" tIns="0" rIns="0" bIns="0" rtlCol="0" anchor="t"/>
          <a:lstStyle/>
          <a:p>
            <a:pPr indent="0" marL="0">
              <a:buNone/>
            </a:pPr>
            <a:r>
              <a:rPr lang="en-US" sz="1700" b="1" dirty="0">
                <a:solidFill>
                  <a:schemeClr val="tx2"/>
                </a:solidFill>
              </a:rPr>
              <a:t>Role areas</a:t>
            </a:r>
            <a:endParaRPr lang="en-US" sz="1700" dirty="0"/>
          </a:p>
        </p:txBody>
      </p:sp>
      <p:sp>
        <p:nvSpPr>
          <p:cNvPr id="8" name="a-right-w-ad0"/>
          <p:cNvSpPr txBox="1"/>
          <p:nvPr/>
        </p:nvSpPr>
        <p:spPr>
          <a:xfrm>
            <a:off x="8686800" y="1801368"/>
            <a:ext cx="2953512" cy="914400"/>
          </a:xfrm>
          <a:prstGeom prst="rect">
            <a:avLst/>
          </a:prstGeom>
          <a:noFill/>
          <a:ln/>
        </p:spPr>
        <p:txBody>
          <a:bodyPr wrap="square" lIns="0" tIns="0" rIns="0" bIns="0" rtlCol="0" anchor="t"/>
          <a:lstStyle/>
          <a:p>
            <a:pPr indent="0" marL="0">
              <a:buNone/>
            </a:pPr>
            <a:r>
              <a:rPr lang="en-US" sz="1300" dirty="0">
                <a:solidFill>
                  <a:schemeClr val="accent6"/>
                </a:solidFill>
              </a:rPr>
              <a:t>Cookie login and role authorization on every controller.</a:t>
            </a:r>
            <a:endParaRPr lang="en-US" sz="1300" dirty="0"/>
          </a:p>
        </p:txBody>
      </p:sp>
      <p:sp>
        <p:nvSpPr>
          <p:cNvPr id="9" name="a-right-ai1"/>
          <p:cNvSpPr/>
          <p:nvPr/>
        </p:nvSpPr>
        <p:spPr>
          <a:xfrm>
            <a:off x="7863840" y="2880360"/>
            <a:ext cx="685800" cy="685800"/>
          </a:xfrm>
          <a:prstGeom prst="ellipse">
            <a:avLst/>
          </a:prstGeom>
          <a:solidFill>
            <a:schemeClr val="accent1"/>
          </a:solidFill>
          <a:ln/>
        </p:spPr>
      </p:sp>
      <p:pic>
        <p:nvPicPr>
          <p:cNvPr id="10" name="a-right-w-ai1-i" descr="/tmp/claude-0/-home-user-done/4a4296a4-6fd8-5cee-98c2-5de0aee80c99/scratchpad/docs/img/icons/layers-w.png">    </p:cNvPr>
          <p:cNvPicPr>
            <a:picLocks noChangeAspect="1"/>
          </p:cNvPicPr>
          <p:nvPr/>
        </p:nvPicPr>
        <p:blipFill>
          <a:blip r:embed="rId3"/>
          <a:stretch>
            <a:fillRect/>
          </a:stretch>
        </p:blipFill>
        <p:spPr>
          <a:xfrm>
            <a:off x="8035290" y="3051810"/>
            <a:ext cx="342900" cy="342900"/>
          </a:xfrm>
          <a:prstGeom prst="rect">
            <a:avLst/>
          </a:prstGeom>
        </p:spPr>
      </p:pic>
      <p:sp>
        <p:nvSpPr>
          <p:cNvPr id="11" name="a-right-w-at1"/>
          <p:cNvSpPr txBox="1"/>
          <p:nvPr/>
        </p:nvSpPr>
        <p:spPr>
          <a:xfrm>
            <a:off x="8686800" y="2862072"/>
            <a:ext cx="2953512" cy="365760"/>
          </a:xfrm>
          <a:prstGeom prst="rect">
            <a:avLst/>
          </a:prstGeom>
          <a:noFill/>
          <a:ln/>
        </p:spPr>
        <p:txBody>
          <a:bodyPr wrap="square" lIns="0" tIns="0" rIns="0" bIns="0" rtlCol="0" anchor="t"/>
          <a:lstStyle/>
          <a:p>
            <a:pPr indent="0" marL="0">
              <a:buNone/>
            </a:pPr>
            <a:r>
              <a:rPr lang="en-US" sz="1700" b="1" dirty="0">
                <a:solidFill>
                  <a:schemeClr val="tx2"/>
                </a:solidFill>
              </a:rPr>
              <a:t>Business services</a:t>
            </a:r>
            <a:endParaRPr lang="en-US" sz="1700" dirty="0"/>
          </a:p>
        </p:txBody>
      </p:sp>
      <p:sp>
        <p:nvSpPr>
          <p:cNvPr id="12" name="a-right-w-ad1"/>
          <p:cNvSpPr txBox="1"/>
          <p:nvPr/>
        </p:nvSpPr>
        <p:spPr>
          <a:xfrm>
            <a:off x="8686800" y="3264408"/>
            <a:ext cx="2953512" cy="914400"/>
          </a:xfrm>
          <a:prstGeom prst="rect">
            <a:avLst/>
          </a:prstGeom>
          <a:noFill/>
          <a:ln/>
        </p:spPr>
        <p:txBody>
          <a:bodyPr wrap="square" lIns="0" tIns="0" rIns="0" bIns="0" rtlCol="0" anchor="t"/>
          <a:lstStyle/>
          <a:p>
            <a:pPr indent="0" marL="0">
              <a:buNone/>
            </a:pPr>
            <a:r>
              <a:rPr lang="en-US" sz="1300" dirty="0">
                <a:solidFill>
                  <a:schemeClr val="accent6"/>
                </a:solidFill>
              </a:rPr>
              <a:t>Orders, provisioning and billing rules live in one place.</a:t>
            </a:r>
            <a:endParaRPr lang="en-US" sz="1300" dirty="0"/>
          </a:p>
        </p:txBody>
      </p:sp>
      <p:sp>
        <p:nvSpPr>
          <p:cNvPr id="13" name="a-right-ai2"/>
          <p:cNvSpPr/>
          <p:nvPr/>
        </p:nvSpPr>
        <p:spPr>
          <a:xfrm>
            <a:off x="7863840" y="4343400"/>
            <a:ext cx="685800" cy="685800"/>
          </a:xfrm>
          <a:prstGeom prst="ellipse">
            <a:avLst/>
          </a:prstGeom>
          <a:solidFill>
            <a:schemeClr val="accent1"/>
          </a:solidFill>
          <a:ln/>
        </p:spPr>
      </p:sp>
      <p:pic>
        <p:nvPicPr>
          <p:cNvPr id="14" name="a-right-w-ai2-i" descr="/tmp/claude-0/-home-user-done/4a4296a4-6fd8-5cee-98c2-5de0aee80c99/scratchpad/docs/img/icons/db-w.png">    </p:cNvPr>
          <p:cNvPicPr>
            <a:picLocks noChangeAspect="1"/>
          </p:cNvPicPr>
          <p:nvPr/>
        </p:nvPicPr>
        <p:blipFill>
          <a:blip r:embed="rId4"/>
          <a:stretch>
            <a:fillRect/>
          </a:stretch>
        </p:blipFill>
        <p:spPr>
          <a:xfrm>
            <a:off x="8035290" y="4514850"/>
            <a:ext cx="342900" cy="342900"/>
          </a:xfrm>
          <a:prstGeom prst="rect">
            <a:avLst/>
          </a:prstGeom>
        </p:spPr>
      </p:pic>
      <p:sp>
        <p:nvSpPr>
          <p:cNvPr id="15" name="a-right-w-at2"/>
          <p:cNvSpPr txBox="1"/>
          <p:nvPr/>
        </p:nvSpPr>
        <p:spPr>
          <a:xfrm>
            <a:off x="8686800" y="4325112"/>
            <a:ext cx="2953512" cy="365760"/>
          </a:xfrm>
          <a:prstGeom prst="rect">
            <a:avLst/>
          </a:prstGeom>
          <a:noFill/>
          <a:ln/>
        </p:spPr>
        <p:txBody>
          <a:bodyPr wrap="square" lIns="0" tIns="0" rIns="0" bIns="0" rtlCol="0" anchor="t"/>
          <a:lstStyle/>
          <a:p>
            <a:pPr indent="0" marL="0">
              <a:buNone/>
            </a:pPr>
            <a:r>
              <a:rPr lang="en-US" sz="1700" b="1" dirty="0">
                <a:solidFill>
                  <a:schemeClr val="tx2"/>
                </a:solidFill>
              </a:rPr>
              <a:t>EF Core + SQL Server</a:t>
            </a:r>
            <a:endParaRPr lang="en-US" sz="1700" dirty="0"/>
          </a:p>
        </p:txBody>
      </p:sp>
      <p:sp>
        <p:nvSpPr>
          <p:cNvPr id="16" name="a-right-w-ad2"/>
          <p:cNvSpPr txBox="1"/>
          <p:nvPr/>
        </p:nvSpPr>
        <p:spPr>
          <a:xfrm>
            <a:off x="8686800" y="4727448"/>
            <a:ext cx="2953512" cy="914400"/>
          </a:xfrm>
          <a:prstGeom prst="rect">
            <a:avLst/>
          </a:prstGeom>
          <a:noFill/>
          <a:ln/>
        </p:spPr>
        <p:txBody>
          <a:bodyPr wrap="square" lIns="0" tIns="0" rIns="0" bIns="0" rtlCol="0" anchor="t"/>
          <a:lstStyle/>
          <a:p>
            <a:pPr indent="0" marL="0">
              <a:buNone/>
            </a:pPr>
            <a:r>
              <a:rPr lang="en-US" sz="1300" dirty="0">
                <a:solidFill>
                  <a:schemeClr val="accent6"/>
                </a:solidFill>
              </a:rPr>
              <a:t>Migrations, foreign keys and CHECK constraints protect the data.</a:t>
            </a:r>
            <a:endParaRPr lang="en-US" sz="1300" dirty="0"/>
          </a:p>
        </p:txBody>
      </p:sp>
      <p:sp>
        <p:nvSpPr>
          <p:cNvPr id="17" name="a-fade-archnote"/>
          <p:cNvSpPr txBox="1"/>
          <p:nvPr/>
        </p:nvSpPr>
        <p:spPr>
          <a:xfrm>
            <a:off x="548640" y="4069080"/>
            <a:ext cx="6949440" cy="365760"/>
          </a:xfrm>
          <a:prstGeom prst="rect">
            <a:avLst/>
          </a:prstGeom>
          <a:noFill/>
          <a:ln/>
        </p:spPr>
        <p:txBody>
          <a:bodyPr wrap="square" lIns="0" tIns="0" rIns="0" bIns="0" rtlCol="0" anchor="t"/>
          <a:lstStyle/>
          <a:p>
            <a:pPr indent="0" marL="0">
              <a:buNone/>
            </a:pPr>
            <a:r>
              <a:rPr lang="en-US" sz="1400" b="1" dirty="0">
                <a:solidFill>
                  <a:schemeClr val="accent1"/>
                </a:solidFill>
              </a:rPr>
              <a:t>ASP.NET Core 8 MVC  ·  Entity Framework Core 8  ·  SQL Server  ·  Bootstrap 5</a:t>
            </a:r>
            <a:endParaRPr lang="en-US" sz="1400" dirty="0"/>
          </a:p>
        </p:txBody>
      </p:sp>
      <p:sp>
        <p:nvSpPr>
          <p:cNvPr id="18" name="a-fade-archnote2"/>
          <p:cNvSpPr txBox="1"/>
          <p:nvPr/>
        </p:nvSpPr>
        <p:spPr>
          <a:xfrm>
            <a:off x="548640" y="4572000"/>
            <a:ext cx="6949440" cy="1097280"/>
          </a:xfrm>
          <a:prstGeom prst="rect">
            <a:avLst/>
          </a:prstGeom>
          <a:noFill/>
          <a:ln/>
        </p:spPr>
        <p:txBody>
          <a:bodyPr wrap="square" lIns="0" tIns="0" rIns="0" bIns="0" rtlCol="0" anchor="t"/>
          <a:lstStyle/>
          <a:p>
            <a:pPr indent="0" marL="0">
              <a:buNone/>
            </a:pPr>
            <a:r>
              <a:rPr lang="en-US" sz="1400" dirty="0">
                <a:solidFill>
                  <a:schemeClr val="accent6"/>
                </a:solidFill>
              </a:rPr>
              <a:t>Controllers only collect input and show results; every rule (IDs, feasibility, deposits, discounts, tax, payments) is enforced by a service, so all screens behave the same.</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86"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53" presetClass="entr" presetSubtype="16"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 calcmode="lin" valueType="num">
                                      <p:cBhvr>
                                        <p:cTn id="9" dur="650" decel="100000" fill="hold"/>
                                        <p:tgtEl>
                                          <p:spTgt spid="3"/>
                                        </p:tgtEl>
                                        <p:attrNameLst>
                                          <p:attrName>ppt_w</p:attrName>
                                        </p:attrNameLst>
                                      </p:cBhvr>
                                      <p:tavLst>
                                        <p:tav tm="0">
                                          <p:val>
                                            <p:strVal val="#ppt_w*0.7"/>
                                          </p:val>
                                        </p:tav>
                                        <p:tav tm="100000">
                                          <p:val>
                                            <p:strVal val="#ppt_w"/>
                                          </p:val>
                                        </p:tav>
                                      </p:tavLst>
                                    </p:anim>
                                    <p:anim calcmode="lin" valueType="num">
                                      <p:cBhvr>
                                        <p:cTn id="10" dur="650" decel="100000" fill="hold"/>
                                        <p:tgtEl>
                                          <p:spTgt spid="3"/>
                                        </p:tgtEl>
                                        <p:attrNameLst>
                                          <p:attrName>ppt_h</p:attrName>
                                        </p:attrNameLst>
                                      </p:cBhvr>
                                      <p:tavLst>
                                        <p:tav tm="0">
                                          <p:val>
                                            <p:strVal val="#ppt_h*0.7"/>
                                          </p:val>
                                        </p:tav>
                                        <p:tav tm="100000">
                                          <p:val>
                                            <p:strVal val="#ppt_h"/>
                                          </p:val>
                                        </p:tav>
                                      </p:tavLst>
                                    </p:anim>
                                    <p:animEffect transition="in" filter="fade">
                                      <p:cBhvr>
                                        <p:cTn id="8" dur="650"/>
                                        <p:tgtEl>
                                          <p:spTgt spid="3"/>
                                        </p:tgtEl>
                                      </p:cBhvr>
                                    </p:animEffect>
                                  </p:childTnLst>
                                </p:cTn>
                              </p:par>
                              <p:par>
                                <p:cTn id="16" presetID="53" presetClass="entr" presetSubtype="16"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 calcmode="lin" valueType="num">
                                      <p:cBhvr>
                                        <p:cTn id="14" dur="650" decel="100000" fill="hold"/>
                                        <p:tgtEl>
                                          <p:spTgt spid="4"/>
                                        </p:tgtEl>
                                        <p:attrNameLst>
                                          <p:attrName>ppt_w</p:attrName>
                                        </p:attrNameLst>
                                      </p:cBhvr>
                                      <p:tavLst>
                                        <p:tav tm="0">
                                          <p:val>
                                            <p:strVal val="#ppt_w*0.7"/>
                                          </p:val>
                                        </p:tav>
                                        <p:tav tm="100000">
                                          <p:val>
                                            <p:strVal val="#ppt_w"/>
                                          </p:val>
                                        </p:tav>
                                      </p:tavLst>
                                    </p:anim>
                                    <p:anim calcmode="lin" valueType="num">
                                      <p:cBhvr>
                                        <p:cTn id="15" dur="650" decel="100000" fill="hold"/>
                                        <p:tgtEl>
                                          <p:spTgt spid="4"/>
                                        </p:tgtEl>
                                        <p:attrNameLst>
                                          <p:attrName>ppt_h</p:attrName>
                                        </p:attrNameLst>
                                      </p:cBhvr>
                                      <p:tavLst>
                                        <p:tav tm="0">
                                          <p:val>
                                            <p:strVal val="#ppt_h*0.7"/>
                                          </p:val>
                                        </p:tav>
                                        <p:tav tm="100000">
                                          <p:val>
                                            <p:strVal val="#ppt_h"/>
                                          </p:val>
                                        </p:tav>
                                      </p:tavLst>
                                    </p:anim>
                                    <p:animEffect transition="in" filter="fade">
                                      <p:cBhvr>
                                        <p:cTn id="13" dur="650"/>
                                        <p:tgtEl>
                                          <p:spTgt spid="4"/>
                                        </p:tgtEl>
                                      </p:cBhvr>
                                    </p:animEffect>
                                  </p:childTnLst>
                                </p:cTn>
                              </p:par>
                              <p:par>
                                <p:cTn id="21" presetID="42" presetClass="entr" presetSubtype="0" fill="hold" grpId="0" nodeType="withEffect">
                                  <p:stCondLst>
                                    <p:cond delay="4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08"/>
                                          </p:val>
                                        </p:tav>
                                        <p:tav tm="100000">
                                          <p:val>
                                            <p:strVal val="#ppt_x"/>
                                          </p:val>
                                        </p:tav>
                                      </p:tavLst>
                                    </p:anim>
                                    <p:anim calcmode="lin" valueType="num">
                                      <p:cBhvr>
                                        <p:cTn id="20" dur="600" decel="1000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08"/>
                                          </p:val>
                                        </p:tav>
                                        <p:tav tm="100000">
                                          <p:val>
                                            <p:strVal val="#ppt_x"/>
                                          </p:val>
                                        </p:tav>
                                      </p:tavLst>
                                    </p:anim>
                                    <p:anim calcmode="lin" valueType="num">
                                      <p:cBhvr>
                                        <p:cTn id="25" dur="600" decel="1000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4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08"/>
                                          </p:val>
                                        </p:tav>
                                        <p:tav tm="100000">
                                          <p:val>
                                            <p:strVal val="#ppt_x"/>
                                          </p:val>
                                        </p:tav>
                                      </p:tavLst>
                                    </p:anim>
                                    <p:anim calcmode="lin" valueType="num">
                                      <p:cBhvr>
                                        <p:cTn id="30" dur="600" decel="1000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08"/>
                                          </p:val>
                                        </p:tav>
                                        <p:tav tm="100000">
                                          <p:val>
                                            <p:strVal val="#ppt_x"/>
                                          </p:val>
                                        </p:tav>
                                      </p:tavLst>
                                    </p:anim>
                                    <p:anim calcmode="lin" valueType="num">
                                      <p:cBhvr>
                                        <p:cTn id="35" dur="600" decel="1000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6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08"/>
                                          </p:val>
                                        </p:tav>
                                        <p:tav tm="100000">
                                          <p:val>
                                            <p:strVal val="#ppt_x"/>
                                          </p:val>
                                        </p:tav>
                                      </p:tavLst>
                                    </p:anim>
                                    <p:anim calcmode="lin" valueType="num">
                                      <p:cBhvr>
                                        <p:cTn id="40" dur="600" decel="1000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6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08"/>
                                          </p:val>
                                        </p:tav>
                                        <p:tav tm="100000">
                                          <p:val>
                                            <p:strVal val="#ppt_x"/>
                                          </p:val>
                                        </p:tav>
                                      </p:tavLst>
                                    </p:anim>
                                    <p:anim calcmode="lin" valueType="num">
                                      <p:cBhvr>
                                        <p:cTn id="45" dur="600" decel="1000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6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08"/>
                                          </p:val>
                                        </p:tav>
                                        <p:tav tm="100000">
                                          <p:val>
                                            <p:strVal val="#ppt_x"/>
                                          </p:val>
                                        </p:tav>
                                      </p:tavLst>
                                    </p:anim>
                                    <p:anim calcmode="lin" valueType="num">
                                      <p:cBhvr>
                                        <p:cTn id="50" dur="600" decel="1000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6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08"/>
                                          </p:val>
                                        </p:tav>
                                        <p:tav tm="100000">
                                          <p:val>
                                            <p:strVal val="#ppt_x"/>
                                          </p:val>
                                        </p:tav>
                                      </p:tavLst>
                                    </p:anim>
                                    <p:anim calcmode="lin" valueType="num">
                                      <p:cBhvr>
                                        <p:cTn id="55" dur="600" decel="1000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8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08"/>
                                          </p:val>
                                        </p:tav>
                                        <p:tav tm="100000">
                                          <p:val>
                                            <p:strVal val="#ppt_x"/>
                                          </p:val>
                                        </p:tav>
                                      </p:tavLst>
                                    </p:anim>
                                    <p:anim calcmode="lin" valueType="num">
                                      <p:cBhvr>
                                        <p:cTn id="60" dur="600" decel="1000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8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08"/>
                                          </p:val>
                                        </p:tav>
                                        <p:tav tm="100000">
                                          <p:val>
                                            <p:strVal val="#ppt_x"/>
                                          </p:val>
                                        </p:tav>
                                      </p:tavLst>
                                    </p:anim>
                                    <p:anim calcmode="lin" valueType="num">
                                      <p:cBhvr>
                                        <p:cTn id="65" dur="600" decel="1000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8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p:cTn id="69" dur="600" decel="100000" fill="hold"/>
                                        <p:tgtEl>
                                          <p:spTgt spid="15"/>
                                        </p:tgtEl>
                                        <p:attrNameLst>
                                          <p:attrName>ppt_x</p:attrName>
                                        </p:attrNameLst>
                                      </p:cBhvr>
                                      <p:tavLst>
                                        <p:tav tm="0">
                                          <p:val>
                                            <p:strVal val="#ppt_x+.08"/>
                                          </p:val>
                                        </p:tav>
                                        <p:tav tm="100000">
                                          <p:val>
                                            <p:strVal val="#ppt_x"/>
                                          </p:val>
                                        </p:tav>
                                      </p:tavLst>
                                    </p:anim>
                                    <p:anim calcmode="lin" valueType="num">
                                      <p:cBhvr>
                                        <p:cTn id="70" dur="600" decel="1000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8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decel="100000" fill="hold"/>
                                        <p:tgtEl>
                                          <p:spTgt spid="16"/>
                                        </p:tgtEl>
                                        <p:attrNameLst>
                                          <p:attrName>ppt_x</p:attrName>
                                        </p:attrNameLst>
                                      </p:cBhvr>
                                      <p:tavLst>
                                        <p:tav tm="0">
                                          <p:val>
                                            <p:strVal val="#ppt_x+.08"/>
                                          </p:val>
                                        </p:tav>
                                        <p:tav tm="100000">
                                          <p:val>
                                            <p:strVal val="#ppt_x"/>
                                          </p:val>
                                        </p:tav>
                                      </p:tavLst>
                                    </p:anim>
                                    <p:anim calcmode="lin" valueType="num">
                                      <p:cBhvr>
                                        <p:cTn id="75" dur="600" decel="100000" fill="hold"/>
                                        <p:tgtEl>
                                          <p:spTgt spid="16"/>
                                        </p:tgtEl>
                                        <p:attrNameLst>
                                          <p:attrName>ppt_y</p:attrName>
                                        </p:attrNameLst>
                                      </p:cBhvr>
                                      <p:tavLst>
                                        <p:tav tm="0">
                                          <p:val>
                                            <p:strVal val="#ppt_y"/>
                                          </p:val>
                                        </p:tav>
                                        <p:tav tm="100000">
                                          <p:val>
                                            <p:strVal val="#ppt_y"/>
                                          </p:val>
                                        </p:tav>
                                      </p:tavLst>
                                    </p:anim>
                                  </p:childTnLst>
                                </p:cTn>
                              </p:par>
                              <p:par>
                                <p:cTn id="79" presetID="10" presetClass="entr" presetSubtype="0" fill="hold" grpId="0" nodeType="withEffect">
                                  <p:stCondLst>
                                    <p:cond delay="10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500"/>
                                        <p:tgtEl>
                                          <p:spTgt spid="17"/>
                                        </p:tgtEl>
                                      </p:cBhvr>
                                    </p:animEffect>
                                  </p:childTnLst>
                                </p:cTn>
                              </p:par>
                              <p:par>
                                <p:cTn id="82" presetID="10" presetClass="entr" presetSubtype="0" fill="hold" grpId="0" nodeType="withEffect">
                                  <p:stCondLst>
                                    <p:cond delay="120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500"/>
                                        <p:tgtEl>
                                          <p:spTgt spid="18"/>
                                        </p:tgtEl>
                                      </p:cBhvr>
                                    </p:animEffect>
                                  </p:childTnLst>
                                </p:cTn>
                              </p:par>
                              <p:par>
                                <p:cTn id="85" presetID="10" presetClass="entr" presetSubtype="0" fill="hold" grpId="0" nodeType="withEffect">
                                  <p:stCondLst>
                                    <p:cond delay="140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11" grpId="0" animBg="1"/>
      <p:bldP spid="12" grpId="0" animBg="1"/>
      <p:bldP spid="15" grpId="0" animBg="1"/>
      <p:bldP spid="16" grpId="0" animBg="1"/>
      <p:bldP spid="17" grpId="0" animBg="1"/>
      <p:bldP spid="18"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Database: 19 related tables</a:t>
            </a:r>
            <a:endParaRPr lang="en-US" sz="3200" dirty="0"/>
          </a:p>
        </p:txBody>
      </p:sp>
      <p:sp>
        <p:nvSpPr>
          <p:cNvPr id="3" name="a-zoom-erd"/>
          <p:cNvSpPr/>
          <p:nvPr/>
        </p:nvSpPr>
        <p:spPr>
          <a:xfrm>
            <a:off x="493776" y="1316736"/>
            <a:ext cx="6144768" cy="4864608"/>
          </a:xfrm>
          <a:prstGeom prst="roundRect">
            <a:avLst>
              <a:gd name="adj" fmla="val 1504"/>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4" name="a-zoom-w-erd-img" descr="/tmp/claude-0/-home-user-done/4a4296a4-6fd8-5cee-98c2-5de0aee80c99/scratchpad/docs/img/erd.png">    </p:cNvPr>
          <p:cNvPicPr>
            <a:picLocks noChangeAspect="1"/>
          </p:cNvPicPr>
          <p:nvPr/>
        </p:nvPicPr>
        <p:blipFill>
          <a:blip r:embed="rId1"/>
          <a:stretch>
            <a:fillRect/>
          </a:stretch>
        </p:blipFill>
        <p:spPr>
          <a:xfrm>
            <a:off x="548640" y="1371600"/>
            <a:ext cx="6035040" cy="4754880"/>
          </a:xfrm>
          <a:prstGeom prst="rect">
            <a:avLst/>
          </a:prstGeom>
        </p:spPr>
      </p:pic>
      <p:sp>
        <p:nvSpPr>
          <p:cNvPr id="5" name="a-right-st0"/>
          <p:cNvSpPr/>
          <p:nvPr/>
        </p:nvSpPr>
        <p:spPr>
          <a:xfrm>
            <a:off x="7040880" y="1371600"/>
            <a:ext cx="4572000" cy="1417320"/>
          </a:xfrm>
          <a:prstGeom prst="roundRect">
            <a:avLst>
              <a:gd name="adj" fmla="val 774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6" name="a-right-w-sn0"/>
          <p:cNvSpPr txBox="1"/>
          <p:nvPr/>
        </p:nvSpPr>
        <p:spPr>
          <a:xfrm>
            <a:off x="7269480" y="1554480"/>
            <a:ext cx="1645920" cy="1005840"/>
          </a:xfrm>
          <a:prstGeom prst="rect">
            <a:avLst/>
          </a:prstGeom>
          <a:noFill/>
          <a:ln/>
        </p:spPr>
        <p:txBody>
          <a:bodyPr wrap="square" lIns="0" tIns="0" rIns="0" bIns="0" rtlCol="0" anchor="ctr"/>
          <a:lstStyle/>
          <a:p>
            <a:pPr indent="0" marL="0">
              <a:buNone/>
            </a:pPr>
            <a:r>
              <a:rPr lang="en-US" sz="5000" b="1" dirty="0">
                <a:solidFill>
                  <a:schemeClr val="accent1"/>
                </a:solidFill>
              </a:rPr>
              <a:t>19</a:t>
            </a:r>
            <a:endParaRPr lang="en-US" sz="5000" dirty="0"/>
          </a:p>
        </p:txBody>
      </p:sp>
      <p:sp>
        <p:nvSpPr>
          <p:cNvPr id="7" name="a-right-w-sl0"/>
          <p:cNvSpPr txBox="1"/>
          <p:nvPr/>
        </p:nvSpPr>
        <p:spPr>
          <a:xfrm>
            <a:off x="8915400" y="1645920"/>
            <a:ext cx="2560320" cy="411480"/>
          </a:xfrm>
          <a:prstGeom prst="rect">
            <a:avLst/>
          </a:prstGeom>
          <a:noFill/>
          <a:ln/>
        </p:spPr>
        <p:txBody>
          <a:bodyPr wrap="square" lIns="0" tIns="0" rIns="0" bIns="0" rtlCol="0" anchor="t"/>
          <a:lstStyle/>
          <a:p>
            <a:pPr indent="0" marL="0">
              <a:buNone/>
            </a:pPr>
            <a:r>
              <a:rPr lang="en-US" sz="1900" b="1" dirty="0">
                <a:solidFill>
                  <a:schemeClr val="tx2"/>
                </a:solidFill>
              </a:rPr>
              <a:t>tables</a:t>
            </a:r>
            <a:endParaRPr lang="en-US" sz="1900" dirty="0"/>
          </a:p>
        </p:txBody>
      </p:sp>
      <p:sp>
        <p:nvSpPr>
          <p:cNvPr id="8" name="a-right-w-sd0"/>
          <p:cNvSpPr txBox="1"/>
          <p:nvPr/>
        </p:nvSpPr>
        <p:spPr>
          <a:xfrm>
            <a:off x="8915400" y="2084832"/>
            <a:ext cx="2560320" cy="411480"/>
          </a:xfrm>
          <a:prstGeom prst="rect">
            <a:avLst/>
          </a:prstGeom>
          <a:noFill/>
          <a:ln/>
        </p:spPr>
        <p:txBody>
          <a:bodyPr wrap="square" lIns="0" tIns="0" rIns="0" bIns="0" rtlCol="0" anchor="t"/>
          <a:lstStyle/>
          <a:p>
            <a:pPr indent="0" marL="0">
              <a:buNone/>
            </a:pPr>
            <a:r>
              <a:rPr lang="en-US" sz="1400" dirty="0">
                <a:solidFill>
                  <a:schemeClr val="accent6"/>
                </a:solidFill>
              </a:rPr>
              <a:t>customers to payments</a:t>
            </a:r>
            <a:endParaRPr lang="en-US" sz="1400" dirty="0"/>
          </a:p>
        </p:txBody>
      </p:sp>
      <p:sp>
        <p:nvSpPr>
          <p:cNvPr id="9" name="a-right-st1"/>
          <p:cNvSpPr/>
          <p:nvPr/>
        </p:nvSpPr>
        <p:spPr>
          <a:xfrm>
            <a:off x="7040880" y="2999232"/>
            <a:ext cx="4572000" cy="1417320"/>
          </a:xfrm>
          <a:prstGeom prst="roundRect">
            <a:avLst>
              <a:gd name="adj" fmla="val 774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0" name="a-right-w-sn1"/>
          <p:cNvSpPr txBox="1"/>
          <p:nvPr/>
        </p:nvSpPr>
        <p:spPr>
          <a:xfrm>
            <a:off x="7269480" y="3182112"/>
            <a:ext cx="1645920" cy="1005840"/>
          </a:xfrm>
          <a:prstGeom prst="rect">
            <a:avLst/>
          </a:prstGeom>
          <a:noFill/>
          <a:ln/>
        </p:spPr>
        <p:txBody>
          <a:bodyPr wrap="square" lIns="0" tIns="0" rIns="0" bIns="0" rtlCol="0" anchor="ctr"/>
          <a:lstStyle/>
          <a:p>
            <a:pPr indent="0" marL="0">
              <a:buNone/>
            </a:pPr>
            <a:r>
              <a:rPr lang="en-US" sz="5000" b="1" dirty="0">
                <a:solidFill>
                  <a:schemeClr val="accent1"/>
                </a:solidFill>
              </a:rPr>
              <a:t>5</a:t>
            </a:r>
            <a:endParaRPr lang="en-US" sz="5000" dirty="0"/>
          </a:p>
        </p:txBody>
      </p:sp>
      <p:sp>
        <p:nvSpPr>
          <p:cNvPr id="11" name="a-right-w-sl1"/>
          <p:cNvSpPr txBox="1"/>
          <p:nvPr/>
        </p:nvSpPr>
        <p:spPr>
          <a:xfrm>
            <a:off x="8915400" y="3273552"/>
            <a:ext cx="2560320" cy="411480"/>
          </a:xfrm>
          <a:prstGeom prst="rect">
            <a:avLst/>
          </a:prstGeom>
          <a:noFill/>
          <a:ln/>
        </p:spPr>
        <p:txBody>
          <a:bodyPr wrap="square" lIns="0" tIns="0" rIns="0" bIns="0" rtlCol="0" anchor="t"/>
          <a:lstStyle/>
          <a:p>
            <a:pPr indent="0" marL="0">
              <a:buNone/>
            </a:pPr>
            <a:r>
              <a:rPr lang="en-US" sz="1900" b="1" dirty="0">
                <a:solidFill>
                  <a:schemeClr val="tx2"/>
                </a:solidFill>
              </a:rPr>
              <a:t>migrations</a:t>
            </a:r>
            <a:endParaRPr lang="en-US" sz="1900" dirty="0"/>
          </a:p>
        </p:txBody>
      </p:sp>
      <p:sp>
        <p:nvSpPr>
          <p:cNvPr id="12" name="a-right-w-sd1"/>
          <p:cNvSpPr txBox="1"/>
          <p:nvPr/>
        </p:nvSpPr>
        <p:spPr>
          <a:xfrm>
            <a:off x="8915400" y="3712464"/>
            <a:ext cx="2560320" cy="411480"/>
          </a:xfrm>
          <a:prstGeom prst="rect">
            <a:avLst/>
          </a:prstGeom>
          <a:noFill/>
          <a:ln/>
        </p:spPr>
        <p:txBody>
          <a:bodyPr wrap="square" lIns="0" tIns="0" rIns="0" bIns="0" rtlCol="0" anchor="t"/>
          <a:lstStyle/>
          <a:p>
            <a:pPr indent="0" marL="0">
              <a:buNone/>
            </a:pPr>
            <a:r>
              <a:rPr lang="en-US" sz="1400" dirty="0">
                <a:solidFill>
                  <a:schemeClr val="accent6"/>
                </a:solidFill>
              </a:rPr>
              <a:t>repeatable schema</a:t>
            </a:r>
            <a:endParaRPr lang="en-US" sz="1400" dirty="0"/>
          </a:p>
        </p:txBody>
      </p:sp>
      <p:sp>
        <p:nvSpPr>
          <p:cNvPr id="13" name="a-right-st2"/>
          <p:cNvSpPr/>
          <p:nvPr/>
        </p:nvSpPr>
        <p:spPr>
          <a:xfrm>
            <a:off x="7040880" y="4626864"/>
            <a:ext cx="4572000" cy="1417320"/>
          </a:xfrm>
          <a:prstGeom prst="roundRect">
            <a:avLst>
              <a:gd name="adj" fmla="val 774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4" name="a-right-w-sn2"/>
          <p:cNvSpPr txBox="1"/>
          <p:nvPr/>
        </p:nvSpPr>
        <p:spPr>
          <a:xfrm>
            <a:off x="7269480" y="4809744"/>
            <a:ext cx="1645920" cy="1005840"/>
          </a:xfrm>
          <a:prstGeom prst="rect">
            <a:avLst/>
          </a:prstGeom>
          <a:noFill/>
          <a:ln/>
        </p:spPr>
        <p:txBody>
          <a:bodyPr wrap="square" lIns="0" tIns="0" rIns="0" bIns="0" rtlCol="0" anchor="ctr"/>
          <a:lstStyle/>
          <a:p>
            <a:pPr indent="0" marL="0">
              <a:buNone/>
            </a:pPr>
            <a:r>
              <a:rPr lang="en-US" sz="5000" b="1" dirty="0">
                <a:solidFill>
                  <a:schemeClr val="accent2"/>
                </a:solidFill>
              </a:rPr>
              <a:t>47</a:t>
            </a:r>
            <a:endParaRPr lang="en-US" sz="5000" dirty="0"/>
          </a:p>
        </p:txBody>
      </p:sp>
      <p:sp>
        <p:nvSpPr>
          <p:cNvPr id="15" name="a-right-w-sl2"/>
          <p:cNvSpPr txBox="1"/>
          <p:nvPr/>
        </p:nvSpPr>
        <p:spPr>
          <a:xfrm>
            <a:off x="8915400" y="4901184"/>
            <a:ext cx="2560320" cy="411480"/>
          </a:xfrm>
          <a:prstGeom prst="rect">
            <a:avLst/>
          </a:prstGeom>
          <a:noFill/>
          <a:ln/>
        </p:spPr>
        <p:txBody>
          <a:bodyPr wrap="square" lIns="0" tIns="0" rIns="0" bIns="0" rtlCol="0" anchor="t"/>
          <a:lstStyle/>
          <a:p>
            <a:pPr indent="0" marL="0">
              <a:buNone/>
            </a:pPr>
            <a:r>
              <a:rPr lang="en-US" sz="1900" b="1" dirty="0">
                <a:solidFill>
                  <a:schemeClr val="tx2"/>
                </a:solidFill>
              </a:rPr>
              <a:t>CHECK constraints</a:t>
            </a:r>
            <a:endParaRPr lang="en-US" sz="1900" dirty="0"/>
          </a:p>
        </p:txBody>
      </p:sp>
      <p:sp>
        <p:nvSpPr>
          <p:cNvPr id="16" name="a-right-w-sd2"/>
          <p:cNvSpPr txBox="1"/>
          <p:nvPr/>
        </p:nvSpPr>
        <p:spPr>
          <a:xfrm>
            <a:off x="8915400" y="5340096"/>
            <a:ext cx="2560320" cy="411480"/>
          </a:xfrm>
          <a:prstGeom prst="rect">
            <a:avLst/>
          </a:prstGeom>
          <a:noFill/>
          <a:ln/>
        </p:spPr>
        <p:txBody>
          <a:bodyPr wrap="square" lIns="0" tIns="0" rIns="0" bIns="0" rtlCol="0" anchor="t"/>
          <a:lstStyle/>
          <a:p>
            <a:pPr indent="0" marL="0">
              <a:buNone/>
            </a:pPr>
            <a:r>
              <a:rPr lang="en-US" sz="1400" dirty="0">
                <a:solidFill>
                  <a:schemeClr val="accent6"/>
                </a:solidFill>
              </a:rPr>
              <a:t>bad data cannot be saved</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80"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53" presetClass="entr" presetSubtype="16"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 calcmode="lin" valueType="num">
                                      <p:cBhvr>
                                        <p:cTn id="9" dur="650" decel="100000" fill="hold"/>
                                        <p:tgtEl>
                                          <p:spTgt spid="3"/>
                                        </p:tgtEl>
                                        <p:attrNameLst>
                                          <p:attrName>ppt_w</p:attrName>
                                        </p:attrNameLst>
                                      </p:cBhvr>
                                      <p:tavLst>
                                        <p:tav tm="0">
                                          <p:val>
                                            <p:strVal val="#ppt_w*0.7"/>
                                          </p:val>
                                        </p:tav>
                                        <p:tav tm="100000">
                                          <p:val>
                                            <p:strVal val="#ppt_w"/>
                                          </p:val>
                                        </p:tav>
                                      </p:tavLst>
                                    </p:anim>
                                    <p:anim calcmode="lin" valueType="num">
                                      <p:cBhvr>
                                        <p:cTn id="10" dur="650" decel="100000" fill="hold"/>
                                        <p:tgtEl>
                                          <p:spTgt spid="3"/>
                                        </p:tgtEl>
                                        <p:attrNameLst>
                                          <p:attrName>ppt_h</p:attrName>
                                        </p:attrNameLst>
                                      </p:cBhvr>
                                      <p:tavLst>
                                        <p:tav tm="0">
                                          <p:val>
                                            <p:strVal val="#ppt_h*0.7"/>
                                          </p:val>
                                        </p:tav>
                                        <p:tav tm="100000">
                                          <p:val>
                                            <p:strVal val="#ppt_h"/>
                                          </p:val>
                                        </p:tav>
                                      </p:tavLst>
                                    </p:anim>
                                    <p:animEffect transition="in" filter="fade">
                                      <p:cBhvr>
                                        <p:cTn id="8" dur="650"/>
                                        <p:tgtEl>
                                          <p:spTgt spid="3"/>
                                        </p:tgtEl>
                                      </p:cBhvr>
                                    </p:animEffect>
                                  </p:childTnLst>
                                </p:cTn>
                              </p:par>
                              <p:par>
                                <p:cTn id="16" presetID="53" presetClass="entr" presetSubtype="16"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 calcmode="lin" valueType="num">
                                      <p:cBhvr>
                                        <p:cTn id="14" dur="650" decel="100000" fill="hold"/>
                                        <p:tgtEl>
                                          <p:spTgt spid="4"/>
                                        </p:tgtEl>
                                        <p:attrNameLst>
                                          <p:attrName>ppt_w</p:attrName>
                                        </p:attrNameLst>
                                      </p:cBhvr>
                                      <p:tavLst>
                                        <p:tav tm="0">
                                          <p:val>
                                            <p:strVal val="#ppt_w*0.7"/>
                                          </p:val>
                                        </p:tav>
                                        <p:tav tm="100000">
                                          <p:val>
                                            <p:strVal val="#ppt_w"/>
                                          </p:val>
                                        </p:tav>
                                      </p:tavLst>
                                    </p:anim>
                                    <p:anim calcmode="lin" valueType="num">
                                      <p:cBhvr>
                                        <p:cTn id="15" dur="650" decel="100000" fill="hold"/>
                                        <p:tgtEl>
                                          <p:spTgt spid="4"/>
                                        </p:tgtEl>
                                        <p:attrNameLst>
                                          <p:attrName>ppt_h</p:attrName>
                                        </p:attrNameLst>
                                      </p:cBhvr>
                                      <p:tavLst>
                                        <p:tav tm="0">
                                          <p:val>
                                            <p:strVal val="#ppt_h*0.7"/>
                                          </p:val>
                                        </p:tav>
                                        <p:tav tm="100000">
                                          <p:val>
                                            <p:strVal val="#ppt_h"/>
                                          </p:val>
                                        </p:tav>
                                      </p:tavLst>
                                    </p:anim>
                                    <p:animEffect transition="in" filter="fade">
                                      <p:cBhvr>
                                        <p:cTn id="13" dur="650"/>
                                        <p:tgtEl>
                                          <p:spTgt spid="4"/>
                                        </p:tgtEl>
                                      </p:cBhvr>
                                    </p:animEffect>
                                  </p:childTnLst>
                                </p:cTn>
                              </p:par>
                              <p:par>
                                <p:cTn id="21" presetID="42" presetClass="entr" presetSubtype="0" fill="hold" grpId="0" nodeType="withEffect">
                                  <p:stCondLst>
                                    <p:cond delay="4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08"/>
                                          </p:val>
                                        </p:tav>
                                        <p:tav tm="100000">
                                          <p:val>
                                            <p:strVal val="#ppt_x"/>
                                          </p:val>
                                        </p:tav>
                                      </p:tavLst>
                                    </p:anim>
                                    <p:anim calcmode="lin" valueType="num">
                                      <p:cBhvr>
                                        <p:cTn id="20" dur="600" decel="1000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08"/>
                                          </p:val>
                                        </p:tav>
                                        <p:tav tm="100000">
                                          <p:val>
                                            <p:strVal val="#ppt_x"/>
                                          </p:val>
                                        </p:tav>
                                      </p:tavLst>
                                    </p:anim>
                                    <p:anim calcmode="lin" valueType="num">
                                      <p:cBhvr>
                                        <p:cTn id="25" dur="600" decel="1000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4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08"/>
                                          </p:val>
                                        </p:tav>
                                        <p:tav tm="100000">
                                          <p:val>
                                            <p:strVal val="#ppt_x"/>
                                          </p:val>
                                        </p:tav>
                                      </p:tavLst>
                                    </p:anim>
                                    <p:anim calcmode="lin" valueType="num">
                                      <p:cBhvr>
                                        <p:cTn id="30" dur="600" decel="1000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08"/>
                                          </p:val>
                                        </p:tav>
                                        <p:tav tm="100000">
                                          <p:val>
                                            <p:strVal val="#ppt_x"/>
                                          </p:val>
                                        </p:tav>
                                      </p:tavLst>
                                    </p:anim>
                                    <p:anim calcmode="lin" valueType="num">
                                      <p:cBhvr>
                                        <p:cTn id="35" dur="600" decel="1000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6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08"/>
                                          </p:val>
                                        </p:tav>
                                        <p:tav tm="100000">
                                          <p:val>
                                            <p:strVal val="#ppt_x"/>
                                          </p:val>
                                        </p:tav>
                                      </p:tavLst>
                                    </p:anim>
                                    <p:anim calcmode="lin" valueType="num">
                                      <p:cBhvr>
                                        <p:cTn id="40" dur="600" decel="1000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6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08"/>
                                          </p:val>
                                        </p:tav>
                                        <p:tav tm="100000">
                                          <p:val>
                                            <p:strVal val="#ppt_x"/>
                                          </p:val>
                                        </p:tav>
                                      </p:tavLst>
                                    </p:anim>
                                    <p:anim calcmode="lin" valueType="num">
                                      <p:cBhvr>
                                        <p:cTn id="45" dur="600" decel="1000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6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08"/>
                                          </p:val>
                                        </p:tav>
                                        <p:tav tm="100000">
                                          <p:val>
                                            <p:strVal val="#ppt_x"/>
                                          </p:val>
                                        </p:tav>
                                      </p:tavLst>
                                    </p:anim>
                                    <p:anim calcmode="lin" valueType="num">
                                      <p:cBhvr>
                                        <p:cTn id="50" dur="600" decel="1000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6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08"/>
                                          </p:val>
                                        </p:tav>
                                        <p:tav tm="100000">
                                          <p:val>
                                            <p:strVal val="#ppt_x"/>
                                          </p:val>
                                        </p:tav>
                                      </p:tavLst>
                                    </p:anim>
                                    <p:anim calcmode="lin" valueType="num">
                                      <p:cBhvr>
                                        <p:cTn id="55" dur="600" decel="1000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8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08"/>
                                          </p:val>
                                        </p:tav>
                                        <p:tav tm="100000">
                                          <p:val>
                                            <p:strVal val="#ppt_x"/>
                                          </p:val>
                                        </p:tav>
                                      </p:tavLst>
                                    </p:anim>
                                    <p:anim calcmode="lin" valueType="num">
                                      <p:cBhvr>
                                        <p:cTn id="60" dur="600" decel="1000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8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08"/>
                                          </p:val>
                                        </p:tav>
                                        <p:tav tm="100000">
                                          <p:val>
                                            <p:strVal val="#ppt_x"/>
                                          </p:val>
                                        </p:tav>
                                      </p:tavLst>
                                    </p:anim>
                                    <p:anim calcmode="lin" valueType="num">
                                      <p:cBhvr>
                                        <p:cTn id="65" dur="600" decel="1000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8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p:cTn id="69" dur="600" decel="100000" fill="hold"/>
                                        <p:tgtEl>
                                          <p:spTgt spid="15"/>
                                        </p:tgtEl>
                                        <p:attrNameLst>
                                          <p:attrName>ppt_x</p:attrName>
                                        </p:attrNameLst>
                                      </p:cBhvr>
                                      <p:tavLst>
                                        <p:tav tm="0">
                                          <p:val>
                                            <p:strVal val="#ppt_x+.08"/>
                                          </p:val>
                                        </p:tav>
                                        <p:tav tm="100000">
                                          <p:val>
                                            <p:strVal val="#ppt_x"/>
                                          </p:val>
                                        </p:tav>
                                      </p:tavLst>
                                    </p:anim>
                                    <p:anim calcmode="lin" valueType="num">
                                      <p:cBhvr>
                                        <p:cTn id="70" dur="600" decel="1000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8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decel="100000" fill="hold"/>
                                        <p:tgtEl>
                                          <p:spTgt spid="16"/>
                                        </p:tgtEl>
                                        <p:attrNameLst>
                                          <p:attrName>ppt_x</p:attrName>
                                        </p:attrNameLst>
                                      </p:cBhvr>
                                      <p:tavLst>
                                        <p:tav tm="0">
                                          <p:val>
                                            <p:strVal val="#ppt_x+.08"/>
                                          </p:val>
                                        </p:tav>
                                        <p:tav tm="100000">
                                          <p:val>
                                            <p:strVal val="#ppt_x"/>
                                          </p:val>
                                        </p:tav>
                                      </p:tavLst>
                                    </p:anim>
                                    <p:anim calcmode="lin" valueType="num">
                                      <p:cBhvr>
                                        <p:cTn id="75" dur="600" decel="100000" fill="hold"/>
                                        <p:tgtEl>
                                          <p:spTgt spid="16"/>
                                        </p:tgtEl>
                                        <p:attrNameLst>
                                          <p:attrName>ppt_y</p:attrName>
                                        </p:attrNameLst>
                                      </p:cBhvr>
                                      <p:tavLst>
                                        <p:tav tm="0">
                                          <p:val>
                                            <p:strVal val="#ppt_y"/>
                                          </p:val>
                                        </p:tav>
                                        <p:tav tm="100000">
                                          <p:val>
                                            <p:strVal val="#ppt_y"/>
                                          </p:val>
                                        </p:tav>
                                      </p:tavLst>
                                    </p:anim>
                                  </p:childTnLst>
                                </p:cTn>
                              </p:par>
                              <p:par>
                                <p:cTn id="79" presetID="10" presetClass="entr" presetSubtype="0" fill="hold" grpId="0" nodeType="withEffect">
                                  <p:stCondLst>
                                    <p:cond delay="100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P spid="10" grpId="0" animBg="1"/>
      <p:bldP spid="11" grpId="0" animBg="1"/>
      <p:bldP spid="12" grpId="0" animBg="1"/>
      <p:bldP spid="14" grpId="0" animBg="1"/>
      <p:bldP spid="15" grpId="0" animBg="1"/>
      <p:bldP spid="16"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Smart identifiers, generated safely</a:t>
            </a:r>
            <a:endParaRPr lang="en-US" sz="3200" dirty="0"/>
          </a:p>
        </p:txBody>
      </p:sp>
      <p:sp>
        <p:nvSpPr>
          <p:cNvPr id="3" name="a-fade-oh"/>
          <p:cNvSpPr txBox="1"/>
          <p:nvPr/>
        </p:nvSpPr>
        <p:spPr>
          <a:xfrm>
            <a:off x="548640" y="1325880"/>
            <a:ext cx="7315200" cy="411480"/>
          </a:xfrm>
          <a:prstGeom prst="rect">
            <a:avLst/>
          </a:prstGeom>
          <a:noFill/>
          <a:ln/>
        </p:spPr>
        <p:txBody>
          <a:bodyPr wrap="square" lIns="0" tIns="0" rIns="0" bIns="0" rtlCol="0" anchor="t"/>
          <a:lstStyle/>
          <a:p>
            <a:pPr indent="0" marL="0">
              <a:buNone/>
            </a:pPr>
            <a:r>
              <a:rPr lang="en-US" sz="2000" b="1" dirty="0">
                <a:solidFill>
                  <a:schemeClr val="tx2"/>
                </a:solidFill>
              </a:rPr>
              <a:t>Order number - 11 characters</a:t>
            </a:r>
            <a:endParaRPr lang="en-US" sz="2000" dirty="0"/>
          </a:p>
        </p:txBody>
      </p:sp>
      <p:sp>
        <p:nvSpPr>
          <p:cNvPr id="4" name="a-up-o0"/>
          <p:cNvSpPr/>
          <p:nvPr/>
        </p:nvSpPr>
        <p:spPr>
          <a:xfrm>
            <a:off x="548640" y="1874520"/>
            <a:ext cx="822960" cy="914400"/>
          </a:xfrm>
          <a:prstGeom prst="roundRect">
            <a:avLst>
              <a:gd name="adj" fmla="val 11111"/>
            </a:avLst>
          </a:prstGeom>
          <a:solidFill>
            <a:srgbClr val="059669"/>
          </a:solidFill>
          <a:ln/>
        </p:spPr>
      </p:sp>
      <p:sp>
        <p:nvSpPr>
          <p:cNvPr id="5" name="a-up-w-ot0"/>
          <p:cNvSpPr txBox="1"/>
          <p:nvPr/>
        </p:nvSpPr>
        <p:spPr>
          <a:xfrm>
            <a:off x="548640" y="1874520"/>
            <a:ext cx="82296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Consolas" pitchFamily="34" charset="0"/>
                <a:ea typeface="Consolas" pitchFamily="34" charset="-122"/>
                <a:cs typeface="Consolas" pitchFamily="34" charset="-120"/>
              </a:rPr>
              <a:t>D</a:t>
            </a:r>
            <a:endParaRPr lang="en-US" sz="3000" dirty="0"/>
          </a:p>
        </p:txBody>
      </p:sp>
      <p:sp>
        <p:nvSpPr>
          <p:cNvPr id="6" name="a-up-w-ol0"/>
          <p:cNvSpPr txBox="1"/>
          <p:nvPr/>
        </p:nvSpPr>
        <p:spPr>
          <a:xfrm>
            <a:off x="548640" y="2880360"/>
            <a:ext cx="822960" cy="365760"/>
          </a:xfrm>
          <a:prstGeom prst="rect">
            <a:avLst/>
          </a:prstGeom>
          <a:noFill/>
          <a:ln/>
        </p:spPr>
        <p:txBody>
          <a:bodyPr wrap="square" lIns="0" tIns="0" rIns="0" bIns="0" rtlCol="0" anchor="t"/>
          <a:lstStyle/>
          <a:p>
            <a:pPr algn="ctr" indent="0" marL="0">
              <a:buNone/>
            </a:pPr>
            <a:r>
              <a:rPr lang="en-US" sz="1300" dirty="0">
                <a:solidFill>
                  <a:schemeClr val="accent6"/>
                </a:solidFill>
              </a:rPr>
              <a:t>type</a:t>
            </a:r>
            <a:endParaRPr lang="en-US" sz="1300" dirty="0"/>
          </a:p>
        </p:txBody>
      </p:sp>
      <p:sp>
        <p:nvSpPr>
          <p:cNvPr id="7" name="a-up-o1"/>
          <p:cNvSpPr/>
          <p:nvPr/>
        </p:nvSpPr>
        <p:spPr>
          <a:xfrm>
            <a:off x="1508760" y="1874520"/>
            <a:ext cx="3840480" cy="914400"/>
          </a:xfrm>
          <a:prstGeom prst="roundRect">
            <a:avLst>
              <a:gd name="adj" fmla="val 10000"/>
            </a:avLst>
          </a:prstGeom>
          <a:solidFill>
            <a:srgbClr val="0369A1"/>
          </a:solidFill>
          <a:ln/>
        </p:spPr>
      </p:sp>
      <p:sp>
        <p:nvSpPr>
          <p:cNvPr id="8" name="a-up-w-ot1"/>
          <p:cNvSpPr txBox="1"/>
          <p:nvPr/>
        </p:nvSpPr>
        <p:spPr>
          <a:xfrm>
            <a:off x="1508760" y="1874520"/>
            <a:ext cx="384048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Consolas" pitchFamily="34" charset="0"/>
                <a:ea typeface="Consolas" pitchFamily="34" charset="-122"/>
                <a:cs typeface="Consolas" pitchFamily="34" charset="-120"/>
              </a:rPr>
              <a:t>0000000001</a:t>
            </a:r>
            <a:endParaRPr lang="en-US" sz="3000" dirty="0"/>
          </a:p>
        </p:txBody>
      </p:sp>
      <p:sp>
        <p:nvSpPr>
          <p:cNvPr id="9" name="a-up-w-ol1"/>
          <p:cNvSpPr txBox="1"/>
          <p:nvPr/>
        </p:nvSpPr>
        <p:spPr>
          <a:xfrm>
            <a:off x="1508760" y="2880360"/>
            <a:ext cx="3840480" cy="365760"/>
          </a:xfrm>
          <a:prstGeom prst="rect">
            <a:avLst/>
          </a:prstGeom>
          <a:noFill/>
          <a:ln/>
        </p:spPr>
        <p:txBody>
          <a:bodyPr wrap="square" lIns="0" tIns="0" rIns="0" bIns="0" rtlCol="0" anchor="t"/>
          <a:lstStyle/>
          <a:p>
            <a:pPr algn="ctr" indent="0" marL="0">
              <a:buNone/>
            </a:pPr>
            <a:r>
              <a:rPr lang="en-US" sz="1300" dirty="0">
                <a:solidFill>
                  <a:schemeClr val="accent6"/>
                </a:solidFill>
              </a:rPr>
              <a:t>10-digit serial per type</a:t>
            </a:r>
            <a:endParaRPr lang="en-US" sz="1300" dirty="0"/>
          </a:p>
        </p:txBody>
      </p:sp>
      <p:sp>
        <p:nvSpPr>
          <p:cNvPr id="10" name="a-fade-on"/>
          <p:cNvSpPr txBox="1"/>
          <p:nvPr/>
        </p:nvSpPr>
        <p:spPr>
          <a:xfrm>
            <a:off x="5715000" y="1874520"/>
            <a:ext cx="5897880" cy="1005840"/>
          </a:xfrm>
          <a:prstGeom prst="rect">
            <a:avLst/>
          </a:prstGeom>
          <a:noFill/>
          <a:ln/>
        </p:spPr>
        <p:txBody>
          <a:bodyPr wrap="square" lIns="0" tIns="0" rIns="0" bIns="0" rtlCol="0" anchor="ctr"/>
          <a:lstStyle/>
          <a:p>
            <a:pPr indent="0" marL="0">
              <a:buNone/>
            </a:pPr>
            <a:r>
              <a:rPr lang="en-US" sz="1400" dirty="0">
                <a:solidFill>
                  <a:schemeClr val="accent6"/>
                </a:solidFill>
              </a:rPr>
              <a:t>D = Dial-Up, B = Broadband, T = Telephone</a:t>
            </a:r>
            <a:endParaRPr lang="en-US" sz="1400" dirty="0"/>
          </a:p>
        </p:txBody>
      </p:sp>
      <p:sp>
        <p:nvSpPr>
          <p:cNvPr id="11" name="a-fade-ch"/>
          <p:cNvSpPr txBox="1"/>
          <p:nvPr/>
        </p:nvSpPr>
        <p:spPr>
          <a:xfrm>
            <a:off x="548640" y="3657600"/>
            <a:ext cx="7315200" cy="411480"/>
          </a:xfrm>
          <a:prstGeom prst="rect">
            <a:avLst/>
          </a:prstGeom>
          <a:noFill/>
          <a:ln/>
        </p:spPr>
        <p:txBody>
          <a:bodyPr wrap="square" lIns="0" tIns="0" rIns="0" bIns="0" rtlCol="0" anchor="t"/>
          <a:lstStyle/>
          <a:p>
            <a:pPr indent="0" marL="0">
              <a:buNone/>
            </a:pPr>
            <a:r>
              <a:rPr lang="en-US" sz="2000" b="1" dirty="0">
                <a:solidFill>
                  <a:schemeClr val="tx2"/>
                </a:solidFill>
              </a:rPr>
              <a:t>Account ID - 16 characters</a:t>
            </a:r>
            <a:endParaRPr lang="en-US" sz="2000" dirty="0"/>
          </a:p>
        </p:txBody>
      </p:sp>
      <p:sp>
        <p:nvSpPr>
          <p:cNvPr id="12" name="a-up-c0"/>
          <p:cNvSpPr/>
          <p:nvPr/>
        </p:nvSpPr>
        <p:spPr>
          <a:xfrm>
            <a:off x="548640" y="4206240"/>
            <a:ext cx="822960" cy="914400"/>
          </a:xfrm>
          <a:prstGeom prst="roundRect">
            <a:avLst>
              <a:gd name="adj" fmla="val 11111"/>
            </a:avLst>
          </a:prstGeom>
          <a:solidFill>
            <a:srgbClr val="059669"/>
          </a:solidFill>
          <a:ln/>
        </p:spPr>
      </p:sp>
      <p:sp>
        <p:nvSpPr>
          <p:cNvPr id="13" name="a-up-w-ct0"/>
          <p:cNvSpPr txBox="1"/>
          <p:nvPr/>
        </p:nvSpPr>
        <p:spPr>
          <a:xfrm>
            <a:off x="548640" y="4206240"/>
            <a:ext cx="82296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Consolas" pitchFamily="34" charset="0"/>
                <a:ea typeface="Consolas" pitchFamily="34" charset="-122"/>
                <a:cs typeface="Consolas" pitchFamily="34" charset="-120"/>
              </a:rPr>
              <a:t>B</a:t>
            </a:r>
            <a:endParaRPr lang="en-US" sz="3000" dirty="0"/>
          </a:p>
        </p:txBody>
      </p:sp>
      <p:sp>
        <p:nvSpPr>
          <p:cNvPr id="14" name="a-up-w-cl0"/>
          <p:cNvSpPr txBox="1"/>
          <p:nvPr/>
        </p:nvSpPr>
        <p:spPr>
          <a:xfrm>
            <a:off x="548640" y="5212080"/>
            <a:ext cx="822960" cy="365760"/>
          </a:xfrm>
          <a:prstGeom prst="rect">
            <a:avLst/>
          </a:prstGeom>
          <a:noFill/>
          <a:ln/>
        </p:spPr>
        <p:txBody>
          <a:bodyPr wrap="square" lIns="0" tIns="0" rIns="0" bIns="0" rtlCol="0" anchor="t"/>
          <a:lstStyle/>
          <a:p>
            <a:pPr algn="ctr" indent="0" marL="0">
              <a:buNone/>
            </a:pPr>
            <a:r>
              <a:rPr lang="en-US" sz="1300" dirty="0">
                <a:solidFill>
                  <a:schemeClr val="accent6"/>
                </a:solidFill>
              </a:rPr>
              <a:t>type</a:t>
            </a:r>
            <a:endParaRPr lang="en-US" sz="1300" dirty="0"/>
          </a:p>
        </p:txBody>
      </p:sp>
      <p:sp>
        <p:nvSpPr>
          <p:cNvPr id="15" name="a-up-c1"/>
          <p:cNvSpPr/>
          <p:nvPr/>
        </p:nvSpPr>
        <p:spPr>
          <a:xfrm>
            <a:off x="1508760" y="4206240"/>
            <a:ext cx="1463040" cy="914400"/>
          </a:xfrm>
          <a:prstGeom prst="roundRect">
            <a:avLst>
              <a:gd name="adj" fmla="val 10000"/>
            </a:avLst>
          </a:prstGeom>
          <a:solidFill>
            <a:srgbClr val="0EA5E9"/>
          </a:solidFill>
          <a:ln/>
        </p:spPr>
      </p:sp>
      <p:sp>
        <p:nvSpPr>
          <p:cNvPr id="16" name="a-up-w-ct1"/>
          <p:cNvSpPr txBox="1"/>
          <p:nvPr/>
        </p:nvSpPr>
        <p:spPr>
          <a:xfrm>
            <a:off x="1508760" y="4206240"/>
            <a:ext cx="146304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Consolas" pitchFamily="34" charset="0"/>
                <a:ea typeface="Consolas" pitchFamily="34" charset="-122"/>
                <a:cs typeface="Consolas" pitchFamily="34" charset="-120"/>
              </a:rPr>
              <a:t>001</a:t>
            </a:r>
            <a:endParaRPr lang="en-US" sz="3000" dirty="0"/>
          </a:p>
        </p:txBody>
      </p:sp>
      <p:sp>
        <p:nvSpPr>
          <p:cNvPr id="17" name="a-up-w-cl1"/>
          <p:cNvSpPr txBox="1"/>
          <p:nvPr/>
        </p:nvSpPr>
        <p:spPr>
          <a:xfrm>
            <a:off x="1508760" y="5212080"/>
            <a:ext cx="1463040" cy="365760"/>
          </a:xfrm>
          <a:prstGeom prst="rect">
            <a:avLst/>
          </a:prstGeom>
          <a:noFill/>
          <a:ln/>
        </p:spPr>
        <p:txBody>
          <a:bodyPr wrap="square" lIns="0" tIns="0" rIns="0" bIns="0" rtlCol="0" anchor="t"/>
          <a:lstStyle/>
          <a:p>
            <a:pPr algn="ctr" indent="0" marL="0">
              <a:buNone/>
            </a:pPr>
            <a:r>
              <a:rPr lang="en-US" sz="1300" dirty="0">
                <a:solidFill>
                  <a:schemeClr val="accent6"/>
                </a:solidFill>
              </a:rPr>
              <a:t>city code</a:t>
            </a:r>
            <a:endParaRPr lang="en-US" sz="1300" dirty="0"/>
          </a:p>
        </p:txBody>
      </p:sp>
      <p:sp>
        <p:nvSpPr>
          <p:cNvPr id="18" name="a-up-c2"/>
          <p:cNvSpPr/>
          <p:nvPr/>
        </p:nvSpPr>
        <p:spPr>
          <a:xfrm>
            <a:off x="3108960" y="4206240"/>
            <a:ext cx="4480560" cy="914400"/>
          </a:xfrm>
          <a:prstGeom prst="roundRect">
            <a:avLst>
              <a:gd name="adj" fmla="val 10000"/>
            </a:avLst>
          </a:prstGeom>
          <a:solidFill>
            <a:srgbClr val="0369A1"/>
          </a:solidFill>
          <a:ln/>
        </p:spPr>
      </p:sp>
      <p:sp>
        <p:nvSpPr>
          <p:cNvPr id="19" name="a-up-w-ct2"/>
          <p:cNvSpPr txBox="1"/>
          <p:nvPr/>
        </p:nvSpPr>
        <p:spPr>
          <a:xfrm>
            <a:off x="3108960" y="4206240"/>
            <a:ext cx="448056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Consolas" pitchFamily="34" charset="0"/>
                <a:ea typeface="Consolas" pitchFamily="34" charset="-122"/>
                <a:cs typeface="Consolas" pitchFamily="34" charset="-120"/>
              </a:rPr>
              <a:t>000000000001</a:t>
            </a:r>
            <a:endParaRPr lang="en-US" sz="3000" dirty="0"/>
          </a:p>
        </p:txBody>
      </p:sp>
      <p:sp>
        <p:nvSpPr>
          <p:cNvPr id="20" name="a-up-w-cl2"/>
          <p:cNvSpPr txBox="1"/>
          <p:nvPr/>
        </p:nvSpPr>
        <p:spPr>
          <a:xfrm>
            <a:off x="3108960" y="5212080"/>
            <a:ext cx="4480560" cy="365760"/>
          </a:xfrm>
          <a:prstGeom prst="rect">
            <a:avLst/>
          </a:prstGeom>
          <a:noFill/>
          <a:ln/>
        </p:spPr>
        <p:txBody>
          <a:bodyPr wrap="square" lIns="0" tIns="0" rIns="0" bIns="0" rtlCol="0" anchor="t"/>
          <a:lstStyle/>
          <a:p>
            <a:pPr algn="ctr" indent="0" marL="0">
              <a:buNone/>
            </a:pPr>
            <a:r>
              <a:rPr lang="en-US" sz="1300" dirty="0">
                <a:solidFill>
                  <a:schemeClr val="accent6"/>
                </a:solidFill>
              </a:rPr>
              <a:t>12-digit serial</a:t>
            </a:r>
            <a:endParaRPr lang="en-US" sz="1300" dirty="0"/>
          </a:p>
        </p:txBody>
      </p:sp>
      <p:sp>
        <p:nvSpPr>
          <p:cNvPr id="21" name="a-fade-cn"/>
          <p:cNvSpPr txBox="1"/>
          <p:nvPr/>
        </p:nvSpPr>
        <p:spPr>
          <a:xfrm>
            <a:off x="7955280" y="4206240"/>
            <a:ext cx="3657600" cy="1005840"/>
          </a:xfrm>
          <a:prstGeom prst="rect">
            <a:avLst/>
          </a:prstGeom>
          <a:noFill/>
          <a:ln/>
        </p:spPr>
        <p:txBody>
          <a:bodyPr wrap="square" lIns="0" tIns="0" rIns="0" bIns="0" rtlCol="0" anchor="ctr"/>
          <a:lstStyle/>
          <a:p>
            <a:pPr indent="0" marL="0">
              <a:buNone/>
            </a:pPr>
            <a:r>
              <a:rPr lang="en-US" sz="1400" dirty="0">
                <a:solidFill>
                  <a:schemeClr val="accent6"/>
                </a:solidFill>
              </a:rPr>
              <a:t>Serial counted per type and city</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7"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9" presetID="10" presetClass="entr" presetSubtype="0"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p:cTn id="12" dur="600" decel="100000" fill="hold"/>
                                        <p:tgtEl>
                                          <p:spTgt spid="4"/>
                                        </p:tgtEl>
                                        <p:attrNameLst>
                                          <p:attrName>ppt_x</p:attrName>
                                        </p:attrNameLst>
                                      </p:cBhvr>
                                      <p:tavLst>
                                        <p:tav tm="0">
                                          <p:val>
                                            <p:strVal val="#ppt_x"/>
                                          </p:val>
                                        </p:tav>
                                        <p:tav tm="100000">
                                          <p:val>
                                            <p:strVal val="#ppt_x"/>
                                          </p:val>
                                        </p:tav>
                                      </p:tavLst>
                                    </p:anim>
                                    <p:anim calcmode="lin" valueType="num">
                                      <p:cBhvr>
                                        <p:cTn id="13" dur="600" decel="100000" fill="hold"/>
                                        <p:tgtEl>
                                          <p:spTgt spid="4"/>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4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anim calcmode="lin" valueType="num">
                                      <p:cBhvr>
                                        <p:cTn id="17" dur="600" decel="100000" fill="hold"/>
                                        <p:tgtEl>
                                          <p:spTgt spid="5"/>
                                        </p:tgtEl>
                                        <p:attrNameLst>
                                          <p:attrName>ppt_x</p:attrName>
                                        </p:attrNameLst>
                                      </p:cBhvr>
                                      <p:tavLst>
                                        <p:tav tm="0">
                                          <p:val>
                                            <p:strVal val="#ppt_x"/>
                                          </p:val>
                                        </p:tav>
                                        <p:tav tm="100000">
                                          <p:val>
                                            <p:strVal val="#ppt_x"/>
                                          </p:val>
                                        </p:tav>
                                      </p:tavLst>
                                    </p:anim>
                                    <p:anim calcmode="lin" valueType="num">
                                      <p:cBhvr>
                                        <p:cTn id="18" dur="600" decel="100000" fill="hold"/>
                                        <p:tgtEl>
                                          <p:spTgt spid="5"/>
                                        </p:tgtEl>
                                        <p:attrNameLst>
                                          <p:attrName>ppt_y</p:attrName>
                                        </p:attrNameLst>
                                      </p:cBhvr>
                                      <p:tavLst>
                                        <p:tav tm="0">
                                          <p:val>
                                            <p:strVal val="#ppt_y+.08"/>
                                          </p:val>
                                        </p:tav>
                                        <p:tav tm="100000">
                                          <p:val>
                                            <p:strVal val="#ppt_y"/>
                                          </p:val>
                                        </p:tav>
                                      </p:tavLst>
                                    </p:anim>
                                  </p:childTnLst>
                                </p:cTn>
                              </p:par>
                              <p:par>
                                <p:cTn id="24" presetID="42" presetClass="entr" presetSubtype="0" fill="hold" grpId="0" nodeType="withEffect">
                                  <p:stCondLst>
                                    <p:cond delay="4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600"/>
                                        <p:tgtEl>
                                          <p:spTgt spid="6"/>
                                        </p:tgtEl>
                                      </p:cBhvr>
                                    </p:animEffect>
                                    <p:anim calcmode="lin" valueType="num">
                                      <p:cBhvr>
                                        <p:cTn id="22" dur="600" decel="100000" fill="hold"/>
                                        <p:tgtEl>
                                          <p:spTgt spid="6"/>
                                        </p:tgtEl>
                                        <p:attrNameLst>
                                          <p:attrName>ppt_x</p:attrName>
                                        </p:attrNameLst>
                                      </p:cBhvr>
                                      <p:tavLst>
                                        <p:tav tm="0">
                                          <p:val>
                                            <p:strVal val="#ppt_x"/>
                                          </p:val>
                                        </p:tav>
                                        <p:tav tm="100000">
                                          <p:val>
                                            <p:strVal val="#ppt_x"/>
                                          </p:val>
                                        </p:tav>
                                      </p:tavLst>
                                    </p:anim>
                                    <p:anim calcmode="lin" valueType="num">
                                      <p:cBhvr>
                                        <p:cTn id="23" dur="600" decel="100000" fill="hold"/>
                                        <p:tgtEl>
                                          <p:spTgt spid="6"/>
                                        </p:tgtEl>
                                        <p:attrNameLst>
                                          <p:attrName>ppt_y</p:attrName>
                                        </p:attrNameLst>
                                      </p:cBhvr>
                                      <p:tavLst>
                                        <p:tav tm="0">
                                          <p:val>
                                            <p:strVal val="#ppt_y+.08"/>
                                          </p:val>
                                        </p:tav>
                                        <p:tav tm="100000">
                                          <p:val>
                                            <p:strVal val="#ppt_y"/>
                                          </p:val>
                                        </p:tav>
                                      </p:tavLst>
                                    </p:anim>
                                  </p:childTnLst>
                                </p:cTn>
                              </p:par>
                              <p:par>
                                <p:cTn id="29" presetID="42" presetClass="entr" presetSubtype="0" fill="hold" grpId="0" nodeType="withEffect">
                                  <p:stCondLst>
                                    <p:cond delay="6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600"/>
                                        <p:tgtEl>
                                          <p:spTgt spid="7"/>
                                        </p:tgtEl>
                                      </p:cBhvr>
                                    </p:animEffect>
                                    <p:anim calcmode="lin" valueType="num">
                                      <p:cBhvr>
                                        <p:cTn id="27" dur="600" decel="100000" fill="hold"/>
                                        <p:tgtEl>
                                          <p:spTgt spid="7"/>
                                        </p:tgtEl>
                                        <p:attrNameLst>
                                          <p:attrName>ppt_x</p:attrName>
                                        </p:attrNameLst>
                                      </p:cBhvr>
                                      <p:tavLst>
                                        <p:tav tm="0">
                                          <p:val>
                                            <p:strVal val="#ppt_x"/>
                                          </p:val>
                                        </p:tav>
                                        <p:tav tm="100000">
                                          <p:val>
                                            <p:strVal val="#ppt_x"/>
                                          </p:val>
                                        </p:tav>
                                      </p:tavLst>
                                    </p:anim>
                                    <p:anim calcmode="lin" valueType="num">
                                      <p:cBhvr>
                                        <p:cTn id="28" dur="600" decel="100000" fill="hold"/>
                                        <p:tgtEl>
                                          <p:spTgt spid="7"/>
                                        </p:tgtEl>
                                        <p:attrNameLst>
                                          <p:attrName>ppt_y</p:attrName>
                                        </p:attrNameLst>
                                      </p:cBhvr>
                                      <p:tavLst>
                                        <p:tav tm="0">
                                          <p:val>
                                            <p:strVal val="#ppt_y+.08"/>
                                          </p:val>
                                        </p:tav>
                                        <p:tav tm="100000">
                                          <p:val>
                                            <p:strVal val="#ppt_y"/>
                                          </p:val>
                                        </p:tav>
                                      </p:tavLst>
                                    </p:anim>
                                  </p:childTnLst>
                                </p:cTn>
                              </p:par>
                              <p:par>
                                <p:cTn id="34" presetID="42" presetClass="entr" presetSubtype="0" fill="hold" grpId="0" nodeType="withEffect">
                                  <p:stCondLst>
                                    <p:cond delay="6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p:tgtEl>
                                          <p:spTgt spid="8"/>
                                        </p:tgtEl>
                                      </p:cBhvr>
                                    </p:animEffect>
                                    <p:anim calcmode="lin" valueType="num">
                                      <p:cBhvr>
                                        <p:cTn id="32" dur="600" decel="100000" fill="hold"/>
                                        <p:tgtEl>
                                          <p:spTgt spid="8"/>
                                        </p:tgtEl>
                                        <p:attrNameLst>
                                          <p:attrName>ppt_x</p:attrName>
                                        </p:attrNameLst>
                                      </p:cBhvr>
                                      <p:tavLst>
                                        <p:tav tm="0">
                                          <p:val>
                                            <p:strVal val="#ppt_x"/>
                                          </p:val>
                                        </p:tav>
                                        <p:tav tm="100000">
                                          <p:val>
                                            <p:strVal val="#ppt_x"/>
                                          </p:val>
                                        </p:tav>
                                      </p:tavLst>
                                    </p:anim>
                                    <p:anim calcmode="lin" valueType="num">
                                      <p:cBhvr>
                                        <p:cTn id="33" dur="600" decel="100000" fill="hold"/>
                                        <p:tgtEl>
                                          <p:spTgt spid="8"/>
                                        </p:tgtEl>
                                        <p:attrNameLst>
                                          <p:attrName>ppt_y</p:attrName>
                                        </p:attrNameLst>
                                      </p:cBhvr>
                                      <p:tavLst>
                                        <p:tav tm="0">
                                          <p:val>
                                            <p:strVal val="#ppt_y+.08"/>
                                          </p:val>
                                        </p:tav>
                                        <p:tav tm="100000">
                                          <p:val>
                                            <p:strVal val="#ppt_y"/>
                                          </p:val>
                                        </p:tav>
                                      </p:tavLst>
                                    </p:anim>
                                  </p:childTnLst>
                                </p:cTn>
                              </p:par>
                              <p:par>
                                <p:cTn id="39" presetID="42" presetClass="entr" presetSubtype="0" fill="hold" grpId="0" nodeType="withEffect">
                                  <p:stCondLst>
                                    <p:cond delay="60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600"/>
                                        <p:tgtEl>
                                          <p:spTgt spid="9"/>
                                        </p:tgtEl>
                                      </p:cBhvr>
                                    </p:animEffect>
                                    <p:anim calcmode="lin" valueType="num">
                                      <p:cBhvr>
                                        <p:cTn id="37" dur="600" decel="100000" fill="hold"/>
                                        <p:tgtEl>
                                          <p:spTgt spid="9"/>
                                        </p:tgtEl>
                                        <p:attrNameLst>
                                          <p:attrName>ppt_x</p:attrName>
                                        </p:attrNameLst>
                                      </p:cBhvr>
                                      <p:tavLst>
                                        <p:tav tm="0">
                                          <p:val>
                                            <p:strVal val="#ppt_x"/>
                                          </p:val>
                                        </p:tav>
                                        <p:tav tm="100000">
                                          <p:val>
                                            <p:strVal val="#ppt_x"/>
                                          </p:val>
                                        </p:tav>
                                      </p:tavLst>
                                    </p:anim>
                                    <p:anim calcmode="lin" valueType="num">
                                      <p:cBhvr>
                                        <p:cTn id="38" dur="600" decel="100000" fill="hold"/>
                                        <p:tgtEl>
                                          <p:spTgt spid="9"/>
                                        </p:tgtEl>
                                        <p:attrNameLst>
                                          <p:attrName>ppt_y</p:attrName>
                                        </p:attrNameLst>
                                      </p:cBhvr>
                                      <p:tavLst>
                                        <p:tav tm="0">
                                          <p:val>
                                            <p:strVal val="#ppt_y+.08"/>
                                          </p:val>
                                        </p:tav>
                                        <p:tav tm="100000">
                                          <p:val>
                                            <p:strVal val="#ppt_y"/>
                                          </p:val>
                                        </p:tav>
                                      </p:tavLst>
                                    </p:anim>
                                  </p:childTnLst>
                                </p:cTn>
                              </p:par>
                              <p:par>
                                <p:cTn id="42" presetID="10" presetClass="entr" presetSubtype="0" fill="hold" grpId="0" nodeType="withEffect">
                                  <p:stCondLst>
                                    <p:cond delay="8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par>
                                <p:cTn id="45" presetID="10" presetClass="entr" presetSubtype="0" fill="hold" grpId="0" nodeType="withEffect">
                                  <p:stCondLst>
                                    <p:cond delay="100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par>
                                <p:cTn id="50" presetID="42" presetClass="entr" presetSubtype="0" fill="hold" grpId="0" nodeType="withEffect">
                                  <p:stCondLst>
                                    <p:cond delay="12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anim calcmode="lin" valueType="num">
                                      <p:cBhvr>
                                        <p:cTn id="48" dur="600" decel="100000" fill="hold"/>
                                        <p:tgtEl>
                                          <p:spTgt spid="12"/>
                                        </p:tgtEl>
                                        <p:attrNameLst>
                                          <p:attrName>ppt_x</p:attrName>
                                        </p:attrNameLst>
                                      </p:cBhvr>
                                      <p:tavLst>
                                        <p:tav tm="0">
                                          <p:val>
                                            <p:strVal val="#ppt_x"/>
                                          </p:val>
                                        </p:tav>
                                        <p:tav tm="100000">
                                          <p:val>
                                            <p:strVal val="#ppt_x"/>
                                          </p:val>
                                        </p:tav>
                                      </p:tavLst>
                                    </p:anim>
                                    <p:anim calcmode="lin" valueType="num">
                                      <p:cBhvr>
                                        <p:cTn id="49" dur="600" decel="100000" fill="hold"/>
                                        <p:tgtEl>
                                          <p:spTgt spid="12"/>
                                        </p:tgtEl>
                                        <p:attrNameLst>
                                          <p:attrName>ppt_y</p:attrName>
                                        </p:attrNameLst>
                                      </p:cBhvr>
                                      <p:tavLst>
                                        <p:tav tm="0">
                                          <p:val>
                                            <p:strVal val="#ppt_y+.08"/>
                                          </p:val>
                                        </p:tav>
                                        <p:tav tm="100000">
                                          <p:val>
                                            <p:strVal val="#ppt_y"/>
                                          </p:val>
                                        </p:tav>
                                      </p:tavLst>
                                    </p:anim>
                                  </p:childTnLst>
                                </p:cTn>
                              </p:par>
                              <p:par>
                                <p:cTn id="55" presetID="42" presetClass="entr" presetSubtype="0" fill="hold" grpId="0" nodeType="withEffect">
                                  <p:stCondLst>
                                    <p:cond delay="120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600"/>
                                        <p:tgtEl>
                                          <p:spTgt spid="13"/>
                                        </p:tgtEl>
                                      </p:cBhvr>
                                    </p:animEffect>
                                    <p:anim calcmode="lin" valueType="num">
                                      <p:cBhvr>
                                        <p:cTn id="53" dur="600" decel="100000" fill="hold"/>
                                        <p:tgtEl>
                                          <p:spTgt spid="13"/>
                                        </p:tgtEl>
                                        <p:attrNameLst>
                                          <p:attrName>ppt_x</p:attrName>
                                        </p:attrNameLst>
                                      </p:cBhvr>
                                      <p:tavLst>
                                        <p:tav tm="0">
                                          <p:val>
                                            <p:strVal val="#ppt_x"/>
                                          </p:val>
                                        </p:tav>
                                        <p:tav tm="100000">
                                          <p:val>
                                            <p:strVal val="#ppt_x"/>
                                          </p:val>
                                        </p:tav>
                                      </p:tavLst>
                                    </p:anim>
                                    <p:anim calcmode="lin" valueType="num">
                                      <p:cBhvr>
                                        <p:cTn id="54" dur="600" decel="100000" fill="hold"/>
                                        <p:tgtEl>
                                          <p:spTgt spid="13"/>
                                        </p:tgtEl>
                                        <p:attrNameLst>
                                          <p:attrName>ppt_y</p:attrName>
                                        </p:attrNameLst>
                                      </p:cBhvr>
                                      <p:tavLst>
                                        <p:tav tm="0">
                                          <p:val>
                                            <p:strVal val="#ppt_y+.08"/>
                                          </p:val>
                                        </p:tav>
                                        <p:tav tm="100000">
                                          <p:val>
                                            <p:strVal val="#ppt_y"/>
                                          </p:val>
                                        </p:tav>
                                      </p:tavLst>
                                    </p:anim>
                                  </p:childTnLst>
                                </p:cTn>
                              </p:par>
                              <p:par>
                                <p:cTn id="60" presetID="42" presetClass="entr" presetSubtype="0" fill="hold" grpId="0" nodeType="withEffect">
                                  <p:stCondLst>
                                    <p:cond delay="120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p:cTn id="58" dur="600" decel="100000" fill="hold"/>
                                        <p:tgtEl>
                                          <p:spTgt spid="14"/>
                                        </p:tgtEl>
                                        <p:attrNameLst>
                                          <p:attrName>ppt_x</p:attrName>
                                        </p:attrNameLst>
                                      </p:cBhvr>
                                      <p:tavLst>
                                        <p:tav tm="0">
                                          <p:val>
                                            <p:strVal val="#ppt_x"/>
                                          </p:val>
                                        </p:tav>
                                        <p:tav tm="100000">
                                          <p:val>
                                            <p:strVal val="#ppt_x"/>
                                          </p:val>
                                        </p:tav>
                                      </p:tavLst>
                                    </p:anim>
                                    <p:anim calcmode="lin" valueType="num">
                                      <p:cBhvr>
                                        <p:cTn id="59" dur="600" decel="100000" fill="hold"/>
                                        <p:tgtEl>
                                          <p:spTgt spid="14"/>
                                        </p:tgtEl>
                                        <p:attrNameLst>
                                          <p:attrName>ppt_y</p:attrName>
                                        </p:attrNameLst>
                                      </p:cBhvr>
                                      <p:tavLst>
                                        <p:tav tm="0">
                                          <p:val>
                                            <p:strVal val="#ppt_y+.08"/>
                                          </p:val>
                                        </p:tav>
                                        <p:tav tm="100000">
                                          <p:val>
                                            <p:strVal val="#ppt_y"/>
                                          </p:val>
                                        </p:tav>
                                      </p:tavLst>
                                    </p:anim>
                                  </p:childTnLst>
                                </p:cTn>
                              </p:par>
                              <p:par>
                                <p:cTn id="65" presetID="42" presetClass="entr" presetSubtype="0" fill="hold" grpId="0" nodeType="withEffect">
                                  <p:stCondLst>
                                    <p:cond delay="140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600"/>
                                        <p:tgtEl>
                                          <p:spTgt spid="15"/>
                                        </p:tgtEl>
                                      </p:cBhvr>
                                    </p:animEffect>
                                    <p:anim calcmode="lin" valueType="num">
                                      <p:cBhvr>
                                        <p:cTn id="63" dur="600" decel="100000" fill="hold"/>
                                        <p:tgtEl>
                                          <p:spTgt spid="15"/>
                                        </p:tgtEl>
                                        <p:attrNameLst>
                                          <p:attrName>ppt_x</p:attrName>
                                        </p:attrNameLst>
                                      </p:cBhvr>
                                      <p:tavLst>
                                        <p:tav tm="0">
                                          <p:val>
                                            <p:strVal val="#ppt_x"/>
                                          </p:val>
                                        </p:tav>
                                        <p:tav tm="100000">
                                          <p:val>
                                            <p:strVal val="#ppt_x"/>
                                          </p:val>
                                        </p:tav>
                                      </p:tavLst>
                                    </p:anim>
                                    <p:anim calcmode="lin" valueType="num">
                                      <p:cBhvr>
                                        <p:cTn id="64" dur="600" decel="100000" fill="hold"/>
                                        <p:tgtEl>
                                          <p:spTgt spid="15"/>
                                        </p:tgtEl>
                                        <p:attrNameLst>
                                          <p:attrName>ppt_y</p:attrName>
                                        </p:attrNameLst>
                                      </p:cBhvr>
                                      <p:tavLst>
                                        <p:tav tm="0">
                                          <p:val>
                                            <p:strVal val="#ppt_y+.08"/>
                                          </p:val>
                                        </p:tav>
                                        <p:tav tm="100000">
                                          <p:val>
                                            <p:strVal val="#ppt_y"/>
                                          </p:val>
                                        </p:tav>
                                      </p:tavLst>
                                    </p:anim>
                                  </p:childTnLst>
                                </p:cTn>
                              </p:par>
                              <p:par>
                                <p:cTn id="70" presetID="42" presetClass="entr" presetSubtype="0" fill="hold" grpId="0" nodeType="withEffect">
                                  <p:stCondLst>
                                    <p:cond delay="140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600"/>
                                        <p:tgtEl>
                                          <p:spTgt spid="16"/>
                                        </p:tgtEl>
                                      </p:cBhvr>
                                    </p:animEffect>
                                    <p:anim calcmode="lin" valueType="num">
                                      <p:cBhvr>
                                        <p:cTn id="68" dur="600" decel="100000" fill="hold"/>
                                        <p:tgtEl>
                                          <p:spTgt spid="16"/>
                                        </p:tgtEl>
                                        <p:attrNameLst>
                                          <p:attrName>ppt_x</p:attrName>
                                        </p:attrNameLst>
                                      </p:cBhvr>
                                      <p:tavLst>
                                        <p:tav tm="0">
                                          <p:val>
                                            <p:strVal val="#ppt_x"/>
                                          </p:val>
                                        </p:tav>
                                        <p:tav tm="100000">
                                          <p:val>
                                            <p:strVal val="#ppt_x"/>
                                          </p:val>
                                        </p:tav>
                                      </p:tavLst>
                                    </p:anim>
                                    <p:anim calcmode="lin" valueType="num">
                                      <p:cBhvr>
                                        <p:cTn id="69" dur="600" decel="100000" fill="hold"/>
                                        <p:tgtEl>
                                          <p:spTgt spid="16"/>
                                        </p:tgtEl>
                                        <p:attrNameLst>
                                          <p:attrName>ppt_y</p:attrName>
                                        </p:attrNameLst>
                                      </p:cBhvr>
                                      <p:tavLst>
                                        <p:tav tm="0">
                                          <p:val>
                                            <p:strVal val="#ppt_y+.08"/>
                                          </p:val>
                                        </p:tav>
                                        <p:tav tm="100000">
                                          <p:val>
                                            <p:strVal val="#ppt_y"/>
                                          </p:val>
                                        </p:tav>
                                      </p:tavLst>
                                    </p:anim>
                                  </p:childTnLst>
                                </p:cTn>
                              </p:par>
                              <p:par>
                                <p:cTn id="75" presetID="42" presetClass="entr" presetSubtype="0" fill="hold" grpId="0" nodeType="withEffect">
                                  <p:stCondLst>
                                    <p:cond delay="140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600"/>
                                        <p:tgtEl>
                                          <p:spTgt spid="17"/>
                                        </p:tgtEl>
                                      </p:cBhvr>
                                    </p:animEffect>
                                    <p:anim calcmode="lin" valueType="num">
                                      <p:cBhvr>
                                        <p:cTn id="73" dur="600" decel="100000" fill="hold"/>
                                        <p:tgtEl>
                                          <p:spTgt spid="17"/>
                                        </p:tgtEl>
                                        <p:attrNameLst>
                                          <p:attrName>ppt_x</p:attrName>
                                        </p:attrNameLst>
                                      </p:cBhvr>
                                      <p:tavLst>
                                        <p:tav tm="0">
                                          <p:val>
                                            <p:strVal val="#ppt_x"/>
                                          </p:val>
                                        </p:tav>
                                        <p:tav tm="100000">
                                          <p:val>
                                            <p:strVal val="#ppt_x"/>
                                          </p:val>
                                        </p:tav>
                                      </p:tavLst>
                                    </p:anim>
                                    <p:anim calcmode="lin" valueType="num">
                                      <p:cBhvr>
                                        <p:cTn id="74" dur="600" decel="100000" fill="hold"/>
                                        <p:tgtEl>
                                          <p:spTgt spid="17"/>
                                        </p:tgtEl>
                                        <p:attrNameLst>
                                          <p:attrName>ppt_y</p:attrName>
                                        </p:attrNameLst>
                                      </p:cBhvr>
                                      <p:tavLst>
                                        <p:tav tm="0">
                                          <p:val>
                                            <p:strVal val="#ppt_y+.08"/>
                                          </p:val>
                                        </p:tav>
                                        <p:tav tm="100000">
                                          <p:val>
                                            <p:strVal val="#ppt_y"/>
                                          </p:val>
                                        </p:tav>
                                      </p:tavLst>
                                    </p:anim>
                                  </p:childTnLst>
                                </p:cTn>
                              </p:par>
                              <p:par>
                                <p:cTn id="80" presetID="42" presetClass="entr" presetSubtype="0" fill="hold" grpId="0" nodeType="withEffect">
                                  <p:stCondLst>
                                    <p:cond delay="160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600"/>
                                        <p:tgtEl>
                                          <p:spTgt spid="18"/>
                                        </p:tgtEl>
                                      </p:cBhvr>
                                    </p:animEffect>
                                    <p:anim calcmode="lin" valueType="num">
                                      <p:cBhvr>
                                        <p:cTn id="78" dur="600" decel="100000" fill="hold"/>
                                        <p:tgtEl>
                                          <p:spTgt spid="18"/>
                                        </p:tgtEl>
                                        <p:attrNameLst>
                                          <p:attrName>ppt_x</p:attrName>
                                        </p:attrNameLst>
                                      </p:cBhvr>
                                      <p:tavLst>
                                        <p:tav tm="0">
                                          <p:val>
                                            <p:strVal val="#ppt_x"/>
                                          </p:val>
                                        </p:tav>
                                        <p:tav tm="100000">
                                          <p:val>
                                            <p:strVal val="#ppt_x"/>
                                          </p:val>
                                        </p:tav>
                                      </p:tavLst>
                                    </p:anim>
                                    <p:anim calcmode="lin" valueType="num">
                                      <p:cBhvr>
                                        <p:cTn id="79" dur="600" decel="100000" fill="hold"/>
                                        <p:tgtEl>
                                          <p:spTgt spid="18"/>
                                        </p:tgtEl>
                                        <p:attrNameLst>
                                          <p:attrName>ppt_y</p:attrName>
                                        </p:attrNameLst>
                                      </p:cBhvr>
                                      <p:tavLst>
                                        <p:tav tm="0">
                                          <p:val>
                                            <p:strVal val="#ppt_y+.08"/>
                                          </p:val>
                                        </p:tav>
                                        <p:tav tm="100000">
                                          <p:val>
                                            <p:strVal val="#ppt_y"/>
                                          </p:val>
                                        </p:tav>
                                      </p:tavLst>
                                    </p:anim>
                                  </p:childTnLst>
                                </p:cTn>
                              </p:par>
                              <p:par>
                                <p:cTn id="85" presetID="42" presetClass="entr" presetSubtype="0" fill="hold" grpId="0" nodeType="withEffect">
                                  <p:stCondLst>
                                    <p:cond delay="160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600"/>
                                        <p:tgtEl>
                                          <p:spTgt spid="19"/>
                                        </p:tgtEl>
                                      </p:cBhvr>
                                    </p:animEffect>
                                    <p:anim calcmode="lin" valueType="num">
                                      <p:cBhvr>
                                        <p:cTn id="83" dur="600" decel="100000" fill="hold"/>
                                        <p:tgtEl>
                                          <p:spTgt spid="19"/>
                                        </p:tgtEl>
                                        <p:attrNameLst>
                                          <p:attrName>ppt_x</p:attrName>
                                        </p:attrNameLst>
                                      </p:cBhvr>
                                      <p:tavLst>
                                        <p:tav tm="0">
                                          <p:val>
                                            <p:strVal val="#ppt_x"/>
                                          </p:val>
                                        </p:tav>
                                        <p:tav tm="100000">
                                          <p:val>
                                            <p:strVal val="#ppt_x"/>
                                          </p:val>
                                        </p:tav>
                                      </p:tavLst>
                                    </p:anim>
                                    <p:anim calcmode="lin" valueType="num">
                                      <p:cBhvr>
                                        <p:cTn id="84" dur="600" decel="100000" fill="hold"/>
                                        <p:tgtEl>
                                          <p:spTgt spid="19"/>
                                        </p:tgtEl>
                                        <p:attrNameLst>
                                          <p:attrName>ppt_y</p:attrName>
                                        </p:attrNameLst>
                                      </p:cBhvr>
                                      <p:tavLst>
                                        <p:tav tm="0">
                                          <p:val>
                                            <p:strVal val="#ppt_y+.08"/>
                                          </p:val>
                                        </p:tav>
                                        <p:tav tm="100000">
                                          <p:val>
                                            <p:strVal val="#ppt_y"/>
                                          </p:val>
                                        </p:tav>
                                      </p:tavLst>
                                    </p:anim>
                                  </p:childTnLst>
                                </p:cTn>
                              </p:par>
                              <p:par>
                                <p:cTn id="90" presetID="42" presetClass="entr" presetSubtype="0" fill="hold" grpId="0" nodeType="withEffect">
                                  <p:stCondLst>
                                    <p:cond delay="160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600"/>
                                        <p:tgtEl>
                                          <p:spTgt spid="20"/>
                                        </p:tgtEl>
                                      </p:cBhvr>
                                    </p:animEffect>
                                    <p:anim calcmode="lin" valueType="num">
                                      <p:cBhvr>
                                        <p:cTn id="88" dur="600" decel="100000" fill="hold"/>
                                        <p:tgtEl>
                                          <p:spTgt spid="20"/>
                                        </p:tgtEl>
                                        <p:attrNameLst>
                                          <p:attrName>ppt_x</p:attrName>
                                        </p:attrNameLst>
                                      </p:cBhvr>
                                      <p:tavLst>
                                        <p:tav tm="0">
                                          <p:val>
                                            <p:strVal val="#ppt_x"/>
                                          </p:val>
                                        </p:tav>
                                        <p:tav tm="100000">
                                          <p:val>
                                            <p:strVal val="#ppt_x"/>
                                          </p:val>
                                        </p:tav>
                                      </p:tavLst>
                                    </p:anim>
                                    <p:anim calcmode="lin" valueType="num">
                                      <p:cBhvr>
                                        <p:cTn id="89" dur="600" decel="100000" fill="hold"/>
                                        <p:tgtEl>
                                          <p:spTgt spid="20"/>
                                        </p:tgtEl>
                                        <p:attrNameLst>
                                          <p:attrName>ppt_y</p:attrName>
                                        </p:attrNameLst>
                                      </p:cBhvr>
                                      <p:tavLst>
                                        <p:tav tm="0">
                                          <p:val>
                                            <p:strVal val="#ppt_y+.08"/>
                                          </p:val>
                                        </p:tav>
                                        <p:tav tm="100000">
                                          <p:val>
                                            <p:strVal val="#ppt_y"/>
                                          </p:val>
                                        </p:tav>
                                      </p:tavLst>
                                    </p:anim>
                                  </p:childTnLst>
                                </p:cTn>
                              </p:par>
                              <p:par>
                                <p:cTn id="93" presetID="10" presetClass="entr" presetSubtype="0" fill="hold" grpId="0" nodeType="withEffect">
                                  <p:stCondLst>
                                    <p:cond delay="180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par>
                                <p:cTn id="96" presetID="10" presetClass="entr" presetSubtype="0" fill="hold" grpId="0" nodeType="withEffect">
                                  <p:stCondLst>
                                    <p:cond delay="2000"/>
                                  </p:stCondLst>
                                  <p:childTnLst>
                                    <p:set>
                                      <p:cBhvr>
                                        <p:cTn id="94" dur="1" fill="hold">
                                          <p:stCondLst>
                                            <p:cond delay="0"/>
                                          </p:stCondLst>
                                        </p:cTn>
                                        <p:tgtEl>
                                          <p:spTgt spid="25"/>
                                        </p:tgtEl>
                                        <p:attrNameLst>
                                          <p:attrName>style.visibility</p:attrName>
                                        </p:attrNameLst>
                                      </p:cBhvr>
                                      <p:to>
                                        <p:strVal val="visible"/>
                                      </p:to>
                                    </p:set>
                                    <p:animEffect transition="in" filter="fade">
                                      <p:cBhvr>
                                        <p:cTn id="9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0" grpId="0" animBg="1"/>
      <p:bldP spid="11" grpId="0" animBg="1"/>
      <p:bldP spid="13" grpId="0" animBg="1"/>
      <p:bldP spid="14" grpId="0" animBg="1"/>
      <p:bldP spid="16" grpId="0" animBg="1"/>
      <p:bldP spid="17" grpId="0" animBg="1"/>
      <p:bldP spid="19" grpId="0" animBg="1"/>
      <p:bldP spid="20" grpId="0" animBg="1"/>
      <p:bldP spid="21"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From order to connection</a:t>
            </a:r>
            <a:endParaRPr lang="en-US" sz="3200" dirty="0"/>
          </a:p>
        </p:txBody>
      </p:sp>
      <p:sp>
        <p:nvSpPr>
          <p:cNvPr id="3" name="a-zoom-life"/>
          <p:cNvSpPr/>
          <p:nvPr/>
        </p:nvSpPr>
        <p:spPr>
          <a:xfrm>
            <a:off x="493776" y="1316736"/>
            <a:ext cx="11173968" cy="2697480"/>
          </a:xfrm>
          <a:prstGeom prst="roundRect">
            <a:avLst>
              <a:gd name="adj" fmla="val 271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4" name="a-zoom-w-life-img" descr="/tmp/claude-0/-home-user-done/4a4296a4-6fd8-5cee-98c2-5de0aee80c99/scratchpad/docs/img/order-lifecycle.png">    </p:cNvPr>
          <p:cNvPicPr>
            <a:picLocks noChangeAspect="1"/>
          </p:cNvPicPr>
          <p:nvPr/>
        </p:nvPicPr>
        <p:blipFill>
          <a:blip r:embed="rId1"/>
          <a:stretch>
            <a:fillRect/>
          </a:stretch>
        </p:blipFill>
        <p:spPr>
          <a:xfrm>
            <a:off x="548640" y="1371600"/>
            <a:ext cx="11064240" cy="2587752"/>
          </a:xfrm>
          <a:prstGeom prst="rect">
            <a:avLst/>
          </a:prstGeom>
        </p:spPr>
      </p:pic>
      <p:sp>
        <p:nvSpPr>
          <p:cNvPr id="5" name="a-up-ls0"/>
          <p:cNvSpPr/>
          <p:nvPr/>
        </p:nvSpPr>
        <p:spPr>
          <a:xfrm>
            <a:off x="548640" y="4343400"/>
            <a:ext cx="2606040" cy="1783080"/>
          </a:xfrm>
          <a:prstGeom prst="roundRect">
            <a:avLst>
              <a:gd name="adj" fmla="val 6154"/>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6" name="a-up-w-li0"/>
          <p:cNvSpPr/>
          <p:nvPr/>
        </p:nvSpPr>
        <p:spPr>
          <a:xfrm>
            <a:off x="777240" y="4553712"/>
            <a:ext cx="548640" cy="548640"/>
          </a:xfrm>
          <a:prstGeom prst="ellipse">
            <a:avLst/>
          </a:prstGeom>
          <a:solidFill>
            <a:schemeClr val="accent1"/>
          </a:solidFill>
          <a:ln/>
        </p:spPr>
      </p:sp>
      <p:pic>
        <p:nvPicPr>
          <p:cNvPr id="7" name="a-up-w-w-li0-i" descr="/tmp/claude-0/-home-user-done/4a4296a4-6fd8-5cee-98c2-5de0aee80c99/scratchpad/docs/img/icons/store-w.png">    </p:cNvPr>
          <p:cNvPicPr>
            <a:picLocks noChangeAspect="1"/>
          </p:cNvPicPr>
          <p:nvPr/>
        </p:nvPicPr>
        <p:blipFill>
          <a:blip r:embed="rId2"/>
          <a:stretch>
            <a:fillRect/>
          </a:stretch>
        </p:blipFill>
        <p:spPr>
          <a:xfrm>
            <a:off x="914400" y="4690872"/>
            <a:ext cx="274320" cy="274320"/>
          </a:xfrm>
          <a:prstGeom prst="rect">
            <a:avLst/>
          </a:prstGeom>
        </p:spPr>
      </p:pic>
      <p:sp>
        <p:nvSpPr>
          <p:cNvPr id="8" name="a-up-w-lt0"/>
          <p:cNvSpPr txBox="1"/>
          <p:nvPr/>
        </p:nvSpPr>
        <p:spPr>
          <a:xfrm>
            <a:off x="1463040" y="4617720"/>
            <a:ext cx="1600200" cy="411480"/>
          </a:xfrm>
          <a:prstGeom prst="rect">
            <a:avLst/>
          </a:prstGeom>
          <a:noFill/>
          <a:ln/>
        </p:spPr>
        <p:txBody>
          <a:bodyPr wrap="square" lIns="0" tIns="0" rIns="0" bIns="0" rtlCol="0" anchor="t"/>
          <a:lstStyle/>
          <a:p>
            <a:pPr indent="0" marL="0">
              <a:buNone/>
            </a:pPr>
            <a:r>
              <a:rPr lang="en-US" sz="1600" b="1" dirty="0">
                <a:solidFill>
                  <a:schemeClr val="tx2"/>
                </a:solidFill>
              </a:rPr>
              <a:t>Order</a:t>
            </a:r>
            <a:endParaRPr lang="en-US" sz="1600" dirty="0"/>
          </a:p>
        </p:txBody>
      </p:sp>
      <p:sp>
        <p:nvSpPr>
          <p:cNvPr id="9" name="a-up-w-ld0"/>
          <p:cNvSpPr txBox="1"/>
          <p:nvPr/>
        </p:nvSpPr>
        <p:spPr>
          <a:xfrm>
            <a:off x="777240" y="5212080"/>
            <a:ext cx="2194560" cy="868680"/>
          </a:xfrm>
          <a:prstGeom prst="rect">
            <a:avLst/>
          </a:prstGeom>
          <a:noFill/>
          <a:ln/>
        </p:spPr>
        <p:txBody>
          <a:bodyPr wrap="square" lIns="0" tIns="0" rIns="0" bIns="0" rtlCol="0" anchor="t"/>
          <a:lstStyle/>
          <a:p>
            <a:pPr indent="0" marL="0">
              <a:buNone/>
            </a:pPr>
            <a:r>
              <a:rPr lang="en-US" sz="1250" dirty="0">
                <a:solidFill>
                  <a:schemeClr val="accent6"/>
                </a:solidFill>
              </a:rPr>
              <a:t>Retail or customer; bulk band counts all the customer's connections</a:t>
            </a:r>
            <a:endParaRPr lang="en-US" sz="1250" dirty="0"/>
          </a:p>
        </p:txBody>
      </p:sp>
      <p:sp>
        <p:nvSpPr>
          <p:cNvPr id="10" name="a-up-ls1"/>
          <p:cNvSpPr/>
          <p:nvPr/>
        </p:nvSpPr>
        <p:spPr>
          <a:xfrm>
            <a:off x="3383280" y="4343400"/>
            <a:ext cx="2606040" cy="1783080"/>
          </a:xfrm>
          <a:prstGeom prst="roundRect">
            <a:avLst>
              <a:gd name="adj" fmla="val 6154"/>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1" name="a-up-w-li1"/>
          <p:cNvSpPr/>
          <p:nvPr/>
        </p:nvSpPr>
        <p:spPr>
          <a:xfrm>
            <a:off x="3611880" y="4553712"/>
            <a:ext cx="548640" cy="548640"/>
          </a:xfrm>
          <a:prstGeom prst="ellipse">
            <a:avLst/>
          </a:prstGeom>
          <a:solidFill>
            <a:schemeClr val="accent1"/>
          </a:solidFill>
          <a:ln/>
        </p:spPr>
      </p:sp>
      <p:pic>
        <p:nvPicPr>
          <p:cNvPr id="12" name="a-up-w-w-li1-i" descr="/tmp/claude-0/-home-user-done/4a4296a4-6fd8-5cee-98c2-5de0aee80c99/scratchpad/docs/img/icons/search-w.png">    </p:cNvPr>
          <p:cNvPicPr>
            <a:picLocks noChangeAspect="1"/>
          </p:cNvPicPr>
          <p:nvPr/>
        </p:nvPicPr>
        <p:blipFill>
          <a:blip r:embed="rId3"/>
          <a:stretch>
            <a:fillRect/>
          </a:stretch>
        </p:blipFill>
        <p:spPr>
          <a:xfrm>
            <a:off x="3749040" y="4690872"/>
            <a:ext cx="274320" cy="274320"/>
          </a:xfrm>
          <a:prstGeom prst="rect">
            <a:avLst/>
          </a:prstGeom>
        </p:spPr>
      </p:pic>
      <p:sp>
        <p:nvSpPr>
          <p:cNvPr id="13" name="a-up-w-lt1"/>
          <p:cNvSpPr txBox="1"/>
          <p:nvPr/>
        </p:nvSpPr>
        <p:spPr>
          <a:xfrm>
            <a:off x="4297680" y="4617720"/>
            <a:ext cx="1600200" cy="411480"/>
          </a:xfrm>
          <a:prstGeom prst="rect">
            <a:avLst/>
          </a:prstGeom>
          <a:noFill/>
          <a:ln/>
        </p:spPr>
        <p:txBody>
          <a:bodyPr wrap="square" lIns="0" tIns="0" rIns="0" bIns="0" rtlCol="0" anchor="t"/>
          <a:lstStyle/>
          <a:p>
            <a:pPr indent="0" marL="0">
              <a:buNone/>
            </a:pPr>
            <a:r>
              <a:rPr lang="en-US" sz="1600" b="1" dirty="0">
                <a:solidFill>
                  <a:schemeClr val="tx2"/>
                </a:solidFill>
              </a:rPr>
              <a:t>Feasibility</a:t>
            </a:r>
            <a:endParaRPr lang="en-US" sz="1600" dirty="0"/>
          </a:p>
        </p:txBody>
      </p:sp>
      <p:sp>
        <p:nvSpPr>
          <p:cNvPr id="14" name="a-up-w-ld1"/>
          <p:cNvSpPr txBox="1"/>
          <p:nvPr/>
        </p:nvSpPr>
        <p:spPr>
          <a:xfrm>
            <a:off x="3611880" y="5212080"/>
            <a:ext cx="2194560" cy="868680"/>
          </a:xfrm>
          <a:prstGeom prst="rect">
            <a:avLst/>
          </a:prstGeom>
          <a:noFill/>
          <a:ln/>
        </p:spPr>
        <p:txBody>
          <a:bodyPr wrap="square" lIns="0" tIns="0" rIns="0" bIns="0" rtlCol="0" anchor="t"/>
          <a:lstStyle/>
          <a:p>
            <a:pPr indent="0" marL="0">
              <a:buNone/>
            </a:pPr>
            <a:r>
              <a:rPr lang="en-US" sz="1250" dirty="0">
                <a:solidFill>
                  <a:schemeClr val="accent6"/>
                </a:solidFill>
              </a:rPr>
              <a:t>Landline and / or internet check: distance and server capacity</a:t>
            </a:r>
            <a:endParaRPr lang="en-US" sz="1250" dirty="0"/>
          </a:p>
        </p:txBody>
      </p:sp>
      <p:sp>
        <p:nvSpPr>
          <p:cNvPr id="15" name="a-up-ls2"/>
          <p:cNvSpPr/>
          <p:nvPr/>
        </p:nvSpPr>
        <p:spPr>
          <a:xfrm>
            <a:off x="6217920" y="4343400"/>
            <a:ext cx="2606040" cy="1783080"/>
          </a:xfrm>
          <a:prstGeom prst="roundRect">
            <a:avLst>
              <a:gd name="adj" fmla="val 6154"/>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6" name="a-up-w-li2"/>
          <p:cNvSpPr/>
          <p:nvPr/>
        </p:nvSpPr>
        <p:spPr>
          <a:xfrm>
            <a:off x="6446520" y="4553712"/>
            <a:ext cx="548640" cy="548640"/>
          </a:xfrm>
          <a:prstGeom prst="ellipse">
            <a:avLst/>
          </a:prstGeom>
          <a:solidFill>
            <a:schemeClr val="accent1"/>
          </a:solidFill>
          <a:ln/>
        </p:spPr>
      </p:sp>
      <p:pic>
        <p:nvPicPr>
          <p:cNvPr id="17" name="a-up-w-w-li2-i" descr="/tmp/claude-0/-home-user-done/4a4296a4-6fd8-5cee-98c2-5de0aee80c99/scratchpad/docs/img/icons/wifi-w.png">    </p:cNvPr>
          <p:cNvPicPr>
            <a:picLocks noChangeAspect="1"/>
          </p:cNvPicPr>
          <p:nvPr/>
        </p:nvPicPr>
        <p:blipFill>
          <a:blip r:embed="rId4"/>
          <a:stretch>
            <a:fillRect/>
          </a:stretch>
        </p:blipFill>
        <p:spPr>
          <a:xfrm>
            <a:off x="6583680" y="4690872"/>
            <a:ext cx="274320" cy="274320"/>
          </a:xfrm>
          <a:prstGeom prst="rect">
            <a:avLst/>
          </a:prstGeom>
        </p:spPr>
      </p:pic>
      <p:sp>
        <p:nvSpPr>
          <p:cNvPr id="18" name="a-up-w-lt2"/>
          <p:cNvSpPr txBox="1"/>
          <p:nvPr/>
        </p:nvSpPr>
        <p:spPr>
          <a:xfrm>
            <a:off x="7132320" y="4617720"/>
            <a:ext cx="1600200" cy="411480"/>
          </a:xfrm>
          <a:prstGeom prst="rect">
            <a:avLst/>
          </a:prstGeom>
          <a:noFill/>
          <a:ln/>
        </p:spPr>
        <p:txBody>
          <a:bodyPr wrap="square" lIns="0" tIns="0" rIns="0" bIns="0" rtlCol="0" anchor="t"/>
          <a:lstStyle/>
          <a:p>
            <a:pPr indent="0" marL="0">
              <a:buNone/>
            </a:pPr>
            <a:r>
              <a:rPr lang="en-US" sz="1600" b="1" dirty="0">
                <a:solidFill>
                  <a:schemeClr val="tx2"/>
                </a:solidFill>
              </a:rPr>
              <a:t>Connection</a:t>
            </a:r>
            <a:endParaRPr lang="en-US" sz="1600" dirty="0"/>
          </a:p>
        </p:txBody>
      </p:sp>
      <p:sp>
        <p:nvSpPr>
          <p:cNvPr id="19" name="a-up-w-ld2"/>
          <p:cNvSpPr txBox="1"/>
          <p:nvPr/>
        </p:nvSpPr>
        <p:spPr>
          <a:xfrm>
            <a:off x="6446520" y="5212080"/>
            <a:ext cx="2194560" cy="868680"/>
          </a:xfrm>
          <a:prstGeom prst="rect">
            <a:avLst/>
          </a:prstGeom>
          <a:noFill/>
          <a:ln/>
        </p:spPr>
        <p:txBody>
          <a:bodyPr wrap="square" lIns="0" tIns="0" rIns="0" bIns="0" rtlCol="0" anchor="t"/>
          <a:lstStyle/>
          <a:p>
            <a:pPr indent="0" marL="0">
              <a:buNone/>
            </a:pPr>
            <a:r>
              <a:rPr lang="en-US" sz="1250" dirty="0">
                <a:solidFill>
                  <a:schemeClr val="accent6"/>
                </a:solidFill>
              </a:rPr>
              <a:t>Equipment from stock, deposit after discount, account ID created</a:t>
            </a:r>
            <a:endParaRPr lang="en-US" sz="1250" dirty="0"/>
          </a:p>
        </p:txBody>
      </p:sp>
      <p:sp>
        <p:nvSpPr>
          <p:cNvPr id="20" name="a-up-ls3"/>
          <p:cNvSpPr/>
          <p:nvPr/>
        </p:nvSpPr>
        <p:spPr>
          <a:xfrm>
            <a:off x="9052560" y="4343400"/>
            <a:ext cx="2606040" cy="1783080"/>
          </a:xfrm>
          <a:prstGeom prst="roundRect">
            <a:avLst>
              <a:gd name="adj" fmla="val 6154"/>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21" name="a-up-w-li3"/>
          <p:cNvSpPr/>
          <p:nvPr/>
        </p:nvSpPr>
        <p:spPr>
          <a:xfrm>
            <a:off x="9281160" y="4553712"/>
            <a:ext cx="548640" cy="548640"/>
          </a:xfrm>
          <a:prstGeom prst="ellipse">
            <a:avLst/>
          </a:prstGeom>
          <a:solidFill>
            <a:schemeClr val="accent2"/>
          </a:solidFill>
          <a:ln/>
        </p:spPr>
      </p:sp>
      <p:pic>
        <p:nvPicPr>
          <p:cNvPr id="22" name="a-up-w-w-li3-i" descr="/tmp/claude-0/-home-user-done/4a4296a4-6fd8-5cee-98c2-5de0aee80c99/scratchpad/docs/img/icons/phone-w.png">    </p:cNvPr>
          <p:cNvPicPr>
            <a:picLocks noChangeAspect="1"/>
          </p:cNvPicPr>
          <p:nvPr/>
        </p:nvPicPr>
        <p:blipFill>
          <a:blip r:embed="rId5"/>
          <a:stretch>
            <a:fillRect/>
          </a:stretch>
        </p:blipFill>
        <p:spPr>
          <a:xfrm>
            <a:off x="9418320" y="4690872"/>
            <a:ext cx="274320" cy="274320"/>
          </a:xfrm>
          <a:prstGeom prst="rect">
            <a:avLst/>
          </a:prstGeom>
        </p:spPr>
      </p:pic>
      <p:sp>
        <p:nvSpPr>
          <p:cNvPr id="23" name="a-up-w-lt3"/>
          <p:cNvSpPr txBox="1"/>
          <p:nvPr/>
        </p:nvSpPr>
        <p:spPr>
          <a:xfrm>
            <a:off x="9966960" y="4617720"/>
            <a:ext cx="1600200" cy="411480"/>
          </a:xfrm>
          <a:prstGeom prst="rect">
            <a:avLst/>
          </a:prstGeom>
          <a:noFill/>
          <a:ln/>
        </p:spPr>
        <p:txBody>
          <a:bodyPr wrap="square" lIns="0" tIns="0" rIns="0" bIns="0" rtlCol="0" anchor="t"/>
          <a:lstStyle/>
          <a:p>
            <a:pPr indent="0" marL="0">
              <a:buNone/>
            </a:pPr>
            <a:r>
              <a:rPr lang="en-US" sz="1600" b="1" dirty="0">
                <a:solidFill>
                  <a:schemeClr val="tx2"/>
                </a:solidFill>
              </a:rPr>
              <a:t>Bundled line</a:t>
            </a:r>
            <a:endParaRPr lang="en-US" sz="1600" dirty="0"/>
          </a:p>
        </p:txBody>
      </p:sp>
      <p:sp>
        <p:nvSpPr>
          <p:cNvPr id="24" name="a-up-w-ld3"/>
          <p:cNvSpPr txBox="1"/>
          <p:nvPr/>
        </p:nvSpPr>
        <p:spPr>
          <a:xfrm>
            <a:off x="9281160" y="5212080"/>
            <a:ext cx="2194560" cy="868680"/>
          </a:xfrm>
          <a:prstGeom prst="rect">
            <a:avLst/>
          </a:prstGeom>
          <a:noFill/>
          <a:ln/>
        </p:spPr>
        <p:txBody>
          <a:bodyPr wrap="square" lIns="0" tIns="0" rIns="0" bIns="0" rtlCol="0" anchor="t"/>
          <a:lstStyle/>
          <a:p>
            <a:pPr indent="0" marL="0">
              <a:buNone/>
            </a:pPr>
            <a:r>
              <a:rPr lang="en-US" sz="1250" dirty="0">
                <a:solidFill>
                  <a:schemeClr val="accent6"/>
                </a:solidFill>
              </a:rPr>
              <a:t>Telephone line created first, dial-up linked to it</a:t>
            </a:r>
            <a:endParaRPr lang="en-US" sz="125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20"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53" presetClass="entr" presetSubtype="16"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 calcmode="lin" valueType="num">
                                      <p:cBhvr>
                                        <p:cTn id="9" dur="650" decel="100000" fill="hold"/>
                                        <p:tgtEl>
                                          <p:spTgt spid="3"/>
                                        </p:tgtEl>
                                        <p:attrNameLst>
                                          <p:attrName>ppt_w</p:attrName>
                                        </p:attrNameLst>
                                      </p:cBhvr>
                                      <p:tavLst>
                                        <p:tav tm="0">
                                          <p:val>
                                            <p:strVal val="#ppt_w*0.7"/>
                                          </p:val>
                                        </p:tav>
                                        <p:tav tm="100000">
                                          <p:val>
                                            <p:strVal val="#ppt_w"/>
                                          </p:val>
                                        </p:tav>
                                      </p:tavLst>
                                    </p:anim>
                                    <p:anim calcmode="lin" valueType="num">
                                      <p:cBhvr>
                                        <p:cTn id="10" dur="650" decel="100000" fill="hold"/>
                                        <p:tgtEl>
                                          <p:spTgt spid="3"/>
                                        </p:tgtEl>
                                        <p:attrNameLst>
                                          <p:attrName>ppt_h</p:attrName>
                                        </p:attrNameLst>
                                      </p:cBhvr>
                                      <p:tavLst>
                                        <p:tav tm="0">
                                          <p:val>
                                            <p:strVal val="#ppt_h*0.7"/>
                                          </p:val>
                                        </p:tav>
                                        <p:tav tm="100000">
                                          <p:val>
                                            <p:strVal val="#ppt_h"/>
                                          </p:val>
                                        </p:tav>
                                      </p:tavLst>
                                    </p:anim>
                                    <p:animEffect transition="in" filter="fade">
                                      <p:cBhvr>
                                        <p:cTn id="8" dur="650"/>
                                        <p:tgtEl>
                                          <p:spTgt spid="3"/>
                                        </p:tgtEl>
                                      </p:cBhvr>
                                    </p:animEffect>
                                  </p:childTnLst>
                                </p:cTn>
                              </p:par>
                              <p:par>
                                <p:cTn id="16" presetID="53" presetClass="entr" presetSubtype="16"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 calcmode="lin" valueType="num">
                                      <p:cBhvr>
                                        <p:cTn id="14" dur="650" decel="100000" fill="hold"/>
                                        <p:tgtEl>
                                          <p:spTgt spid="4"/>
                                        </p:tgtEl>
                                        <p:attrNameLst>
                                          <p:attrName>ppt_w</p:attrName>
                                        </p:attrNameLst>
                                      </p:cBhvr>
                                      <p:tavLst>
                                        <p:tav tm="0">
                                          <p:val>
                                            <p:strVal val="#ppt_w*0.7"/>
                                          </p:val>
                                        </p:tav>
                                        <p:tav tm="100000">
                                          <p:val>
                                            <p:strVal val="#ppt_w"/>
                                          </p:val>
                                        </p:tav>
                                      </p:tavLst>
                                    </p:anim>
                                    <p:anim calcmode="lin" valueType="num">
                                      <p:cBhvr>
                                        <p:cTn id="15" dur="650" decel="100000" fill="hold"/>
                                        <p:tgtEl>
                                          <p:spTgt spid="4"/>
                                        </p:tgtEl>
                                        <p:attrNameLst>
                                          <p:attrName>ppt_h</p:attrName>
                                        </p:attrNameLst>
                                      </p:cBhvr>
                                      <p:tavLst>
                                        <p:tav tm="0">
                                          <p:val>
                                            <p:strVal val="#ppt_h*0.7"/>
                                          </p:val>
                                        </p:tav>
                                        <p:tav tm="100000">
                                          <p:val>
                                            <p:strVal val="#ppt_h"/>
                                          </p:val>
                                        </p:tav>
                                      </p:tavLst>
                                    </p:anim>
                                    <p:animEffect transition="in" filter="fade">
                                      <p:cBhvr>
                                        <p:cTn id="13" dur="650"/>
                                        <p:tgtEl>
                                          <p:spTgt spid="4"/>
                                        </p:tgtEl>
                                      </p:cBhvr>
                                    </p:animEffect>
                                  </p:childTnLst>
                                </p:cTn>
                              </p:par>
                              <p:par>
                                <p:cTn id="21" presetID="42" presetClass="entr" presetSubtype="0" fill="hold" grpId="0" nodeType="withEffect">
                                  <p:stCondLst>
                                    <p:cond delay="4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
                                          </p:val>
                                        </p:tav>
                                        <p:tav tm="100000">
                                          <p:val>
                                            <p:strVal val="#ppt_x"/>
                                          </p:val>
                                        </p:tav>
                                      </p:tavLst>
                                    </p:anim>
                                    <p:anim calcmode="lin" valueType="num">
                                      <p:cBhvr>
                                        <p:cTn id="20" dur="600" decel="100000" fill="hold"/>
                                        <p:tgtEl>
                                          <p:spTgt spid="5"/>
                                        </p:tgtEl>
                                        <p:attrNameLst>
                                          <p:attrName>ppt_y</p:attrName>
                                        </p:attrNameLst>
                                      </p:cBhvr>
                                      <p:tavLst>
                                        <p:tav tm="0">
                                          <p:val>
                                            <p:strVal val="#ppt_y+.08"/>
                                          </p:val>
                                        </p:tav>
                                        <p:tav tm="100000">
                                          <p:val>
                                            <p:strVal val="#ppt_y"/>
                                          </p:val>
                                        </p:tav>
                                      </p:tavLst>
                                    </p:anim>
                                  </p:childTnLst>
                                </p:cTn>
                              </p:par>
                              <p:par>
                                <p:cTn id="26" presetID="42" presetClass="entr" presetSubtype="0"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
                                          </p:val>
                                        </p:tav>
                                        <p:tav tm="100000">
                                          <p:val>
                                            <p:strVal val="#ppt_x"/>
                                          </p:val>
                                        </p:tav>
                                      </p:tavLst>
                                    </p:anim>
                                    <p:anim calcmode="lin" valueType="num">
                                      <p:cBhvr>
                                        <p:cTn id="25" dur="600" decel="100000" fill="hold"/>
                                        <p:tgtEl>
                                          <p:spTgt spid="6"/>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4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
                                          </p:val>
                                        </p:tav>
                                        <p:tav tm="100000">
                                          <p:val>
                                            <p:strVal val="#ppt_x"/>
                                          </p:val>
                                        </p:tav>
                                      </p:tavLst>
                                    </p:anim>
                                    <p:anim calcmode="lin" valueType="num">
                                      <p:cBhvr>
                                        <p:cTn id="30" dur="600" decel="100000" fill="hold"/>
                                        <p:tgtEl>
                                          <p:spTgt spid="7"/>
                                        </p:tgtEl>
                                        <p:attrNameLst>
                                          <p:attrName>ppt_y</p:attrName>
                                        </p:attrNameLst>
                                      </p:cBhvr>
                                      <p:tavLst>
                                        <p:tav tm="0">
                                          <p:val>
                                            <p:strVal val="#ppt_y+.08"/>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
                                          </p:val>
                                        </p:tav>
                                        <p:tav tm="100000">
                                          <p:val>
                                            <p:strVal val="#ppt_x"/>
                                          </p:val>
                                        </p:tav>
                                      </p:tavLst>
                                    </p:anim>
                                    <p:anim calcmode="lin" valueType="num">
                                      <p:cBhvr>
                                        <p:cTn id="35" dur="600" decel="100000" fill="hold"/>
                                        <p:tgtEl>
                                          <p:spTgt spid="8"/>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4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
                                          </p:val>
                                        </p:tav>
                                        <p:tav tm="100000">
                                          <p:val>
                                            <p:strVal val="#ppt_x"/>
                                          </p:val>
                                        </p:tav>
                                      </p:tavLst>
                                    </p:anim>
                                    <p:anim calcmode="lin" valueType="num">
                                      <p:cBhvr>
                                        <p:cTn id="40" dur="600" decel="100000" fill="hold"/>
                                        <p:tgtEl>
                                          <p:spTgt spid="9"/>
                                        </p:tgtEl>
                                        <p:attrNameLst>
                                          <p:attrName>ppt_y</p:attrName>
                                        </p:attrNameLst>
                                      </p:cBhvr>
                                      <p:tavLst>
                                        <p:tav tm="0">
                                          <p:val>
                                            <p:strVal val="#ppt_y+.08"/>
                                          </p:val>
                                        </p:tav>
                                        <p:tav tm="100000">
                                          <p:val>
                                            <p:strVal val="#ppt_y"/>
                                          </p:val>
                                        </p:tav>
                                      </p:tavLst>
                                    </p:anim>
                                  </p:childTnLst>
                                </p:cTn>
                              </p:par>
                              <p:par>
                                <p:cTn id="46" presetID="42" presetClass="entr" presetSubtype="0" fill="hold" grpId="0" nodeType="withEffect">
                                  <p:stCondLst>
                                    <p:cond delay="6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
                                          </p:val>
                                        </p:tav>
                                        <p:tav tm="100000">
                                          <p:val>
                                            <p:strVal val="#ppt_x"/>
                                          </p:val>
                                        </p:tav>
                                      </p:tavLst>
                                    </p:anim>
                                    <p:anim calcmode="lin" valueType="num">
                                      <p:cBhvr>
                                        <p:cTn id="45" dur="600" decel="100000" fill="hold"/>
                                        <p:tgtEl>
                                          <p:spTgt spid="10"/>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6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
                                          </p:val>
                                        </p:tav>
                                        <p:tav tm="100000">
                                          <p:val>
                                            <p:strVal val="#ppt_x"/>
                                          </p:val>
                                        </p:tav>
                                      </p:tavLst>
                                    </p:anim>
                                    <p:anim calcmode="lin" valueType="num">
                                      <p:cBhvr>
                                        <p:cTn id="50" dur="600" decel="100000" fill="hold"/>
                                        <p:tgtEl>
                                          <p:spTgt spid="11"/>
                                        </p:tgtEl>
                                        <p:attrNameLst>
                                          <p:attrName>ppt_y</p:attrName>
                                        </p:attrNameLst>
                                      </p:cBhvr>
                                      <p:tavLst>
                                        <p:tav tm="0">
                                          <p:val>
                                            <p:strVal val="#ppt_y+.08"/>
                                          </p:val>
                                        </p:tav>
                                        <p:tav tm="100000">
                                          <p:val>
                                            <p:strVal val="#ppt_y"/>
                                          </p:val>
                                        </p:tav>
                                      </p:tavLst>
                                    </p:anim>
                                  </p:childTnLst>
                                </p:cTn>
                              </p:par>
                              <p:par>
                                <p:cTn id="56" presetID="42" presetClass="entr" presetSubtype="0" fill="hold" grpId="0" nodeType="withEffect">
                                  <p:stCondLst>
                                    <p:cond delay="6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
                                          </p:val>
                                        </p:tav>
                                        <p:tav tm="100000">
                                          <p:val>
                                            <p:strVal val="#ppt_x"/>
                                          </p:val>
                                        </p:tav>
                                      </p:tavLst>
                                    </p:anim>
                                    <p:anim calcmode="lin" valueType="num">
                                      <p:cBhvr>
                                        <p:cTn id="55" dur="600" decel="100000" fill="hold"/>
                                        <p:tgtEl>
                                          <p:spTgt spid="12"/>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6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
                                          </p:val>
                                        </p:tav>
                                        <p:tav tm="100000">
                                          <p:val>
                                            <p:strVal val="#ppt_x"/>
                                          </p:val>
                                        </p:tav>
                                      </p:tavLst>
                                    </p:anim>
                                    <p:anim calcmode="lin" valueType="num">
                                      <p:cBhvr>
                                        <p:cTn id="60" dur="600" decel="100000" fill="hold"/>
                                        <p:tgtEl>
                                          <p:spTgt spid="13"/>
                                        </p:tgtEl>
                                        <p:attrNameLst>
                                          <p:attrName>ppt_y</p:attrName>
                                        </p:attrNameLst>
                                      </p:cBhvr>
                                      <p:tavLst>
                                        <p:tav tm="0">
                                          <p:val>
                                            <p:strVal val="#ppt_y+.08"/>
                                          </p:val>
                                        </p:tav>
                                        <p:tav tm="100000">
                                          <p:val>
                                            <p:strVal val="#ppt_y"/>
                                          </p:val>
                                        </p:tav>
                                      </p:tavLst>
                                    </p:anim>
                                  </p:childTnLst>
                                </p:cTn>
                              </p:par>
                              <p:par>
                                <p:cTn id="66" presetID="42" presetClass="entr" presetSubtype="0" fill="hold" grpId="0" nodeType="withEffect">
                                  <p:stCondLst>
                                    <p:cond delay="6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
                                          </p:val>
                                        </p:tav>
                                        <p:tav tm="100000">
                                          <p:val>
                                            <p:strVal val="#ppt_x"/>
                                          </p:val>
                                        </p:tav>
                                      </p:tavLst>
                                    </p:anim>
                                    <p:anim calcmode="lin" valueType="num">
                                      <p:cBhvr>
                                        <p:cTn id="65" dur="600" decel="100000" fill="hold"/>
                                        <p:tgtEl>
                                          <p:spTgt spid="14"/>
                                        </p:tgtEl>
                                        <p:attrNameLst>
                                          <p:attrName>ppt_y</p:attrName>
                                        </p:attrNameLst>
                                      </p:cBhvr>
                                      <p:tavLst>
                                        <p:tav tm="0">
                                          <p:val>
                                            <p:strVal val="#ppt_y+.08"/>
                                          </p:val>
                                        </p:tav>
                                        <p:tav tm="100000">
                                          <p:val>
                                            <p:strVal val="#ppt_y"/>
                                          </p:val>
                                        </p:tav>
                                      </p:tavLst>
                                    </p:anim>
                                  </p:childTnLst>
                                </p:cTn>
                              </p:par>
                              <p:par>
                                <p:cTn id="71" presetID="42" presetClass="entr" presetSubtype="0" fill="hold" grpId="0" nodeType="withEffect">
                                  <p:stCondLst>
                                    <p:cond delay="8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p:cTn id="69" dur="600" decel="100000" fill="hold"/>
                                        <p:tgtEl>
                                          <p:spTgt spid="15"/>
                                        </p:tgtEl>
                                        <p:attrNameLst>
                                          <p:attrName>ppt_x</p:attrName>
                                        </p:attrNameLst>
                                      </p:cBhvr>
                                      <p:tavLst>
                                        <p:tav tm="0">
                                          <p:val>
                                            <p:strVal val="#ppt_x"/>
                                          </p:val>
                                        </p:tav>
                                        <p:tav tm="100000">
                                          <p:val>
                                            <p:strVal val="#ppt_x"/>
                                          </p:val>
                                        </p:tav>
                                      </p:tavLst>
                                    </p:anim>
                                    <p:anim calcmode="lin" valueType="num">
                                      <p:cBhvr>
                                        <p:cTn id="70" dur="600" decel="100000" fill="hold"/>
                                        <p:tgtEl>
                                          <p:spTgt spid="15"/>
                                        </p:tgtEl>
                                        <p:attrNameLst>
                                          <p:attrName>ppt_y</p:attrName>
                                        </p:attrNameLst>
                                      </p:cBhvr>
                                      <p:tavLst>
                                        <p:tav tm="0">
                                          <p:val>
                                            <p:strVal val="#ppt_y+.08"/>
                                          </p:val>
                                        </p:tav>
                                        <p:tav tm="100000">
                                          <p:val>
                                            <p:strVal val="#ppt_y"/>
                                          </p:val>
                                        </p:tav>
                                      </p:tavLst>
                                    </p:anim>
                                  </p:childTnLst>
                                </p:cTn>
                              </p:par>
                              <p:par>
                                <p:cTn id="76" presetID="42" presetClass="entr" presetSubtype="0" fill="hold" grpId="0" nodeType="withEffect">
                                  <p:stCondLst>
                                    <p:cond delay="8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decel="100000" fill="hold"/>
                                        <p:tgtEl>
                                          <p:spTgt spid="16"/>
                                        </p:tgtEl>
                                        <p:attrNameLst>
                                          <p:attrName>ppt_x</p:attrName>
                                        </p:attrNameLst>
                                      </p:cBhvr>
                                      <p:tavLst>
                                        <p:tav tm="0">
                                          <p:val>
                                            <p:strVal val="#ppt_x"/>
                                          </p:val>
                                        </p:tav>
                                        <p:tav tm="100000">
                                          <p:val>
                                            <p:strVal val="#ppt_x"/>
                                          </p:val>
                                        </p:tav>
                                      </p:tavLst>
                                    </p:anim>
                                    <p:anim calcmode="lin" valueType="num">
                                      <p:cBhvr>
                                        <p:cTn id="75" dur="600" decel="100000" fill="hold"/>
                                        <p:tgtEl>
                                          <p:spTgt spid="16"/>
                                        </p:tgtEl>
                                        <p:attrNameLst>
                                          <p:attrName>ppt_y</p:attrName>
                                        </p:attrNameLst>
                                      </p:cBhvr>
                                      <p:tavLst>
                                        <p:tav tm="0">
                                          <p:val>
                                            <p:strVal val="#ppt_y+.08"/>
                                          </p:val>
                                        </p:tav>
                                        <p:tav tm="100000">
                                          <p:val>
                                            <p:strVal val="#ppt_y"/>
                                          </p:val>
                                        </p:tav>
                                      </p:tavLst>
                                    </p:anim>
                                  </p:childTnLst>
                                </p:cTn>
                              </p:par>
                              <p:par>
                                <p:cTn id="81" presetID="42" presetClass="entr" presetSubtype="0" fill="hold" grpId="0" nodeType="withEffect">
                                  <p:stCondLst>
                                    <p:cond delay="8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600"/>
                                        <p:tgtEl>
                                          <p:spTgt spid="17"/>
                                        </p:tgtEl>
                                      </p:cBhvr>
                                    </p:animEffect>
                                    <p:anim calcmode="lin" valueType="num">
                                      <p:cBhvr>
                                        <p:cTn id="79" dur="600" decel="100000" fill="hold"/>
                                        <p:tgtEl>
                                          <p:spTgt spid="17"/>
                                        </p:tgtEl>
                                        <p:attrNameLst>
                                          <p:attrName>ppt_x</p:attrName>
                                        </p:attrNameLst>
                                      </p:cBhvr>
                                      <p:tavLst>
                                        <p:tav tm="0">
                                          <p:val>
                                            <p:strVal val="#ppt_x"/>
                                          </p:val>
                                        </p:tav>
                                        <p:tav tm="100000">
                                          <p:val>
                                            <p:strVal val="#ppt_x"/>
                                          </p:val>
                                        </p:tav>
                                      </p:tavLst>
                                    </p:anim>
                                    <p:anim calcmode="lin" valueType="num">
                                      <p:cBhvr>
                                        <p:cTn id="80" dur="600" decel="100000" fill="hold"/>
                                        <p:tgtEl>
                                          <p:spTgt spid="17"/>
                                        </p:tgtEl>
                                        <p:attrNameLst>
                                          <p:attrName>ppt_y</p:attrName>
                                        </p:attrNameLst>
                                      </p:cBhvr>
                                      <p:tavLst>
                                        <p:tav tm="0">
                                          <p:val>
                                            <p:strVal val="#ppt_y+.08"/>
                                          </p:val>
                                        </p:tav>
                                        <p:tav tm="100000">
                                          <p:val>
                                            <p:strVal val="#ppt_y"/>
                                          </p:val>
                                        </p:tav>
                                      </p:tavLst>
                                    </p:anim>
                                  </p:childTnLst>
                                </p:cTn>
                              </p:par>
                              <p:par>
                                <p:cTn id="86" presetID="42" presetClass="entr" presetSubtype="0" fill="hold" grpId="0" nodeType="withEffect">
                                  <p:stCondLst>
                                    <p:cond delay="8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600"/>
                                        <p:tgtEl>
                                          <p:spTgt spid="18"/>
                                        </p:tgtEl>
                                      </p:cBhvr>
                                    </p:animEffect>
                                    <p:anim calcmode="lin" valueType="num">
                                      <p:cBhvr>
                                        <p:cTn id="84" dur="600" decel="100000" fill="hold"/>
                                        <p:tgtEl>
                                          <p:spTgt spid="18"/>
                                        </p:tgtEl>
                                        <p:attrNameLst>
                                          <p:attrName>ppt_x</p:attrName>
                                        </p:attrNameLst>
                                      </p:cBhvr>
                                      <p:tavLst>
                                        <p:tav tm="0">
                                          <p:val>
                                            <p:strVal val="#ppt_x"/>
                                          </p:val>
                                        </p:tav>
                                        <p:tav tm="100000">
                                          <p:val>
                                            <p:strVal val="#ppt_x"/>
                                          </p:val>
                                        </p:tav>
                                      </p:tavLst>
                                    </p:anim>
                                    <p:anim calcmode="lin" valueType="num">
                                      <p:cBhvr>
                                        <p:cTn id="85" dur="600" decel="100000" fill="hold"/>
                                        <p:tgtEl>
                                          <p:spTgt spid="18"/>
                                        </p:tgtEl>
                                        <p:attrNameLst>
                                          <p:attrName>ppt_y</p:attrName>
                                        </p:attrNameLst>
                                      </p:cBhvr>
                                      <p:tavLst>
                                        <p:tav tm="0">
                                          <p:val>
                                            <p:strVal val="#ppt_y+.08"/>
                                          </p:val>
                                        </p:tav>
                                        <p:tav tm="100000">
                                          <p:val>
                                            <p:strVal val="#ppt_y"/>
                                          </p:val>
                                        </p:tav>
                                      </p:tavLst>
                                    </p:anim>
                                  </p:childTnLst>
                                </p:cTn>
                              </p:par>
                              <p:par>
                                <p:cTn id="91" presetID="42" presetClass="entr" presetSubtype="0" fill="hold" grpId="0" nodeType="withEffect">
                                  <p:stCondLst>
                                    <p:cond delay="8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600"/>
                                        <p:tgtEl>
                                          <p:spTgt spid="19"/>
                                        </p:tgtEl>
                                      </p:cBhvr>
                                    </p:animEffect>
                                    <p:anim calcmode="lin" valueType="num">
                                      <p:cBhvr>
                                        <p:cTn id="89" dur="600" decel="100000" fill="hold"/>
                                        <p:tgtEl>
                                          <p:spTgt spid="19"/>
                                        </p:tgtEl>
                                        <p:attrNameLst>
                                          <p:attrName>ppt_x</p:attrName>
                                        </p:attrNameLst>
                                      </p:cBhvr>
                                      <p:tavLst>
                                        <p:tav tm="0">
                                          <p:val>
                                            <p:strVal val="#ppt_x"/>
                                          </p:val>
                                        </p:tav>
                                        <p:tav tm="100000">
                                          <p:val>
                                            <p:strVal val="#ppt_x"/>
                                          </p:val>
                                        </p:tav>
                                      </p:tavLst>
                                    </p:anim>
                                    <p:anim calcmode="lin" valueType="num">
                                      <p:cBhvr>
                                        <p:cTn id="90" dur="600" decel="100000" fill="hold"/>
                                        <p:tgtEl>
                                          <p:spTgt spid="19"/>
                                        </p:tgtEl>
                                        <p:attrNameLst>
                                          <p:attrName>ppt_y</p:attrName>
                                        </p:attrNameLst>
                                      </p:cBhvr>
                                      <p:tavLst>
                                        <p:tav tm="0">
                                          <p:val>
                                            <p:strVal val="#ppt_y+.08"/>
                                          </p:val>
                                        </p:tav>
                                        <p:tav tm="100000">
                                          <p:val>
                                            <p:strVal val="#ppt_y"/>
                                          </p:val>
                                        </p:tav>
                                      </p:tavLst>
                                    </p:anim>
                                  </p:childTnLst>
                                </p:cTn>
                              </p:par>
                              <p:par>
                                <p:cTn id="96" presetID="42" presetClass="entr" presetSubtype="0" fill="hold" grpId="0" nodeType="withEffect">
                                  <p:stCondLst>
                                    <p:cond delay="10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600"/>
                                        <p:tgtEl>
                                          <p:spTgt spid="20"/>
                                        </p:tgtEl>
                                      </p:cBhvr>
                                    </p:animEffect>
                                    <p:anim calcmode="lin" valueType="num">
                                      <p:cBhvr>
                                        <p:cTn id="94" dur="600" decel="100000" fill="hold"/>
                                        <p:tgtEl>
                                          <p:spTgt spid="20"/>
                                        </p:tgtEl>
                                        <p:attrNameLst>
                                          <p:attrName>ppt_x</p:attrName>
                                        </p:attrNameLst>
                                      </p:cBhvr>
                                      <p:tavLst>
                                        <p:tav tm="0">
                                          <p:val>
                                            <p:strVal val="#ppt_x"/>
                                          </p:val>
                                        </p:tav>
                                        <p:tav tm="100000">
                                          <p:val>
                                            <p:strVal val="#ppt_x"/>
                                          </p:val>
                                        </p:tav>
                                      </p:tavLst>
                                    </p:anim>
                                    <p:anim calcmode="lin" valueType="num">
                                      <p:cBhvr>
                                        <p:cTn id="95" dur="600" decel="100000" fill="hold"/>
                                        <p:tgtEl>
                                          <p:spTgt spid="20"/>
                                        </p:tgtEl>
                                        <p:attrNameLst>
                                          <p:attrName>ppt_y</p:attrName>
                                        </p:attrNameLst>
                                      </p:cBhvr>
                                      <p:tavLst>
                                        <p:tav tm="0">
                                          <p:val>
                                            <p:strVal val="#ppt_y+.08"/>
                                          </p:val>
                                        </p:tav>
                                        <p:tav tm="100000">
                                          <p:val>
                                            <p:strVal val="#ppt_y"/>
                                          </p:val>
                                        </p:tav>
                                      </p:tavLst>
                                    </p:anim>
                                  </p:childTnLst>
                                </p:cTn>
                              </p:par>
                              <p:par>
                                <p:cTn id="101" presetID="42" presetClass="entr" presetSubtype="0" fill="hold" grpId="0" nodeType="withEffect">
                                  <p:stCondLst>
                                    <p:cond delay="10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600"/>
                                        <p:tgtEl>
                                          <p:spTgt spid="21"/>
                                        </p:tgtEl>
                                      </p:cBhvr>
                                    </p:animEffect>
                                    <p:anim calcmode="lin" valueType="num">
                                      <p:cBhvr>
                                        <p:cTn id="99" dur="600" decel="100000" fill="hold"/>
                                        <p:tgtEl>
                                          <p:spTgt spid="21"/>
                                        </p:tgtEl>
                                        <p:attrNameLst>
                                          <p:attrName>ppt_x</p:attrName>
                                        </p:attrNameLst>
                                      </p:cBhvr>
                                      <p:tavLst>
                                        <p:tav tm="0">
                                          <p:val>
                                            <p:strVal val="#ppt_x"/>
                                          </p:val>
                                        </p:tav>
                                        <p:tav tm="100000">
                                          <p:val>
                                            <p:strVal val="#ppt_x"/>
                                          </p:val>
                                        </p:tav>
                                      </p:tavLst>
                                    </p:anim>
                                    <p:anim calcmode="lin" valueType="num">
                                      <p:cBhvr>
                                        <p:cTn id="100" dur="600" decel="100000" fill="hold"/>
                                        <p:tgtEl>
                                          <p:spTgt spid="21"/>
                                        </p:tgtEl>
                                        <p:attrNameLst>
                                          <p:attrName>ppt_y</p:attrName>
                                        </p:attrNameLst>
                                      </p:cBhvr>
                                      <p:tavLst>
                                        <p:tav tm="0">
                                          <p:val>
                                            <p:strVal val="#ppt_y+.08"/>
                                          </p:val>
                                        </p:tav>
                                        <p:tav tm="100000">
                                          <p:val>
                                            <p:strVal val="#ppt_y"/>
                                          </p:val>
                                        </p:tav>
                                      </p:tavLst>
                                    </p:anim>
                                  </p:childTnLst>
                                </p:cTn>
                              </p:par>
                              <p:par>
                                <p:cTn id="106" presetID="42" presetClass="entr" presetSubtype="0" fill="hold" grpId="0" nodeType="withEffect">
                                  <p:stCondLst>
                                    <p:cond delay="10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600"/>
                                        <p:tgtEl>
                                          <p:spTgt spid="22"/>
                                        </p:tgtEl>
                                      </p:cBhvr>
                                    </p:animEffect>
                                    <p:anim calcmode="lin" valueType="num">
                                      <p:cBhvr>
                                        <p:cTn id="104" dur="600" decel="100000" fill="hold"/>
                                        <p:tgtEl>
                                          <p:spTgt spid="22"/>
                                        </p:tgtEl>
                                        <p:attrNameLst>
                                          <p:attrName>ppt_x</p:attrName>
                                        </p:attrNameLst>
                                      </p:cBhvr>
                                      <p:tavLst>
                                        <p:tav tm="0">
                                          <p:val>
                                            <p:strVal val="#ppt_x"/>
                                          </p:val>
                                        </p:tav>
                                        <p:tav tm="100000">
                                          <p:val>
                                            <p:strVal val="#ppt_x"/>
                                          </p:val>
                                        </p:tav>
                                      </p:tavLst>
                                    </p:anim>
                                    <p:anim calcmode="lin" valueType="num">
                                      <p:cBhvr>
                                        <p:cTn id="105" dur="600" decel="100000" fill="hold"/>
                                        <p:tgtEl>
                                          <p:spTgt spid="22"/>
                                        </p:tgtEl>
                                        <p:attrNameLst>
                                          <p:attrName>ppt_y</p:attrName>
                                        </p:attrNameLst>
                                      </p:cBhvr>
                                      <p:tavLst>
                                        <p:tav tm="0">
                                          <p:val>
                                            <p:strVal val="#ppt_y+.08"/>
                                          </p:val>
                                        </p:tav>
                                        <p:tav tm="100000">
                                          <p:val>
                                            <p:strVal val="#ppt_y"/>
                                          </p:val>
                                        </p:tav>
                                      </p:tavLst>
                                    </p:anim>
                                  </p:childTnLst>
                                </p:cTn>
                              </p:par>
                              <p:par>
                                <p:cTn id="111" presetID="42" presetClass="entr" presetSubtype="0" fill="hold" grpId="0" nodeType="withEffect">
                                  <p:stCondLst>
                                    <p:cond delay="10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600"/>
                                        <p:tgtEl>
                                          <p:spTgt spid="23"/>
                                        </p:tgtEl>
                                      </p:cBhvr>
                                    </p:animEffect>
                                    <p:anim calcmode="lin" valueType="num">
                                      <p:cBhvr>
                                        <p:cTn id="109" dur="600" decel="100000" fill="hold"/>
                                        <p:tgtEl>
                                          <p:spTgt spid="23"/>
                                        </p:tgtEl>
                                        <p:attrNameLst>
                                          <p:attrName>ppt_x</p:attrName>
                                        </p:attrNameLst>
                                      </p:cBhvr>
                                      <p:tavLst>
                                        <p:tav tm="0">
                                          <p:val>
                                            <p:strVal val="#ppt_x"/>
                                          </p:val>
                                        </p:tav>
                                        <p:tav tm="100000">
                                          <p:val>
                                            <p:strVal val="#ppt_x"/>
                                          </p:val>
                                        </p:tav>
                                      </p:tavLst>
                                    </p:anim>
                                    <p:anim calcmode="lin" valueType="num">
                                      <p:cBhvr>
                                        <p:cTn id="110" dur="600" decel="100000" fill="hold"/>
                                        <p:tgtEl>
                                          <p:spTgt spid="23"/>
                                        </p:tgtEl>
                                        <p:attrNameLst>
                                          <p:attrName>ppt_y</p:attrName>
                                        </p:attrNameLst>
                                      </p:cBhvr>
                                      <p:tavLst>
                                        <p:tav tm="0">
                                          <p:val>
                                            <p:strVal val="#ppt_y+.08"/>
                                          </p:val>
                                        </p:tav>
                                        <p:tav tm="100000">
                                          <p:val>
                                            <p:strVal val="#ppt_y"/>
                                          </p:val>
                                        </p:tav>
                                      </p:tavLst>
                                    </p:anim>
                                  </p:childTnLst>
                                </p:cTn>
                              </p:par>
                              <p:par>
                                <p:cTn id="116" presetID="42" presetClass="entr" presetSubtype="0" fill="hold" grpId="0" nodeType="withEffect">
                                  <p:stCondLst>
                                    <p:cond delay="10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600"/>
                                        <p:tgtEl>
                                          <p:spTgt spid="24"/>
                                        </p:tgtEl>
                                      </p:cBhvr>
                                    </p:animEffect>
                                    <p:anim calcmode="lin" valueType="num">
                                      <p:cBhvr>
                                        <p:cTn id="114" dur="600" decel="100000" fill="hold"/>
                                        <p:tgtEl>
                                          <p:spTgt spid="24"/>
                                        </p:tgtEl>
                                        <p:attrNameLst>
                                          <p:attrName>ppt_x</p:attrName>
                                        </p:attrNameLst>
                                      </p:cBhvr>
                                      <p:tavLst>
                                        <p:tav tm="0">
                                          <p:val>
                                            <p:strVal val="#ppt_x"/>
                                          </p:val>
                                        </p:tav>
                                        <p:tav tm="100000">
                                          <p:val>
                                            <p:strVal val="#ppt_x"/>
                                          </p:val>
                                        </p:tav>
                                      </p:tavLst>
                                    </p:anim>
                                    <p:anim calcmode="lin" valueType="num">
                                      <p:cBhvr>
                                        <p:cTn id="115" dur="600" decel="100000" fill="hold"/>
                                        <p:tgtEl>
                                          <p:spTgt spid="24"/>
                                        </p:tgtEl>
                                        <p:attrNameLst>
                                          <p:attrName>ppt_y</p:attrName>
                                        </p:attrNameLst>
                                      </p:cBhvr>
                                      <p:tavLst>
                                        <p:tav tm="0">
                                          <p:val>
                                            <p:strVal val="#ppt_y+.08"/>
                                          </p:val>
                                        </p:tav>
                                        <p:tav tm="100000">
                                          <p:val>
                                            <p:strVal val="#ppt_y"/>
                                          </p:val>
                                        </p:tav>
                                      </p:tavLst>
                                    </p:anim>
                                  </p:childTnLst>
                                </p:cTn>
                              </p:par>
                              <p:par>
                                <p:cTn id="119" presetID="10" presetClass="entr" presetSubtype="0" fill="hold" grpId="0" nodeType="withEffect">
                                  <p:stCondLst>
                                    <p:cond delay="12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3" grpId="0" animBg="1"/>
      <p:bldP spid="14" grpId="0" animBg="1"/>
      <p:bldP spid="18" grpId="0" animBg="1"/>
      <p:bldP spid="19" grpId="0" animBg="1"/>
      <p:bldP spid="23" grpId="0" animBg="1"/>
      <p:bldP spid="24"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The billing engine</a:t>
            </a:r>
            <a:endParaRPr lang="en-US" sz="3200" dirty="0"/>
          </a:p>
        </p:txBody>
      </p:sp>
      <p:sp>
        <p:nvSpPr>
          <p:cNvPr id="3" name="a-zoom-bill"/>
          <p:cNvSpPr/>
          <p:nvPr/>
        </p:nvSpPr>
        <p:spPr>
          <a:xfrm>
            <a:off x="493776" y="1362456"/>
            <a:ext cx="6876288" cy="2825496"/>
          </a:xfrm>
          <a:prstGeom prst="roundRect">
            <a:avLst>
              <a:gd name="adj" fmla="val 2589"/>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4" name="a-zoom-w-bill-img" descr="/tmp/claude-0/-home-user-done/4a4296a4-6fd8-5cee-98c2-5de0aee80c99/scratchpad/docs/img/billing-flow.png">    </p:cNvPr>
          <p:cNvPicPr>
            <a:picLocks noChangeAspect="1"/>
          </p:cNvPicPr>
          <p:nvPr/>
        </p:nvPicPr>
        <p:blipFill>
          <a:blip r:embed="rId1"/>
          <a:stretch>
            <a:fillRect/>
          </a:stretch>
        </p:blipFill>
        <p:spPr>
          <a:xfrm>
            <a:off x="548640" y="1417320"/>
            <a:ext cx="6766560" cy="2715768"/>
          </a:xfrm>
          <a:prstGeom prst="rect">
            <a:avLst/>
          </a:prstGeom>
        </p:spPr>
      </p:pic>
      <p:pic>
        <p:nvPicPr>
          <p:cNvPr id="5" name="a-left-bi0" descr="/tmp/claude-0/-home-user-done/4a4296a4-6fd8-5cee-98c2-5de0aee80c99/scratchpad/docs/img/icons/check-g.png">    </p:cNvPr>
          <p:cNvPicPr>
            <a:picLocks noChangeAspect="1"/>
          </p:cNvPicPr>
          <p:nvPr/>
        </p:nvPicPr>
        <p:blipFill>
          <a:blip r:embed="rId2"/>
          <a:stretch>
            <a:fillRect/>
          </a:stretch>
        </p:blipFill>
        <p:spPr>
          <a:xfrm>
            <a:off x="548640" y="4526280"/>
            <a:ext cx="237744" cy="237744"/>
          </a:xfrm>
          <a:prstGeom prst="rect">
            <a:avLst/>
          </a:prstGeom>
        </p:spPr>
      </p:pic>
      <p:sp>
        <p:nvSpPr>
          <p:cNvPr id="6" name="a-left-w-bt0"/>
          <p:cNvSpPr txBox="1"/>
          <p:nvPr/>
        </p:nvSpPr>
        <p:spPr>
          <a:xfrm>
            <a:off x="914400" y="4498848"/>
            <a:ext cx="6400800" cy="310896"/>
          </a:xfrm>
          <a:prstGeom prst="rect">
            <a:avLst/>
          </a:prstGeom>
          <a:noFill/>
          <a:ln/>
        </p:spPr>
        <p:txBody>
          <a:bodyPr wrap="square" lIns="0" tIns="0" rIns="0" bIns="0" rtlCol="0" anchor="t"/>
          <a:lstStyle/>
          <a:p>
            <a:pPr indent="0" marL="0">
              <a:buNone/>
            </a:pPr>
            <a:r>
              <a:rPr lang="en-US" sz="1400" dirty="0">
                <a:solidFill>
                  <a:schemeClr val="tx1"/>
                </a:solidFill>
              </a:rPr>
              <a:t>Plan fee once per validity period</a:t>
            </a:r>
            <a:endParaRPr lang="en-US" sz="1400" dirty="0"/>
          </a:p>
        </p:txBody>
      </p:sp>
      <p:pic>
        <p:nvPicPr>
          <p:cNvPr id="7" name="a-left-bi1" descr="/tmp/claude-0/-home-user-done/4a4296a4-6fd8-5cee-98c2-5de0aee80c99/scratchpad/docs/img/icons/check-g.png">    </p:cNvPr>
          <p:cNvPicPr>
            <a:picLocks noChangeAspect="1"/>
          </p:cNvPicPr>
          <p:nvPr/>
        </p:nvPicPr>
        <p:blipFill>
          <a:blip r:embed="rId3"/>
          <a:stretch>
            <a:fillRect/>
          </a:stretch>
        </p:blipFill>
        <p:spPr>
          <a:xfrm>
            <a:off x="548640" y="4873752"/>
            <a:ext cx="237744" cy="237744"/>
          </a:xfrm>
          <a:prstGeom prst="rect">
            <a:avLst/>
          </a:prstGeom>
        </p:spPr>
      </p:pic>
      <p:sp>
        <p:nvSpPr>
          <p:cNvPr id="8" name="a-left-w-bt1"/>
          <p:cNvSpPr txBox="1"/>
          <p:nvPr/>
        </p:nvSpPr>
        <p:spPr>
          <a:xfrm>
            <a:off x="914400" y="4846320"/>
            <a:ext cx="6400800" cy="310896"/>
          </a:xfrm>
          <a:prstGeom prst="rect">
            <a:avLst/>
          </a:prstGeom>
          <a:noFill/>
          <a:ln/>
        </p:spPr>
        <p:txBody>
          <a:bodyPr wrap="square" lIns="0" tIns="0" rIns="0" bIns="0" rtlCol="0" anchor="t"/>
          <a:lstStyle/>
          <a:p>
            <a:pPr indent="0" marL="0">
              <a:buNone/>
            </a:pPr>
            <a:r>
              <a:rPr lang="en-US" sz="1400" dirty="0">
                <a:solidFill>
                  <a:schemeClr val="tx1"/>
                </a:solidFill>
              </a:rPr>
              <a:t>Call minutes x the plan's per-minute rates</a:t>
            </a:r>
            <a:endParaRPr lang="en-US" sz="1400" dirty="0"/>
          </a:p>
        </p:txBody>
      </p:sp>
      <p:pic>
        <p:nvPicPr>
          <p:cNvPr id="9" name="a-left-bi2" descr="/tmp/claude-0/-home-user-done/4a4296a4-6fd8-5cee-98c2-5de0aee80c99/scratchpad/docs/img/icons/check-g.png">    </p:cNvPr>
          <p:cNvPicPr>
            <a:picLocks noChangeAspect="1"/>
          </p:cNvPicPr>
          <p:nvPr/>
        </p:nvPicPr>
        <p:blipFill>
          <a:blip r:embed="rId4"/>
          <a:stretch>
            <a:fillRect/>
          </a:stretch>
        </p:blipFill>
        <p:spPr>
          <a:xfrm>
            <a:off x="548640" y="5221224"/>
            <a:ext cx="237744" cy="237744"/>
          </a:xfrm>
          <a:prstGeom prst="rect">
            <a:avLst/>
          </a:prstGeom>
        </p:spPr>
      </p:pic>
      <p:sp>
        <p:nvSpPr>
          <p:cNvPr id="10" name="a-left-w-bt2"/>
          <p:cNvSpPr txBox="1"/>
          <p:nvPr/>
        </p:nvSpPr>
        <p:spPr>
          <a:xfrm>
            <a:off x="914400" y="5193792"/>
            <a:ext cx="6400800" cy="310896"/>
          </a:xfrm>
          <a:prstGeom prst="rect">
            <a:avLst/>
          </a:prstGeom>
          <a:noFill/>
          <a:ln/>
        </p:spPr>
        <p:txBody>
          <a:bodyPr wrap="square" lIns="0" tIns="0" rIns="0" bIns="0" rtlCol="0" anchor="t"/>
          <a:lstStyle/>
          <a:p>
            <a:pPr indent="0" marL="0">
              <a:buNone/>
            </a:pPr>
            <a:r>
              <a:rPr lang="en-US" sz="1400" dirty="0">
                <a:solidFill>
                  <a:schemeClr val="tx1"/>
                </a:solidFill>
              </a:rPr>
              <a:t>Replacement charges added once, automatically</a:t>
            </a:r>
            <a:endParaRPr lang="en-US" sz="1400" dirty="0"/>
          </a:p>
        </p:txBody>
      </p:sp>
      <p:pic>
        <p:nvPicPr>
          <p:cNvPr id="11" name="a-left-bi3" descr="/tmp/claude-0/-home-user-done/4a4296a4-6fd8-5cee-98c2-5de0aee80c99/scratchpad/docs/img/icons/check-g.png">    </p:cNvPr>
          <p:cNvPicPr>
            <a:picLocks noChangeAspect="1"/>
          </p:cNvPicPr>
          <p:nvPr/>
        </p:nvPicPr>
        <p:blipFill>
          <a:blip r:embed="rId5"/>
          <a:stretch>
            <a:fillRect/>
          </a:stretch>
        </p:blipFill>
        <p:spPr>
          <a:xfrm>
            <a:off x="548640" y="5568696"/>
            <a:ext cx="237744" cy="237744"/>
          </a:xfrm>
          <a:prstGeom prst="rect">
            <a:avLst/>
          </a:prstGeom>
        </p:spPr>
      </p:pic>
      <p:sp>
        <p:nvSpPr>
          <p:cNvPr id="12" name="a-left-w-bt3"/>
          <p:cNvSpPr txBox="1"/>
          <p:nvPr/>
        </p:nvSpPr>
        <p:spPr>
          <a:xfrm>
            <a:off x="914400" y="5541264"/>
            <a:ext cx="6400800" cy="310896"/>
          </a:xfrm>
          <a:prstGeom prst="rect">
            <a:avLst/>
          </a:prstGeom>
          <a:noFill/>
          <a:ln/>
        </p:spPr>
        <p:txBody>
          <a:bodyPr wrap="square" lIns="0" tIns="0" rIns="0" bIns="0" rtlCol="0" anchor="t"/>
          <a:lstStyle/>
          <a:p>
            <a:pPr indent="0" marL="0">
              <a:buNone/>
            </a:pPr>
            <a:r>
              <a:rPr lang="en-US" sz="1400" dirty="0">
                <a:solidFill>
                  <a:schemeClr val="tx1"/>
                </a:solidFill>
              </a:rPr>
              <a:t>Deposit and bulk discount on the first bill</a:t>
            </a:r>
            <a:endParaRPr lang="en-US" sz="1400" dirty="0"/>
          </a:p>
        </p:txBody>
      </p:sp>
      <p:pic>
        <p:nvPicPr>
          <p:cNvPr id="13" name="a-left-bi4" descr="/tmp/claude-0/-home-user-done/4a4296a4-6fd8-5cee-98c2-5de0aee80c99/scratchpad/docs/img/icons/check-g.png">    </p:cNvPr>
          <p:cNvPicPr>
            <a:picLocks noChangeAspect="1"/>
          </p:cNvPicPr>
          <p:nvPr/>
        </p:nvPicPr>
        <p:blipFill>
          <a:blip r:embed="rId6"/>
          <a:stretch>
            <a:fillRect/>
          </a:stretch>
        </p:blipFill>
        <p:spPr>
          <a:xfrm>
            <a:off x="548640" y="5916168"/>
            <a:ext cx="237744" cy="237744"/>
          </a:xfrm>
          <a:prstGeom prst="rect">
            <a:avLst/>
          </a:prstGeom>
        </p:spPr>
      </p:pic>
      <p:sp>
        <p:nvSpPr>
          <p:cNvPr id="14" name="a-left-w-bt4"/>
          <p:cNvSpPr txBox="1"/>
          <p:nvPr/>
        </p:nvSpPr>
        <p:spPr>
          <a:xfrm>
            <a:off x="914400" y="5888736"/>
            <a:ext cx="6400800" cy="310896"/>
          </a:xfrm>
          <a:prstGeom prst="rect">
            <a:avLst/>
          </a:prstGeom>
          <a:noFill/>
          <a:ln/>
        </p:spPr>
        <p:txBody>
          <a:bodyPr wrap="square" lIns="0" tIns="0" rIns="0" bIns="0" rtlCol="0" anchor="t"/>
          <a:lstStyle/>
          <a:p>
            <a:pPr indent="0" marL="0">
              <a:buNone/>
            </a:pPr>
            <a:r>
              <a:rPr lang="en-US" sz="1400" dirty="0">
                <a:solidFill>
                  <a:schemeClr val="tx1"/>
                </a:solidFill>
              </a:rPr>
              <a:t>Unpaid earlier bills shown as brought forward</a:t>
            </a:r>
            <a:endParaRPr lang="en-US" sz="1400" dirty="0"/>
          </a:p>
        </p:txBody>
      </p:sp>
      <p:sp>
        <p:nvSpPr>
          <p:cNvPr id="15" name="a-zoom-ex"/>
          <p:cNvSpPr/>
          <p:nvPr/>
        </p:nvSpPr>
        <p:spPr>
          <a:xfrm>
            <a:off x="7772400" y="1417320"/>
            <a:ext cx="3840480" cy="4709160"/>
          </a:xfrm>
          <a:prstGeom prst="roundRect">
            <a:avLst>
              <a:gd name="adj" fmla="val 2857"/>
            </a:avLst>
          </a:prstGeom>
          <a:solidFill>
            <a:schemeClr val="bg2"/>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6" name="a-fade-exh"/>
          <p:cNvSpPr txBox="1"/>
          <p:nvPr/>
        </p:nvSpPr>
        <p:spPr>
          <a:xfrm>
            <a:off x="8092440" y="1691640"/>
            <a:ext cx="3291840" cy="365760"/>
          </a:xfrm>
          <a:prstGeom prst="rect">
            <a:avLst/>
          </a:prstGeom>
          <a:noFill/>
          <a:ln/>
        </p:spPr>
        <p:txBody>
          <a:bodyPr wrap="square" lIns="0" tIns="0" rIns="0" bIns="0" rtlCol="0" anchor="t"/>
          <a:lstStyle/>
          <a:p>
            <a:pPr indent="0" marL="0">
              <a:buNone/>
            </a:pPr>
            <a:r>
              <a:rPr lang="en-US" sz="1600" b="1" dirty="0">
                <a:solidFill>
                  <a:schemeClr val="accent1"/>
                </a:solidFill>
              </a:rPr>
              <a:t>Worked example</a:t>
            </a:r>
            <a:endParaRPr lang="en-US" sz="1600" dirty="0"/>
          </a:p>
        </p:txBody>
      </p:sp>
      <p:sp>
        <p:nvSpPr>
          <p:cNvPr id="17" name="a-fade-exb"/>
          <p:cNvSpPr txBox="1"/>
          <p:nvPr/>
        </p:nvSpPr>
        <p:spPr>
          <a:xfrm>
            <a:off x="8092440" y="2194560"/>
            <a:ext cx="3291840" cy="1554480"/>
          </a:xfrm>
          <a:prstGeom prst="rect">
            <a:avLst/>
          </a:prstGeom>
          <a:noFill/>
          <a:ln/>
        </p:spPr>
        <p:txBody>
          <a:bodyPr wrap="square" lIns="0" tIns="0" rIns="0" bIns="0" rtlCol="0" anchor="t"/>
          <a:lstStyle/>
          <a:p>
            <a:pPr indent="0" marL="0">
              <a:spcAft>
                <a:spcPts val="600"/>
              </a:spcAft>
              <a:buNone/>
            </a:pPr>
            <a:r>
              <a:rPr lang="en-US" sz="1400" dirty="0">
                <a:solidFill>
                  <a:schemeClr val="tx2"/>
                </a:solidFill>
              </a:rPr>
              <a:t>Plan fee  $35.00</a:t>
            </a:r>
            <a:endParaRPr lang="en-US" sz="1400" dirty="0"/>
          </a:p>
          <a:p>
            <a:pPr indent="0" marL="0">
              <a:spcAft>
                <a:spcPts val="600"/>
              </a:spcAft>
              <a:buNone/>
            </a:pPr>
            <a:r>
              <a:rPr lang="en-US" sz="1400" dirty="0">
                <a:solidFill>
                  <a:schemeClr val="tx2"/>
                </a:solidFill>
              </a:rPr>
              <a:t>100 local min x $0.75  $75.00</a:t>
            </a:r>
            <a:endParaRPr lang="en-US" sz="1400" dirty="0"/>
          </a:p>
          <a:p>
            <a:pPr indent="0" marL="0">
              <a:spcAft>
                <a:spcPts val="600"/>
              </a:spcAft>
              <a:buNone/>
            </a:pPr>
            <a:r>
              <a:rPr lang="en-US" sz="1400" dirty="0">
                <a:solidFill>
                  <a:schemeClr val="tx2"/>
                </a:solidFill>
              </a:rPr>
              <a:t>Deposit (first bill)  $250.00</a:t>
            </a:r>
            <a:endParaRPr lang="en-US" sz="1400" dirty="0"/>
          </a:p>
          <a:p>
            <a:pPr indent="0" marL="0">
              <a:spcAft>
                <a:spcPts val="600"/>
              </a:spcAft>
              <a:buNone/>
            </a:pPr>
            <a:r>
              <a:rPr lang="en-US" sz="1400" dirty="0">
                <a:solidFill>
                  <a:schemeClr val="tx2"/>
                </a:solidFill>
              </a:rPr>
              <a:t>Service tax 12.24%  $44.06</a:t>
            </a:r>
            <a:endParaRPr lang="en-US" sz="1400" dirty="0"/>
          </a:p>
        </p:txBody>
      </p:sp>
      <p:sp>
        <p:nvSpPr>
          <p:cNvPr id="18" name="a-zoom-ext"/>
          <p:cNvSpPr txBox="1"/>
          <p:nvPr/>
        </p:nvSpPr>
        <p:spPr>
          <a:xfrm>
            <a:off x="8092440" y="3886200"/>
            <a:ext cx="3291840" cy="914400"/>
          </a:xfrm>
          <a:prstGeom prst="rect">
            <a:avLst/>
          </a:prstGeom>
          <a:noFill/>
          <a:ln/>
        </p:spPr>
        <p:txBody>
          <a:bodyPr wrap="square" lIns="0" tIns="0" rIns="0" bIns="0" rtlCol="0" anchor="t"/>
          <a:lstStyle/>
          <a:p>
            <a:pPr indent="0" marL="0">
              <a:buNone/>
            </a:pPr>
            <a:r>
              <a:rPr lang="en-US" sz="5000" b="1" dirty="0">
                <a:solidFill>
                  <a:schemeClr val="accent2"/>
                </a:solidFill>
              </a:rPr>
              <a:t>$404.06</a:t>
            </a:r>
            <a:endParaRPr lang="en-US" sz="5000" dirty="0"/>
          </a:p>
        </p:txBody>
      </p:sp>
      <p:sp>
        <p:nvSpPr>
          <p:cNvPr id="19" name="a-fade-exn"/>
          <p:cNvSpPr txBox="1"/>
          <p:nvPr/>
        </p:nvSpPr>
        <p:spPr>
          <a:xfrm>
            <a:off x="8092440" y="4892040"/>
            <a:ext cx="3291840" cy="822960"/>
          </a:xfrm>
          <a:prstGeom prst="rect">
            <a:avLst/>
          </a:prstGeom>
          <a:noFill/>
          <a:ln/>
        </p:spPr>
        <p:txBody>
          <a:bodyPr wrap="square" lIns="0" tIns="0" rIns="0" bIns="0" rtlCol="0" anchor="t"/>
          <a:lstStyle/>
          <a:p>
            <a:pPr indent="0" marL="0">
              <a:buNone/>
            </a:pPr>
            <a:r>
              <a:rPr lang="en-US" sz="1300" i="1" dirty="0">
                <a:solidFill>
                  <a:schemeClr val="accent6"/>
                </a:solidFill>
              </a:rPr>
              <a:t>First bill total - verified by the automated tests</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89"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53" presetClass="entr" presetSubtype="16"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 calcmode="lin" valueType="num">
                                      <p:cBhvr>
                                        <p:cTn id="9" dur="650" decel="100000" fill="hold"/>
                                        <p:tgtEl>
                                          <p:spTgt spid="3"/>
                                        </p:tgtEl>
                                        <p:attrNameLst>
                                          <p:attrName>ppt_w</p:attrName>
                                        </p:attrNameLst>
                                      </p:cBhvr>
                                      <p:tavLst>
                                        <p:tav tm="0">
                                          <p:val>
                                            <p:strVal val="#ppt_w*0.7"/>
                                          </p:val>
                                        </p:tav>
                                        <p:tav tm="100000">
                                          <p:val>
                                            <p:strVal val="#ppt_w"/>
                                          </p:val>
                                        </p:tav>
                                      </p:tavLst>
                                    </p:anim>
                                    <p:anim calcmode="lin" valueType="num">
                                      <p:cBhvr>
                                        <p:cTn id="10" dur="650" decel="100000" fill="hold"/>
                                        <p:tgtEl>
                                          <p:spTgt spid="3"/>
                                        </p:tgtEl>
                                        <p:attrNameLst>
                                          <p:attrName>ppt_h</p:attrName>
                                        </p:attrNameLst>
                                      </p:cBhvr>
                                      <p:tavLst>
                                        <p:tav tm="0">
                                          <p:val>
                                            <p:strVal val="#ppt_h*0.7"/>
                                          </p:val>
                                        </p:tav>
                                        <p:tav tm="100000">
                                          <p:val>
                                            <p:strVal val="#ppt_h"/>
                                          </p:val>
                                        </p:tav>
                                      </p:tavLst>
                                    </p:anim>
                                    <p:animEffect transition="in" filter="fade">
                                      <p:cBhvr>
                                        <p:cTn id="8" dur="650"/>
                                        <p:tgtEl>
                                          <p:spTgt spid="3"/>
                                        </p:tgtEl>
                                      </p:cBhvr>
                                    </p:animEffect>
                                  </p:childTnLst>
                                </p:cTn>
                              </p:par>
                              <p:par>
                                <p:cTn id="16" presetID="53" presetClass="entr" presetSubtype="16"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 calcmode="lin" valueType="num">
                                      <p:cBhvr>
                                        <p:cTn id="14" dur="650" decel="100000" fill="hold"/>
                                        <p:tgtEl>
                                          <p:spTgt spid="4"/>
                                        </p:tgtEl>
                                        <p:attrNameLst>
                                          <p:attrName>ppt_w</p:attrName>
                                        </p:attrNameLst>
                                      </p:cBhvr>
                                      <p:tavLst>
                                        <p:tav tm="0">
                                          <p:val>
                                            <p:strVal val="#ppt_w*0.7"/>
                                          </p:val>
                                        </p:tav>
                                        <p:tav tm="100000">
                                          <p:val>
                                            <p:strVal val="#ppt_w"/>
                                          </p:val>
                                        </p:tav>
                                      </p:tavLst>
                                    </p:anim>
                                    <p:anim calcmode="lin" valueType="num">
                                      <p:cBhvr>
                                        <p:cTn id="15" dur="650" decel="100000" fill="hold"/>
                                        <p:tgtEl>
                                          <p:spTgt spid="4"/>
                                        </p:tgtEl>
                                        <p:attrNameLst>
                                          <p:attrName>ppt_h</p:attrName>
                                        </p:attrNameLst>
                                      </p:cBhvr>
                                      <p:tavLst>
                                        <p:tav tm="0">
                                          <p:val>
                                            <p:strVal val="#ppt_h*0.7"/>
                                          </p:val>
                                        </p:tav>
                                        <p:tav tm="100000">
                                          <p:val>
                                            <p:strVal val="#ppt_h"/>
                                          </p:val>
                                        </p:tav>
                                      </p:tavLst>
                                    </p:anim>
                                    <p:animEffect transition="in" filter="fade">
                                      <p:cBhvr>
                                        <p:cTn id="13" dur="650"/>
                                        <p:tgtEl>
                                          <p:spTgt spid="4"/>
                                        </p:tgtEl>
                                      </p:cBhvr>
                                    </p:animEffect>
                                  </p:childTnLst>
                                </p:cTn>
                              </p:par>
                              <p:par>
                                <p:cTn id="21" presetID="42" presetClass="entr" presetSubtype="0" fill="hold" grpId="0" nodeType="withEffect">
                                  <p:stCondLst>
                                    <p:cond delay="4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08"/>
                                          </p:val>
                                        </p:tav>
                                        <p:tav tm="100000">
                                          <p:val>
                                            <p:strVal val="#ppt_x"/>
                                          </p:val>
                                        </p:tav>
                                      </p:tavLst>
                                    </p:anim>
                                    <p:anim calcmode="lin" valueType="num">
                                      <p:cBhvr>
                                        <p:cTn id="20" dur="600" decel="1000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08"/>
                                          </p:val>
                                        </p:tav>
                                        <p:tav tm="100000">
                                          <p:val>
                                            <p:strVal val="#ppt_x"/>
                                          </p:val>
                                        </p:tav>
                                      </p:tavLst>
                                    </p:anim>
                                    <p:anim calcmode="lin" valueType="num">
                                      <p:cBhvr>
                                        <p:cTn id="25" dur="600" decel="1000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6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08"/>
                                          </p:val>
                                        </p:tav>
                                        <p:tav tm="100000">
                                          <p:val>
                                            <p:strVal val="#ppt_x"/>
                                          </p:val>
                                        </p:tav>
                                      </p:tavLst>
                                    </p:anim>
                                    <p:anim calcmode="lin" valueType="num">
                                      <p:cBhvr>
                                        <p:cTn id="30" dur="600" decel="1000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6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08"/>
                                          </p:val>
                                        </p:tav>
                                        <p:tav tm="100000">
                                          <p:val>
                                            <p:strVal val="#ppt_x"/>
                                          </p:val>
                                        </p:tav>
                                      </p:tavLst>
                                    </p:anim>
                                    <p:anim calcmode="lin" valueType="num">
                                      <p:cBhvr>
                                        <p:cTn id="35" dur="600" decel="1000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8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08"/>
                                          </p:val>
                                        </p:tav>
                                        <p:tav tm="100000">
                                          <p:val>
                                            <p:strVal val="#ppt_x"/>
                                          </p:val>
                                        </p:tav>
                                      </p:tavLst>
                                    </p:anim>
                                    <p:anim calcmode="lin" valueType="num">
                                      <p:cBhvr>
                                        <p:cTn id="40" dur="600" decel="1000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8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08"/>
                                          </p:val>
                                        </p:tav>
                                        <p:tav tm="100000">
                                          <p:val>
                                            <p:strVal val="#ppt_x"/>
                                          </p:val>
                                        </p:tav>
                                      </p:tavLst>
                                    </p:anim>
                                    <p:anim calcmode="lin" valueType="num">
                                      <p:cBhvr>
                                        <p:cTn id="45" dur="600" decel="1000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10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08"/>
                                          </p:val>
                                        </p:tav>
                                        <p:tav tm="100000">
                                          <p:val>
                                            <p:strVal val="#ppt_x"/>
                                          </p:val>
                                        </p:tav>
                                      </p:tavLst>
                                    </p:anim>
                                    <p:anim calcmode="lin" valueType="num">
                                      <p:cBhvr>
                                        <p:cTn id="50" dur="600" decel="1000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10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08"/>
                                          </p:val>
                                        </p:tav>
                                        <p:tav tm="100000">
                                          <p:val>
                                            <p:strVal val="#ppt_x"/>
                                          </p:val>
                                        </p:tav>
                                      </p:tavLst>
                                    </p:anim>
                                    <p:anim calcmode="lin" valueType="num">
                                      <p:cBhvr>
                                        <p:cTn id="55" dur="600" decel="1000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12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08"/>
                                          </p:val>
                                        </p:tav>
                                        <p:tav tm="100000">
                                          <p:val>
                                            <p:strVal val="#ppt_x"/>
                                          </p:val>
                                        </p:tav>
                                      </p:tavLst>
                                    </p:anim>
                                    <p:anim calcmode="lin" valueType="num">
                                      <p:cBhvr>
                                        <p:cTn id="60" dur="600" decel="1000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12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08"/>
                                          </p:val>
                                        </p:tav>
                                        <p:tav tm="100000">
                                          <p:val>
                                            <p:strVal val="#ppt_x"/>
                                          </p:val>
                                        </p:tav>
                                      </p:tavLst>
                                    </p:anim>
                                    <p:anim calcmode="lin" valueType="num">
                                      <p:cBhvr>
                                        <p:cTn id="65" dur="600" decel="100000" fill="hold"/>
                                        <p:tgtEl>
                                          <p:spTgt spid="14"/>
                                        </p:tgtEl>
                                        <p:attrNameLst>
                                          <p:attrName>ppt_y</p:attrName>
                                        </p:attrNameLst>
                                      </p:cBhvr>
                                      <p:tavLst>
                                        <p:tav tm="0">
                                          <p:val>
                                            <p:strVal val="#ppt_y"/>
                                          </p:val>
                                        </p:tav>
                                        <p:tav tm="100000">
                                          <p:val>
                                            <p:strVal val="#ppt_y"/>
                                          </p:val>
                                        </p:tav>
                                      </p:tavLst>
                                    </p:anim>
                                  </p:childTnLst>
                                </p:cTn>
                              </p:par>
                              <p:par>
                                <p:cTn id="71" presetID="53" presetClass="entr" presetSubtype="16" fill="hold" grpId="0" nodeType="withEffect">
                                  <p:stCondLst>
                                    <p:cond delay="1400"/>
                                  </p:stCondLst>
                                  <p:childTnLst>
                                    <p:set>
                                      <p:cBhvr>
                                        <p:cTn id="67" dur="1" fill="hold">
                                          <p:stCondLst>
                                            <p:cond delay="0"/>
                                          </p:stCondLst>
                                        </p:cTn>
                                        <p:tgtEl>
                                          <p:spTgt spid="15"/>
                                        </p:tgtEl>
                                        <p:attrNameLst>
                                          <p:attrName>style.visibility</p:attrName>
                                        </p:attrNameLst>
                                      </p:cBhvr>
                                      <p:to>
                                        <p:strVal val="visible"/>
                                      </p:to>
                                    </p:set>
                                    <p:anim calcmode="lin" valueType="num">
                                      <p:cBhvr>
                                        <p:cTn id="69" dur="650" decel="100000" fill="hold"/>
                                        <p:tgtEl>
                                          <p:spTgt spid="15"/>
                                        </p:tgtEl>
                                        <p:attrNameLst>
                                          <p:attrName>ppt_w</p:attrName>
                                        </p:attrNameLst>
                                      </p:cBhvr>
                                      <p:tavLst>
                                        <p:tav tm="0">
                                          <p:val>
                                            <p:strVal val="#ppt_w*0.7"/>
                                          </p:val>
                                        </p:tav>
                                        <p:tav tm="100000">
                                          <p:val>
                                            <p:strVal val="#ppt_w"/>
                                          </p:val>
                                        </p:tav>
                                      </p:tavLst>
                                    </p:anim>
                                    <p:anim calcmode="lin" valueType="num">
                                      <p:cBhvr>
                                        <p:cTn id="70" dur="650" decel="100000" fill="hold"/>
                                        <p:tgtEl>
                                          <p:spTgt spid="15"/>
                                        </p:tgtEl>
                                        <p:attrNameLst>
                                          <p:attrName>ppt_h</p:attrName>
                                        </p:attrNameLst>
                                      </p:cBhvr>
                                      <p:tavLst>
                                        <p:tav tm="0">
                                          <p:val>
                                            <p:strVal val="#ppt_h*0.7"/>
                                          </p:val>
                                        </p:tav>
                                        <p:tav tm="100000">
                                          <p:val>
                                            <p:strVal val="#ppt_h"/>
                                          </p:val>
                                        </p:tav>
                                      </p:tavLst>
                                    </p:anim>
                                    <p:animEffect transition="in" filter="fade">
                                      <p:cBhvr>
                                        <p:cTn id="68" dur="650"/>
                                        <p:tgtEl>
                                          <p:spTgt spid="15"/>
                                        </p:tgtEl>
                                      </p:cBhvr>
                                    </p:animEffect>
                                  </p:childTnLst>
                                </p:cTn>
                              </p:par>
                              <p:par>
                                <p:cTn id="74" presetID="10" presetClass="entr" presetSubtype="0" fill="hold" grpId="0" nodeType="withEffect">
                                  <p:stCondLst>
                                    <p:cond delay="16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500"/>
                                        <p:tgtEl>
                                          <p:spTgt spid="16"/>
                                        </p:tgtEl>
                                      </p:cBhvr>
                                    </p:animEffect>
                                  </p:childTnLst>
                                </p:cTn>
                              </p:par>
                              <p:par>
                                <p:cTn id="77" presetID="10" presetClass="entr" presetSubtype="0" fill="hold" grpId="0" nodeType="withEffect">
                                  <p:stCondLst>
                                    <p:cond delay="180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500"/>
                                        <p:tgtEl>
                                          <p:spTgt spid="17"/>
                                        </p:tgtEl>
                                      </p:cBhvr>
                                    </p:animEffect>
                                  </p:childTnLst>
                                </p:cTn>
                              </p:par>
                              <p:par>
                                <p:cTn id="82" presetID="53" presetClass="entr" presetSubtype="16" fill="hold" grpId="0" nodeType="withEffect">
                                  <p:stCondLst>
                                    <p:cond delay="2000"/>
                                  </p:stCondLst>
                                  <p:childTnLst>
                                    <p:set>
                                      <p:cBhvr>
                                        <p:cTn id="78" dur="1" fill="hold">
                                          <p:stCondLst>
                                            <p:cond delay="0"/>
                                          </p:stCondLst>
                                        </p:cTn>
                                        <p:tgtEl>
                                          <p:spTgt spid="18"/>
                                        </p:tgtEl>
                                        <p:attrNameLst>
                                          <p:attrName>style.visibility</p:attrName>
                                        </p:attrNameLst>
                                      </p:cBhvr>
                                      <p:to>
                                        <p:strVal val="visible"/>
                                      </p:to>
                                    </p:set>
                                    <p:anim calcmode="lin" valueType="num">
                                      <p:cBhvr>
                                        <p:cTn id="80" dur="650" decel="100000" fill="hold"/>
                                        <p:tgtEl>
                                          <p:spTgt spid="18"/>
                                        </p:tgtEl>
                                        <p:attrNameLst>
                                          <p:attrName>ppt_w</p:attrName>
                                        </p:attrNameLst>
                                      </p:cBhvr>
                                      <p:tavLst>
                                        <p:tav tm="0">
                                          <p:val>
                                            <p:strVal val="#ppt_w*0.7"/>
                                          </p:val>
                                        </p:tav>
                                        <p:tav tm="100000">
                                          <p:val>
                                            <p:strVal val="#ppt_w"/>
                                          </p:val>
                                        </p:tav>
                                      </p:tavLst>
                                    </p:anim>
                                    <p:anim calcmode="lin" valueType="num">
                                      <p:cBhvr>
                                        <p:cTn id="81" dur="650" decel="100000" fill="hold"/>
                                        <p:tgtEl>
                                          <p:spTgt spid="18"/>
                                        </p:tgtEl>
                                        <p:attrNameLst>
                                          <p:attrName>ppt_h</p:attrName>
                                        </p:attrNameLst>
                                      </p:cBhvr>
                                      <p:tavLst>
                                        <p:tav tm="0">
                                          <p:val>
                                            <p:strVal val="#ppt_h*0.7"/>
                                          </p:val>
                                        </p:tav>
                                        <p:tav tm="100000">
                                          <p:val>
                                            <p:strVal val="#ppt_h"/>
                                          </p:val>
                                        </p:tav>
                                      </p:tavLst>
                                    </p:anim>
                                    <p:animEffect transition="in" filter="fade">
                                      <p:cBhvr>
                                        <p:cTn id="79" dur="650"/>
                                        <p:tgtEl>
                                          <p:spTgt spid="18"/>
                                        </p:tgtEl>
                                      </p:cBhvr>
                                    </p:animEffect>
                                  </p:childTnLst>
                                </p:cTn>
                              </p:par>
                              <p:par>
                                <p:cTn id="85" presetID="10" presetClass="entr" presetSubtype="0" fill="hold" grpId="0" nodeType="withEffect">
                                  <p:stCondLst>
                                    <p:cond delay="220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00"/>
                                        <p:tgtEl>
                                          <p:spTgt spid="19"/>
                                        </p:tgtEl>
                                      </p:cBhvr>
                                    </p:animEffect>
                                  </p:childTnLst>
                                </p:cTn>
                              </p:par>
                              <p:par>
                                <p:cTn id="88" presetID="10" presetClass="entr" presetSubtype="0" fill="hold" grpId="0" nodeType="withEffect">
                                  <p:stCondLst>
                                    <p:cond delay="240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0" grpId="0" animBg="1"/>
      <p:bldP spid="12" grpId="0" animBg="1"/>
      <p:bldP spid="14" grpId="0" animBg="1"/>
      <p:bldP spid="16" grpId="0" animBg="1"/>
      <p:bldP spid="17" grpId="0" animBg="1"/>
      <p:bldP spid="18" grpId="0" animBg="1"/>
      <p:bldP spid="19"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Plans, deposits and bulk discounts</a:t>
            </a:r>
            <a:endParaRPr lang="en-US" sz="3200" dirty="0"/>
          </a:p>
        </p:txBody>
      </p:sp>
      <p:graphicFrame>
        <p:nvGraphicFramePr>
          <p:cNvPr id="3" name="a-up-chart" descr=""/>
          <p:cNvGraphicFramePr/>
          <p:nvPr/>
        </p:nvGraphicFramePr>
        <p:xfrm>
          <a:off x="548640" y="1371600"/>
          <a:ext cx="6583680" cy="4663440"/>
        </p:xfrm>
        <a:graphic xmlns:a="http://schemas.openxmlformats.org/drawingml/2006/main">
          <a:graphicData uri="http://schemas.openxmlformats.org/drawingml/2006/chart">
            <c:chart xmlns:c="http://schemas.openxmlformats.org/drawingml/2006/chart" r:id="rId1"/>
          </a:graphicData>
        </a:graphic>
      </p:graphicFrame>
      <p:sp>
        <p:nvSpPr>
          <p:cNvPr id="4" name="a-right-dp0"/>
          <p:cNvSpPr/>
          <p:nvPr/>
        </p:nvSpPr>
        <p:spPr>
          <a:xfrm>
            <a:off x="7589520" y="1371600"/>
            <a:ext cx="4023360" cy="1371600"/>
          </a:xfrm>
          <a:prstGeom prst="roundRect">
            <a:avLst>
              <a:gd name="adj" fmla="val 8000"/>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5" name="a-right-w-di0"/>
          <p:cNvSpPr/>
          <p:nvPr/>
        </p:nvSpPr>
        <p:spPr>
          <a:xfrm>
            <a:off x="7818120" y="1737360"/>
            <a:ext cx="640080" cy="640080"/>
          </a:xfrm>
          <a:prstGeom prst="ellipse">
            <a:avLst/>
          </a:prstGeom>
          <a:solidFill>
            <a:schemeClr val="accent1"/>
          </a:solidFill>
          <a:ln/>
        </p:spPr>
      </p:sp>
      <p:pic>
        <p:nvPicPr>
          <p:cNvPr id="6" name="a-right-w-w-di0-i" descr="/tmp/claude-0/-home-user-done/4a4296a4-6fd8-5cee-98c2-5de0aee80c99/scratchpad/docs/img/icons/wifi-w.png">    </p:cNvPr>
          <p:cNvPicPr>
            <a:picLocks noChangeAspect="1"/>
          </p:cNvPicPr>
          <p:nvPr/>
        </p:nvPicPr>
        <p:blipFill>
          <a:blip r:embed="rId2"/>
          <a:stretch>
            <a:fillRect/>
          </a:stretch>
        </p:blipFill>
        <p:spPr>
          <a:xfrm>
            <a:off x="7978140" y="1897380"/>
            <a:ext cx="320040" cy="320040"/>
          </a:xfrm>
          <a:prstGeom prst="rect">
            <a:avLst/>
          </a:prstGeom>
        </p:spPr>
      </p:pic>
      <p:sp>
        <p:nvSpPr>
          <p:cNvPr id="7" name="a-right-w-dt0"/>
          <p:cNvSpPr txBox="1"/>
          <p:nvPr/>
        </p:nvSpPr>
        <p:spPr>
          <a:xfrm>
            <a:off x="8641080" y="1600200"/>
            <a:ext cx="1645920" cy="365760"/>
          </a:xfrm>
          <a:prstGeom prst="rect">
            <a:avLst/>
          </a:prstGeom>
          <a:noFill/>
          <a:ln/>
        </p:spPr>
        <p:txBody>
          <a:bodyPr wrap="square" lIns="0" tIns="0" rIns="0" bIns="0" rtlCol="0" anchor="t"/>
          <a:lstStyle/>
          <a:p>
            <a:pPr indent="0" marL="0">
              <a:buNone/>
            </a:pPr>
            <a:r>
              <a:rPr lang="en-US" sz="1700" b="1" dirty="0">
                <a:solidFill>
                  <a:schemeClr val="tx2"/>
                </a:solidFill>
              </a:rPr>
              <a:t>Dial-Up</a:t>
            </a:r>
            <a:endParaRPr lang="en-US" sz="1700" dirty="0"/>
          </a:p>
        </p:txBody>
      </p:sp>
      <p:sp>
        <p:nvSpPr>
          <p:cNvPr id="8" name="a-right-w-dd0"/>
          <p:cNvSpPr txBox="1"/>
          <p:nvPr/>
        </p:nvSpPr>
        <p:spPr>
          <a:xfrm>
            <a:off x="8641080" y="2029968"/>
            <a:ext cx="1737360" cy="457200"/>
          </a:xfrm>
          <a:prstGeom prst="rect">
            <a:avLst/>
          </a:prstGeom>
          <a:noFill/>
          <a:ln/>
        </p:spPr>
        <p:txBody>
          <a:bodyPr wrap="square" lIns="0" tIns="0" rIns="0" bIns="0" rtlCol="0" anchor="t"/>
          <a:lstStyle/>
          <a:p>
            <a:pPr indent="0" marL="0">
              <a:buNone/>
            </a:pPr>
            <a:r>
              <a:rPr lang="en-US" sz="1250" dirty="0">
                <a:solidFill>
                  <a:schemeClr val="accent6"/>
                </a:solidFill>
              </a:rPr>
              <a:t>7 plans · from $50</a:t>
            </a:r>
            <a:endParaRPr lang="en-US" sz="1250" dirty="0"/>
          </a:p>
        </p:txBody>
      </p:sp>
      <p:sp>
        <p:nvSpPr>
          <p:cNvPr id="9" name="a-right-w-dv0"/>
          <p:cNvSpPr txBox="1"/>
          <p:nvPr/>
        </p:nvSpPr>
        <p:spPr>
          <a:xfrm>
            <a:off x="10241280" y="1645920"/>
            <a:ext cx="1234440" cy="502920"/>
          </a:xfrm>
          <a:prstGeom prst="rect">
            <a:avLst/>
          </a:prstGeom>
          <a:noFill/>
          <a:ln/>
        </p:spPr>
        <p:txBody>
          <a:bodyPr wrap="square" lIns="0" tIns="0" rIns="0" bIns="0" rtlCol="0" anchor="t"/>
          <a:lstStyle/>
          <a:p>
            <a:pPr algn="r" indent="0" marL="0">
              <a:buNone/>
            </a:pPr>
            <a:r>
              <a:rPr lang="en-US" sz="2400" b="1" dirty="0">
                <a:solidFill>
                  <a:schemeClr val="accent2"/>
                </a:solidFill>
              </a:rPr>
              <a:t>$325</a:t>
            </a:r>
            <a:endParaRPr lang="en-US" sz="2400" dirty="0"/>
          </a:p>
        </p:txBody>
      </p:sp>
      <p:sp>
        <p:nvSpPr>
          <p:cNvPr id="10" name="a-right-w-dl0"/>
          <p:cNvSpPr txBox="1"/>
          <p:nvPr/>
        </p:nvSpPr>
        <p:spPr>
          <a:xfrm>
            <a:off x="10241280" y="2148840"/>
            <a:ext cx="1234440" cy="320040"/>
          </a:xfrm>
          <a:prstGeom prst="rect">
            <a:avLst/>
          </a:prstGeom>
          <a:noFill/>
          <a:ln/>
        </p:spPr>
        <p:txBody>
          <a:bodyPr wrap="square" lIns="0" tIns="0" rIns="0" bIns="0" rtlCol="0" anchor="t"/>
          <a:lstStyle/>
          <a:p>
            <a:pPr algn="r" indent="0" marL="0">
              <a:buNone/>
            </a:pPr>
            <a:r>
              <a:rPr lang="en-US" sz="1200" dirty="0">
                <a:solidFill>
                  <a:schemeClr val="accent6"/>
                </a:solidFill>
              </a:rPr>
              <a:t>deposit</a:t>
            </a:r>
            <a:endParaRPr lang="en-US" sz="1200" dirty="0"/>
          </a:p>
        </p:txBody>
      </p:sp>
      <p:sp>
        <p:nvSpPr>
          <p:cNvPr id="11" name="a-right-dp1"/>
          <p:cNvSpPr/>
          <p:nvPr/>
        </p:nvSpPr>
        <p:spPr>
          <a:xfrm>
            <a:off x="7589520" y="2971800"/>
            <a:ext cx="4023360" cy="1371600"/>
          </a:xfrm>
          <a:prstGeom prst="roundRect">
            <a:avLst>
              <a:gd name="adj" fmla="val 8000"/>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2" name="a-right-w-di1"/>
          <p:cNvSpPr/>
          <p:nvPr/>
        </p:nvSpPr>
        <p:spPr>
          <a:xfrm>
            <a:off x="7818120" y="3337560"/>
            <a:ext cx="640080" cy="640080"/>
          </a:xfrm>
          <a:prstGeom prst="ellipse">
            <a:avLst/>
          </a:prstGeom>
          <a:solidFill>
            <a:schemeClr val="accent1"/>
          </a:solidFill>
          <a:ln/>
        </p:spPr>
      </p:sp>
      <p:pic>
        <p:nvPicPr>
          <p:cNvPr id="13" name="a-right-w-w-di1-i" descr="/tmp/claude-0/-home-user-done/4a4296a4-6fd8-5cee-98c2-5de0aee80c99/scratchpad/docs/img/icons/router-w.png">    </p:cNvPr>
          <p:cNvPicPr>
            <a:picLocks noChangeAspect="1"/>
          </p:cNvPicPr>
          <p:nvPr/>
        </p:nvPicPr>
        <p:blipFill>
          <a:blip r:embed="rId3"/>
          <a:stretch>
            <a:fillRect/>
          </a:stretch>
        </p:blipFill>
        <p:spPr>
          <a:xfrm>
            <a:off x="7978140" y="3497580"/>
            <a:ext cx="320040" cy="320040"/>
          </a:xfrm>
          <a:prstGeom prst="rect">
            <a:avLst/>
          </a:prstGeom>
        </p:spPr>
      </p:pic>
      <p:sp>
        <p:nvSpPr>
          <p:cNvPr id="14" name="a-right-w-dt1"/>
          <p:cNvSpPr txBox="1"/>
          <p:nvPr/>
        </p:nvSpPr>
        <p:spPr>
          <a:xfrm>
            <a:off x="8641080" y="3200400"/>
            <a:ext cx="1645920" cy="365760"/>
          </a:xfrm>
          <a:prstGeom prst="rect">
            <a:avLst/>
          </a:prstGeom>
          <a:noFill/>
          <a:ln/>
        </p:spPr>
        <p:txBody>
          <a:bodyPr wrap="square" lIns="0" tIns="0" rIns="0" bIns="0" rtlCol="0" anchor="t"/>
          <a:lstStyle/>
          <a:p>
            <a:pPr indent="0" marL="0">
              <a:buNone/>
            </a:pPr>
            <a:r>
              <a:rPr lang="en-US" sz="1700" b="1" dirty="0">
                <a:solidFill>
                  <a:schemeClr val="tx2"/>
                </a:solidFill>
              </a:rPr>
              <a:t>Broadband</a:t>
            </a:r>
            <a:endParaRPr lang="en-US" sz="1700" dirty="0"/>
          </a:p>
        </p:txBody>
      </p:sp>
      <p:sp>
        <p:nvSpPr>
          <p:cNvPr id="15" name="a-right-w-dd1"/>
          <p:cNvSpPr txBox="1"/>
          <p:nvPr/>
        </p:nvSpPr>
        <p:spPr>
          <a:xfrm>
            <a:off x="8641080" y="3630168"/>
            <a:ext cx="1737360" cy="457200"/>
          </a:xfrm>
          <a:prstGeom prst="rect">
            <a:avLst/>
          </a:prstGeom>
          <a:noFill/>
          <a:ln/>
        </p:spPr>
        <p:txBody>
          <a:bodyPr wrap="square" lIns="0" tIns="0" rIns="0" bIns="0" rtlCol="0" anchor="t"/>
          <a:lstStyle/>
          <a:p>
            <a:pPr indent="0" marL="0">
              <a:buNone/>
            </a:pPr>
            <a:r>
              <a:rPr lang="en-US" sz="1250" dirty="0">
                <a:solidFill>
                  <a:schemeClr val="accent6"/>
                </a:solidFill>
              </a:rPr>
              <a:t>6 plans · from $175</a:t>
            </a:r>
            <a:endParaRPr lang="en-US" sz="1250" dirty="0"/>
          </a:p>
        </p:txBody>
      </p:sp>
      <p:sp>
        <p:nvSpPr>
          <p:cNvPr id="16" name="a-right-w-dv1"/>
          <p:cNvSpPr txBox="1"/>
          <p:nvPr/>
        </p:nvSpPr>
        <p:spPr>
          <a:xfrm>
            <a:off x="10241280" y="3246120"/>
            <a:ext cx="1234440" cy="502920"/>
          </a:xfrm>
          <a:prstGeom prst="rect">
            <a:avLst/>
          </a:prstGeom>
          <a:noFill/>
          <a:ln/>
        </p:spPr>
        <p:txBody>
          <a:bodyPr wrap="square" lIns="0" tIns="0" rIns="0" bIns="0" rtlCol="0" anchor="t"/>
          <a:lstStyle/>
          <a:p>
            <a:pPr algn="r" indent="0" marL="0">
              <a:buNone/>
            </a:pPr>
            <a:r>
              <a:rPr lang="en-US" sz="2400" b="1" dirty="0">
                <a:solidFill>
                  <a:schemeClr val="accent2"/>
                </a:solidFill>
              </a:rPr>
              <a:t>$500</a:t>
            </a:r>
            <a:endParaRPr lang="en-US" sz="2400" dirty="0"/>
          </a:p>
        </p:txBody>
      </p:sp>
      <p:sp>
        <p:nvSpPr>
          <p:cNvPr id="17" name="a-right-w-dl1"/>
          <p:cNvSpPr txBox="1"/>
          <p:nvPr/>
        </p:nvSpPr>
        <p:spPr>
          <a:xfrm>
            <a:off x="10241280" y="3749040"/>
            <a:ext cx="1234440" cy="320040"/>
          </a:xfrm>
          <a:prstGeom prst="rect">
            <a:avLst/>
          </a:prstGeom>
          <a:noFill/>
          <a:ln/>
        </p:spPr>
        <p:txBody>
          <a:bodyPr wrap="square" lIns="0" tIns="0" rIns="0" bIns="0" rtlCol="0" anchor="t"/>
          <a:lstStyle/>
          <a:p>
            <a:pPr algn="r" indent="0" marL="0">
              <a:buNone/>
            </a:pPr>
            <a:r>
              <a:rPr lang="en-US" sz="1200" dirty="0">
                <a:solidFill>
                  <a:schemeClr val="accent6"/>
                </a:solidFill>
              </a:rPr>
              <a:t>deposit</a:t>
            </a:r>
            <a:endParaRPr lang="en-US" sz="1200" dirty="0"/>
          </a:p>
        </p:txBody>
      </p:sp>
      <p:sp>
        <p:nvSpPr>
          <p:cNvPr id="18" name="a-right-dp2"/>
          <p:cNvSpPr/>
          <p:nvPr/>
        </p:nvSpPr>
        <p:spPr>
          <a:xfrm>
            <a:off x="7589520" y="4572000"/>
            <a:ext cx="4023360" cy="1371600"/>
          </a:xfrm>
          <a:prstGeom prst="roundRect">
            <a:avLst>
              <a:gd name="adj" fmla="val 8000"/>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9" name="a-right-w-di2"/>
          <p:cNvSpPr/>
          <p:nvPr/>
        </p:nvSpPr>
        <p:spPr>
          <a:xfrm>
            <a:off x="7818120" y="4937760"/>
            <a:ext cx="640080" cy="640080"/>
          </a:xfrm>
          <a:prstGeom prst="ellipse">
            <a:avLst/>
          </a:prstGeom>
          <a:solidFill>
            <a:schemeClr val="accent1"/>
          </a:solidFill>
          <a:ln/>
        </p:spPr>
      </p:sp>
      <p:pic>
        <p:nvPicPr>
          <p:cNvPr id="20" name="a-right-w-w-di2-i" descr="/tmp/claude-0/-home-user-done/4a4296a4-6fd8-5cee-98c2-5de0aee80c99/scratchpad/docs/img/icons/phone-w.png">    </p:cNvPr>
          <p:cNvPicPr>
            <a:picLocks noChangeAspect="1"/>
          </p:cNvPicPr>
          <p:nvPr/>
        </p:nvPicPr>
        <p:blipFill>
          <a:blip r:embed="rId4"/>
          <a:stretch>
            <a:fillRect/>
          </a:stretch>
        </p:blipFill>
        <p:spPr>
          <a:xfrm>
            <a:off x="7978140" y="5097780"/>
            <a:ext cx="320040" cy="320040"/>
          </a:xfrm>
          <a:prstGeom prst="rect">
            <a:avLst/>
          </a:prstGeom>
        </p:spPr>
      </p:pic>
      <p:sp>
        <p:nvSpPr>
          <p:cNvPr id="21" name="a-right-w-dt2"/>
          <p:cNvSpPr txBox="1"/>
          <p:nvPr/>
        </p:nvSpPr>
        <p:spPr>
          <a:xfrm>
            <a:off x="8641080" y="4800600"/>
            <a:ext cx="1645920" cy="365760"/>
          </a:xfrm>
          <a:prstGeom prst="rect">
            <a:avLst/>
          </a:prstGeom>
          <a:noFill/>
          <a:ln/>
        </p:spPr>
        <p:txBody>
          <a:bodyPr wrap="square" lIns="0" tIns="0" rIns="0" bIns="0" rtlCol="0" anchor="t"/>
          <a:lstStyle/>
          <a:p>
            <a:pPr indent="0" marL="0">
              <a:buNone/>
            </a:pPr>
            <a:r>
              <a:rPr lang="en-US" sz="1700" b="1" dirty="0">
                <a:solidFill>
                  <a:schemeClr val="tx2"/>
                </a:solidFill>
              </a:rPr>
              <a:t>Landline</a:t>
            </a:r>
            <a:endParaRPr lang="en-US" sz="1700" dirty="0"/>
          </a:p>
        </p:txBody>
      </p:sp>
      <p:sp>
        <p:nvSpPr>
          <p:cNvPr id="22" name="a-right-w-dd2"/>
          <p:cNvSpPr txBox="1"/>
          <p:nvPr/>
        </p:nvSpPr>
        <p:spPr>
          <a:xfrm>
            <a:off x="8641080" y="5230368"/>
            <a:ext cx="1737360" cy="457200"/>
          </a:xfrm>
          <a:prstGeom prst="rect">
            <a:avLst/>
          </a:prstGeom>
          <a:noFill/>
          <a:ln/>
        </p:spPr>
        <p:txBody>
          <a:bodyPr wrap="square" lIns="0" tIns="0" rIns="0" bIns="0" rtlCol="0" anchor="t"/>
          <a:lstStyle/>
          <a:p>
            <a:pPr indent="0" marL="0">
              <a:buNone/>
            </a:pPr>
            <a:r>
              <a:rPr lang="en-US" sz="1250" dirty="0">
                <a:solidFill>
                  <a:schemeClr val="accent6"/>
                </a:solidFill>
              </a:rPr>
              <a:t>4 plans · from $35</a:t>
            </a:r>
            <a:endParaRPr lang="en-US" sz="1250" dirty="0"/>
          </a:p>
        </p:txBody>
      </p:sp>
      <p:sp>
        <p:nvSpPr>
          <p:cNvPr id="23" name="a-right-w-dv2"/>
          <p:cNvSpPr txBox="1"/>
          <p:nvPr/>
        </p:nvSpPr>
        <p:spPr>
          <a:xfrm>
            <a:off x="10241280" y="4846320"/>
            <a:ext cx="1234440" cy="502920"/>
          </a:xfrm>
          <a:prstGeom prst="rect">
            <a:avLst/>
          </a:prstGeom>
          <a:noFill/>
          <a:ln/>
        </p:spPr>
        <p:txBody>
          <a:bodyPr wrap="square" lIns="0" tIns="0" rIns="0" bIns="0" rtlCol="0" anchor="t"/>
          <a:lstStyle/>
          <a:p>
            <a:pPr algn="r" indent="0" marL="0">
              <a:buNone/>
            </a:pPr>
            <a:r>
              <a:rPr lang="en-US" sz="2400" b="1" dirty="0">
                <a:solidFill>
                  <a:schemeClr val="accent2"/>
                </a:solidFill>
              </a:rPr>
              <a:t>$250</a:t>
            </a:r>
            <a:endParaRPr lang="en-US" sz="2400" dirty="0"/>
          </a:p>
        </p:txBody>
      </p:sp>
      <p:sp>
        <p:nvSpPr>
          <p:cNvPr id="24" name="a-right-w-dl2"/>
          <p:cNvSpPr txBox="1"/>
          <p:nvPr/>
        </p:nvSpPr>
        <p:spPr>
          <a:xfrm>
            <a:off x="10241280" y="5349240"/>
            <a:ext cx="1234440" cy="320040"/>
          </a:xfrm>
          <a:prstGeom prst="rect">
            <a:avLst/>
          </a:prstGeom>
          <a:noFill/>
          <a:ln/>
        </p:spPr>
        <p:txBody>
          <a:bodyPr wrap="square" lIns="0" tIns="0" rIns="0" bIns="0" rtlCol="0" anchor="t"/>
          <a:lstStyle/>
          <a:p>
            <a:pPr algn="r" indent="0" marL="0">
              <a:buNone/>
            </a:pPr>
            <a:r>
              <a:rPr lang="en-US" sz="1200" dirty="0">
                <a:solidFill>
                  <a:schemeClr val="accent6"/>
                </a:solidFill>
              </a:rPr>
              <a:t>deposit</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20"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42" presetClass="entr" presetSubtype="0"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600"/>
                                        <p:tgtEl>
                                          <p:spTgt spid="3"/>
                                        </p:tgtEl>
                                      </p:cBhvr>
                                    </p:animEffect>
                                    <p:anim calcmode="lin" valueType="num">
                                      <p:cBhvr>
                                        <p:cTn id="9" dur="600" decel="100000" fill="hold"/>
                                        <p:tgtEl>
                                          <p:spTgt spid="3"/>
                                        </p:tgtEl>
                                        <p:attrNameLst>
                                          <p:attrName>ppt_x</p:attrName>
                                        </p:attrNameLst>
                                      </p:cBhvr>
                                      <p:tavLst>
                                        <p:tav tm="0">
                                          <p:val>
                                            <p:strVal val="#ppt_x"/>
                                          </p:val>
                                        </p:tav>
                                        <p:tav tm="100000">
                                          <p:val>
                                            <p:strVal val="#ppt_x"/>
                                          </p:val>
                                        </p:tav>
                                      </p:tavLst>
                                    </p:anim>
                                    <p:anim calcmode="lin" valueType="num">
                                      <p:cBhvr>
                                        <p:cTn id="10" dur="600" decel="100000" fill="hold"/>
                                        <p:tgtEl>
                                          <p:spTgt spid="3"/>
                                        </p:tgtEl>
                                        <p:attrNameLst>
                                          <p:attrName>ppt_y</p:attrName>
                                        </p:attrNameLst>
                                      </p:cBhvr>
                                      <p:tavLst>
                                        <p:tav tm="0">
                                          <p:val>
                                            <p:strVal val="#ppt_y+.08"/>
                                          </p:val>
                                        </p:tav>
                                        <p:tav tm="100000">
                                          <p:val>
                                            <p:strVal val="#ppt_y"/>
                                          </p:val>
                                        </p:tav>
                                      </p:tavLst>
                                    </p:anim>
                                  </p:childTnLst>
                                </p:cTn>
                              </p:par>
                              <p:par>
                                <p:cTn id="16" presetID="42" presetClass="entr" presetSubtype="0" fill="hold" grpId="0" nodeType="withEffect">
                                  <p:stCondLst>
                                    <p:cond delay="4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anim calcmode="lin" valueType="num">
                                      <p:cBhvr>
                                        <p:cTn id="14" dur="600" decel="100000" fill="hold"/>
                                        <p:tgtEl>
                                          <p:spTgt spid="4"/>
                                        </p:tgtEl>
                                        <p:attrNameLst>
                                          <p:attrName>ppt_x</p:attrName>
                                        </p:attrNameLst>
                                      </p:cBhvr>
                                      <p:tavLst>
                                        <p:tav tm="0">
                                          <p:val>
                                            <p:strVal val="#ppt_x+.08"/>
                                          </p:val>
                                        </p:tav>
                                        <p:tav tm="100000">
                                          <p:val>
                                            <p:strVal val="#ppt_x"/>
                                          </p:val>
                                        </p:tav>
                                      </p:tavLst>
                                    </p:anim>
                                    <p:anim calcmode="lin" valueType="num">
                                      <p:cBhvr>
                                        <p:cTn id="15" dur="600" decel="100000" fill="hold"/>
                                        <p:tgtEl>
                                          <p:spTgt spid="4"/>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4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08"/>
                                          </p:val>
                                        </p:tav>
                                        <p:tav tm="100000">
                                          <p:val>
                                            <p:strVal val="#ppt_x"/>
                                          </p:val>
                                        </p:tav>
                                      </p:tavLst>
                                    </p:anim>
                                    <p:anim calcmode="lin" valueType="num">
                                      <p:cBhvr>
                                        <p:cTn id="20" dur="600" decel="1000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08"/>
                                          </p:val>
                                        </p:tav>
                                        <p:tav tm="100000">
                                          <p:val>
                                            <p:strVal val="#ppt_x"/>
                                          </p:val>
                                        </p:tav>
                                      </p:tavLst>
                                    </p:anim>
                                    <p:anim calcmode="lin" valueType="num">
                                      <p:cBhvr>
                                        <p:cTn id="25" dur="600" decel="1000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4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08"/>
                                          </p:val>
                                        </p:tav>
                                        <p:tav tm="100000">
                                          <p:val>
                                            <p:strVal val="#ppt_x"/>
                                          </p:val>
                                        </p:tav>
                                      </p:tavLst>
                                    </p:anim>
                                    <p:anim calcmode="lin" valueType="num">
                                      <p:cBhvr>
                                        <p:cTn id="30" dur="600" decel="1000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08"/>
                                          </p:val>
                                        </p:tav>
                                        <p:tav tm="100000">
                                          <p:val>
                                            <p:strVal val="#ppt_x"/>
                                          </p:val>
                                        </p:tav>
                                      </p:tavLst>
                                    </p:anim>
                                    <p:anim calcmode="lin" valueType="num">
                                      <p:cBhvr>
                                        <p:cTn id="35" dur="600" decel="1000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4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08"/>
                                          </p:val>
                                        </p:tav>
                                        <p:tav tm="100000">
                                          <p:val>
                                            <p:strVal val="#ppt_x"/>
                                          </p:val>
                                        </p:tav>
                                      </p:tavLst>
                                    </p:anim>
                                    <p:anim calcmode="lin" valueType="num">
                                      <p:cBhvr>
                                        <p:cTn id="40" dur="600" decel="1000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4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08"/>
                                          </p:val>
                                        </p:tav>
                                        <p:tav tm="100000">
                                          <p:val>
                                            <p:strVal val="#ppt_x"/>
                                          </p:val>
                                        </p:tav>
                                      </p:tavLst>
                                    </p:anim>
                                    <p:anim calcmode="lin" valueType="num">
                                      <p:cBhvr>
                                        <p:cTn id="45" dur="600" decel="1000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6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08"/>
                                          </p:val>
                                        </p:tav>
                                        <p:tav tm="100000">
                                          <p:val>
                                            <p:strVal val="#ppt_x"/>
                                          </p:val>
                                        </p:tav>
                                      </p:tavLst>
                                    </p:anim>
                                    <p:anim calcmode="lin" valueType="num">
                                      <p:cBhvr>
                                        <p:cTn id="50" dur="600" decel="1000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6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08"/>
                                          </p:val>
                                        </p:tav>
                                        <p:tav tm="100000">
                                          <p:val>
                                            <p:strVal val="#ppt_x"/>
                                          </p:val>
                                        </p:tav>
                                      </p:tavLst>
                                    </p:anim>
                                    <p:anim calcmode="lin" valueType="num">
                                      <p:cBhvr>
                                        <p:cTn id="55" dur="600" decel="1000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6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08"/>
                                          </p:val>
                                        </p:tav>
                                        <p:tav tm="100000">
                                          <p:val>
                                            <p:strVal val="#ppt_x"/>
                                          </p:val>
                                        </p:tav>
                                      </p:tavLst>
                                    </p:anim>
                                    <p:anim calcmode="lin" valueType="num">
                                      <p:cBhvr>
                                        <p:cTn id="60" dur="600" decel="1000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6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08"/>
                                          </p:val>
                                        </p:tav>
                                        <p:tav tm="100000">
                                          <p:val>
                                            <p:strVal val="#ppt_x"/>
                                          </p:val>
                                        </p:tav>
                                      </p:tavLst>
                                    </p:anim>
                                    <p:anim calcmode="lin" valueType="num">
                                      <p:cBhvr>
                                        <p:cTn id="65" dur="600" decel="1000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6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p:cTn id="69" dur="600" decel="100000" fill="hold"/>
                                        <p:tgtEl>
                                          <p:spTgt spid="15"/>
                                        </p:tgtEl>
                                        <p:attrNameLst>
                                          <p:attrName>ppt_x</p:attrName>
                                        </p:attrNameLst>
                                      </p:cBhvr>
                                      <p:tavLst>
                                        <p:tav tm="0">
                                          <p:val>
                                            <p:strVal val="#ppt_x+.08"/>
                                          </p:val>
                                        </p:tav>
                                        <p:tav tm="100000">
                                          <p:val>
                                            <p:strVal val="#ppt_x"/>
                                          </p:val>
                                        </p:tav>
                                      </p:tavLst>
                                    </p:anim>
                                    <p:anim calcmode="lin" valueType="num">
                                      <p:cBhvr>
                                        <p:cTn id="70" dur="600" decel="1000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6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decel="100000" fill="hold"/>
                                        <p:tgtEl>
                                          <p:spTgt spid="16"/>
                                        </p:tgtEl>
                                        <p:attrNameLst>
                                          <p:attrName>ppt_x</p:attrName>
                                        </p:attrNameLst>
                                      </p:cBhvr>
                                      <p:tavLst>
                                        <p:tav tm="0">
                                          <p:val>
                                            <p:strVal val="#ppt_x+.08"/>
                                          </p:val>
                                        </p:tav>
                                        <p:tav tm="100000">
                                          <p:val>
                                            <p:strVal val="#ppt_x"/>
                                          </p:val>
                                        </p:tav>
                                      </p:tavLst>
                                    </p:anim>
                                    <p:anim calcmode="lin" valueType="num">
                                      <p:cBhvr>
                                        <p:cTn id="75" dur="600" decel="1000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6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600"/>
                                        <p:tgtEl>
                                          <p:spTgt spid="17"/>
                                        </p:tgtEl>
                                      </p:cBhvr>
                                    </p:animEffect>
                                    <p:anim calcmode="lin" valueType="num">
                                      <p:cBhvr>
                                        <p:cTn id="79" dur="600" decel="100000" fill="hold"/>
                                        <p:tgtEl>
                                          <p:spTgt spid="17"/>
                                        </p:tgtEl>
                                        <p:attrNameLst>
                                          <p:attrName>ppt_x</p:attrName>
                                        </p:attrNameLst>
                                      </p:cBhvr>
                                      <p:tavLst>
                                        <p:tav tm="0">
                                          <p:val>
                                            <p:strVal val="#ppt_x+.08"/>
                                          </p:val>
                                        </p:tav>
                                        <p:tav tm="100000">
                                          <p:val>
                                            <p:strVal val="#ppt_x"/>
                                          </p:val>
                                        </p:tav>
                                      </p:tavLst>
                                    </p:anim>
                                    <p:anim calcmode="lin" valueType="num">
                                      <p:cBhvr>
                                        <p:cTn id="80" dur="600" decel="1000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8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600"/>
                                        <p:tgtEl>
                                          <p:spTgt spid="18"/>
                                        </p:tgtEl>
                                      </p:cBhvr>
                                    </p:animEffect>
                                    <p:anim calcmode="lin" valueType="num">
                                      <p:cBhvr>
                                        <p:cTn id="84" dur="600" decel="100000" fill="hold"/>
                                        <p:tgtEl>
                                          <p:spTgt spid="18"/>
                                        </p:tgtEl>
                                        <p:attrNameLst>
                                          <p:attrName>ppt_x</p:attrName>
                                        </p:attrNameLst>
                                      </p:cBhvr>
                                      <p:tavLst>
                                        <p:tav tm="0">
                                          <p:val>
                                            <p:strVal val="#ppt_x+.08"/>
                                          </p:val>
                                        </p:tav>
                                        <p:tav tm="100000">
                                          <p:val>
                                            <p:strVal val="#ppt_x"/>
                                          </p:val>
                                        </p:tav>
                                      </p:tavLst>
                                    </p:anim>
                                    <p:anim calcmode="lin" valueType="num">
                                      <p:cBhvr>
                                        <p:cTn id="85" dur="600" decel="1000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8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600"/>
                                        <p:tgtEl>
                                          <p:spTgt spid="19"/>
                                        </p:tgtEl>
                                      </p:cBhvr>
                                    </p:animEffect>
                                    <p:anim calcmode="lin" valueType="num">
                                      <p:cBhvr>
                                        <p:cTn id="89" dur="600" decel="100000" fill="hold"/>
                                        <p:tgtEl>
                                          <p:spTgt spid="19"/>
                                        </p:tgtEl>
                                        <p:attrNameLst>
                                          <p:attrName>ppt_x</p:attrName>
                                        </p:attrNameLst>
                                      </p:cBhvr>
                                      <p:tavLst>
                                        <p:tav tm="0">
                                          <p:val>
                                            <p:strVal val="#ppt_x+.08"/>
                                          </p:val>
                                        </p:tav>
                                        <p:tav tm="100000">
                                          <p:val>
                                            <p:strVal val="#ppt_x"/>
                                          </p:val>
                                        </p:tav>
                                      </p:tavLst>
                                    </p:anim>
                                    <p:anim calcmode="lin" valueType="num">
                                      <p:cBhvr>
                                        <p:cTn id="90" dur="600" decel="1000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8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600"/>
                                        <p:tgtEl>
                                          <p:spTgt spid="20"/>
                                        </p:tgtEl>
                                      </p:cBhvr>
                                    </p:animEffect>
                                    <p:anim calcmode="lin" valueType="num">
                                      <p:cBhvr>
                                        <p:cTn id="94" dur="600" decel="100000" fill="hold"/>
                                        <p:tgtEl>
                                          <p:spTgt spid="20"/>
                                        </p:tgtEl>
                                        <p:attrNameLst>
                                          <p:attrName>ppt_x</p:attrName>
                                        </p:attrNameLst>
                                      </p:cBhvr>
                                      <p:tavLst>
                                        <p:tav tm="0">
                                          <p:val>
                                            <p:strVal val="#ppt_x+.08"/>
                                          </p:val>
                                        </p:tav>
                                        <p:tav tm="100000">
                                          <p:val>
                                            <p:strVal val="#ppt_x"/>
                                          </p:val>
                                        </p:tav>
                                      </p:tavLst>
                                    </p:anim>
                                    <p:anim calcmode="lin" valueType="num">
                                      <p:cBhvr>
                                        <p:cTn id="95" dur="600" decel="1000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8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600"/>
                                        <p:tgtEl>
                                          <p:spTgt spid="21"/>
                                        </p:tgtEl>
                                      </p:cBhvr>
                                    </p:animEffect>
                                    <p:anim calcmode="lin" valueType="num">
                                      <p:cBhvr>
                                        <p:cTn id="99" dur="600" decel="100000" fill="hold"/>
                                        <p:tgtEl>
                                          <p:spTgt spid="21"/>
                                        </p:tgtEl>
                                        <p:attrNameLst>
                                          <p:attrName>ppt_x</p:attrName>
                                        </p:attrNameLst>
                                      </p:cBhvr>
                                      <p:tavLst>
                                        <p:tav tm="0">
                                          <p:val>
                                            <p:strVal val="#ppt_x+.08"/>
                                          </p:val>
                                        </p:tav>
                                        <p:tav tm="100000">
                                          <p:val>
                                            <p:strVal val="#ppt_x"/>
                                          </p:val>
                                        </p:tav>
                                      </p:tavLst>
                                    </p:anim>
                                    <p:anim calcmode="lin" valueType="num">
                                      <p:cBhvr>
                                        <p:cTn id="100" dur="600" decel="1000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8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600"/>
                                        <p:tgtEl>
                                          <p:spTgt spid="22"/>
                                        </p:tgtEl>
                                      </p:cBhvr>
                                    </p:animEffect>
                                    <p:anim calcmode="lin" valueType="num">
                                      <p:cBhvr>
                                        <p:cTn id="104" dur="600" decel="100000" fill="hold"/>
                                        <p:tgtEl>
                                          <p:spTgt spid="22"/>
                                        </p:tgtEl>
                                        <p:attrNameLst>
                                          <p:attrName>ppt_x</p:attrName>
                                        </p:attrNameLst>
                                      </p:cBhvr>
                                      <p:tavLst>
                                        <p:tav tm="0">
                                          <p:val>
                                            <p:strVal val="#ppt_x+.08"/>
                                          </p:val>
                                        </p:tav>
                                        <p:tav tm="100000">
                                          <p:val>
                                            <p:strVal val="#ppt_x"/>
                                          </p:val>
                                        </p:tav>
                                      </p:tavLst>
                                    </p:anim>
                                    <p:anim calcmode="lin" valueType="num">
                                      <p:cBhvr>
                                        <p:cTn id="105" dur="600" decel="1000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8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600"/>
                                        <p:tgtEl>
                                          <p:spTgt spid="23"/>
                                        </p:tgtEl>
                                      </p:cBhvr>
                                    </p:animEffect>
                                    <p:anim calcmode="lin" valueType="num">
                                      <p:cBhvr>
                                        <p:cTn id="109" dur="600" decel="100000" fill="hold"/>
                                        <p:tgtEl>
                                          <p:spTgt spid="23"/>
                                        </p:tgtEl>
                                        <p:attrNameLst>
                                          <p:attrName>ppt_x</p:attrName>
                                        </p:attrNameLst>
                                      </p:cBhvr>
                                      <p:tavLst>
                                        <p:tav tm="0">
                                          <p:val>
                                            <p:strVal val="#ppt_x+.08"/>
                                          </p:val>
                                        </p:tav>
                                        <p:tav tm="100000">
                                          <p:val>
                                            <p:strVal val="#ppt_x"/>
                                          </p:val>
                                        </p:tav>
                                      </p:tavLst>
                                    </p:anim>
                                    <p:anim calcmode="lin" valueType="num">
                                      <p:cBhvr>
                                        <p:cTn id="110" dur="600" decel="1000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8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600"/>
                                        <p:tgtEl>
                                          <p:spTgt spid="24"/>
                                        </p:tgtEl>
                                      </p:cBhvr>
                                    </p:animEffect>
                                    <p:anim calcmode="lin" valueType="num">
                                      <p:cBhvr>
                                        <p:cTn id="114" dur="600" decel="100000" fill="hold"/>
                                        <p:tgtEl>
                                          <p:spTgt spid="24"/>
                                        </p:tgtEl>
                                        <p:attrNameLst>
                                          <p:attrName>ppt_x</p:attrName>
                                        </p:attrNameLst>
                                      </p:cBhvr>
                                      <p:tavLst>
                                        <p:tav tm="0">
                                          <p:val>
                                            <p:strVal val="#ppt_x+.08"/>
                                          </p:val>
                                        </p:tav>
                                        <p:tav tm="100000">
                                          <p:val>
                                            <p:strVal val="#ppt_x"/>
                                          </p:val>
                                        </p:tav>
                                      </p:tavLst>
                                    </p:anim>
                                    <p:anim calcmode="lin" valueType="num">
                                      <p:cBhvr>
                                        <p:cTn id="115" dur="600" decel="100000" fill="hold"/>
                                        <p:tgtEl>
                                          <p:spTgt spid="24"/>
                                        </p:tgtEl>
                                        <p:attrNameLst>
                                          <p:attrName>ppt_y</p:attrName>
                                        </p:attrNameLst>
                                      </p:cBhvr>
                                      <p:tavLst>
                                        <p:tav tm="0">
                                          <p:val>
                                            <p:strVal val="#ppt_y"/>
                                          </p:val>
                                        </p:tav>
                                        <p:tav tm="100000">
                                          <p:val>
                                            <p:strVal val="#ppt_y"/>
                                          </p:val>
                                        </p:tav>
                                      </p:tavLst>
                                    </p:anim>
                                  </p:childTnLst>
                                </p:cTn>
                              </p:par>
                              <p:par>
                                <p:cTn id="119" presetID="10" presetClass="entr" presetSubtype="0" fill="hold" grpId="0" nodeType="withEffect">
                                  <p:stCondLst>
                                    <p:cond delay="10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3" grpId="0">
        <p:bldAsOne/>
      </p:bldGraphic>
      <p:bldP spid="7" grpId="0" animBg="1"/>
      <p:bldP spid="8" grpId="0" animBg="1"/>
      <p:bldP spid="9" grpId="0" animBg="1"/>
      <p:bldP spid="10" grpId="0" animBg="1"/>
      <p:bldP spid="14" grpId="0" animBg="1"/>
      <p:bldP spid="15" grpId="0" animBg="1"/>
      <p:bldP spid="16" grpId="0" animBg="1"/>
      <p:bldP spid="17" grpId="0" animBg="1"/>
      <p:bldP spid="21" grpId="0" animBg="1"/>
      <p:bldP spid="22" grpId="0" animBg="1"/>
      <p:bldP spid="23" grpId="0" animBg="1"/>
      <p:bldP spid="24"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Postpaid control: unpaid bills matter</a:t>
            </a:r>
            <a:endParaRPr lang="en-US" sz="3200" dirty="0"/>
          </a:p>
        </p:txBody>
      </p:sp>
      <p:sp>
        <p:nvSpPr>
          <p:cNvPr id="3" name="a-zoom-conn"/>
          <p:cNvSpPr/>
          <p:nvPr/>
        </p:nvSpPr>
        <p:spPr>
          <a:xfrm>
            <a:off x="493776" y="1362456"/>
            <a:ext cx="5961888" cy="2185416"/>
          </a:xfrm>
          <a:prstGeom prst="roundRect">
            <a:avLst>
              <a:gd name="adj" fmla="val 3347"/>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4" name="a-zoom-w-conn-img" descr="/tmp/claude-0/-home-user-done/4a4296a4-6fd8-5cee-98c2-5de0aee80c99/scratchpad/docs/img/connection-lifecycle.png">    </p:cNvPr>
          <p:cNvPicPr>
            <a:picLocks noChangeAspect="1"/>
          </p:cNvPicPr>
          <p:nvPr/>
        </p:nvPicPr>
        <p:blipFill>
          <a:blip r:embed="rId1"/>
          <a:stretch>
            <a:fillRect/>
          </a:stretch>
        </p:blipFill>
        <p:spPr>
          <a:xfrm>
            <a:off x="548640" y="1417320"/>
            <a:ext cx="5852160" cy="2075688"/>
          </a:xfrm>
          <a:prstGeom prst="rect">
            <a:avLst/>
          </a:prstGeom>
        </p:spPr>
      </p:pic>
      <p:sp>
        <p:nvSpPr>
          <p:cNvPr id="5" name="a-zoom-w-od"/>
          <p:cNvSpPr/>
          <p:nvPr/>
        </p:nvSpPr>
        <p:spPr>
          <a:xfrm>
            <a:off x="6757416" y="1362456"/>
            <a:ext cx="4910328" cy="3108960"/>
          </a:xfrm>
          <a:prstGeom prst="roundRect">
            <a:avLst>
              <a:gd name="adj" fmla="val 2353"/>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6" name="a-zoom-w-w-od-img" descr="/tmp/claude-0/-home-user-done/4a4296a4-6fd8-5cee-98c2-5de0aee80c99/scratchpad/docs/img/ui-tech-overdue.jpg">    </p:cNvPr>
          <p:cNvPicPr>
            <a:picLocks noChangeAspect="1"/>
          </p:cNvPicPr>
          <p:nvPr/>
        </p:nvPicPr>
        <p:blipFill>
          <a:blip r:embed="rId2"/>
          <a:stretch>
            <a:fillRect/>
          </a:stretch>
        </p:blipFill>
        <p:spPr>
          <a:xfrm>
            <a:off x="6812280" y="1417320"/>
            <a:ext cx="4800600" cy="2999232"/>
          </a:xfrm>
          <a:prstGeom prst="rect">
            <a:avLst/>
          </a:prstGeom>
        </p:spPr>
      </p:pic>
      <p:sp>
        <p:nvSpPr>
          <p:cNvPr id="7" name="a-up-pp0"/>
          <p:cNvSpPr/>
          <p:nvPr/>
        </p:nvSpPr>
        <p:spPr>
          <a:xfrm>
            <a:off x="548640" y="4709160"/>
            <a:ext cx="3520440" cy="1325880"/>
          </a:xfrm>
          <a:prstGeom prst="roundRect">
            <a:avLst>
              <a:gd name="adj" fmla="val 8276"/>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8" name="a-up-w-ppt0"/>
          <p:cNvSpPr txBox="1"/>
          <p:nvPr/>
        </p:nvSpPr>
        <p:spPr>
          <a:xfrm>
            <a:off x="822960" y="4846320"/>
            <a:ext cx="3017520" cy="365760"/>
          </a:xfrm>
          <a:prstGeom prst="rect">
            <a:avLst/>
          </a:prstGeom>
          <a:noFill/>
          <a:ln/>
        </p:spPr>
        <p:txBody>
          <a:bodyPr wrap="square" lIns="0" tIns="0" rIns="0" bIns="0" rtlCol="0" anchor="t"/>
          <a:lstStyle/>
          <a:p>
            <a:pPr indent="0" marL="0">
              <a:buNone/>
            </a:pPr>
            <a:r>
              <a:rPr lang="en-US" sz="1700" b="1" dirty="0">
                <a:solidFill>
                  <a:schemeClr val="tx2"/>
                </a:solidFill>
              </a:rPr>
              <a:t>1. Overdue list</a:t>
            </a:r>
            <a:endParaRPr lang="en-US" sz="1700" dirty="0"/>
          </a:p>
        </p:txBody>
      </p:sp>
      <p:sp>
        <p:nvSpPr>
          <p:cNvPr id="9" name="a-up-w-ppd0"/>
          <p:cNvSpPr txBox="1"/>
          <p:nvPr/>
        </p:nvSpPr>
        <p:spPr>
          <a:xfrm>
            <a:off x="822960" y="5257800"/>
            <a:ext cx="3017520" cy="731520"/>
          </a:xfrm>
          <a:prstGeom prst="rect">
            <a:avLst/>
          </a:prstGeom>
          <a:noFill/>
          <a:ln/>
        </p:spPr>
        <p:txBody>
          <a:bodyPr wrap="square" lIns="0" tIns="0" rIns="0" bIns="0" rtlCol="0" anchor="t"/>
          <a:lstStyle/>
          <a:p>
            <a:pPr indent="0" marL="0">
              <a:buNone/>
            </a:pPr>
            <a:r>
              <a:rPr lang="en-US" sz="1300" dirty="0">
                <a:solidFill>
                  <a:schemeClr val="accent6"/>
                </a:solidFill>
              </a:rPr>
              <a:t>Active connections with a bill past its due date and not fully paid.</a:t>
            </a:r>
            <a:endParaRPr lang="en-US" sz="1300" dirty="0"/>
          </a:p>
        </p:txBody>
      </p:sp>
      <p:sp>
        <p:nvSpPr>
          <p:cNvPr id="10" name="a-up-pp1"/>
          <p:cNvSpPr/>
          <p:nvPr/>
        </p:nvSpPr>
        <p:spPr>
          <a:xfrm>
            <a:off x="4297680" y="4709160"/>
            <a:ext cx="3520440" cy="1325880"/>
          </a:xfrm>
          <a:prstGeom prst="roundRect">
            <a:avLst>
              <a:gd name="adj" fmla="val 8276"/>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1" name="a-up-w-ppt1"/>
          <p:cNvSpPr txBox="1"/>
          <p:nvPr/>
        </p:nvSpPr>
        <p:spPr>
          <a:xfrm>
            <a:off x="4572000" y="4846320"/>
            <a:ext cx="3017520" cy="365760"/>
          </a:xfrm>
          <a:prstGeom prst="rect">
            <a:avLst/>
          </a:prstGeom>
          <a:noFill/>
          <a:ln/>
        </p:spPr>
        <p:txBody>
          <a:bodyPr wrap="square" lIns="0" tIns="0" rIns="0" bIns="0" rtlCol="0" anchor="t"/>
          <a:lstStyle/>
          <a:p>
            <a:pPr indent="0" marL="0">
              <a:buNone/>
            </a:pPr>
            <a:r>
              <a:rPr lang="en-US" sz="1700" b="1" dirty="0">
                <a:solidFill>
                  <a:schemeClr val="accent5"/>
                </a:solidFill>
              </a:rPr>
              <a:t>2. Suspend</a:t>
            </a:r>
            <a:endParaRPr lang="en-US" sz="1700" dirty="0"/>
          </a:p>
        </p:txBody>
      </p:sp>
      <p:sp>
        <p:nvSpPr>
          <p:cNvPr id="12" name="a-up-w-ppd1"/>
          <p:cNvSpPr txBox="1"/>
          <p:nvPr/>
        </p:nvSpPr>
        <p:spPr>
          <a:xfrm>
            <a:off x="4572000" y="5257800"/>
            <a:ext cx="3017520" cy="731520"/>
          </a:xfrm>
          <a:prstGeom prst="rect">
            <a:avLst/>
          </a:prstGeom>
          <a:noFill/>
          <a:ln/>
        </p:spPr>
        <p:txBody>
          <a:bodyPr wrap="square" lIns="0" tIns="0" rIns="0" bIns="0" rtlCol="0" anchor="t"/>
          <a:lstStyle/>
          <a:p>
            <a:pPr indent="0" marL="0">
              <a:buNone/>
            </a:pPr>
            <a:r>
              <a:rPr lang="en-US" sz="1300" dirty="0">
                <a:solidFill>
                  <a:schemeClr val="accent6"/>
                </a:solidFill>
              </a:rPr>
              <a:t>One click sets one or all of them temporarily inactive.</a:t>
            </a:r>
            <a:endParaRPr lang="en-US" sz="1300" dirty="0"/>
          </a:p>
        </p:txBody>
      </p:sp>
      <p:sp>
        <p:nvSpPr>
          <p:cNvPr id="13" name="a-up-pp2"/>
          <p:cNvSpPr/>
          <p:nvPr/>
        </p:nvSpPr>
        <p:spPr>
          <a:xfrm>
            <a:off x="8046720" y="4709160"/>
            <a:ext cx="3520440" cy="1325880"/>
          </a:xfrm>
          <a:prstGeom prst="roundRect">
            <a:avLst>
              <a:gd name="adj" fmla="val 8276"/>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4" name="a-up-w-ppt2"/>
          <p:cNvSpPr txBox="1"/>
          <p:nvPr/>
        </p:nvSpPr>
        <p:spPr>
          <a:xfrm>
            <a:off x="8321040" y="4846320"/>
            <a:ext cx="3017520" cy="365760"/>
          </a:xfrm>
          <a:prstGeom prst="rect">
            <a:avLst/>
          </a:prstGeom>
          <a:noFill/>
          <a:ln/>
        </p:spPr>
        <p:txBody>
          <a:bodyPr wrap="square" lIns="0" tIns="0" rIns="0" bIns="0" rtlCol="0" anchor="t"/>
          <a:lstStyle/>
          <a:p>
            <a:pPr indent="0" marL="0">
              <a:buNone/>
            </a:pPr>
            <a:r>
              <a:rPr lang="en-US" sz="1700" b="1" dirty="0">
                <a:solidFill>
                  <a:schemeClr val="tx2"/>
                </a:solidFill>
              </a:rPr>
              <a:t>3. Reactivate</a:t>
            </a:r>
            <a:endParaRPr lang="en-US" sz="1700" dirty="0"/>
          </a:p>
        </p:txBody>
      </p:sp>
      <p:sp>
        <p:nvSpPr>
          <p:cNvPr id="15" name="a-up-w-ppd2"/>
          <p:cNvSpPr txBox="1"/>
          <p:nvPr/>
        </p:nvSpPr>
        <p:spPr>
          <a:xfrm>
            <a:off x="8321040" y="5257800"/>
            <a:ext cx="3017520" cy="731520"/>
          </a:xfrm>
          <a:prstGeom prst="rect">
            <a:avLst/>
          </a:prstGeom>
          <a:noFill/>
          <a:ln/>
        </p:spPr>
        <p:txBody>
          <a:bodyPr wrap="square" lIns="0" tIns="0" rIns="0" bIns="0" rtlCol="0" anchor="t"/>
          <a:lstStyle/>
          <a:p>
            <a:pPr indent="0" marL="0">
              <a:buNone/>
            </a:pPr>
            <a:r>
              <a:rPr lang="en-US" sz="1300" dirty="0">
                <a:solidFill>
                  <a:schemeClr val="accent6"/>
                </a:solidFill>
              </a:rPr>
              <a:t>When every bill is paid the connection is offered for reactivation.</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5"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53" presetClass="entr" presetSubtype="16"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 calcmode="lin" valueType="num">
                                      <p:cBhvr>
                                        <p:cTn id="9" dur="650" decel="100000" fill="hold"/>
                                        <p:tgtEl>
                                          <p:spTgt spid="3"/>
                                        </p:tgtEl>
                                        <p:attrNameLst>
                                          <p:attrName>ppt_w</p:attrName>
                                        </p:attrNameLst>
                                      </p:cBhvr>
                                      <p:tavLst>
                                        <p:tav tm="0">
                                          <p:val>
                                            <p:strVal val="#ppt_w*0.7"/>
                                          </p:val>
                                        </p:tav>
                                        <p:tav tm="100000">
                                          <p:val>
                                            <p:strVal val="#ppt_w"/>
                                          </p:val>
                                        </p:tav>
                                      </p:tavLst>
                                    </p:anim>
                                    <p:anim calcmode="lin" valueType="num">
                                      <p:cBhvr>
                                        <p:cTn id="10" dur="650" decel="100000" fill="hold"/>
                                        <p:tgtEl>
                                          <p:spTgt spid="3"/>
                                        </p:tgtEl>
                                        <p:attrNameLst>
                                          <p:attrName>ppt_h</p:attrName>
                                        </p:attrNameLst>
                                      </p:cBhvr>
                                      <p:tavLst>
                                        <p:tav tm="0">
                                          <p:val>
                                            <p:strVal val="#ppt_h*0.7"/>
                                          </p:val>
                                        </p:tav>
                                        <p:tav tm="100000">
                                          <p:val>
                                            <p:strVal val="#ppt_h"/>
                                          </p:val>
                                        </p:tav>
                                      </p:tavLst>
                                    </p:anim>
                                    <p:animEffect transition="in" filter="fade">
                                      <p:cBhvr>
                                        <p:cTn id="8" dur="650"/>
                                        <p:tgtEl>
                                          <p:spTgt spid="3"/>
                                        </p:tgtEl>
                                      </p:cBhvr>
                                    </p:animEffect>
                                  </p:childTnLst>
                                </p:cTn>
                              </p:par>
                              <p:par>
                                <p:cTn id="16" presetID="53" presetClass="entr" presetSubtype="16"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 calcmode="lin" valueType="num">
                                      <p:cBhvr>
                                        <p:cTn id="14" dur="650" decel="100000" fill="hold"/>
                                        <p:tgtEl>
                                          <p:spTgt spid="4"/>
                                        </p:tgtEl>
                                        <p:attrNameLst>
                                          <p:attrName>ppt_w</p:attrName>
                                        </p:attrNameLst>
                                      </p:cBhvr>
                                      <p:tavLst>
                                        <p:tav tm="0">
                                          <p:val>
                                            <p:strVal val="#ppt_w*0.7"/>
                                          </p:val>
                                        </p:tav>
                                        <p:tav tm="100000">
                                          <p:val>
                                            <p:strVal val="#ppt_w"/>
                                          </p:val>
                                        </p:tav>
                                      </p:tavLst>
                                    </p:anim>
                                    <p:anim calcmode="lin" valueType="num">
                                      <p:cBhvr>
                                        <p:cTn id="15" dur="650" decel="100000" fill="hold"/>
                                        <p:tgtEl>
                                          <p:spTgt spid="4"/>
                                        </p:tgtEl>
                                        <p:attrNameLst>
                                          <p:attrName>ppt_h</p:attrName>
                                        </p:attrNameLst>
                                      </p:cBhvr>
                                      <p:tavLst>
                                        <p:tav tm="0">
                                          <p:val>
                                            <p:strVal val="#ppt_h*0.7"/>
                                          </p:val>
                                        </p:tav>
                                        <p:tav tm="100000">
                                          <p:val>
                                            <p:strVal val="#ppt_h"/>
                                          </p:val>
                                        </p:tav>
                                      </p:tavLst>
                                    </p:anim>
                                    <p:animEffect transition="in" filter="fade">
                                      <p:cBhvr>
                                        <p:cTn id="13" dur="650"/>
                                        <p:tgtEl>
                                          <p:spTgt spid="4"/>
                                        </p:tgtEl>
                                      </p:cBhvr>
                                    </p:animEffect>
                                  </p:childTnLst>
                                </p:cTn>
                              </p:par>
                              <p:par>
                                <p:cTn id="21" presetID="53" presetClass="entr" presetSubtype="16"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 calcmode="lin" valueType="num">
                                      <p:cBhvr>
                                        <p:cTn id="19" dur="650" decel="100000" fill="hold"/>
                                        <p:tgtEl>
                                          <p:spTgt spid="5"/>
                                        </p:tgtEl>
                                        <p:attrNameLst>
                                          <p:attrName>ppt_w</p:attrName>
                                        </p:attrNameLst>
                                      </p:cBhvr>
                                      <p:tavLst>
                                        <p:tav tm="0">
                                          <p:val>
                                            <p:strVal val="#ppt_w*0.7"/>
                                          </p:val>
                                        </p:tav>
                                        <p:tav tm="100000">
                                          <p:val>
                                            <p:strVal val="#ppt_w"/>
                                          </p:val>
                                        </p:tav>
                                      </p:tavLst>
                                    </p:anim>
                                    <p:anim calcmode="lin" valueType="num">
                                      <p:cBhvr>
                                        <p:cTn id="20" dur="650" decel="100000" fill="hold"/>
                                        <p:tgtEl>
                                          <p:spTgt spid="5"/>
                                        </p:tgtEl>
                                        <p:attrNameLst>
                                          <p:attrName>ppt_h</p:attrName>
                                        </p:attrNameLst>
                                      </p:cBhvr>
                                      <p:tavLst>
                                        <p:tav tm="0">
                                          <p:val>
                                            <p:strVal val="#ppt_h*0.7"/>
                                          </p:val>
                                        </p:tav>
                                        <p:tav tm="100000">
                                          <p:val>
                                            <p:strVal val="#ppt_h"/>
                                          </p:val>
                                        </p:tav>
                                      </p:tavLst>
                                    </p:anim>
                                    <p:animEffect transition="in" filter="fade">
                                      <p:cBhvr>
                                        <p:cTn id="18" dur="650"/>
                                        <p:tgtEl>
                                          <p:spTgt spid="5"/>
                                        </p:tgtEl>
                                      </p:cBhvr>
                                    </p:animEffect>
                                  </p:childTnLst>
                                </p:cTn>
                              </p:par>
                              <p:par>
                                <p:cTn id="26" presetID="53" presetClass="entr" presetSubtype="16"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 calcmode="lin" valueType="num">
                                      <p:cBhvr>
                                        <p:cTn id="24" dur="650" decel="100000" fill="hold"/>
                                        <p:tgtEl>
                                          <p:spTgt spid="6"/>
                                        </p:tgtEl>
                                        <p:attrNameLst>
                                          <p:attrName>ppt_w</p:attrName>
                                        </p:attrNameLst>
                                      </p:cBhvr>
                                      <p:tavLst>
                                        <p:tav tm="0">
                                          <p:val>
                                            <p:strVal val="#ppt_w*0.7"/>
                                          </p:val>
                                        </p:tav>
                                        <p:tav tm="100000">
                                          <p:val>
                                            <p:strVal val="#ppt_w"/>
                                          </p:val>
                                        </p:tav>
                                      </p:tavLst>
                                    </p:anim>
                                    <p:anim calcmode="lin" valueType="num">
                                      <p:cBhvr>
                                        <p:cTn id="25" dur="650" decel="100000" fill="hold"/>
                                        <p:tgtEl>
                                          <p:spTgt spid="6"/>
                                        </p:tgtEl>
                                        <p:attrNameLst>
                                          <p:attrName>ppt_h</p:attrName>
                                        </p:attrNameLst>
                                      </p:cBhvr>
                                      <p:tavLst>
                                        <p:tav tm="0">
                                          <p:val>
                                            <p:strVal val="#ppt_h*0.7"/>
                                          </p:val>
                                        </p:tav>
                                        <p:tav tm="100000">
                                          <p:val>
                                            <p:strVal val="#ppt_h"/>
                                          </p:val>
                                        </p:tav>
                                      </p:tavLst>
                                    </p:anim>
                                    <p:animEffect transition="in" filter="fade">
                                      <p:cBhvr>
                                        <p:cTn id="23" dur="650"/>
                                        <p:tgtEl>
                                          <p:spTgt spid="6"/>
                                        </p:tgtEl>
                                      </p:cBhvr>
                                    </p:animEffect>
                                  </p:childTnLst>
                                </p:cTn>
                              </p:par>
                              <p:par>
                                <p:cTn id="31" presetID="42" presetClass="entr" presetSubtype="0" fill="hold" grpId="0" nodeType="withEffect">
                                  <p:stCondLst>
                                    <p:cond delay="4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
                                          </p:val>
                                        </p:tav>
                                        <p:tav tm="100000">
                                          <p:val>
                                            <p:strVal val="#ppt_x"/>
                                          </p:val>
                                        </p:tav>
                                      </p:tavLst>
                                    </p:anim>
                                    <p:anim calcmode="lin" valueType="num">
                                      <p:cBhvr>
                                        <p:cTn id="30" dur="600" decel="100000" fill="hold"/>
                                        <p:tgtEl>
                                          <p:spTgt spid="7"/>
                                        </p:tgtEl>
                                        <p:attrNameLst>
                                          <p:attrName>ppt_y</p:attrName>
                                        </p:attrNameLst>
                                      </p:cBhvr>
                                      <p:tavLst>
                                        <p:tav tm="0">
                                          <p:val>
                                            <p:strVal val="#ppt_y+.08"/>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
                                          </p:val>
                                        </p:tav>
                                        <p:tav tm="100000">
                                          <p:val>
                                            <p:strVal val="#ppt_x"/>
                                          </p:val>
                                        </p:tav>
                                      </p:tavLst>
                                    </p:anim>
                                    <p:anim calcmode="lin" valueType="num">
                                      <p:cBhvr>
                                        <p:cTn id="35" dur="600" decel="100000" fill="hold"/>
                                        <p:tgtEl>
                                          <p:spTgt spid="8"/>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4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
                                          </p:val>
                                        </p:tav>
                                        <p:tav tm="100000">
                                          <p:val>
                                            <p:strVal val="#ppt_x"/>
                                          </p:val>
                                        </p:tav>
                                      </p:tavLst>
                                    </p:anim>
                                    <p:anim calcmode="lin" valueType="num">
                                      <p:cBhvr>
                                        <p:cTn id="40" dur="600" decel="100000" fill="hold"/>
                                        <p:tgtEl>
                                          <p:spTgt spid="9"/>
                                        </p:tgtEl>
                                        <p:attrNameLst>
                                          <p:attrName>ppt_y</p:attrName>
                                        </p:attrNameLst>
                                      </p:cBhvr>
                                      <p:tavLst>
                                        <p:tav tm="0">
                                          <p:val>
                                            <p:strVal val="#ppt_y+.08"/>
                                          </p:val>
                                        </p:tav>
                                        <p:tav tm="100000">
                                          <p:val>
                                            <p:strVal val="#ppt_y"/>
                                          </p:val>
                                        </p:tav>
                                      </p:tavLst>
                                    </p:anim>
                                  </p:childTnLst>
                                </p:cTn>
                              </p:par>
                              <p:par>
                                <p:cTn id="46" presetID="42" presetClass="entr" presetSubtype="0" fill="hold" grpId="0" nodeType="withEffect">
                                  <p:stCondLst>
                                    <p:cond delay="6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
                                          </p:val>
                                        </p:tav>
                                        <p:tav tm="100000">
                                          <p:val>
                                            <p:strVal val="#ppt_x"/>
                                          </p:val>
                                        </p:tav>
                                      </p:tavLst>
                                    </p:anim>
                                    <p:anim calcmode="lin" valueType="num">
                                      <p:cBhvr>
                                        <p:cTn id="45" dur="600" decel="100000" fill="hold"/>
                                        <p:tgtEl>
                                          <p:spTgt spid="10"/>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6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
                                          </p:val>
                                        </p:tav>
                                        <p:tav tm="100000">
                                          <p:val>
                                            <p:strVal val="#ppt_x"/>
                                          </p:val>
                                        </p:tav>
                                      </p:tavLst>
                                    </p:anim>
                                    <p:anim calcmode="lin" valueType="num">
                                      <p:cBhvr>
                                        <p:cTn id="50" dur="600" decel="100000" fill="hold"/>
                                        <p:tgtEl>
                                          <p:spTgt spid="11"/>
                                        </p:tgtEl>
                                        <p:attrNameLst>
                                          <p:attrName>ppt_y</p:attrName>
                                        </p:attrNameLst>
                                      </p:cBhvr>
                                      <p:tavLst>
                                        <p:tav tm="0">
                                          <p:val>
                                            <p:strVal val="#ppt_y+.08"/>
                                          </p:val>
                                        </p:tav>
                                        <p:tav tm="100000">
                                          <p:val>
                                            <p:strVal val="#ppt_y"/>
                                          </p:val>
                                        </p:tav>
                                      </p:tavLst>
                                    </p:anim>
                                  </p:childTnLst>
                                </p:cTn>
                              </p:par>
                              <p:par>
                                <p:cTn id="56" presetID="42" presetClass="entr" presetSubtype="0" fill="hold" grpId="0" nodeType="withEffect">
                                  <p:stCondLst>
                                    <p:cond delay="6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
                                          </p:val>
                                        </p:tav>
                                        <p:tav tm="100000">
                                          <p:val>
                                            <p:strVal val="#ppt_x"/>
                                          </p:val>
                                        </p:tav>
                                      </p:tavLst>
                                    </p:anim>
                                    <p:anim calcmode="lin" valueType="num">
                                      <p:cBhvr>
                                        <p:cTn id="55" dur="600" decel="100000" fill="hold"/>
                                        <p:tgtEl>
                                          <p:spTgt spid="12"/>
                                        </p:tgtEl>
                                        <p:attrNameLst>
                                          <p:attrName>ppt_y</p:attrName>
                                        </p:attrNameLst>
                                      </p:cBhvr>
                                      <p:tavLst>
                                        <p:tav tm="0">
                                          <p:val>
                                            <p:strVal val="#ppt_y+.08"/>
                                          </p:val>
                                        </p:tav>
                                        <p:tav tm="100000">
                                          <p:val>
                                            <p:strVal val="#ppt_y"/>
                                          </p:val>
                                        </p:tav>
                                      </p:tavLst>
                                    </p:anim>
                                  </p:childTnLst>
                                </p:cTn>
                              </p:par>
                              <p:par>
                                <p:cTn id="61" presetID="42" presetClass="entr" presetSubtype="0" fill="hold" grpId="0" nodeType="withEffect">
                                  <p:stCondLst>
                                    <p:cond delay="8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
                                          </p:val>
                                        </p:tav>
                                        <p:tav tm="100000">
                                          <p:val>
                                            <p:strVal val="#ppt_x"/>
                                          </p:val>
                                        </p:tav>
                                      </p:tavLst>
                                    </p:anim>
                                    <p:anim calcmode="lin" valueType="num">
                                      <p:cBhvr>
                                        <p:cTn id="60" dur="600" decel="100000" fill="hold"/>
                                        <p:tgtEl>
                                          <p:spTgt spid="13"/>
                                        </p:tgtEl>
                                        <p:attrNameLst>
                                          <p:attrName>ppt_y</p:attrName>
                                        </p:attrNameLst>
                                      </p:cBhvr>
                                      <p:tavLst>
                                        <p:tav tm="0">
                                          <p:val>
                                            <p:strVal val="#ppt_y+.08"/>
                                          </p:val>
                                        </p:tav>
                                        <p:tav tm="100000">
                                          <p:val>
                                            <p:strVal val="#ppt_y"/>
                                          </p:val>
                                        </p:tav>
                                      </p:tavLst>
                                    </p:anim>
                                  </p:childTnLst>
                                </p:cTn>
                              </p:par>
                              <p:par>
                                <p:cTn id="66" presetID="42" presetClass="entr" presetSubtype="0" fill="hold" grpId="0" nodeType="withEffect">
                                  <p:stCondLst>
                                    <p:cond delay="8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
                                          </p:val>
                                        </p:tav>
                                        <p:tav tm="100000">
                                          <p:val>
                                            <p:strVal val="#ppt_x"/>
                                          </p:val>
                                        </p:tav>
                                      </p:tavLst>
                                    </p:anim>
                                    <p:anim calcmode="lin" valueType="num">
                                      <p:cBhvr>
                                        <p:cTn id="65" dur="600" decel="100000" fill="hold"/>
                                        <p:tgtEl>
                                          <p:spTgt spid="14"/>
                                        </p:tgtEl>
                                        <p:attrNameLst>
                                          <p:attrName>ppt_y</p:attrName>
                                        </p:attrNameLst>
                                      </p:cBhvr>
                                      <p:tavLst>
                                        <p:tav tm="0">
                                          <p:val>
                                            <p:strVal val="#ppt_y+.08"/>
                                          </p:val>
                                        </p:tav>
                                        <p:tav tm="100000">
                                          <p:val>
                                            <p:strVal val="#ppt_y"/>
                                          </p:val>
                                        </p:tav>
                                      </p:tavLst>
                                    </p:anim>
                                  </p:childTnLst>
                                </p:cTn>
                              </p:par>
                              <p:par>
                                <p:cTn id="71" presetID="42" presetClass="entr" presetSubtype="0" fill="hold" grpId="0" nodeType="withEffect">
                                  <p:stCondLst>
                                    <p:cond delay="8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p:cTn id="69" dur="600" decel="100000" fill="hold"/>
                                        <p:tgtEl>
                                          <p:spTgt spid="15"/>
                                        </p:tgtEl>
                                        <p:attrNameLst>
                                          <p:attrName>ppt_x</p:attrName>
                                        </p:attrNameLst>
                                      </p:cBhvr>
                                      <p:tavLst>
                                        <p:tav tm="0">
                                          <p:val>
                                            <p:strVal val="#ppt_x"/>
                                          </p:val>
                                        </p:tav>
                                        <p:tav tm="100000">
                                          <p:val>
                                            <p:strVal val="#ppt_x"/>
                                          </p:val>
                                        </p:tav>
                                      </p:tavLst>
                                    </p:anim>
                                    <p:anim calcmode="lin" valueType="num">
                                      <p:cBhvr>
                                        <p:cTn id="70" dur="600" decel="100000" fill="hold"/>
                                        <p:tgtEl>
                                          <p:spTgt spid="15"/>
                                        </p:tgtEl>
                                        <p:attrNameLst>
                                          <p:attrName>ppt_y</p:attrName>
                                        </p:attrNameLst>
                                      </p:cBhvr>
                                      <p:tavLst>
                                        <p:tav tm="0">
                                          <p:val>
                                            <p:strVal val="#ppt_y+.08"/>
                                          </p:val>
                                        </p:tav>
                                        <p:tav tm="100000">
                                          <p:val>
                                            <p:strVal val="#ppt_y"/>
                                          </p:val>
                                        </p:tav>
                                      </p:tavLst>
                                    </p:anim>
                                  </p:childTnLst>
                                </p:cTn>
                              </p:par>
                              <p:par>
                                <p:cTn id="74" presetID="10" presetClass="entr" presetSubtype="0" fill="hold" grpId="0" nodeType="withEffect">
                                  <p:stCondLst>
                                    <p:cond delay="100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1" grpId="0" animBg="1"/>
      <p:bldP spid="12" grpId="0" animBg="1"/>
      <p:bldP spid="14" grpId="0" animBg="1"/>
      <p:bldP spid="15" grpId="0" animBg="1"/>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A modern interface: light and dark</a:t>
            </a:r>
            <a:endParaRPr lang="en-US" sz="3200" dirty="0"/>
          </a:p>
        </p:txBody>
      </p:sp>
      <p:sp>
        <p:nvSpPr>
          <p:cNvPr id="3" name="a-zoom-home"/>
          <p:cNvSpPr/>
          <p:nvPr/>
        </p:nvSpPr>
        <p:spPr>
          <a:xfrm>
            <a:off x="493776" y="1362456"/>
            <a:ext cx="6876288" cy="4343400"/>
          </a:xfrm>
          <a:prstGeom prst="roundRect">
            <a:avLst>
              <a:gd name="adj" fmla="val 1684"/>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4" name="a-zoom-w-home-img" descr="/tmp/claude-0/-home-user-done/4a4296a4-6fd8-5cee-98c2-5de0aee80c99/scratchpad/docs/img/ui-home.jpg">    </p:cNvPr>
          <p:cNvPicPr>
            <a:picLocks noChangeAspect="1"/>
          </p:cNvPicPr>
          <p:nvPr/>
        </p:nvPicPr>
        <p:blipFill>
          <a:blip r:embed="rId1"/>
          <a:stretch>
            <a:fillRect/>
          </a:stretch>
        </p:blipFill>
        <p:spPr>
          <a:xfrm>
            <a:off x="548640" y="1417320"/>
            <a:ext cx="6766560" cy="4233672"/>
          </a:xfrm>
          <a:prstGeom prst="rect">
            <a:avLst/>
          </a:prstGeom>
        </p:spPr>
      </p:pic>
      <p:sp>
        <p:nvSpPr>
          <p:cNvPr id="5" name="a-right-ui0"/>
          <p:cNvSpPr/>
          <p:nvPr/>
        </p:nvSpPr>
        <p:spPr>
          <a:xfrm>
            <a:off x="7726680" y="1417320"/>
            <a:ext cx="566928" cy="566928"/>
          </a:xfrm>
          <a:prstGeom prst="ellipse">
            <a:avLst/>
          </a:prstGeom>
          <a:solidFill>
            <a:schemeClr val="accent1"/>
          </a:solidFill>
          <a:ln/>
        </p:spPr>
      </p:sp>
      <p:pic>
        <p:nvPicPr>
          <p:cNvPr id="6" name="a-right-w-ui0-i" descr="/tmp/claude-0/-home-user-done/4a4296a4-6fd8-5cee-98c2-5de0aee80c99/scratchpad/docs/img/icons/globe-w.png">    </p:cNvPr>
          <p:cNvPicPr>
            <a:picLocks noChangeAspect="1"/>
          </p:cNvPicPr>
          <p:nvPr/>
        </p:nvPicPr>
        <p:blipFill>
          <a:blip r:embed="rId2"/>
          <a:stretch>
            <a:fillRect/>
          </a:stretch>
        </p:blipFill>
        <p:spPr>
          <a:xfrm>
            <a:off x="7868412" y="1559052"/>
            <a:ext cx="283464" cy="283464"/>
          </a:xfrm>
          <a:prstGeom prst="rect">
            <a:avLst/>
          </a:prstGeom>
        </p:spPr>
      </p:pic>
      <p:sp>
        <p:nvSpPr>
          <p:cNvPr id="7" name="a-right-w-ut0"/>
          <p:cNvSpPr txBox="1"/>
          <p:nvPr/>
        </p:nvSpPr>
        <p:spPr>
          <a:xfrm>
            <a:off x="8458200" y="1399032"/>
            <a:ext cx="3200400" cy="320040"/>
          </a:xfrm>
          <a:prstGeom prst="rect">
            <a:avLst/>
          </a:prstGeom>
          <a:noFill/>
          <a:ln/>
        </p:spPr>
        <p:txBody>
          <a:bodyPr wrap="square" lIns="0" tIns="0" rIns="0" bIns="0" rtlCol="0" anchor="t"/>
          <a:lstStyle/>
          <a:p>
            <a:pPr indent="0" marL="0">
              <a:buNone/>
            </a:pPr>
            <a:r>
              <a:rPr lang="en-US" sz="1500" b="1" dirty="0">
                <a:solidFill>
                  <a:schemeClr val="tx2"/>
                </a:solidFill>
              </a:rPr>
              <a:t>Light and dark themes</a:t>
            </a:r>
            <a:endParaRPr lang="en-US" sz="1500" dirty="0"/>
          </a:p>
        </p:txBody>
      </p:sp>
      <p:sp>
        <p:nvSpPr>
          <p:cNvPr id="8" name="a-right-w-ud0"/>
          <p:cNvSpPr txBox="1"/>
          <p:nvPr/>
        </p:nvSpPr>
        <p:spPr>
          <a:xfrm>
            <a:off x="8458200" y="1719072"/>
            <a:ext cx="3200400" cy="457200"/>
          </a:xfrm>
          <a:prstGeom prst="rect">
            <a:avLst/>
          </a:prstGeom>
          <a:noFill/>
          <a:ln/>
        </p:spPr>
        <p:txBody>
          <a:bodyPr wrap="square" lIns="0" tIns="0" rIns="0" bIns="0" rtlCol="0" anchor="t"/>
          <a:lstStyle/>
          <a:p>
            <a:pPr indent="0" marL="0">
              <a:buNone/>
            </a:pPr>
            <a:r>
              <a:rPr lang="en-US" sz="1250" dirty="0">
                <a:solidFill>
                  <a:schemeClr val="accent6"/>
                </a:solidFill>
              </a:rPr>
              <a:t>Sun / moon switch in the top bar; the choice is remembered</a:t>
            </a:r>
            <a:endParaRPr lang="en-US" sz="1250" dirty="0"/>
          </a:p>
        </p:txBody>
      </p:sp>
      <p:sp>
        <p:nvSpPr>
          <p:cNvPr id="9" name="a-right-ui1"/>
          <p:cNvSpPr/>
          <p:nvPr/>
        </p:nvSpPr>
        <p:spPr>
          <a:xfrm>
            <a:off x="7726680" y="2304288"/>
            <a:ext cx="566928" cy="566928"/>
          </a:xfrm>
          <a:prstGeom prst="ellipse">
            <a:avLst/>
          </a:prstGeom>
          <a:solidFill>
            <a:schemeClr val="accent2"/>
          </a:solidFill>
          <a:ln/>
        </p:spPr>
      </p:sp>
      <p:pic>
        <p:nvPicPr>
          <p:cNvPr id="10" name="a-right-w-ui1-i" descr="/tmp/claude-0/-home-user-done/4a4296a4-6fd8-5cee-98c2-5de0aee80c99/scratchpad/docs/img/icons/cube-w.png">    </p:cNvPr>
          <p:cNvPicPr>
            <a:picLocks noChangeAspect="1"/>
          </p:cNvPicPr>
          <p:nvPr/>
        </p:nvPicPr>
        <p:blipFill>
          <a:blip r:embed="rId3"/>
          <a:stretch>
            <a:fillRect/>
          </a:stretch>
        </p:blipFill>
        <p:spPr>
          <a:xfrm>
            <a:off x="7868412" y="2446020"/>
            <a:ext cx="283464" cy="283464"/>
          </a:xfrm>
          <a:prstGeom prst="rect">
            <a:avLst/>
          </a:prstGeom>
        </p:spPr>
      </p:pic>
      <p:sp>
        <p:nvSpPr>
          <p:cNvPr id="11" name="a-right-w-ut1"/>
          <p:cNvSpPr txBox="1"/>
          <p:nvPr/>
        </p:nvSpPr>
        <p:spPr>
          <a:xfrm>
            <a:off x="8458200" y="2286000"/>
            <a:ext cx="3200400" cy="320040"/>
          </a:xfrm>
          <a:prstGeom prst="rect">
            <a:avLst/>
          </a:prstGeom>
          <a:noFill/>
          <a:ln/>
        </p:spPr>
        <p:txBody>
          <a:bodyPr wrap="square" lIns="0" tIns="0" rIns="0" bIns="0" rtlCol="0" anchor="t"/>
          <a:lstStyle/>
          <a:p>
            <a:pPr indent="0" marL="0">
              <a:buNone/>
            </a:pPr>
            <a:r>
              <a:rPr lang="en-US" sz="1500" b="1" dirty="0">
                <a:solidFill>
                  <a:schemeClr val="tx2"/>
                </a:solidFill>
              </a:rPr>
              <a:t>3D hero and tilt cards</a:t>
            </a:r>
            <a:endParaRPr lang="en-US" sz="1500" dirty="0"/>
          </a:p>
        </p:txBody>
      </p:sp>
      <p:sp>
        <p:nvSpPr>
          <p:cNvPr id="12" name="a-right-w-ud1"/>
          <p:cNvSpPr txBox="1"/>
          <p:nvPr/>
        </p:nvSpPr>
        <p:spPr>
          <a:xfrm>
            <a:off x="8458200" y="2606040"/>
            <a:ext cx="3200400" cy="457200"/>
          </a:xfrm>
          <a:prstGeom prst="rect">
            <a:avLst/>
          </a:prstGeom>
          <a:noFill/>
          <a:ln/>
        </p:spPr>
        <p:txBody>
          <a:bodyPr wrap="square" lIns="0" tIns="0" rIns="0" bIns="0" rtlCol="0" anchor="t"/>
          <a:lstStyle/>
          <a:p>
            <a:pPr indent="0" marL="0">
              <a:buNone/>
            </a:pPr>
            <a:r>
              <a:rPr lang="en-US" sz="1250" dirty="0">
                <a:solidFill>
                  <a:schemeClr val="accent6"/>
                </a:solidFill>
              </a:rPr>
              <a:t>Parallax globe; cards tilt and lift on hover</a:t>
            </a:r>
            <a:endParaRPr lang="en-US" sz="1250" dirty="0"/>
          </a:p>
        </p:txBody>
      </p:sp>
      <p:sp>
        <p:nvSpPr>
          <p:cNvPr id="13" name="a-right-ui2"/>
          <p:cNvSpPr/>
          <p:nvPr/>
        </p:nvSpPr>
        <p:spPr>
          <a:xfrm>
            <a:off x="7726680" y="3191256"/>
            <a:ext cx="566928" cy="566928"/>
          </a:xfrm>
          <a:prstGeom prst="ellipse">
            <a:avLst/>
          </a:prstGeom>
          <a:solidFill>
            <a:schemeClr val="accent1"/>
          </a:solidFill>
          <a:ln/>
        </p:spPr>
      </p:sp>
      <p:pic>
        <p:nvPicPr>
          <p:cNvPr id="14" name="a-right-w-ui2-i" descr="/tmp/claude-0/-home-user-done/4a4296a4-6fd8-5cee-98c2-5de0aee80c99/scratchpad/docs/img/icons/wand-w.png">    </p:cNvPr>
          <p:cNvPicPr>
            <a:picLocks noChangeAspect="1"/>
          </p:cNvPicPr>
          <p:nvPr/>
        </p:nvPicPr>
        <p:blipFill>
          <a:blip r:embed="rId4"/>
          <a:stretch>
            <a:fillRect/>
          </a:stretch>
        </p:blipFill>
        <p:spPr>
          <a:xfrm>
            <a:off x="7868412" y="3332988"/>
            <a:ext cx="283464" cy="283464"/>
          </a:xfrm>
          <a:prstGeom prst="rect">
            <a:avLst/>
          </a:prstGeom>
        </p:spPr>
      </p:pic>
      <p:sp>
        <p:nvSpPr>
          <p:cNvPr id="15" name="a-right-w-ut2"/>
          <p:cNvSpPr txBox="1"/>
          <p:nvPr/>
        </p:nvSpPr>
        <p:spPr>
          <a:xfrm>
            <a:off x="8458200" y="3172968"/>
            <a:ext cx="3200400" cy="320040"/>
          </a:xfrm>
          <a:prstGeom prst="rect">
            <a:avLst/>
          </a:prstGeom>
          <a:noFill/>
          <a:ln/>
        </p:spPr>
        <p:txBody>
          <a:bodyPr wrap="square" lIns="0" tIns="0" rIns="0" bIns="0" rtlCol="0" anchor="t"/>
          <a:lstStyle/>
          <a:p>
            <a:pPr indent="0" marL="0">
              <a:buNone/>
            </a:pPr>
            <a:r>
              <a:rPr lang="en-US" sz="1500" b="1" dirty="0">
                <a:solidFill>
                  <a:schemeClr val="tx2"/>
                </a:solidFill>
              </a:rPr>
              <a:t>Original illustrations</a:t>
            </a:r>
            <a:endParaRPr lang="en-US" sz="1500" dirty="0"/>
          </a:p>
        </p:txBody>
      </p:sp>
      <p:sp>
        <p:nvSpPr>
          <p:cNvPr id="16" name="a-right-w-ud2"/>
          <p:cNvSpPr txBox="1"/>
          <p:nvPr/>
        </p:nvSpPr>
        <p:spPr>
          <a:xfrm>
            <a:off x="8458200" y="3493008"/>
            <a:ext cx="3200400" cy="457200"/>
          </a:xfrm>
          <a:prstGeom prst="rect">
            <a:avLst/>
          </a:prstGeom>
          <a:noFill/>
          <a:ln/>
        </p:spPr>
        <p:txBody>
          <a:bodyPr wrap="square" lIns="0" tIns="0" rIns="0" bIns="0" rtlCol="0" anchor="t"/>
          <a:lstStyle/>
          <a:p>
            <a:pPr indent="0" marL="0">
              <a:buNone/>
            </a:pPr>
            <a:r>
              <a:rPr lang="en-US" sz="1250" dirty="0">
                <a:solidFill>
                  <a:schemeClr val="accent6"/>
                </a:solidFill>
              </a:rPr>
              <a:t>10 drawings that re-colour with the theme</a:t>
            </a:r>
            <a:endParaRPr lang="en-US" sz="1250" dirty="0"/>
          </a:p>
        </p:txBody>
      </p:sp>
      <p:sp>
        <p:nvSpPr>
          <p:cNvPr id="17" name="a-right-ui3"/>
          <p:cNvSpPr/>
          <p:nvPr/>
        </p:nvSpPr>
        <p:spPr>
          <a:xfrm>
            <a:off x="7726680" y="4078224"/>
            <a:ext cx="566928" cy="566928"/>
          </a:xfrm>
          <a:prstGeom prst="ellipse">
            <a:avLst/>
          </a:prstGeom>
          <a:solidFill>
            <a:schemeClr val="accent2"/>
          </a:solidFill>
          <a:ln/>
        </p:spPr>
      </p:sp>
      <p:pic>
        <p:nvPicPr>
          <p:cNvPr id="18" name="a-right-w-ui3-i" descr="/tmp/claude-0/-home-user-done/4a4296a4-6fd8-5cee-98c2-5de0aee80c99/scratchpad/docs/img/icons/eye-w.png">    </p:cNvPr>
          <p:cNvPicPr>
            <a:picLocks noChangeAspect="1"/>
          </p:cNvPicPr>
          <p:nvPr/>
        </p:nvPicPr>
        <p:blipFill>
          <a:blip r:embed="rId5"/>
          <a:stretch>
            <a:fillRect/>
          </a:stretch>
        </p:blipFill>
        <p:spPr>
          <a:xfrm>
            <a:off x="7868412" y="4219956"/>
            <a:ext cx="283464" cy="283464"/>
          </a:xfrm>
          <a:prstGeom prst="rect">
            <a:avLst/>
          </a:prstGeom>
        </p:spPr>
      </p:pic>
      <p:sp>
        <p:nvSpPr>
          <p:cNvPr id="19" name="a-right-w-ut3"/>
          <p:cNvSpPr txBox="1"/>
          <p:nvPr/>
        </p:nvSpPr>
        <p:spPr>
          <a:xfrm>
            <a:off x="8458200" y="4059936"/>
            <a:ext cx="3200400" cy="320040"/>
          </a:xfrm>
          <a:prstGeom prst="rect">
            <a:avLst/>
          </a:prstGeom>
          <a:noFill/>
          <a:ln/>
        </p:spPr>
        <p:txBody>
          <a:bodyPr wrap="square" lIns="0" tIns="0" rIns="0" bIns="0" rtlCol="0" anchor="t"/>
          <a:lstStyle/>
          <a:p>
            <a:pPr indent="0" marL="0">
              <a:buNone/>
            </a:pPr>
            <a:r>
              <a:rPr lang="en-US" sz="1500" b="1" dirty="0">
                <a:solidFill>
                  <a:schemeClr val="tx2"/>
                </a:solidFill>
              </a:rPr>
              <a:t>Accessible</a:t>
            </a:r>
            <a:endParaRPr lang="en-US" sz="1500" dirty="0"/>
          </a:p>
        </p:txBody>
      </p:sp>
      <p:sp>
        <p:nvSpPr>
          <p:cNvPr id="20" name="a-right-w-ud3"/>
          <p:cNvSpPr txBox="1"/>
          <p:nvPr/>
        </p:nvSpPr>
        <p:spPr>
          <a:xfrm>
            <a:off x="8458200" y="4379976"/>
            <a:ext cx="3200400" cy="457200"/>
          </a:xfrm>
          <a:prstGeom prst="rect">
            <a:avLst/>
          </a:prstGeom>
          <a:noFill/>
          <a:ln/>
        </p:spPr>
        <p:txBody>
          <a:bodyPr wrap="square" lIns="0" tIns="0" rIns="0" bIns="0" rtlCol="0" anchor="t"/>
          <a:lstStyle/>
          <a:p>
            <a:pPr indent="0" marL="0">
              <a:buNone/>
            </a:pPr>
            <a:r>
              <a:rPr lang="en-US" sz="1250" dirty="0">
                <a:solidFill>
                  <a:schemeClr val="accent6"/>
                </a:solidFill>
              </a:rPr>
              <a:t>Reduced-motion mode, keyboard focus, 4.5:1 contrast</a:t>
            </a:r>
            <a:endParaRPr lang="en-US" sz="1250" dirty="0"/>
          </a:p>
        </p:txBody>
      </p:sp>
      <p:sp>
        <p:nvSpPr>
          <p:cNvPr id="21" name="a-right-ui4"/>
          <p:cNvSpPr/>
          <p:nvPr/>
        </p:nvSpPr>
        <p:spPr>
          <a:xfrm>
            <a:off x="7726680" y="4965192"/>
            <a:ext cx="566928" cy="566928"/>
          </a:xfrm>
          <a:prstGeom prst="ellipse">
            <a:avLst/>
          </a:prstGeom>
          <a:solidFill>
            <a:schemeClr val="accent1"/>
          </a:solidFill>
          <a:ln/>
        </p:spPr>
      </p:sp>
      <p:pic>
        <p:nvPicPr>
          <p:cNvPr id="22" name="a-right-w-ui4-i" descr="/tmp/claude-0/-home-user-done/4a4296a4-6fd8-5cee-98c2-5de0aee80c99/scratchpad/docs/img/icons/mobile-w.png">    </p:cNvPr>
          <p:cNvPicPr>
            <a:picLocks noChangeAspect="1"/>
          </p:cNvPicPr>
          <p:nvPr/>
        </p:nvPicPr>
        <p:blipFill>
          <a:blip r:embed="rId6"/>
          <a:stretch>
            <a:fillRect/>
          </a:stretch>
        </p:blipFill>
        <p:spPr>
          <a:xfrm>
            <a:off x="7868412" y="5106924"/>
            <a:ext cx="283464" cy="283464"/>
          </a:xfrm>
          <a:prstGeom prst="rect">
            <a:avLst/>
          </a:prstGeom>
        </p:spPr>
      </p:pic>
      <p:sp>
        <p:nvSpPr>
          <p:cNvPr id="23" name="a-right-w-ut4"/>
          <p:cNvSpPr txBox="1"/>
          <p:nvPr/>
        </p:nvSpPr>
        <p:spPr>
          <a:xfrm>
            <a:off x="8458200" y="4946904"/>
            <a:ext cx="3200400" cy="320040"/>
          </a:xfrm>
          <a:prstGeom prst="rect">
            <a:avLst/>
          </a:prstGeom>
          <a:noFill/>
          <a:ln/>
        </p:spPr>
        <p:txBody>
          <a:bodyPr wrap="square" lIns="0" tIns="0" rIns="0" bIns="0" rtlCol="0" anchor="t"/>
          <a:lstStyle/>
          <a:p>
            <a:pPr indent="0" marL="0">
              <a:buNone/>
            </a:pPr>
            <a:r>
              <a:rPr lang="en-US" sz="1500" b="1" dirty="0">
                <a:solidFill>
                  <a:schemeClr val="tx2"/>
                </a:solidFill>
              </a:rPr>
              <a:t>Responsive</a:t>
            </a:r>
            <a:endParaRPr lang="en-US" sz="1500" dirty="0"/>
          </a:p>
        </p:txBody>
      </p:sp>
      <p:sp>
        <p:nvSpPr>
          <p:cNvPr id="24" name="a-right-w-ud4"/>
          <p:cNvSpPr txBox="1"/>
          <p:nvPr/>
        </p:nvSpPr>
        <p:spPr>
          <a:xfrm>
            <a:off x="8458200" y="5266944"/>
            <a:ext cx="3200400" cy="457200"/>
          </a:xfrm>
          <a:prstGeom prst="rect">
            <a:avLst/>
          </a:prstGeom>
          <a:noFill/>
          <a:ln/>
        </p:spPr>
        <p:txBody>
          <a:bodyPr wrap="square" lIns="0" tIns="0" rIns="0" bIns="0" rtlCol="0" anchor="t"/>
          <a:lstStyle/>
          <a:p>
            <a:pPr indent="0" marL="0">
              <a:buNone/>
            </a:pPr>
            <a:r>
              <a:rPr lang="en-US" sz="1250" dirty="0">
                <a:solidFill>
                  <a:schemeClr val="accent6"/>
                </a:solidFill>
              </a:rPr>
              <a:t>Phone, tablet and desktop layouts</a:t>
            </a:r>
            <a:endParaRPr lang="en-US" sz="125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20"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53" presetClass="entr" presetSubtype="16"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 calcmode="lin" valueType="num">
                                      <p:cBhvr>
                                        <p:cTn id="9" dur="650" decel="100000" fill="hold"/>
                                        <p:tgtEl>
                                          <p:spTgt spid="3"/>
                                        </p:tgtEl>
                                        <p:attrNameLst>
                                          <p:attrName>ppt_w</p:attrName>
                                        </p:attrNameLst>
                                      </p:cBhvr>
                                      <p:tavLst>
                                        <p:tav tm="0">
                                          <p:val>
                                            <p:strVal val="#ppt_w*0.7"/>
                                          </p:val>
                                        </p:tav>
                                        <p:tav tm="100000">
                                          <p:val>
                                            <p:strVal val="#ppt_w"/>
                                          </p:val>
                                        </p:tav>
                                      </p:tavLst>
                                    </p:anim>
                                    <p:anim calcmode="lin" valueType="num">
                                      <p:cBhvr>
                                        <p:cTn id="10" dur="650" decel="100000" fill="hold"/>
                                        <p:tgtEl>
                                          <p:spTgt spid="3"/>
                                        </p:tgtEl>
                                        <p:attrNameLst>
                                          <p:attrName>ppt_h</p:attrName>
                                        </p:attrNameLst>
                                      </p:cBhvr>
                                      <p:tavLst>
                                        <p:tav tm="0">
                                          <p:val>
                                            <p:strVal val="#ppt_h*0.7"/>
                                          </p:val>
                                        </p:tav>
                                        <p:tav tm="100000">
                                          <p:val>
                                            <p:strVal val="#ppt_h"/>
                                          </p:val>
                                        </p:tav>
                                      </p:tavLst>
                                    </p:anim>
                                    <p:animEffect transition="in" filter="fade">
                                      <p:cBhvr>
                                        <p:cTn id="8" dur="650"/>
                                        <p:tgtEl>
                                          <p:spTgt spid="3"/>
                                        </p:tgtEl>
                                      </p:cBhvr>
                                    </p:animEffect>
                                  </p:childTnLst>
                                </p:cTn>
                              </p:par>
                              <p:par>
                                <p:cTn id="16" presetID="53" presetClass="entr" presetSubtype="16"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 calcmode="lin" valueType="num">
                                      <p:cBhvr>
                                        <p:cTn id="14" dur="650" decel="100000" fill="hold"/>
                                        <p:tgtEl>
                                          <p:spTgt spid="4"/>
                                        </p:tgtEl>
                                        <p:attrNameLst>
                                          <p:attrName>ppt_w</p:attrName>
                                        </p:attrNameLst>
                                      </p:cBhvr>
                                      <p:tavLst>
                                        <p:tav tm="0">
                                          <p:val>
                                            <p:strVal val="#ppt_w*0.7"/>
                                          </p:val>
                                        </p:tav>
                                        <p:tav tm="100000">
                                          <p:val>
                                            <p:strVal val="#ppt_w"/>
                                          </p:val>
                                        </p:tav>
                                      </p:tavLst>
                                    </p:anim>
                                    <p:anim calcmode="lin" valueType="num">
                                      <p:cBhvr>
                                        <p:cTn id="15" dur="650" decel="100000" fill="hold"/>
                                        <p:tgtEl>
                                          <p:spTgt spid="4"/>
                                        </p:tgtEl>
                                        <p:attrNameLst>
                                          <p:attrName>ppt_h</p:attrName>
                                        </p:attrNameLst>
                                      </p:cBhvr>
                                      <p:tavLst>
                                        <p:tav tm="0">
                                          <p:val>
                                            <p:strVal val="#ppt_h*0.7"/>
                                          </p:val>
                                        </p:tav>
                                        <p:tav tm="100000">
                                          <p:val>
                                            <p:strVal val="#ppt_h"/>
                                          </p:val>
                                        </p:tav>
                                      </p:tavLst>
                                    </p:anim>
                                    <p:animEffect transition="in" filter="fade">
                                      <p:cBhvr>
                                        <p:cTn id="13" dur="650"/>
                                        <p:tgtEl>
                                          <p:spTgt spid="4"/>
                                        </p:tgtEl>
                                      </p:cBhvr>
                                    </p:animEffect>
                                  </p:childTnLst>
                                </p:cTn>
                              </p:par>
                              <p:par>
                                <p:cTn id="21" presetID="42" presetClass="entr" presetSubtype="0" fill="hold" grpId="0" nodeType="withEffect">
                                  <p:stCondLst>
                                    <p:cond delay="4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08"/>
                                          </p:val>
                                        </p:tav>
                                        <p:tav tm="100000">
                                          <p:val>
                                            <p:strVal val="#ppt_x"/>
                                          </p:val>
                                        </p:tav>
                                      </p:tavLst>
                                    </p:anim>
                                    <p:anim calcmode="lin" valueType="num">
                                      <p:cBhvr>
                                        <p:cTn id="20" dur="600" decel="1000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08"/>
                                          </p:val>
                                        </p:tav>
                                        <p:tav tm="100000">
                                          <p:val>
                                            <p:strVal val="#ppt_x"/>
                                          </p:val>
                                        </p:tav>
                                      </p:tavLst>
                                    </p:anim>
                                    <p:anim calcmode="lin" valueType="num">
                                      <p:cBhvr>
                                        <p:cTn id="25" dur="600" decel="1000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4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08"/>
                                          </p:val>
                                        </p:tav>
                                        <p:tav tm="100000">
                                          <p:val>
                                            <p:strVal val="#ppt_x"/>
                                          </p:val>
                                        </p:tav>
                                      </p:tavLst>
                                    </p:anim>
                                    <p:anim calcmode="lin" valueType="num">
                                      <p:cBhvr>
                                        <p:cTn id="30" dur="600" decel="1000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08"/>
                                          </p:val>
                                        </p:tav>
                                        <p:tav tm="100000">
                                          <p:val>
                                            <p:strVal val="#ppt_x"/>
                                          </p:val>
                                        </p:tav>
                                      </p:tavLst>
                                    </p:anim>
                                    <p:anim calcmode="lin" valueType="num">
                                      <p:cBhvr>
                                        <p:cTn id="35" dur="600" decel="1000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6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08"/>
                                          </p:val>
                                        </p:tav>
                                        <p:tav tm="100000">
                                          <p:val>
                                            <p:strVal val="#ppt_x"/>
                                          </p:val>
                                        </p:tav>
                                      </p:tavLst>
                                    </p:anim>
                                    <p:anim calcmode="lin" valueType="num">
                                      <p:cBhvr>
                                        <p:cTn id="40" dur="600" decel="1000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6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08"/>
                                          </p:val>
                                        </p:tav>
                                        <p:tav tm="100000">
                                          <p:val>
                                            <p:strVal val="#ppt_x"/>
                                          </p:val>
                                        </p:tav>
                                      </p:tavLst>
                                    </p:anim>
                                    <p:anim calcmode="lin" valueType="num">
                                      <p:cBhvr>
                                        <p:cTn id="45" dur="600" decel="1000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6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08"/>
                                          </p:val>
                                        </p:tav>
                                        <p:tav tm="100000">
                                          <p:val>
                                            <p:strVal val="#ppt_x"/>
                                          </p:val>
                                        </p:tav>
                                      </p:tavLst>
                                    </p:anim>
                                    <p:anim calcmode="lin" valueType="num">
                                      <p:cBhvr>
                                        <p:cTn id="50" dur="600" decel="1000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6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08"/>
                                          </p:val>
                                        </p:tav>
                                        <p:tav tm="100000">
                                          <p:val>
                                            <p:strVal val="#ppt_x"/>
                                          </p:val>
                                        </p:tav>
                                      </p:tavLst>
                                    </p:anim>
                                    <p:anim calcmode="lin" valueType="num">
                                      <p:cBhvr>
                                        <p:cTn id="55" dur="600" decel="1000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8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08"/>
                                          </p:val>
                                        </p:tav>
                                        <p:tav tm="100000">
                                          <p:val>
                                            <p:strVal val="#ppt_x"/>
                                          </p:val>
                                        </p:tav>
                                      </p:tavLst>
                                    </p:anim>
                                    <p:anim calcmode="lin" valueType="num">
                                      <p:cBhvr>
                                        <p:cTn id="60" dur="600" decel="1000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8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08"/>
                                          </p:val>
                                        </p:tav>
                                        <p:tav tm="100000">
                                          <p:val>
                                            <p:strVal val="#ppt_x"/>
                                          </p:val>
                                        </p:tav>
                                      </p:tavLst>
                                    </p:anim>
                                    <p:anim calcmode="lin" valueType="num">
                                      <p:cBhvr>
                                        <p:cTn id="65" dur="600" decel="1000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8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p:cTn id="69" dur="600" decel="100000" fill="hold"/>
                                        <p:tgtEl>
                                          <p:spTgt spid="15"/>
                                        </p:tgtEl>
                                        <p:attrNameLst>
                                          <p:attrName>ppt_x</p:attrName>
                                        </p:attrNameLst>
                                      </p:cBhvr>
                                      <p:tavLst>
                                        <p:tav tm="0">
                                          <p:val>
                                            <p:strVal val="#ppt_x+.08"/>
                                          </p:val>
                                        </p:tav>
                                        <p:tav tm="100000">
                                          <p:val>
                                            <p:strVal val="#ppt_x"/>
                                          </p:val>
                                        </p:tav>
                                      </p:tavLst>
                                    </p:anim>
                                    <p:anim calcmode="lin" valueType="num">
                                      <p:cBhvr>
                                        <p:cTn id="70" dur="600" decel="1000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8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00"/>
                                        <p:tgtEl>
                                          <p:spTgt spid="16"/>
                                        </p:tgtEl>
                                      </p:cBhvr>
                                    </p:animEffect>
                                    <p:anim calcmode="lin" valueType="num">
                                      <p:cBhvr>
                                        <p:cTn id="74" dur="600" decel="100000" fill="hold"/>
                                        <p:tgtEl>
                                          <p:spTgt spid="16"/>
                                        </p:tgtEl>
                                        <p:attrNameLst>
                                          <p:attrName>ppt_x</p:attrName>
                                        </p:attrNameLst>
                                      </p:cBhvr>
                                      <p:tavLst>
                                        <p:tav tm="0">
                                          <p:val>
                                            <p:strVal val="#ppt_x+.08"/>
                                          </p:val>
                                        </p:tav>
                                        <p:tav tm="100000">
                                          <p:val>
                                            <p:strVal val="#ppt_x"/>
                                          </p:val>
                                        </p:tav>
                                      </p:tavLst>
                                    </p:anim>
                                    <p:anim calcmode="lin" valueType="num">
                                      <p:cBhvr>
                                        <p:cTn id="75" dur="600" decel="1000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10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600"/>
                                        <p:tgtEl>
                                          <p:spTgt spid="17"/>
                                        </p:tgtEl>
                                      </p:cBhvr>
                                    </p:animEffect>
                                    <p:anim calcmode="lin" valueType="num">
                                      <p:cBhvr>
                                        <p:cTn id="79" dur="600" decel="100000" fill="hold"/>
                                        <p:tgtEl>
                                          <p:spTgt spid="17"/>
                                        </p:tgtEl>
                                        <p:attrNameLst>
                                          <p:attrName>ppt_x</p:attrName>
                                        </p:attrNameLst>
                                      </p:cBhvr>
                                      <p:tavLst>
                                        <p:tav tm="0">
                                          <p:val>
                                            <p:strVal val="#ppt_x+.08"/>
                                          </p:val>
                                        </p:tav>
                                        <p:tav tm="100000">
                                          <p:val>
                                            <p:strVal val="#ppt_x"/>
                                          </p:val>
                                        </p:tav>
                                      </p:tavLst>
                                    </p:anim>
                                    <p:anim calcmode="lin" valueType="num">
                                      <p:cBhvr>
                                        <p:cTn id="80" dur="600" decel="1000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10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600"/>
                                        <p:tgtEl>
                                          <p:spTgt spid="18"/>
                                        </p:tgtEl>
                                      </p:cBhvr>
                                    </p:animEffect>
                                    <p:anim calcmode="lin" valueType="num">
                                      <p:cBhvr>
                                        <p:cTn id="84" dur="600" decel="100000" fill="hold"/>
                                        <p:tgtEl>
                                          <p:spTgt spid="18"/>
                                        </p:tgtEl>
                                        <p:attrNameLst>
                                          <p:attrName>ppt_x</p:attrName>
                                        </p:attrNameLst>
                                      </p:cBhvr>
                                      <p:tavLst>
                                        <p:tav tm="0">
                                          <p:val>
                                            <p:strVal val="#ppt_x+.08"/>
                                          </p:val>
                                        </p:tav>
                                        <p:tav tm="100000">
                                          <p:val>
                                            <p:strVal val="#ppt_x"/>
                                          </p:val>
                                        </p:tav>
                                      </p:tavLst>
                                    </p:anim>
                                    <p:anim calcmode="lin" valueType="num">
                                      <p:cBhvr>
                                        <p:cTn id="85" dur="600" decel="1000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10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600"/>
                                        <p:tgtEl>
                                          <p:spTgt spid="19"/>
                                        </p:tgtEl>
                                      </p:cBhvr>
                                    </p:animEffect>
                                    <p:anim calcmode="lin" valueType="num">
                                      <p:cBhvr>
                                        <p:cTn id="89" dur="600" decel="100000" fill="hold"/>
                                        <p:tgtEl>
                                          <p:spTgt spid="19"/>
                                        </p:tgtEl>
                                        <p:attrNameLst>
                                          <p:attrName>ppt_x</p:attrName>
                                        </p:attrNameLst>
                                      </p:cBhvr>
                                      <p:tavLst>
                                        <p:tav tm="0">
                                          <p:val>
                                            <p:strVal val="#ppt_x+.08"/>
                                          </p:val>
                                        </p:tav>
                                        <p:tav tm="100000">
                                          <p:val>
                                            <p:strVal val="#ppt_x"/>
                                          </p:val>
                                        </p:tav>
                                      </p:tavLst>
                                    </p:anim>
                                    <p:anim calcmode="lin" valueType="num">
                                      <p:cBhvr>
                                        <p:cTn id="90" dur="600" decel="1000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10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600"/>
                                        <p:tgtEl>
                                          <p:spTgt spid="20"/>
                                        </p:tgtEl>
                                      </p:cBhvr>
                                    </p:animEffect>
                                    <p:anim calcmode="lin" valueType="num">
                                      <p:cBhvr>
                                        <p:cTn id="94" dur="600" decel="100000" fill="hold"/>
                                        <p:tgtEl>
                                          <p:spTgt spid="20"/>
                                        </p:tgtEl>
                                        <p:attrNameLst>
                                          <p:attrName>ppt_x</p:attrName>
                                        </p:attrNameLst>
                                      </p:cBhvr>
                                      <p:tavLst>
                                        <p:tav tm="0">
                                          <p:val>
                                            <p:strVal val="#ppt_x+.08"/>
                                          </p:val>
                                        </p:tav>
                                        <p:tav tm="100000">
                                          <p:val>
                                            <p:strVal val="#ppt_x"/>
                                          </p:val>
                                        </p:tav>
                                      </p:tavLst>
                                    </p:anim>
                                    <p:anim calcmode="lin" valueType="num">
                                      <p:cBhvr>
                                        <p:cTn id="95" dur="600" decel="1000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12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600"/>
                                        <p:tgtEl>
                                          <p:spTgt spid="21"/>
                                        </p:tgtEl>
                                      </p:cBhvr>
                                    </p:animEffect>
                                    <p:anim calcmode="lin" valueType="num">
                                      <p:cBhvr>
                                        <p:cTn id="99" dur="600" decel="100000" fill="hold"/>
                                        <p:tgtEl>
                                          <p:spTgt spid="21"/>
                                        </p:tgtEl>
                                        <p:attrNameLst>
                                          <p:attrName>ppt_x</p:attrName>
                                        </p:attrNameLst>
                                      </p:cBhvr>
                                      <p:tavLst>
                                        <p:tav tm="0">
                                          <p:val>
                                            <p:strVal val="#ppt_x+.08"/>
                                          </p:val>
                                        </p:tav>
                                        <p:tav tm="100000">
                                          <p:val>
                                            <p:strVal val="#ppt_x"/>
                                          </p:val>
                                        </p:tav>
                                      </p:tavLst>
                                    </p:anim>
                                    <p:anim calcmode="lin" valueType="num">
                                      <p:cBhvr>
                                        <p:cTn id="100" dur="600" decel="1000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12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600"/>
                                        <p:tgtEl>
                                          <p:spTgt spid="22"/>
                                        </p:tgtEl>
                                      </p:cBhvr>
                                    </p:animEffect>
                                    <p:anim calcmode="lin" valueType="num">
                                      <p:cBhvr>
                                        <p:cTn id="104" dur="600" decel="100000" fill="hold"/>
                                        <p:tgtEl>
                                          <p:spTgt spid="22"/>
                                        </p:tgtEl>
                                        <p:attrNameLst>
                                          <p:attrName>ppt_x</p:attrName>
                                        </p:attrNameLst>
                                      </p:cBhvr>
                                      <p:tavLst>
                                        <p:tav tm="0">
                                          <p:val>
                                            <p:strVal val="#ppt_x+.08"/>
                                          </p:val>
                                        </p:tav>
                                        <p:tav tm="100000">
                                          <p:val>
                                            <p:strVal val="#ppt_x"/>
                                          </p:val>
                                        </p:tav>
                                      </p:tavLst>
                                    </p:anim>
                                    <p:anim calcmode="lin" valueType="num">
                                      <p:cBhvr>
                                        <p:cTn id="105" dur="600" decel="1000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12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600"/>
                                        <p:tgtEl>
                                          <p:spTgt spid="23"/>
                                        </p:tgtEl>
                                      </p:cBhvr>
                                    </p:animEffect>
                                    <p:anim calcmode="lin" valueType="num">
                                      <p:cBhvr>
                                        <p:cTn id="109" dur="600" decel="100000" fill="hold"/>
                                        <p:tgtEl>
                                          <p:spTgt spid="23"/>
                                        </p:tgtEl>
                                        <p:attrNameLst>
                                          <p:attrName>ppt_x</p:attrName>
                                        </p:attrNameLst>
                                      </p:cBhvr>
                                      <p:tavLst>
                                        <p:tav tm="0">
                                          <p:val>
                                            <p:strVal val="#ppt_x+.08"/>
                                          </p:val>
                                        </p:tav>
                                        <p:tav tm="100000">
                                          <p:val>
                                            <p:strVal val="#ppt_x"/>
                                          </p:val>
                                        </p:tav>
                                      </p:tavLst>
                                    </p:anim>
                                    <p:anim calcmode="lin" valueType="num">
                                      <p:cBhvr>
                                        <p:cTn id="110" dur="600" decel="1000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12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600"/>
                                        <p:tgtEl>
                                          <p:spTgt spid="24"/>
                                        </p:tgtEl>
                                      </p:cBhvr>
                                    </p:animEffect>
                                    <p:anim calcmode="lin" valueType="num">
                                      <p:cBhvr>
                                        <p:cTn id="114" dur="600" decel="100000" fill="hold"/>
                                        <p:tgtEl>
                                          <p:spTgt spid="24"/>
                                        </p:tgtEl>
                                        <p:attrNameLst>
                                          <p:attrName>ppt_x</p:attrName>
                                        </p:attrNameLst>
                                      </p:cBhvr>
                                      <p:tavLst>
                                        <p:tav tm="0">
                                          <p:val>
                                            <p:strVal val="#ppt_x+.08"/>
                                          </p:val>
                                        </p:tav>
                                        <p:tav tm="100000">
                                          <p:val>
                                            <p:strVal val="#ppt_x"/>
                                          </p:val>
                                        </p:tav>
                                      </p:tavLst>
                                    </p:anim>
                                    <p:anim calcmode="lin" valueType="num">
                                      <p:cBhvr>
                                        <p:cTn id="115" dur="600" decel="100000" fill="hold"/>
                                        <p:tgtEl>
                                          <p:spTgt spid="24"/>
                                        </p:tgtEl>
                                        <p:attrNameLst>
                                          <p:attrName>ppt_y</p:attrName>
                                        </p:attrNameLst>
                                      </p:cBhvr>
                                      <p:tavLst>
                                        <p:tav tm="0">
                                          <p:val>
                                            <p:strVal val="#ppt_y"/>
                                          </p:val>
                                        </p:tav>
                                        <p:tav tm="100000">
                                          <p:val>
                                            <p:strVal val="#ppt_y"/>
                                          </p:val>
                                        </p:tav>
                                      </p:tavLst>
                                    </p:anim>
                                  </p:childTnLst>
                                </p:cTn>
                              </p:par>
                              <p:par>
                                <p:cTn id="119" presetID="10" presetClass="entr" presetSubtype="0" fill="hold" grpId="0" nodeType="withEffect">
                                  <p:stCondLst>
                                    <p:cond delay="14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11" grpId="0" animBg="1"/>
      <p:bldP spid="12" grpId="0" animBg="1"/>
      <p:bldP spid="15" grpId="0" animBg="1"/>
      <p:bldP spid="16" grpId="0" animBg="1"/>
      <p:bldP spid="19" grpId="0" animBg="1"/>
      <p:bldP spid="20" grpId="0" animBg="1"/>
      <p:bldP spid="23"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A dashboard for every role</a:t>
            </a:r>
            <a:endParaRPr lang="en-US" sz="3200" dirty="0"/>
          </a:p>
        </p:txBody>
      </p:sp>
      <p:sp>
        <p:nvSpPr>
          <p:cNvPr id="3" name="a-up-db0"/>
          <p:cNvSpPr/>
          <p:nvPr/>
        </p:nvSpPr>
        <p:spPr>
          <a:xfrm>
            <a:off x="493776" y="1453896"/>
            <a:ext cx="3630168" cy="2313432"/>
          </a:xfrm>
          <a:prstGeom prst="roundRect">
            <a:avLst>
              <a:gd name="adj" fmla="val 316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4" name="a-up-w-db0-img" descr="/tmp/claude-0/-home-user-done/4a4296a4-6fd8-5cee-98c2-5de0aee80c99/scratchpad/docs/img/ui-admin-dashboard.jpg">    </p:cNvPr>
          <p:cNvPicPr>
            <a:picLocks noChangeAspect="1"/>
          </p:cNvPicPr>
          <p:nvPr/>
        </p:nvPicPr>
        <p:blipFill>
          <a:blip r:embed="rId1"/>
          <a:stretch>
            <a:fillRect/>
          </a:stretch>
        </p:blipFill>
        <p:spPr>
          <a:xfrm>
            <a:off x="548640" y="1508760"/>
            <a:ext cx="3520440" cy="2203704"/>
          </a:xfrm>
          <a:prstGeom prst="rect">
            <a:avLst/>
          </a:prstGeom>
        </p:spPr>
      </p:pic>
      <p:sp>
        <p:nvSpPr>
          <p:cNvPr id="5" name="a-up-w-dbt0"/>
          <p:cNvSpPr txBox="1"/>
          <p:nvPr/>
        </p:nvSpPr>
        <p:spPr>
          <a:xfrm>
            <a:off x="548640" y="3886200"/>
            <a:ext cx="3520440" cy="365760"/>
          </a:xfrm>
          <a:prstGeom prst="rect">
            <a:avLst/>
          </a:prstGeom>
          <a:noFill/>
          <a:ln/>
        </p:spPr>
        <p:txBody>
          <a:bodyPr wrap="square" lIns="0" tIns="0" rIns="0" bIns="0" rtlCol="0" anchor="t"/>
          <a:lstStyle/>
          <a:p>
            <a:pPr algn="ctr" indent="0" marL="0">
              <a:buNone/>
            </a:pPr>
            <a:r>
              <a:rPr lang="en-US" sz="1800" b="1" dirty="0">
                <a:solidFill>
                  <a:schemeClr val="tx2"/>
                </a:solidFill>
              </a:rPr>
              <a:t>Admin</a:t>
            </a:r>
            <a:endParaRPr lang="en-US" sz="1800" dirty="0"/>
          </a:p>
        </p:txBody>
      </p:sp>
      <p:sp>
        <p:nvSpPr>
          <p:cNvPr id="6" name="a-up-db1"/>
          <p:cNvSpPr/>
          <p:nvPr/>
        </p:nvSpPr>
        <p:spPr>
          <a:xfrm>
            <a:off x="4242816" y="1453896"/>
            <a:ext cx="3630168" cy="2313432"/>
          </a:xfrm>
          <a:prstGeom prst="roundRect">
            <a:avLst>
              <a:gd name="adj" fmla="val 316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7" name="a-up-w-db1-img" descr="/tmp/claude-0/-home-user-done/4a4296a4-6fd8-5cee-98c2-5de0aee80c99/scratchpad/docs/img/ui-accounts-dashboard.jpg">    </p:cNvPr>
          <p:cNvPicPr>
            <a:picLocks noChangeAspect="1"/>
          </p:cNvPicPr>
          <p:nvPr/>
        </p:nvPicPr>
        <p:blipFill>
          <a:blip r:embed="rId2"/>
          <a:stretch>
            <a:fillRect/>
          </a:stretch>
        </p:blipFill>
        <p:spPr>
          <a:xfrm>
            <a:off x="4297680" y="1508760"/>
            <a:ext cx="3520440" cy="2203704"/>
          </a:xfrm>
          <a:prstGeom prst="rect">
            <a:avLst/>
          </a:prstGeom>
        </p:spPr>
      </p:pic>
      <p:sp>
        <p:nvSpPr>
          <p:cNvPr id="8" name="a-up-w-dbt1"/>
          <p:cNvSpPr txBox="1"/>
          <p:nvPr/>
        </p:nvSpPr>
        <p:spPr>
          <a:xfrm>
            <a:off x="4297680" y="3886200"/>
            <a:ext cx="3520440" cy="365760"/>
          </a:xfrm>
          <a:prstGeom prst="rect">
            <a:avLst/>
          </a:prstGeom>
          <a:noFill/>
          <a:ln/>
        </p:spPr>
        <p:txBody>
          <a:bodyPr wrap="square" lIns="0" tIns="0" rIns="0" bIns="0" rtlCol="0" anchor="t"/>
          <a:lstStyle/>
          <a:p>
            <a:pPr algn="ctr" indent="0" marL="0">
              <a:buNone/>
            </a:pPr>
            <a:r>
              <a:rPr lang="en-US" sz="1800" b="1" dirty="0">
                <a:solidFill>
                  <a:schemeClr val="tx2"/>
                </a:solidFill>
              </a:rPr>
              <a:t>Accounts</a:t>
            </a:r>
            <a:endParaRPr lang="en-US" sz="1800" dirty="0"/>
          </a:p>
        </p:txBody>
      </p:sp>
      <p:sp>
        <p:nvSpPr>
          <p:cNvPr id="9" name="a-up-db2"/>
          <p:cNvSpPr/>
          <p:nvPr/>
        </p:nvSpPr>
        <p:spPr>
          <a:xfrm>
            <a:off x="7991856" y="1453896"/>
            <a:ext cx="3630168" cy="2313432"/>
          </a:xfrm>
          <a:prstGeom prst="roundRect">
            <a:avLst>
              <a:gd name="adj" fmla="val 3162"/>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10" name="a-up-w-db2-img" descr="/tmp/claude-0/-home-user-done/4a4296a4-6fd8-5cee-98c2-5de0aee80c99/scratchpad/docs/img/ui-customer-dashboard.jpg">    </p:cNvPr>
          <p:cNvPicPr>
            <a:picLocks noChangeAspect="1"/>
          </p:cNvPicPr>
          <p:nvPr/>
        </p:nvPicPr>
        <p:blipFill>
          <a:blip r:embed="rId3"/>
          <a:stretch>
            <a:fillRect/>
          </a:stretch>
        </p:blipFill>
        <p:spPr>
          <a:xfrm>
            <a:off x="8046720" y="1508760"/>
            <a:ext cx="3520440" cy="2203704"/>
          </a:xfrm>
          <a:prstGeom prst="rect">
            <a:avLst/>
          </a:prstGeom>
        </p:spPr>
      </p:pic>
      <p:sp>
        <p:nvSpPr>
          <p:cNvPr id="11" name="a-up-w-dbt2"/>
          <p:cNvSpPr txBox="1"/>
          <p:nvPr/>
        </p:nvSpPr>
        <p:spPr>
          <a:xfrm>
            <a:off x="8046720" y="3886200"/>
            <a:ext cx="3520440" cy="365760"/>
          </a:xfrm>
          <a:prstGeom prst="rect">
            <a:avLst/>
          </a:prstGeom>
          <a:noFill/>
          <a:ln/>
        </p:spPr>
        <p:txBody>
          <a:bodyPr wrap="square" lIns="0" tIns="0" rIns="0" bIns="0" rtlCol="0" anchor="t"/>
          <a:lstStyle/>
          <a:p>
            <a:pPr algn="ctr" indent="0" marL="0">
              <a:buNone/>
            </a:pPr>
            <a:r>
              <a:rPr lang="en-US" sz="1800" b="1" dirty="0">
                <a:solidFill>
                  <a:schemeClr val="tx2"/>
                </a:solidFill>
              </a:rPr>
              <a:t>Customer</a:t>
            </a:r>
            <a:endParaRPr lang="en-US" sz="1800" dirty="0"/>
          </a:p>
        </p:txBody>
      </p:sp>
      <p:sp>
        <p:nvSpPr>
          <p:cNvPr id="12" name="a-fade-dbn"/>
          <p:cNvSpPr/>
          <p:nvPr/>
        </p:nvSpPr>
        <p:spPr>
          <a:xfrm>
            <a:off x="548640" y="4663440"/>
            <a:ext cx="11064240" cy="1325880"/>
          </a:xfrm>
          <a:prstGeom prst="roundRect">
            <a:avLst>
              <a:gd name="adj" fmla="val 8276"/>
            </a:avLst>
          </a:prstGeom>
          <a:solidFill>
            <a:schemeClr val="bg2"/>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3" name="a-fade-w-dbnt"/>
          <p:cNvSpPr txBox="1"/>
          <p:nvPr/>
        </p:nvSpPr>
        <p:spPr>
          <a:xfrm>
            <a:off x="868680" y="4800600"/>
            <a:ext cx="10424160" cy="1051560"/>
          </a:xfrm>
          <a:prstGeom prst="rect">
            <a:avLst/>
          </a:prstGeom>
          <a:noFill/>
          <a:ln/>
        </p:spPr>
        <p:txBody>
          <a:bodyPr wrap="square" lIns="0" tIns="0" rIns="0" bIns="0" rtlCol="0" anchor="ctr"/>
          <a:lstStyle/>
          <a:p>
            <a:pPr indent="0" marL="0">
              <a:buNone/>
            </a:pPr>
            <a:r>
              <a:rPr lang="en-US" sz="1500" b="1" dirty="0">
                <a:solidFill>
                  <a:schemeClr val="accent1"/>
                </a:solidFill>
              </a:rPr>
              <a:t>Live key figures </a:t>
            </a:r>
            <a:pPr indent="0" marL="0">
              <a:buNone/>
            </a:pPr>
            <a:r>
              <a:rPr lang="en-US" sz="1500" dirty="0">
                <a:solidFill>
                  <a:schemeClr val="tx2"/>
                </a:solidFill>
              </a:rPr>
              <a:t>on every dashboard - open orders, overdue bills, money outstanding, collections this month, low stock or the customer's own amount due - read from the database for that user only.</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1"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42" presetClass="entr" presetSubtype="0"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600"/>
                                        <p:tgtEl>
                                          <p:spTgt spid="3"/>
                                        </p:tgtEl>
                                      </p:cBhvr>
                                    </p:animEffect>
                                    <p:anim calcmode="lin" valueType="num">
                                      <p:cBhvr>
                                        <p:cTn id="9" dur="600" decel="100000" fill="hold"/>
                                        <p:tgtEl>
                                          <p:spTgt spid="3"/>
                                        </p:tgtEl>
                                        <p:attrNameLst>
                                          <p:attrName>ppt_x</p:attrName>
                                        </p:attrNameLst>
                                      </p:cBhvr>
                                      <p:tavLst>
                                        <p:tav tm="0">
                                          <p:val>
                                            <p:strVal val="#ppt_x"/>
                                          </p:val>
                                        </p:tav>
                                        <p:tav tm="100000">
                                          <p:val>
                                            <p:strVal val="#ppt_x"/>
                                          </p:val>
                                        </p:tav>
                                      </p:tavLst>
                                    </p:anim>
                                    <p:anim calcmode="lin" valueType="num">
                                      <p:cBhvr>
                                        <p:cTn id="10" dur="600" decel="100000" fill="hold"/>
                                        <p:tgtEl>
                                          <p:spTgt spid="3"/>
                                        </p:tgtEl>
                                        <p:attrNameLst>
                                          <p:attrName>ppt_y</p:attrName>
                                        </p:attrNameLst>
                                      </p:cBhvr>
                                      <p:tavLst>
                                        <p:tav tm="0">
                                          <p:val>
                                            <p:strVal val="#ppt_y+.08"/>
                                          </p:val>
                                        </p:tav>
                                        <p:tav tm="100000">
                                          <p:val>
                                            <p:strVal val="#ppt_y"/>
                                          </p:val>
                                        </p:tav>
                                      </p:tavLst>
                                    </p:anim>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anim calcmode="lin" valueType="num">
                                      <p:cBhvr>
                                        <p:cTn id="14" dur="600" decel="100000" fill="hold"/>
                                        <p:tgtEl>
                                          <p:spTgt spid="4"/>
                                        </p:tgtEl>
                                        <p:attrNameLst>
                                          <p:attrName>ppt_x</p:attrName>
                                        </p:attrNameLst>
                                      </p:cBhvr>
                                      <p:tavLst>
                                        <p:tav tm="0">
                                          <p:val>
                                            <p:strVal val="#ppt_x"/>
                                          </p:val>
                                        </p:tav>
                                        <p:tav tm="100000">
                                          <p:val>
                                            <p:strVal val="#ppt_x"/>
                                          </p:val>
                                        </p:tav>
                                      </p:tavLst>
                                    </p:anim>
                                    <p:anim calcmode="lin" valueType="num">
                                      <p:cBhvr>
                                        <p:cTn id="15" dur="600" decel="100000" fill="hold"/>
                                        <p:tgtEl>
                                          <p:spTgt spid="4"/>
                                        </p:tgtEl>
                                        <p:attrNameLst>
                                          <p:attrName>ppt_y</p:attrName>
                                        </p:attrNameLst>
                                      </p:cBhvr>
                                      <p:tavLst>
                                        <p:tav tm="0">
                                          <p:val>
                                            <p:strVal val="#ppt_y+.08"/>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
                                          </p:val>
                                        </p:tav>
                                        <p:tav tm="100000">
                                          <p:val>
                                            <p:strVal val="#ppt_x"/>
                                          </p:val>
                                        </p:tav>
                                      </p:tavLst>
                                    </p:anim>
                                    <p:anim calcmode="lin" valueType="num">
                                      <p:cBhvr>
                                        <p:cTn id="20" dur="600" decel="100000" fill="hold"/>
                                        <p:tgtEl>
                                          <p:spTgt spid="5"/>
                                        </p:tgtEl>
                                        <p:attrNameLst>
                                          <p:attrName>ppt_y</p:attrName>
                                        </p:attrNameLst>
                                      </p:cBhvr>
                                      <p:tavLst>
                                        <p:tav tm="0">
                                          <p:val>
                                            <p:strVal val="#ppt_y+.08"/>
                                          </p:val>
                                        </p:tav>
                                        <p:tav tm="100000">
                                          <p:val>
                                            <p:strVal val="#ppt_y"/>
                                          </p:val>
                                        </p:tav>
                                      </p:tavLst>
                                    </p:anim>
                                  </p:childTnLst>
                                </p:cTn>
                              </p:par>
                              <p:par>
                                <p:cTn id="26" presetID="42" presetClass="entr" presetSubtype="0"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
                                          </p:val>
                                        </p:tav>
                                        <p:tav tm="100000">
                                          <p:val>
                                            <p:strVal val="#ppt_x"/>
                                          </p:val>
                                        </p:tav>
                                      </p:tavLst>
                                    </p:anim>
                                    <p:anim calcmode="lin" valueType="num">
                                      <p:cBhvr>
                                        <p:cTn id="25" dur="600" decel="100000" fill="hold"/>
                                        <p:tgtEl>
                                          <p:spTgt spid="6"/>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4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
                                          </p:val>
                                        </p:tav>
                                        <p:tav tm="100000">
                                          <p:val>
                                            <p:strVal val="#ppt_x"/>
                                          </p:val>
                                        </p:tav>
                                      </p:tavLst>
                                    </p:anim>
                                    <p:anim calcmode="lin" valueType="num">
                                      <p:cBhvr>
                                        <p:cTn id="30" dur="600" decel="100000" fill="hold"/>
                                        <p:tgtEl>
                                          <p:spTgt spid="7"/>
                                        </p:tgtEl>
                                        <p:attrNameLst>
                                          <p:attrName>ppt_y</p:attrName>
                                        </p:attrNameLst>
                                      </p:cBhvr>
                                      <p:tavLst>
                                        <p:tav tm="0">
                                          <p:val>
                                            <p:strVal val="#ppt_y+.08"/>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
                                          </p:val>
                                        </p:tav>
                                        <p:tav tm="100000">
                                          <p:val>
                                            <p:strVal val="#ppt_x"/>
                                          </p:val>
                                        </p:tav>
                                      </p:tavLst>
                                    </p:anim>
                                    <p:anim calcmode="lin" valueType="num">
                                      <p:cBhvr>
                                        <p:cTn id="35" dur="600" decel="100000" fill="hold"/>
                                        <p:tgtEl>
                                          <p:spTgt spid="8"/>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6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
                                          </p:val>
                                        </p:tav>
                                        <p:tav tm="100000">
                                          <p:val>
                                            <p:strVal val="#ppt_x"/>
                                          </p:val>
                                        </p:tav>
                                      </p:tavLst>
                                    </p:anim>
                                    <p:anim calcmode="lin" valueType="num">
                                      <p:cBhvr>
                                        <p:cTn id="40" dur="600" decel="100000" fill="hold"/>
                                        <p:tgtEl>
                                          <p:spTgt spid="9"/>
                                        </p:tgtEl>
                                        <p:attrNameLst>
                                          <p:attrName>ppt_y</p:attrName>
                                        </p:attrNameLst>
                                      </p:cBhvr>
                                      <p:tavLst>
                                        <p:tav tm="0">
                                          <p:val>
                                            <p:strVal val="#ppt_y+.08"/>
                                          </p:val>
                                        </p:tav>
                                        <p:tav tm="100000">
                                          <p:val>
                                            <p:strVal val="#ppt_y"/>
                                          </p:val>
                                        </p:tav>
                                      </p:tavLst>
                                    </p:anim>
                                  </p:childTnLst>
                                </p:cTn>
                              </p:par>
                              <p:par>
                                <p:cTn id="46" presetID="42" presetClass="entr" presetSubtype="0" fill="hold" grpId="0" nodeType="withEffect">
                                  <p:stCondLst>
                                    <p:cond delay="6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
                                          </p:val>
                                        </p:tav>
                                        <p:tav tm="100000">
                                          <p:val>
                                            <p:strVal val="#ppt_x"/>
                                          </p:val>
                                        </p:tav>
                                      </p:tavLst>
                                    </p:anim>
                                    <p:anim calcmode="lin" valueType="num">
                                      <p:cBhvr>
                                        <p:cTn id="45" dur="600" decel="100000" fill="hold"/>
                                        <p:tgtEl>
                                          <p:spTgt spid="10"/>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6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
                                          </p:val>
                                        </p:tav>
                                        <p:tav tm="100000">
                                          <p:val>
                                            <p:strVal val="#ppt_x"/>
                                          </p:val>
                                        </p:tav>
                                      </p:tavLst>
                                    </p:anim>
                                    <p:anim calcmode="lin" valueType="num">
                                      <p:cBhvr>
                                        <p:cTn id="50" dur="600" decel="100000" fill="hold"/>
                                        <p:tgtEl>
                                          <p:spTgt spid="11"/>
                                        </p:tgtEl>
                                        <p:attrNameLst>
                                          <p:attrName>ppt_y</p:attrName>
                                        </p:attrNameLst>
                                      </p:cBhvr>
                                      <p:tavLst>
                                        <p:tav tm="0">
                                          <p:val>
                                            <p:strVal val="#ppt_y+.08"/>
                                          </p:val>
                                        </p:tav>
                                        <p:tav tm="100000">
                                          <p:val>
                                            <p:strVal val="#ppt_y"/>
                                          </p:val>
                                        </p:tav>
                                      </p:tavLst>
                                    </p:anim>
                                  </p:childTnLst>
                                </p:cTn>
                              </p:par>
                              <p:par>
                                <p:cTn id="54" presetID="10" presetClass="entr" presetSubtype="0" fill="hold" grpId="0" nodeType="withEffect">
                                  <p:stCondLst>
                                    <p:cond delay="8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par>
                                <p:cTn id="57" presetID="10" presetClass="entr" presetSubtype="0" fill="hold" grpId="0" nodeType="withEffect">
                                  <p:stCondLst>
                                    <p:cond delay="80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par>
                                <p:cTn id="60" presetID="10" presetClass="entr" presetSubtype="0" fill="hold" grpId="0" nodeType="withEffect">
                                  <p:stCondLst>
                                    <p:cond delay="100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8" grpId="0" animBg="1"/>
      <p:bldP spid="11" grpId="0" animBg="1"/>
      <p:bldP spid="13"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Quality: tested end to end</a:t>
            </a:r>
            <a:endParaRPr lang="en-US" sz="3200" dirty="0"/>
          </a:p>
        </p:txBody>
      </p:sp>
      <p:sp>
        <p:nvSpPr>
          <p:cNvPr id="3" name="a-zoom-qc"/>
          <p:cNvSpPr/>
          <p:nvPr/>
        </p:nvSpPr>
        <p:spPr>
          <a:xfrm>
            <a:off x="548640" y="1417320"/>
            <a:ext cx="3931920" cy="4572000"/>
          </a:xfrm>
          <a:prstGeom prst="roundRect">
            <a:avLst>
              <a:gd name="adj" fmla="val 2791"/>
            </a:avLst>
          </a:prstGeom>
          <a:solidFill>
            <a:schemeClr val="bg2"/>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4" name="a-zoom-w-qn"/>
          <p:cNvSpPr txBox="1"/>
          <p:nvPr/>
        </p:nvSpPr>
        <p:spPr>
          <a:xfrm>
            <a:off x="548640" y="1965960"/>
            <a:ext cx="3931920" cy="1188720"/>
          </a:xfrm>
          <a:prstGeom prst="rect">
            <a:avLst/>
          </a:prstGeom>
          <a:noFill/>
          <a:ln/>
        </p:spPr>
        <p:txBody>
          <a:bodyPr wrap="square" lIns="0" tIns="0" rIns="0" bIns="0" rtlCol="0" anchor="t"/>
          <a:lstStyle/>
          <a:p>
            <a:pPr algn="ctr" indent="0" marL="0">
              <a:buNone/>
            </a:pPr>
            <a:r>
              <a:rPr lang="en-US" sz="6000" b="1" dirty="0">
                <a:solidFill>
                  <a:schemeClr val="accent2"/>
                </a:solidFill>
              </a:rPr>
              <a:t>48 / 48</a:t>
            </a:r>
            <a:endParaRPr lang="en-US" sz="6000" dirty="0"/>
          </a:p>
        </p:txBody>
      </p:sp>
      <p:sp>
        <p:nvSpPr>
          <p:cNvPr id="5" name="a-fade-qd"/>
          <p:cNvSpPr txBox="1"/>
          <p:nvPr/>
        </p:nvSpPr>
        <p:spPr>
          <a:xfrm>
            <a:off x="868680" y="3246120"/>
            <a:ext cx="3291840" cy="822960"/>
          </a:xfrm>
          <a:prstGeom prst="rect">
            <a:avLst/>
          </a:prstGeom>
          <a:noFill/>
          <a:ln/>
        </p:spPr>
        <p:txBody>
          <a:bodyPr wrap="square" lIns="0" tIns="0" rIns="0" bIns="0" rtlCol="0" anchor="t"/>
          <a:lstStyle/>
          <a:p>
            <a:pPr algn="ctr" indent="0" marL="0">
              <a:buNone/>
            </a:pPr>
            <a:r>
              <a:rPr lang="en-US" sz="1600" dirty="0">
                <a:solidFill>
                  <a:schemeClr val="tx2"/>
                </a:solidFill>
              </a:rPr>
              <a:t>automated end-to-end checks pass on SQL Server 2022</a:t>
            </a:r>
            <a:endParaRPr lang="en-US" sz="1600" dirty="0"/>
          </a:p>
        </p:txBody>
      </p:sp>
      <p:sp>
        <p:nvSpPr>
          <p:cNvPr id="6" name="a-fade-qd2"/>
          <p:cNvSpPr txBox="1"/>
          <p:nvPr/>
        </p:nvSpPr>
        <p:spPr>
          <a:xfrm>
            <a:off x="868680" y="4206240"/>
            <a:ext cx="3291840" cy="1371600"/>
          </a:xfrm>
          <a:prstGeom prst="rect">
            <a:avLst/>
          </a:prstGeom>
          <a:noFill/>
          <a:ln/>
        </p:spPr>
        <p:txBody>
          <a:bodyPr wrap="square" lIns="0" tIns="0" rIns="0" bIns="0" rtlCol="0" anchor="t"/>
          <a:lstStyle/>
          <a:p>
            <a:pPr algn="ctr" indent="0" marL="0">
              <a:buNone/>
            </a:pPr>
            <a:r>
              <a:rPr lang="en-US" sz="1300" dirty="0">
                <a:solidFill>
                  <a:schemeClr val="accent6"/>
                </a:solidFill>
              </a:rPr>
              <a:t>plus browser checks: no script errors, no sideways scrolling on phones, all content visible with reduced motion</a:t>
            </a:r>
            <a:endParaRPr lang="en-US" sz="1300" dirty="0"/>
          </a:p>
        </p:txBody>
      </p:sp>
      <p:sp>
        <p:nvSpPr>
          <p:cNvPr id="7" name="a-right-qa0"/>
          <p:cNvSpPr/>
          <p:nvPr/>
        </p:nvSpPr>
        <p:spPr>
          <a:xfrm>
            <a:off x="4846320" y="1417320"/>
            <a:ext cx="6766560" cy="1005840"/>
          </a:xfrm>
          <a:prstGeom prst="roundRect">
            <a:avLst>
              <a:gd name="adj" fmla="val 10909"/>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8" name="a-right-w-qi0"/>
          <p:cNvSpPr/>
          <p:nvPr/>
        </p:nvSpPr>
        <p:spPr>
          <a:xfrm>
            <a:off x="5074920" y="1618488"/>
            <a:ext cx="603504" cy="603504"/>
          </a:xfrm>
          <a:prstGeom prst="ellipse">
            <a:avLst/>
          </a:prstGeom>
          <a:solidFill>
            <a:schemeClr val="accent1"/>
          </a:solidFill>
          <a:ln/>
        </p:spPr>
      </p:sp>
      <p:pic>
        <p:nvPicPr>
          <p:cNvPr id="9" name="a-right-w-w-qi0-i" descr="/tmp/claude-0/-home-user-done/4a4296a4-6fd8-5cee-98c2-5de0aee80c99/scratchpad/docs/img/icons/check-w.png">    </p:cNvPr>
          <p:cNvPicPr>
            <a:picLocks noChangeAspect="1"/>
          </p:cNvPicPr>
          <p:nvPr/>
        </p:nvPicPr>
        <p:blipFill>
          <a:blip r:embed="rId1"/>
          <a:stretch>
            <a:fillRect/>
          </a:stretch>
        </p:blipFill>
        <p:spPr>
          <a:xfrm>
            <a:off x="5225796" y="1769364"/>
            <a:ext cx="301752" cy="301752"/>
          </a:xfrm>
          <a:prstGeom prst="rect">
            <a:avLst/>
          </a:prstGeom>
        </p:spPr>
      </p:pic>
      <p:sp>
        <p:nvSpPr>
          <p:cNvPr id="10" name="a-right-w-qt0"/>
          <p:cNvSpPr txBox="1"/>
          <p:nvPr/>
        </p:nvSpPr>
        <p:spPr>
          <a:xfrm>
            <a:off x="5897880" y="1572768"/>
            <a:ext cx="5486400" cy="365760"/>
          </a:xfrm>
          <a:prstGeom prst="rect">
            <a:avLst/>
          </a:prstGeom>
          <a:noFill/>
          <a:ln/>
        </p:spPr>
        <p:txBody>
          <a:bodyPr wrap="square" lIns="0" tIns="0" rIns="0" bIns="0" rtlCol="0" anchor="t"/>
          <a:lstStyle/>
          <a:p>
            <a:pPr indent="0" marL="0">
              <a:buNone/>
            </a:pPr>
            <a:r>
              <a:rPr lang="en-US" sz="1700" b="1" dirty="0">
                <a:solidFill>
                  <a:schemeClr val="tx2"/>
                </a:solidFill>
              </a:rPr>
              <a:t>Orders and bundles</a:t>
            </a:r>
            <a:endParaRPr lang="en-US" sz="1700" dirty="0"/>
          </a:p>
        </p:txBody>
      </p:sp>
      <p:sp>
        <p:nvSpPr>
          <p:cNvPr id="11" name="a-right-w-qd0"/>
          <p:cNvSpPr txBox="1"/>
          <p:nvPr/>
        </p:nvSpPr>
        <p:spPr>
          <a:xfrm>
            <a:off x="5897880" y="1947672"/>
            <a:ext cx="5486400" cy="365760"/>
          </a:xfrm>
          <a:prstGeom prst="rect">
            <a:avLst/>
          </a:prstGeom>
          <a:noFill/>
          <a:ln/>
        </p:spPr>
        <p:txBody>
          <a:bodyPr wrap="square" lIns="0" tIns="0" rIns="0" bIns="0" rtlCol="0" anchor="t"/>
          <a:lstStyle/>
          <a:p>
            <a:pPr indent="0" marL="0">
              <a:buNone/>
            </a:pPr>
            <a:r>
              <a:rPr lang="en-US" sz="1300" dirty="0">
                <a:solidFill>
                  <a:schemeClr val="accent6"/>
                </a:solidFill>
              </a:rPr>
              <a:t>landline plan rules, both feasibility checks, bulk bands</a:t>
            </a:r>
            <a:endParaRPr lang="en-US" sz="1300" dirty="0"/>
          </a:p>
        </p:txBody>
      </p:sp>
      <p:sp>
        <p:nvSpPr>
          <p:cNvPr id="12" name="a-right-qa1"/>
          <p:cNvSpPr/>
          <p:nvPr/>
        </p:nvSpPr>
        <p:spPr>
          <a:xfrm>
            <a:off x="4846320" y="2587752"/>
            <a:ext cx="6766560" cy="1005840"/>
          </a:xfrm>
          <a:prstGeom prst="roundRect">
            <a:avLst>
              <a:gd name="adj" fmla="val 10909"/>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3" name="a-right-w-qi1"/>
          <p:cNvSpPr/>
          <p:nvPr/>
        </p:nvSpPr>
        <p:spPr>
          <a:xfrm>
            <a:off x="5074920" y="2788920"/>
            <a:ext cx="603504" cy="603504"/>
          </a:xfrm>
          <a:prstGeom prst="ellipse">
            <a:avLst/>
          </a:prstGeom>
          <a:solidFill>
            <a:schemeClr val="accent1"/>
          </a:solidFill>
          <a:ln/>
        </p:spPr>
      </p:sp>
      <p:pic>
        <p:nvPicPr>
          <p:cNvPr id="14" name="a-right-w-w-qi1-i" descr="/tmp/claude-0/-home-user-done/4a4296a4-6fd8-5cee-98c2-5de0aee80c99/scratchpad/docs/img/icons/receipt-w.png">    </p:cNvPr>
          <p:cNvPicPr>
            <a:picLocks noChangeAspect="1"/>
          </p:cNvPicPr>
          <p:nvPr/>
        </p:nvPicPr>
        <p:blipFill>
          <a:blip r:embed="rId2"/>
          <a:stretch>
            <a:fillRect/>
          </a:stretch>
        </p:blipFill>
        <p:spPr>
          <a:xfrm>
            <a:off x="5225796" y="2939796"/>
            <a:ext cx="301752" cy="301752"/>
          </a:xfrm>
          <a:prstGeom prst="rect">
            <a:avLst/>
          </a:prstGeom>
        </p:spPr>
      </p:pic>
      <p:sp>
        <p:nvSpPr>
          <p:cNvPr id="15" name="a-right-w-qt1"/>
          <p:cNvSpPr txBox="1"/>
          <p:nvPr/>
        </p:nvSpPr>
        <p:spPr>
          <a:xfrm>
            <a:off x="5897880" y="2743200"/>
            <a:ext cx="5486400" cy="365760"/>
          </a:xfrm>
          <a:prstGeom prst="rect">
            <a:avLst/>
          </a:prstGeom>
          <a:noFill/>
          <a:ln/>
        </p:spPr>
        <p:txBody>
          <a:bodyPr wrap="square" lIns="0" tIns="0" rIns="0" bIns="0" rtlCol="0" anchor="t"/>
          <a:lstStyle/>
          <a:p>
            <a:pPr indent="0" marL="0">
              <a:buNone/>
            </a:pPr>
            <a:r>
              <a:rPr lang="en-US" sz="1700" b="1" dirty="0">
                <a:solidFill>
                  <a:schemeClr val="tx2"/>
                </a:solidFill>
              </a:rPr>
              <a:t>Billing</a:t>
            </a:r>
            <a:endParaRPr lang="en-US" sz="1700" dirty="0"/>
          </a:p>
        </p:txBody>
      </p:sp>
      <p:sp>
        <p:nvSpPr>
          <p:cNvPr id="16" name="a-right-w-qd1"/>
          <p:cNvSpPr txBox="1"/>
          <p:nvPr/>
        </p:nvSpPr>
        <p:spPr>
          <a:xfrm>
            <a:off x="5897880" y="3118104"/>
            <a:ext cx="5486400" cy="365760"/>
          </a:xfrm>
          <a:prstGeom prst="rect">
            <a:avLst/>
          </a:prstGeom>
          <a:noFill/>
          <a:ln/>
        </p:spPr>
        <p:txBody>
          <a:bodyPr wrap="square" lIns="0" tIns="0" rIns="0" bIns="0" rtlCol="0" anchor="t"/>
          <a:lstStyle/>
          <a:p>
            <a:pPr indent="0" marL="0">
              <a:buNone/>
            </a:pPr>
            <a:r>
              <a:rPr lang="en-US" sz="1300" dirty="0">
                <a:solidFill>
                  <a:schemeClr val="accent6"/>
                </a:solidFill>
              </a:rPr>
              <a:t>amounts, tax, plan validity, replacements, brought forward</a:t>
            </a:r>
            <a:endParaRPr lang="en-US" sz="1300" dirty="0"/>
          </a:p>
        </p:txBody>
      </p:sp>
      <p:sp>
        <p:nvSpPr>
          <p:cNvPr id="17" name="a-right-qa2"/>
          <p:cNvSpPr/>
          <p:nvPr/>
        </p:nvSpPr>
        <p:spPr>
          <a:xfrm>
            <a:off x="4846320" y="3758184"/>
            <a:ext cx="6766560" cy="1005840"/>
          </a:xfrm>
          <a:prstGeom prst="roundRect">
            <a:avLst>
              <a:gd name="adj" fmla="val 10909"/>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18" name="a-right-w-qi2"/>
          <p:cNvSpPr/>
          <p:nvPr/>
        </p:nvSpPr>
        <p:spPr>
          <a:xfrm>
            <a:off x="5074920" y="3959352"/>
            <a:ext cx="603504" cy="603504"/>
          </a:xfrm>
          <a:prstGeom prst="ellipse">
            <a:avLst/>
          </a:prstGeom>
          <a:solidFill>
            <a:schemeClr val="accent1"/>
          </a:solidFill>
          <a:ln/>
        </p:spPr>
      </p:sp>
      <p:pic>
        <p:nvPicPr>
          <p:cNvPr id="19" name="a-right-w-w-qi2-i" descr="/tmp/claude-0/-home-user-done/4a4296a4-6fd8-5cee-98c2-5de0aee80c99/scratchpad/docs/img/icons/shield-w.png">    </p:cNvPr>
          <p:cNvPicPr>
            <a:picLocks noChangeAspect="1"/>
          </p:cNvPicPr>
          <p:nvPr/>
        </p:nvPicPr>
        <p:blipFill>
          <a:blip r:embed="rId3"/>
          <a:stretch>
            <a:fillRect/>
          </a:stretch>
        </p:blipFill>
        <p:spPr>
          <a:xfrm>
            <a:off x="5225796" y="4110228"/>
            <a:ext cx="301752" cy="301752"/>
          </a:xfrm>
          <a:prstGeom prst="rect">
            <a:avLst/>
          </a:prstGeom>
        </p:spPr>
      </p:pic>
      <p:sp>
        <p:nvSpPr>
          <p:cNvPr id="20" name="a-right-w-qt2"/>
          <p:cNvSpPr txBox="1"/>
          <p:nvPr/>
        </p:nvSpPr>
        <p:spPr>
          <a:xfrm>
            <a:off x="5897880" y="3913632"/>
            <a:ext cx="5486400" cy="365760"/>
          </a:xfrm>
          <a:prstGeom prst="rect">
            <a:avLst/>
          </a:prstGeom>
          <a:noFill/>
          <a:ln/>
        </p:spPr>
        <p:txBody>
          <a:bodyPr wrap="square" lIns="0" tIns="0" rIns="0" bIns="0" rtlCol="0" anchor="t"/>
          <a:lstStyle/>
          <a:p>
            <a:pPr indent="0" marL="0">
              <a:buNone/>
            </a:pPr>
            <a:r>
              <a:rPr lang="en-US" sz="1700" b="1" dirty="0">
                <a:solidFill>
                  <a:schemeClr val="tx2"/>
                </a:solidFill>
              </a:rPr>
              <a:t>Security</a:t>
            </a:r>
            <a:endParaRPr lang="en-US" sz="1700" dirty="0"/>
          </a:p>
        </p:txBody>
      </p:sp>
      <p:sp>
        <p:nvSpPr>
          <p:cNvPr id="21" name="a-right-w-qd2"/>
          <p:cNvSpPr txBox="1"/>
          <p:nvPr/>
        </p:nvSpPr>
        <p:spPr>
          <a:xfrm>
            <a:off x="5897880" y="4288536"/>
            <a:ext cx="5486400" cy="365760"/>
          </a:xfrm>
          <a:prstGeom prst="rect">
            <a:avLst/>
          </a:prstGeom>
          <a:noFill/>
          <a:ln/>
        </p:spPr>
        <p:txBody>
          <a:bodyPr wrap="square" lIns="0" tIns="0" rIns="0" bIns="0" rtlCol="0" anchor="t"/>
          <a:lstStyle/>
          <a:p>
            <a:pPr indent="0" marL="0">
              <a:buNone/>
            </a:pPr>
            <a:r>
              <a:rPr lang="en-US" sz="1300" dirty="0">
                <a:solidFill>
                  <a:schemeClr val="accent6"/>
                </a:solidFill>
              </a:rPr>
              <a:t>role areas, shop isolation, hashed passwords</a:t>
            </a:r>
            <a:endParaRPr lang="en-US" sz="1300" dirty="0"/>
          </a:p>
        </p:txBody>
      </p:sp>
      <p:sp>
        <p:nvSpPr>
          <p:cNvPr id="22" name="a-right-qa3"/>
          <p:cNvSpPr/>
          <p:nvPr/>
        </p:nvSpPr>
        <p:spPr>
          <a:xfrm>
            <a:off x="4846320" y="4928616"/>
            <a:ext cx="6766560" cy="1005840"/>
          </a:xfrm>
          <a:prstGeom prst="roundRect">
            <a:avLst>
              <a:gd name="adj" fmla="val 10909"/>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sp>
        <p:nvSpPr>
          <p:cNvPr id="23" name="a-right-w-qi3"/>
          <p:cNvSpPr/>
          <p:nvPr/>
        </p:nvSpPr>
        <p:spPr>
          <a:xfrm>
            <a:off x="5074920" y="5129784"/>
            <a:ext cx="603504" cy="603504"/>
          </a:xfrm>
          <a:prstGeom prst="ellipse">
            <a:avLst/>
          </a:prstGeom>
          <a:solidFill>
            <a:schemeClr val="accent5"/>
          </a:solidFill>
          <a:ln/>
        </p:spPr>
      </p:sp>
      <p:pic>
        <p:nvPicPr>
          <p:cNvPr id="24" name="a-right-w-w-qi3-i" descr="/tmp/claude-0/-home-user-done/4a4296a4-6fd8-5cee-98c2-5de0aee80c99/scratchpad/docs/img/icons/bug-w.png">    </p:cNvPr>
          <p:cNvPicPr>
            <a:picLocks noChangeAspect="1"/>
          </p:cNvPicPr>
          <p:nvPr/>
        </p:nvPicPr>
        <p:blipFill>
          <a:blip r:embed="rId4"/>
          <a:stretch>
            <a:fillRect/>
          </a:stretch>
        </p:blipFill>
        <p:spPr>
          <a:xfrm>
            <a:off x="5225796" y="5280660"/>
            <a:ext cx="301752" cy="301752"/>
          </a:xfrm>
          <a:prstGeom prst="rect">
            <a:avLst/>
          </a:prstGeom>
        </p:spPr>
      </p:pic>
      <p:sp>
        <p:nvSpPr>
          <p:cNvPr id="25" name="a-right-w-qt3"/>
          <p:cNvSpPr txBox="1"/>
          <p:nvPr/>
        </p:nvSpPr>
        <p:spPr>
          <a:xfrm>
            <a:off x="5897880" y="5084064"/>
            <a:ext cx="5486400" cy="365760"/>
          </a:xfrm>
          <a:prstGeom prst="rect">
            <a:avLst/>
          </a:prstGeom>
          <a:noFill/>
          <a:ln/>
        </p:spPr>
        <p:txBody>
          <a:bodyPr wrap="square" lIns="0" tIns="0" rIns="0" bIns="0" rtlCol="0" anchor="t"/>
          <a:lstStyle/>
          <a:p>
            <a:pPr indent="0" marL="0">
              <a:buNone/>
            </a:pPr>
            <a:r>
              <a:rPr lang="en-US" sz="1700" b="1" dirty="0">
                <a:solidFill>
                  <a:schemeClr val="tx2"/>
                </a:solidFill>
              </a:rPr>
              <a:t>Bugs fixed</a:t>
            </a:r>
            <a:endParaRPr lang="en-US" sz="1700" dirty="0"/>
          </a:p>
        </p:txBody>
      </p:sp>
      <p:sp>
        <p:nvSpPr>
          <p:cNvPr id="26" name="a-right-w-qd3"/>
          <p:cNvSpPr txBox="1"/>
          <p:nvPr/>
        </p:nvSpPr>
        <p:spPr>
          <a:xfrm>
            <a:off x="5897880" y="5458968"/>
            <a:ext cx="5486400" cy="365760"/>
          </a:xfrm>
          <a:prstGeom prst="rect">
            <a:avLst/>
          </a:prstGeom>
          <a:noFill/>
          <a:ln/>
        </p:spPr>
        <p:txBody>
          <a:bodyPr wrap="square" lIns="0" tIns="0" rIns="0" bIns="0" rtlCol="0" anchor="t"/>
          <a:lstStyle/>
          <a:p>
            <a:pPr indent="0" marL="0">
              <a:buNone/>
            </a:pPr>
            <a:r>
              <a:rPr lang="en-US" sz="1300" dirty="0">
                <a:solidFill>
                  <a:schemeClr val="accent6"/>
                </a:solidFill>
              </a:rPr>
              <a:t>corrupted document uploads, unreachable dial-up orders</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26"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53" presetClass="entr" presetSubtype="16"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 calcmode="lin" valueType="num">
                                      <p:cBhvr>
                                        <p:cTn id="9" dur="650" decel="100000" fill="hold"/>
                                        <p:tgtEl>
                                          <p:spTgt spid="3"/>
                                        </p:tgtEl>
                                        <p:attrNameLst>
                                          <p:attrName>ppt_w</p:attrName>
                                        </p:attrNameLst>
                                      </p:cBhvr>
                                      <p:tavLst>
                                        <p:tav tm="0">
                                          <p:val>
                                            <p:strVal val="#ppt_w*0.7"/>
                                          </p:val>
                                        </p:tav>
                                        <p:tav tm="100000">
                                          <p:val>
                                            <p:strVal val="#ppt_w"/>
                                          </p:val>
                                        </p:tav>
                                      </p:tavLst>
                                    </p:anim>
                                    <p:anim calcmode="lin" valueType="num">
                                      <p:cBhvr>
                                        <p:cTn id="10" dur="650" decel="100000" fill="hold"/>
                                        <p:tgtEl>
                                          <p:spTgt spid="3"/>
                                        </p:tgtEl>
                                        <p:attrNameLst>
                                          <p:attrName>ppt_h</p:attrName>
                                        </p:attrNameLst>
                                      </p:cBhvr>
                                      <p:tavLst>
                                        <p:tav tm="0">
                                          <p:val>
                                            <p:strVal val="#ppt_h*0.7"/>
                                          </p:val>
                                        </p:tav>
                                        <p:tav tm="100000">
                                          <p:val>
                                            <p:strVal val="#ppt_h"/>
                                          </p:val>
                                        </p:tav>
                                      </p:tavLst>
                                    </p:anim>
                                    <p:animEffect transition="in" filter="fade">
                                      <p:cBhvr>
                                        <p:cTn id="8" dur="650"/>
                                        <p:tgtEl>
                                          <p:spTgt spid="3"/>
                                        </p:tgtEl>
                                      </p:cBhvr>
                                    </p:animEffect>
                                  </p:childTnLst>
                                </p:cTn>
                              </p:par>
                              <p:par>
                                <p:cTn id="16" presetID="53" presetClass="entr" presetSubtype="16"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 calcmode="lin" valueType="num">
                                      <p:cBhvr>
                                        <p:cTn id="14" dur="650" decel="100000" fill="hold"/>
                                        <p:tgtEl>
                                          <p:spTgt spid="4"/>
                                        </p:tgtEl>
                                        <p:attrNameLst>
                                          <p:attrName>ppt_w</p:attrName>
                                        </p:attrNameLst>
                                      </p:cBhvr>
                                      <p:tavLst>
                                        <p:tav tm="0">
                                          <p:val>
                                            <p:strVal val="#ppt_w*0.7"/>
                                          </p:val>
                                        </p:tav>
                                        <p:tav tm="100000">
                                          <p:val>
                                            <p:strVal val="#ppt_w"/>
                                          </p:val>
                                        </p:tav>
                                      </p:tavLst>
                                    </p:anim>
                                    <p:anim calcmode="lin" valueType="num">
                                      <p:cBhvr>
                                        <p:cTn id="15" dur="650" decel="100000" fill="hold"/>
                                        <p:tgtEl>
                                          <p:spTgt spid="4"/>
                                        </p:tgtEl>
                                        <p:attrNameLst>
                                          <p:attrName>ppt_h</p:attrName>
                                        </p:attrNameLst>
                                      </p:cBhvr>
                                      <p:tavLst>
                                        <p:tav tm="0">
                                          <p:val>
                                            <p:strVal val="#ppt_h*0.7"/>
                                          </p:val>
                                        </p:tav>
                                        <p:tav tm="100000">
                                          <p:val>
                                            <p:strVal val="#ppt_h"/>
                                          </p:val>
                                        </p:tav>
                                      </p:tavLst>
                                    </p:anim>
                                    <p:animEffect transition="in" filter="fade">
                                      <p:cBhvr>
                                        <p:cTn id="13" dur="650"/>
                                        <p:tgtEl>
                                          <p:spTgt spid="4"/>
                                        </p:tgtEl>
                                      </p:cBhvr>
                                    </p:animEffect>
                                  </p:childTnLst>
                                </p:cTn>
                              </p:par>
                              <p:par>
                                <p:cTn id="19" presetID="10" presetClass="entr" presetSubtype="0" fill="hold" grpId="0" nodeType="withEffect">
                                  <p:stCondLst>
                                    <p:cond delay="4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22" presetID="10" presetClass="entr" presetSubtype="0" fill="hold" grpId="0" nodeType="withEffect">
                                  <p:stCondLst>
                                    <p:cond delay="6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7" presetID="42" presetClass="entr" presetSubtype="0" fill="hold" grpId="0" nodeType="withEffect">
                                  <p:stCondLst>
                                    <p:cond delay="8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p:cTn id="25" dur="600" decel="100000" fill="hold"/>
                                        <p:tgtEl>
                                          <p:spTgt spid="7"/>
                                        </p:tgtEl>
                                        <p:attrNameLst>
                                          <p:attrName>ppt_x</p:attrName>
                                        </p:attrNameLst>
                                      </p:cBhvr>
                                      <p:tavLst>
                                        <p:tav tm="0">
                                          <p:val>
                                            <p:strVal val="#ppt_x+.08"/>
                                          </p:val>
                                        </p:tav>
                                        <p:tav tm="100000">
                                          <p:val>
                                            <p:strVal val="#ppt_x"/>
                                          </p:val>
                                        </p:tav>
                                      </p:tavLst>
                                    </p:anim>
                                    <p:anim calcmode="lin" valueType="num">
                                      <p:cBhvr>
                                        <p:cTn id="26" dur="600" decel="100000" fill="hold"/>
                                        <p:tgtEl>
                                          <p:spTgt spid="7"/>
                                        </p:tgtEl>
                                        <p:attrNameLst>
                                          <p:attrName>ppt_y</p:attrName>
                                        </p:attrNameLst>
                                      </p:cBhvr>
                                      <p:tavLst>
                                        <p:tav tm="0">
                                          <p:val>
                                            <p:strVal val="#ppt_y"/>
                                          </p:val>
                                        </p:tav>
                                        <p:tav tm="100000">
                                          <p:val>
                                            <p:strVal val="#ppt_y"/>
                                          </p:val>
                                        </p:tav>
                                      </p:tavLst>
                                    </p:anim>
                                  </p:childTnLst>
                                </p:cTn>
                              </p:par>
                              <p:par>
                                <p:cTn id="32" presetID="42" presetClass="entr" presetSubtype="0" fill="hold" grpId="0" nodeType="withEffect">
                                  <p:stCondLst>
                                    <p:cond delay="80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600"/>
                                        <p:tgtEl>
                                          <p:spTgt spid="8"/>
                                        </p:tgtEl>
                                      </p:cBhvr>
                                    </p:animEffect>
                                    <p:anim calcmode="lin" valueType="num">
                                      <p:cBhvr>
                                        <p:cTn id="30" dur="600" decel="100000" fill="hold"/>
                                        <p:tgtEl>
                                          <p:spTgt spid="8"/>
                                        </p:tgtEl>
                                        <p:attrNameLst>
                                          <p:attrName>ppt_x</p:attrName>
                                        </p:attrNameLst>
                                      </p:cBhvr>
                                      <p:tavLst>
                                        <p:tav tm="0">
                                          <p:val>
                                            <p:strVal val="#ppt_x+.08"/>
                                          </p:val>
                                        </p:tav>
                                        <p:tav tm="100000">
                                          <p:val>
                                            <p:strVal val="#ppt_x"/>
                                          </p:val>
                                        </p:tav>
                                      </p:tavLst>
                                    </p:anim>
                                    <p:anim calcmode="lin" valueType="num">
                                      <p:cBhvr>
                                        <p:cTn id="31" dur="600" decel="100000" fill="hold"/>
                                        <p:tgtEl>
                                          <p:spTgt spid="8"/>
                                        </p:tgtEl>
                                        <p:attrNameLst>
                                          <p:attrName>ppt_y</p:attrName>
                                        </p:attrNameLst>
                                      </p:cBhvr>
                                      <p:tavLst>
                                        <p:tav tm="0">
                                          <p:val>
                                            <p:strVal val="#ppt_y"/>
                                          </p:val>
                                        </p:tav>
                                        <p:tav tm="100000">
                                          <p:val>
                                            <p:strVal val="#ppt_y"/>
                                          </p:val>
                                        </p:tav>
                                      </p:tavLst>
                                    </p:anim>
                                  </p:childTnLst>
                                </p:cTn>
                              </p:par>
                              <p:par>
                                <p:cTn id="37" presetID="42" presetClass="entr" presetSubtype="0" fill="hold" grpId="0" nodeType="withEffect">
                                  <p:stCondLst>
                                    <p:cond delay="8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600"/>
                                        <p:tgtEl>
                                          <p:spTgt spid="9"/>
                                        </p:tgtEl>
                                      </p:cBhvr>
                                    </p:animEffect>
                                    <p:anim calcmode="lin" valueType="num">
                                      <p:cBhvr>
                                        <p:cTn id="35" dur="600" decel="100000" fill="hold"/>
                                        <p:tgtEl>
                                          <p:spTgt spid="9"/>
                                        </p:tgtEl>
                                        <p:attrNameLst>
                                          <p:attrName>ppt_x</p:attrName>
                                        </p:attrNameLst>
                                      </p:cBhvr>
                                      <p:tavLst>
                                        <p:tav tm="0">
                                          <p:val>
                                            <p:strVal val="#ppt_x+.08"/>
                                          </p:val>
                                        </p:tav>
                                        <p:tav tm="100000">
                                          <p:val>
                                            <p:strVal val="#ppt_x"/>
                                          </p:val>
                                        </p:tav>
                                      </p:tavLst>
                                    </p:anim>
                                    <p:anim calcmode="lin" valueType="num">
                                      <p:cBhvr>
                                        <p:cTn id="36" dur="600" decel="100000" fill="hold"/>
                                        <p:tgtEl>
                                          <p:spTgt spid="9"/>
                                        </p:tgtEl>
                                        <p:attrNameLst>
                                          <p:attrName>ppt_y</p:attrName>
                                        </p:attrNameLst>
                                      </p:cBhvr>
                                      <p:tavLst>
                                        <p:tav tm="0">
                                          <p:val>
                                            <p:strVal val="#ppt_y"/>
                                          </p:val>
                                        </p:tav>
                                        <p:tav tm="100000">
                                          <p:val>
                                            <p:strVal val="#ppt_y"/>
                                          </p:val>
                                        </p:tav>
                                      </p:tavLst>
                                    </p:anim>
                                  </p:childTnLst>
                                </p:cTn>
                              </p:par>
                              <p:par>
                                <p:cTn id="42" presetID="42" presetClass="entr" presetSubtype="0" fill="hold" grpId="0" nodeType="withEffect">
                                  <p:stCondLst>
                                    <p:cond delay="80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600"/>
                                        <p:tgtEl>
                                          <p:spTgt spid="10"/>
                                        </p:tgtEl>
                                      </p:cBhvr>
                                    </p:animEffect>
                                    <p:anim calcmode="lin" valueType="num">
                                      <p:cBhvr>
                                        <p:cTn id="40" dur="600" decel="100000" fill="hold"/>
                                        <p:tgtEl>
                                          <p:spTgt spid="10"/>
                                        </p:tgtEl>
                                        <p:attrNameLst>
                                          <p:attrName>ppt_x</p:attrName>
                                        </p:attrNameLst>
                                      </p:cBhvr>
                                      <p:tavLst>
                                        <p:tav tm="0">
                                          <p:val>
                                            <p:strVal val="#ppt_x+.08"/>
                                          </p:val>
                                        </p:tav>
                                        <p:tav tm="100000">
                                          <p:val>
                                            <p:strVal val="#ppt_x"/>
                                          </p:val>
                                        </p:tav>
                                      </p:tavLst>
                                    </p:anim>
                                    <p:anim calcmode="lin" valueType="num">
                                      <p:cBhvr>
                                        <p:cTn id="41" dur="600" decel="100000" fill="hold"/>
                                        <p:tgtEl>
                                          <p:spTgt spid="10"/>
                                        </p:tgtEl>
                                        <p:attrNameLst>
                                          <p:attrName>ppt_y</p:attrName>
                                        </p:attrNameLst>
                                      </p:cBhvr>
                                      <p:tavLst>
                                        <p:tav tm="0">
                                          <p:val>
                                            <p:strVal val="#ppt_y"/>
                                          </p:val>
                                        </p:tav>
                                        <p:tav tm="100000">
                                          <p:val>
                                            <p:strVal val="#ppt_y"/>
                                          </p:val>
                                        </p:tav>
                                      </p:tavLst>
                                    </p:anim>
                                  </p:childTnLst>
                                </p:cTn>
                              </p:par>
                              <p:par>
                                <p:cTn id="47" presetID="42" presetClass="entr" presetSubtype="0" fill="hold" grpId="0" nodeType="withEffect">
                                  <p:stCondLst>
                                    <p:cond delay="80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600"/>
                                        <p:tgtEl>
                                          <p:spTgt spid="11"/>
                                        </p:tgtEl>
                                      </p:cBhvr>
                                    </p:animEffect>
                                    <p:anim calcmode="lin" valueType="num">
                                      <p:cBhvr>
                                        <p:cTn id="45" dur="600" decel="100000" fill="hold"/>
                                        <p:tgtEl>
                                          <p:spTgt spid="11"/>
                                        </p:tgtEl>
                                        <p:attrNameLst>
                                          <p:attrName>ppt_x</p:attrName>
                                        </p:attrNameLst>
                                      </p:cBhvr>
                                      <p:tavLst>
                                        <p:tav tm="0">
                                          <p:val>
                                            <p:strVal val="#ppt_x+.08"/>
                                          </p:val>
                                        </p:tav>
                                        <p:tav tm="100000">
                                          <p:val>
                                            <p:strVal val="#ppt_x"/>
                                          </p:val>
                                        </p:tav>
                                      </p:tavLst>
                                    </p:anim>
                                    <p:anim calcmode="lin" valueType="num">
                                      <p:cBhvr>
                                        <p:cTn id="46" dur="600" decel="100000" fill="hold"/>
                                        <p:tgtEl>
                                          <p:spTgt spid="11"/>
                                        </p:tgtEl>
                                        <p:attrNameLst>
                                          <p:attrName>ppt_y</p:attrName>
                                        </p:attrNameLst>
                                      </p:cBhvr>
                                      <p:tavLst>
                                        <p:tav tm="0">
                                          <p:val>
                                            <p:strVal val="#ppt_y"/>
                                          </p:val>
                                        </p:tav>
                                        <p:tav tm="100000">
                                          <p:val>
                                            <p:strVal val="#ppt_y"/>
                                          </p:val>
                                        </p:tav>
                                      </p:tavLst>
                                    </p:anim>
                                  </p:childTnLst>
                                </p:cTn>
                              </p:par>
                              <p:par>
                                <p:cTn id="52" presetID="42" presetClass="entr" presetSubtype="0" fill="hold" grpId="0" nodeType="withEffect">
                                  <p:stCondLst>
                                    <p:cond delay="100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p:cTn id="50" dur="600" decel="100000" fill="hold"/>
                                        <p:tgtEl>
                                          <p:spTgt spid="12"/>
                                        </p:tgtEl>
                                        <p:attrNameLst>
                                          <p:attrName>ppt_x</p:attrName>
                                        </p:attrNameLst>
                                      </p:cBhvr>
                                      <p:tavLst>
                                        <p:tav tm="0">
                                          <p:val>
                                            <p:strVal val="#ppt_x+.08"/>
                                          </p:val>
                                        </p:tav>
                                        <p:tav tm="100000">
                                          <p:val>
                                            <p:strVal val="#ppt_x"/>
                                          </p:val>
                                        </p:tav>
                                      </p:tavLst>
                                    </p:anim>
                                    <p:anim calcmode="lin" valueType="num">
                                      <p:cBhvr>
                                        <p:cTn id="51" dur="600" decel="100000" fill="hold"/>
                                        <p:tgtEl>
                                          <p:spTgt spid="12"/>
                                        </p:tgtEl>
                                        <p:attrNameLst>
                                          <p:attrName>ppt_y</p:attrName>
                                        </p:attrNameLst>
                                      </p:cBhvr>
                                      <p:tavLst>
                                        <p:tav tm="0">
                                          <p:val>
                                            <p:strVal val="#ppt_y"/>
                                          </p:val>
                                        </p:tav>
                                        <p:tav tm="100000">
                                          <p:val>
                                            <p:strVal val="#ppt_y"/>
                                          </p:val>
                                        </p:tav>
                                      </p:tavLst>
                                    </p:anim>
                                  </p:childTnLst>
                                </p:cTn>
                              </p:par>
                              <p:par>
                                <p:cTn id="57" presetID="42" presetClass="entr" presetSubtype="0" fill="hold" grpId="0" nodeType="withEffect">
                                  <p:stCondLst>
                                    <p:cond delay="100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600"/>
                                        <p:tgtEl>
                                          <p:spTgt spid="13"/>
                                        </p:tgtEl>
                                      </p:cBhvr>
                                    </p:animEffect>
                                    <p:anim calcmode="lin" valueType="num">
                                      <p:cBhvr>
                                        <p:cTn id="55" dur="600" decel="100000" fill="hold"/>
                                        <p:tgtEl>
                                          <p:spTgt spid="13"/>
                                        </p:tgtEl>
                                        <p:attrNameLst>
                                          <p:attrName>ppt_x</p:attrName>
                                        </p:attrNameLst>
                                      </p:cBhvr>
                                      <p:tavLst>
                                        <p:tav tm="0">
                                          <p:val>
                                            <p:strVal val="#ppt_x+.08"/>
                                          </p:val>
                                        </p:tav>
                                        <p:tav tm="100000">
                                          <p:val>
                                            <p:strVal val="#ppt_x"/>
                                          </p:val>
                                        </p:tav>
                                      </p:tavLst>
                                    </p:anim>
                                    <p:anim calcmode="lin" valueType="num">
                                      <p:cBhvr>
                                        <p:cTn id="56" dur="600" decel="100000" fill="hold"/>
                                        <p:tgtEl>
                                          <p:spTgt spid="13"/>
                                        </p:tgtEl>
                                        <p:attrNameLst>
                                          <p:attrName>ppt_y</p:attrName>
                                        </p:attrNameLst>
                                      </p:cBhvr>
                                      <p:tavLst>
                                        <p:tav tm="0">
                                          <p:val>
                                            <p:strVal val="#ppt_y"/>
                                          </p:val>
                                        </p:tav>
                                        <p:tav tm="100000">
                                          <p:val>
                                            <p:strVal val="#ppt_y"/>
                                          </p:val>
                                        </p:tav>
                                      </p:tavLst>
                                    </p:anim>
                                  </p:childTnLst>
                                </p:cTn>
                              </p:par>
                              <p:par>
                                <p:cTn id="62" presetID="42" presetClass="entr" presetSubtype="0" fill="hold" grpId="0" nodeType="withEffect">
                                  <p:stCondLst>
                                    <p:cond delay="100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600"/>
                                        <p:tgtEl>
                                          <p:spTgt spid="14"/>
                                        </p:tgtEl>
                                      </p:cBhvr>
                                    </p:animEffect>
                                    <p:anim calcmode="lin" valueType="num">
                                      <p:cBhvr>
                                        <p:cTn id="60" dur="600" decel="100000" fill="hold"/>
                                        <p:tgtEl>
                                          <p:spTgt spid="14"/>
                                        </p:tgtEl>
                                        <p:attrNameLst>
                                          <p:attrName>ppt_x</p:attrName>
                                        </p:attrNameLst>
                                      </p:cBhvr>
                                      <p:tavLst>
                                        <p:tav tm="0">
                                          <p:val>
                                            <p:strVal val="#ppt_x+.08"/>
                                          </p:val>
                                        </p:tav>
                                        <p:tav tm="100000">
                                          <p:val>
                                            <p:strVal val="#ppt_x"/>
                                          </p:val>
                                        </p:tav>
                                      </p:tavLst>
                                    </p:anim>
                                    <p:anim calcmode="lin" valueType="num">
                                      <p:cBhvr>
                                        <p:cTn id="61" dur="600" decel="100000" fill="hold"/>
                                        <p:tgtEl>
                                          <p:spTgt spid="14"/>
                                        </p:tgtEl>
                                        <p:attrNameLst>
                                          <p:attrName>ppt_y</p:attrName>
                                        </p:attrNameLst>
                                      </p:cBhvr>
                                      <p:tavLst>
                                        <p:tav tm="0">
                                          <p:val>
                                            <p:strVal val="#ppt_y"/>
                                          </p:val>
                                        </p:tav>
                                        <p:tav tm="100000">
                                          <p:val>
                                            <p:strVal val="#ppt_y"/>
                                          </p:val>
                                        </p:tav>
                                      </p:tavLst>
                                    </p:anim>
                                  </p:childTnLst>
                                </p:cTn>
                              </p:par>
                              <p:par>
                                <p:cTn id="67" presetID="42" presetClass="entr" presetSubtype="0" fill="hold" grpId="0" nodeType="withEffect">
                                  <p:stCondLst>
                                    <p:cond delay="100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600"/>
                                        <p:tgtEl>
                                          <p:spTgt spid="15"/>
                                        </p:tgtEl>
                                      </p:cBhvr>
                                    </p:animEffect>
                                    <p:anim calcmode="lin" valueType="num">
                                      <p:cBhvr>
                                        <p:cTn id="65" dur="600" decel="100000" fill="hold"/>
                                        <p:tgtEl>
                                          <p:spTgt spid="15"/>
                                        </p:tgtEl>
                                        <p:attrNameLst>
                                          <p:attrName>ppt_x</p:attrName>
                                        </p:attrNameLst>
                                      </p:cBhvr>
                                      <p:tavLst>
                                        <p:tav tm="0">
                                          <p:val>
                                            <p:strVal val="#ppt_x+.08"/>
                                          </p:val>
                                        </p:tav>
                                        <p:tav tm="100000">
                                          <p:val>
                                            <p:strVal val="#ppt_x"/>
                                          </p:val>
                                        </p:tav>
                                      </p:tavLst>
                                    </p:anim>
                                    <p:anim calcmode="lin" valueType="num">
                                      <p:cBhvr>
                                        <p:cTn id="66" dur="600" decel="100000" fill="hold"/>
                                        <p:tgtEl>
                                          <p:spTgt spid="15"/>
                                        </p:tgtEl>
                                        <p:attrNameLst>
                                          <p:attrName>ppt_y</p:attrName>
                                        </p:attrNameLst>
                                      </p:cBhvr>
                                      <p:tavLst>
                                        <p:tav tm="0">
                                          <p:val>
                                            <p:strVal val="#ppt_y"/>
                                          </p:val>
                                        </p:tav>
                                        <p:tav tm="100000">
                                          <p:val>
                                            <p:strVal val="#ppt_y"/>
                                          </p:val>
                                        </p:tav>
                                      </p:tavLst>
                                    </p:anim>
                                  </p:childTnLst>
                                </p:cTn>
                              </p:par>
                              <p:par>
                                <p:cTn id="72" presetID="42" presetClass="entr" presetSubtype="0" fill="hold" grpId="0" nodeType="withEffect">
                                  <p:stCondLst>
                                    <p:cond delay="100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600"/>
                                        <p:tgtEl>
                                          <p:spTgt spid="16"/>
                                        </p:tgtEl>
                                      </p:cBhvr>
                                    </p:animEffect>
                                    <p:anim calcmode="lin" valueType="num">
                                      <p:cBhvr>
                                        <p:cTn id="70" dur="600" decel="100000" fill="hold"/>
                                        <p:tgtEl>
                                          <p:spTgt spid="16"/>
                                        </p:tgtEl>
                                        <p:attrNameLst>
                                          <p:attrName>ppt_x</p:attrName>
                                        </p:attrNameLst>
                                      </p:cBhvr>
                                      <p:tavLst>
                                        <p:tav tm="0">
                                          <p:val>
                                            <p:strVal val="#ppt_x+.08"/>
                                          </p:val>
                                        </p:tav>
                                        <p:tav tm="100000">
                                          <p:val>
                                            <p:strVal val="#ppt_x"/>
                                          </p:val>
                                        </p:tav>
                                      </p:tavLst>
                                    </p:anim>
                                    <p:anim calcmode="lin" valueType="num">
                                      <p:cBhvr>
                                        <p:cTn id="71" dur="600" decel="100000" fill="hold"/>
                                        <p:tgtEl>
                                          <p:spTgt spid="16"/>
                                        </p:tgtEl>
                                        <p:attrNameLst>
                                          <p:attrName>ppt_y</p:attrName>
                                        </p:attrNameLst>
                                      </p:cBhvr>
                                      <p:tavLst>
                                        <p:tav tm="0">
                                          <p:val>
                                            <p:strVal val="#ppt_y"/>
                                          </p:val>
                                        </p:tav>
                                        <p:tav tm="100000">
                                          <p:val>
                                            <p:strVal val="#ppt_y"/>
                                          </p:val>
                                        </p:tav>
                                      </p:tavLst>
                                    </p:anim>
                                  </p:childTnLst>
                                </p:cTn>
                              </p:par>
                              <p:par>
                                <p:cTn id="77" presetID="42" presetClass="entr" presetSubtype="0" fill="hold" grpId="0" nodeType="withEffect">
                                  <p:stCondLst>
                                    <p:cond delay="120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600"/>
                                        <p:tgtEl>
                                          <p:spTgt spid="17"/>
                                        </p:tgtEl>
                                      </p:cBhvr>
                                    </p:animEffect>
                                    <p:anim calcmode="lin" valueType="num">
                                      <p:cBhvr>
                                        <p:cTn id="75" dur="600" decel="100000" fill="hold"/>
                                        <p:tgtEl>
                                          <p:spTgt spid="17"/>
                                        </p:tgtEl>
                                        <p:attrNameLst>
                                          <p:attrName>ppt_x</p:attrName>
                                        </p:attrNameLst>
                                      </p:cBhvr>
                                      <p:tavLst>
                                        <p:tav tm="0">
                                          <p:val>
                                            <p:strVal val="#ppt_x+.08"/>
                                          </p:val>
                                        </p:tav>
                                        <p:tav tm="100000">
                                          <p:val>
                                            <p:strVal val="#ppt_x"/>
                                          </p:val>
                                        </p:tav>
                                      </p:tavLst>
                                    </p:anim>
                                    <p:anim calcmode="lin" valueType="num">
                                      <p:cBhvr>
                                        <p:cTn id="76" dur="600" decel="100000" fill="hold"/>
                                        <p:tgtEl>
                                          <p:spTgt spid="17"/>
                                        </p:tgtEl>
                                        <p:attrNameLst>
                                          <p:attrName>ppt_y</p:attrName>
                                        </p:attrNameLst>
                                      </p:cBhvr>
                                      <p:tavLst>
                                        <p:tav tm="0">
                                          <p:val>
                                            <p:strVal val="#ppt_y"/>
                                          </p:val>
                                        </p:tav>
                                        <p:tav tm="100000">
                                          <p:val>
                                            <p:strVal val="#ppt_y"/>
                                          </p:val>
                                        </p:tav>
                                      </p:tavLst>
                                    </p:anim>
                                  </p:childTnLst>
                                </p:cTn>
                              </p:par>
                              <p:par>
                                <p:cTn id="82" presetID="42" presetClass="entr" presetSubtype="0" fill="hold" grpId="0" nodeType="withEffect">
                                  <p:stCondLst>
                                    <p:cond delay="120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600"/>
                                        <p:tgtEl>
                                          <p:spTgt spid="18"/>
                                        </p:tgtEl>
                                      </p:cBhvr>
                                    </p:animEffect>
                                    <p:anim calcmode="lin" valueType="num">
                                      <p:cBhvr>
                                        <p:cTn id="80" dur="600" decel="100000" fill="hold"/>
                                        <p:tgtEl>
                                          <p:spTgt spid="18"/>
                                        </p:tgtEl>
                                        <p:attrNameLst>
                                          <p:attrName>ppt_x</p:attrName>
                                        </p:attrNameLst>
                                      </p:cBhvr>
                                      <p:tavLst>
                                        <p:tav tm="0">
                                          <p:val>
                                            <p:strVal val="#ppt_x+.08"/>
                                          </p:val>
                                        </p:tav>
                                        <p:tav tm="100000">
                                          <p:val>
                                            <p:strVal val="#ppt_x"/>
                                          </p:val>
                                        </p:tav>
                                      </p:tavLst>
                                    </p:anim>
                                    <p:anim calcmode="lin" valueType="num">
                                      <p:cBhvr>
                                        <p:cTn id="81" dur="600" decel="100000" fill="hold"/>
                                        <p:tgtEl>
                                          <p:spTgt spid="18"/>
                                        </p:tgtEl>
                                        <p:attrNameLst>
                                          <p:attrName>ppt_y</p:attrName>
                                        </p:attrNameLst>
                                      </p:cBhvr>
                                      <p:tavLst>
                                        <p:tav tm="0">
                                          <p:val>
                                            <p:strVal val="#ppt_y"/>
                                          </p:val>
                                        </p:tav>
                                        <p:tav tm="100000">
                                          <p:val>
                                            <p:strVal val="#ppt_y"/>
                                          </p:val>
                                        </p:tav>
                                      </p:tavLst>
                                    </p:anim>
                                  </p:childTnLst>
                                </p:cTn>
                              </p:par>
                              <p:par>
                                <p:cTn id="87" presetID="42" presetClass="entr" presetSubtype="0" fill="hold" grpId="0" nodeType="withEffect">
                                  <p:stCondLst>
                                    <p:cond delay="120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600"/>
                                        <p:tgtEl>
                                          <p:spTgt spid="19"/>
                                        </p:tgtEl>
                                      </p:cBhvr>
                                    </p:animEffect>
                                    <p:anim calcmode="lin" valueType="num">
                                      <p:cBhvr>
                                        <p:cTn id="85" dur="600" decel="100000" fill="hold"/>
                                        <p:tgtEl>
                                          <p:spTgt spid="19"/>
                                        </p:tgtEl>
                                        <p:attrNameLst>
                                          <p:attrName>ppt_x</p:attrName>
                                        </p:attrNameLst>
                                      </p:cBhvr>
                                      <p:tavLst>
                                        <p:tav tm="0">
                                          <p:val>
                                            <p:strVal val="#ppt_x+.08"/>
                                          </p:val>
                                        </p:tav>
                                        <p:tav tm="100000">
                                          <p:val>
                                            <p:strVal val="#ppt_x"/>
                                          </p:val>
                                        </p:tav>
                                      </p:tavLst>
                                    </p:anim>
                                    <p:anim calcmode="lin" valueType="num">
                                      <p:cBhvr>
                                        <p:cTn id="86" dur="600" decel="100000" fill="hold"/>
                                        <p:tgtEl>
                                          <p:spTgt spid="19"/>
                                        </p:tgtEl>
                                        <p:attrNameLst>
                                          <p:attrName>ppt_y</p:attrName>
                                        </p:attrNameLst>
                                      </p:cBhvr>
                                      <p:tavLst>
                                        <p:tav tm="0">
                                          <p:val>
                                            <p:strVal val="#ppt_y"/>
                                          </p:val>
                                        </p:tav>
                                        <p:tav tm="100000">
                                          <p:val>
                                            <p:strVal val="#ppt_y"/>
                                          </p:val>
                                        </p:tav>
                                      </p:tavLst>
                                    </p:anim>
                                  </p:childTnLst>
                                </p:cTn>
                              </p:par>
                              <p:par>
                                <p:cTn id="92" presetID="42" presetClass="entr" presetSubtype="0" fill="hold" grpId="0" nodeType="withEffect">
                                  <p:stCondLst>
                                    <p:cond delay="120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600"/>
                                        <p:tgtEl>
                                          <p:spTgt spid="20"/>
                                        </p:tgtEl>
                                      </p:cBhvr>
                                    </p:animEffect>
                                    <p:anim calcmode="lin" valueType="num">
                                      <p:cBhvr>
                                        <p:cTn id="90" dur="600" decel="100000" fill="hold"/>
                                        <p:tgtEl>
                                          <p:spTgt spid="20"/>
                                        </p:tgtEl>
                                        <p:attrNameLst>
                                          <p:attrName>ppt_x</p:attrName>
                                        </p:attrNameLst>
                                      </p:cBhvr>
                                      <p:tavLst>
                                        <p:tav tm="0">
                                          <p:val>
                                            <p:strVal val="#ppt_x+.08"/>
                                          </p:val>
                                        </p:tav>
                                        <p:tav tm="100000">
                                          <p:val>
                                            <p:strVal val="#ppt_x"/>
                                          </p:val>
                                        </p:tav>
                                      </p:tavLst>
                                    </p:anim>
                                    <p:anim calcmode="lin" valueType="num">
                                      <p:cBhvr>
                                        <p:cTn id="91" dur="600" decel="100000" fill="hold"/>
                                        <p:tgtEl>
                                          <p:spTgt spid="20"/>
                                        </p:tgtEl>
                                        <p:attrNameLst>
                                          <p:attrName>ppt_y</p:attrName>
                                        </p:attrNameLst>
                                      </p:cBhvr>
                                      <p:tavLst>
                                        <p:tav tm="0">
                                          <p:val>
                                            <p:strVal val="#ppt_y"/>
                                          </p:val>
                                        </p:tav>
                                        <p:tav tm="100000">
                                          <p:val>
                                            <p:strVal val="#ppt_y"/>
                                          </p:val>
                                        </p:tav>
                                      </p:tavLst>
                                    </p:anim>
                                  </p:childTnLst>
                                </p:cTn>
                              </p:par>
                              <p:par>
                                <p:cTn id="97" presetID="42" presetClass="entr" presetSubtype="0" fill="hold" grpId="0" nodeType="withEffect">
                                  <p:stCondLst>
                                    <p:cond delay="120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600"/>
                                        <p:tgtEl>
                                          <p:spTgt spid="21"/>
                                        </p:tgtEl>
                                      </p:cBhvr>
                                    </p:animEffect>
                                    <p:anim calcmode="lin" valueType="num">
                                      <p:cBhvr>
                                        <p:cTn id="95" dur="600" decel="100000" fill="hold"/>
                                        <p:tgtEl>
                                          <p:spTgt spid="21"/>
                                        </p:tgtEl>
                                        <p:attrNameLst>
                                          <p:attrName>ppt_x</p:attrName>
                                        </p:attrNameLst>
                                      </p:cBhvr>
                                      <p:tavLst>
                                        <p:tav tm="0">
                                          <p:val>
                                            <p:strVal val="#ppt_x+.08"/>
                                          </p:val>
                                        </p:tav>
                                        <p:tav tm="100000">
                                          <p:val>
                                            <p:strVal val="#ppt_x"/>
                                          </p:val>
                                        </p:tav>
                                      </p:tavLst>
                                    </p:anim>
                                    <p:anim calcmode="lin" valueType="num">
                                      <p:cBhvr>
                                        <p:cTn id="96" dur="600" decel="100000" fill="hold"/>
                                        <p:tgtEl>
                                          <p:spTgt spid="21"/>
                                        </p:tgtEl>
                                        <p:attrNameLst>
                                          <p:attrName>ppt_y</p:attrName>
                                        </p:attrNameLst>
                                      </p:cBhvr>
                                      <p:tavLst>
                                        <p:tav tm="0">
                                          <p:val>
                                            <p:strVal val="#ppt_y"/>
                                          </p:val>
                                        </p:tav>
                                        <p:tav tm="100000">
                                          <p:val>
                                            <p:strVal val="#ppt_y"/>
                                          </p:val>
                                        </p:tav>
                                      </p:tavLst>
                                    </p:anim>
                                  </p:childTnLst>
                                </p:cTn>
                              </p:par>
                              <p:par>
                                <p:cTn id="102" presetID="42" presetClass="entr" presetSubtype="0" fill="hold" grpId="0" nodeType="withEffect">
                                  <p:stCondLst>
                                    <p:cond delay="140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600"/>
                                        <p:tgtEl>
                                          <p:spTgt spid="22"/>
                                        </p:tgtEl>
                                      </p:cBhvr>
                                    </p:animEffect>
                                    <p:anim calcmode="lin" valueType="num">
                                      <p:cBhvr>
                                        <p:cTn id="100" dur="600" decel="100000" fill="hold"/>
                                        <p:tgtEl>
                                          <p:spTgt spid="22"/>
                                        </p:tgtEl>
                                        <p:attrNameLst>
                                          <p:attrName>ppt_x</p:attrName>
                                        </p:attrNameLst>
                                      </p:cBhvr>
                                      <p:tavLst>
                                        <p:tav tm="0">
                                          <p:val>
                                            <p:strVal val="#ppt_x+.08"/>
                                          </p:val>
                                        </p:tav>
                                        <p:tav tm="100000">
                                          <p:val>
                                            <p:strVal val="#ppt_x"/>
                                          </p:val>
                                        </p:tav>
                                      </p:tavLst>
                                    </p:anim>
                                    <p:anim calcmode="lin" valueType="num">
                                      <p:cBhvr>
                                        <p:cTn id="101" dur="600" decel="100000" fill="hold"/>
                                        <p:tgtEl>
                                          <p:spTgt spid="22"/>
                                        </p:tgtEl>
                                        <p:attrNameLst>
                                          <p:attrName>ppt_y</p:attrName>
                                        </p:attrNameLst>
                                      </p:cBhvr>
                                      <p:tavLst>
                                        <p:tav tm="0">
                                          <p:val>
                                            <p:strVal val="#ppt_y"/>
                                          </p:val>
                                        </p:tav>
                                        <p:tav tm="100000">
                                          <p:val>
                                            <p:strVal val="#ppt_y"/>
                                          </p:val>
                                        </p:tav>
                                      </p:tavLst>
                                    </p:anim>
                                  </p:childTnLst>
                                </p:cTn>
                              </p:par>
                              <p:par>
                                <p:cTn id="107" presetID="42" presetClass="entr" presetSubtype="0" fill="hold" grpId="0" nodeType="withEffect">
                                  <p:stCondLst>
                                    <p:cond delay="140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600"/>
                                        <p:tgtEl>
                                          <p:spTgt spid="23"/>
                                        </p:tgtEl>
                                      </p:cBhvr>
                                    </p:animEffect>
                                    <p:anim calcmode="lin" valueType="num">
                                      <p:cBhvr>
                                        <p:cTn id="105" dur="600" decel="100000" fill="hold"/>
                                        <p:tgtEl>
                                          <p:spTgt spid="23"/>
                                        </p:tgtEl>
                                        <p:attrNameLst>
                                          <p:attrName>ppt_x</p:attrName>
                                        </p:attrNameLst>
                                      </p:cBhvr>
                                      <p:tavLst>
                                        <p:tav tm="0">
                                          <p:val>
                                            <p:strVal val="#ppt_x+.08"/>
                                          </p:val>
                                        </p:tav>
                                        <p:tav tm="100000">
                                          <p:val>
                                            <p:strVal val="#ppt_x"/>
                                          </p:val>
                                        </p:tav>
                                      </p:tavLst>
                                    </p:anim>
                                    <p:anim calcmode="lin" valueType="num">
                                      <p:cBhvr>
                                        <p:cTn id="106" dur="600" decel="100000" fill="hold"/>
                                        <p:tgtEl>
                                          <p:spTgt spid="23"/>
                                        </p:tgtEl>
                                        <p:attrNameLst>
                                          <p:attrName>ppt_y</p:attrName>
                                        </p:attrNameLst>
                                      </p:cBhvr>
                                      <p:tavLst>
                                        <p:tav tm="0">
                                          <p:val>
                                            <p:strVal val="#ppt_y"/>
                                          </p:val>
                                        </p:tav>
                                        <p:tav tm="100000">
                                          <p:val>
                                            <p:strVal val="#ppt_y"/>
                                          </p:val>
                                        </p:tav>
                                      </p:tavLst>
                                    </p:anim>
                                  </p:childTnLst>
                                </p:cTn>
                              </p:par>
                              <p:par>
                                <p:cTn id="112" presetID="42" presetClass="entr" presetSubtype="0" fill="hold" grpId="0" nodeType="withEffect">
                                  <p:stCondLst>
                                    <p:cond delay="140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600"/>
                                        <p:tgtEl>
                                          <p:spTgt spid="24"/>
                                        </p:tgtEl>
                                      </p:cBhvr>
                                    </p:animEffect>
                                    <p:anim calcmode="lin" valueType="num">
                                      <p:cBhvr>
                                        <p:cTn id="110" dur="600" decel="100000" fill="hold"/>
                                        <p:tgtEl>
                                          <p:spTgt spid="24"/>
                                        </p:tgtEl>
                                        <p:attrNameLst>
                                          <p:attrName>ppt_x</p:attrName>
                                        </p:attrNameLst>
                                      </p:cBhvr>
                                      <p:tavLst>
                                        <p:tav tm="0">
                                          <p:val>
                                            <p:strVal val="#ppt_x+.08"/>
                                          </p:val>
                                        </p:tav>
                                        <p:tav tm="100000">
                                          <p:val>
                                            <p:strVal val="#ppt_x"/>
                                          </p:val>
                                        </p:tav>
                                      </p:tavLst>
                                    </p:anim>
                                    <p:anim calcmode="lin" valueType="num">
                                      <p:cBhvr>
                                        <p:cTn id="111" dur="600" decel="100000" fill="hold"/>
                                        <p:tgtEl>
                                          <p:spTgt spid="24"/>
                                        </p:tgtEl>
                                        <p:attrNameLst>
                                          <p:attrName>ppt_y</p:attrName>
                                        </p:attrNameLst>
                                      </p:cBhvr>
                                      <p:tavLst>
                                        <p:tav tm="0">
                                          <p:val>
                                            <p:strVal val="#ppt_y"/>
                                          </p:val>
                                        </p:tav>
                                        <p:tav tm="100000">
                                          <p:val>
                                            <p:strVal val="#ppt_y"/>
                                          </p:val>
                                        </p:tav>
                                      </p:tavLst>
                                    </p:anim>
                                  </p:childTnLst>
                                </p:cTn>
                              </p:par>
                              <p:par>
                                <p:cTn id="117" presetID="42" presetClass="entr" presetSubtype="0" fill="hold" grpId="0" nodeType="withEffect">
                                  <p:stCondLst>
                                    <p:cond delay="140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600"/>
                                        <p:tgtEl>
                                          <p:spTgt spid="25"/>
                                        </p:tgtEl>
                                      </p:cBhvr>
                                    </p:animEffect>
                                    <p:anim calcmode="lin" valueType="num">
                                      <p:cBhvr>
                                        <p:cTn id="115" dur="600" decel="100000" fill="hold"/>
                                        <p:tgtEl>
                                          <p:spTgt spid="25"/>
                                        </p:tgtEl>
                                        <p:attrNameLst>
                                          <p:attrName>ppt_x</p:attrName>
                                        </p:attrNameLst>
                                      </p:cBhvr>
                                      <p:tavLst>
                                        <p:tav tm="0">
                                          <p:val>
                                            <p:strVal val="#ppt_x+.08"/>
                                          </p:val>
                                        </p:tav>
                                        <p:tav tm="100000">
                                          <p:val>
                                            <p:strVal val="#ppt_x"/>
                                          </p:val>
                                        </p:tav>
                                      </p:tavLst>
                                    </p:anim>
                                    <p:anim calcmode="lin" valueType="num">
                                      <p:cBhvr>
                                        <p:cTn id="116" dur="600" decel="100000" fill="hold"/>
                                        <p:tgtEl>
                                          <p:spTgt spid="25"/>
                                        </p:tgtEl>
                                        <p:attrNameLst>
                                          <p:attrName>ppt_y</p:attrName>
                                        </p:attrNameLst>
                                      </p:cBhvr>
                                      <p:tavLst>
                                        <p:tav tm="0">
                                          <p:val>
                                            <p:strVal val="#ppt_y"/>
                                          </p:val>
                                        </p:tav>
                                        <p:tav tm="100000">
                                          <p:val>
                                            <p:strVal val="#ppt_y"/>
                                          </p:val>
                                        </p:tav>
                                      </p:tavLst>
                                    </p:anim>
                                  </p:childTnLst>
                                </p:cTn>
                              </p:par>
                              <p:par>
                                <p:cTn id="122" presetID="42" presetClass="entr" presetSubtype="0" fill="hold" grpId="0" nodeType="withEffect">
                                  <p:stCondLst>
                                    <p:cond delay="140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600"/>
                                        <p:tgtEl>
                                          <p:spTgt spid="26"/>
                                        </p:tgtEl>
                                      </p:cBhvr>
                                    </p:animEffect>
                                    <p:anim calcmode="lin" valueType="num">
                                      <p:cBhvr>
                                        <p:cTn id="120" dur="600" decel="100000" fill="hold"/>
                                        <p:tgtEl>
                                          <p:spTgt spid="26"/>
                                        </p:tgtEl>
                                        <p:attrNameLst>
                                          <p:attrName>ppt_x</p:attrName>
                                        </p:attrNameLst>
                                      </p:cBhvr>
                                      <p:tavLst>
                                        <p:tav tm="0">
                                          <p:val>
                                            <p:strVal val="#ppt_x+.08"/>
                                          </p:val>
                                        </p:tav>
                                        <p:tav tm="100000">
                                          <p:val>
                                            <p:strVal val="#ppt_x"/>
                                          </p:val>
                                        </p:tav>
                                      </p:tavLst>
                                    </p:anim>
                                    <p:anim calcmode="lin" valueType="num">
                                      <p:cBhvr>
                                        <p:cTn id="121" dur="600" decel="100000" fill="hold"/>
                                        <p:tgtEl>
                                          <p:spTgt spid="26"/>
                                        </p:tgtEl>
                                        <p:attrNameLst>
                                          <p:attrName>ppt_y</p:attrName>
                                        </p:attrNameLst>
                                      </p:cBhvr>
                                      <p:tavLst>
                                        <p:tav tm="0">
                                          <p:val>
                                            <p:strVal val="#ppt_y"/>
                                          </p:val>
                                        </p:tav>
                                        <p:tav tm="100000">
                                          <p:val>
                                            <p:strVal val="#ppt_y"/>
                                          </p:val>
                                        </p:tav>
                                      </p:tavLst>
                                    </p:anim>
                                  </p:childTnLst>
                                </p:cTn>
                              </p:par>
                              <p:par>
                                <p:cTn id="125" presetID="10" presetClass="entr" presetSubtype="0" fill="hold" grpId="0" nodeType="withEffect">
                                  <p:stCondLst>
                                    <p:cond delay="1600"/>
                                  </p:stCondLst>
                                  <p:childTnLst>
                                    <p:set>
                                      <p:cBhvr>
                                        <p:cTn id="123" dur="1" fill="hold">
                                          <p:stCondLst>
                                            <p:cond delay="0"/>
                                          </p:stCondLst>
                                        </p:cTn>
                                        <p:tgtEl>
                                          <p:spTgt spid="25"/>
                                        </p:tgtEl>
                                        <p:attrNameLst>
                                          <p:attrName>style.visibility</p:attrName>
                                        </p:attrNameLst>
                                      </p:cBhvr>
                                      <p:to>
                                        <p:strVal val="visible"/>
                                      </p:to>
                                    </p:set>
                                    <p:animEffect transition="in" filter="fade">
                                      <p:cBhvr>
                                        <p:cTn id="12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10" grpId="0" animBg="1"/>
      <p:bldP spid="11" grpId="0" animBg="1"/>
      <p:bldP spid="15" grpId="0" animBg="1"/>
      <p:bldP spid="16" grpId="0" animBg="1"/>
      <p:bldP spid="20" grpId="0" animBg="1"/>
      <p:bldP spid="21" grpId="0" animBg="1"/>
      <p:bldP spid="25" grpId="0" animBg="1"/>
      <p:bldP spid="26" grpId="0" animBg="1"/>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rPr>
              <a:t>Running the system</a:t>
            </a:r>
            <a:endParaRPr lang="en-US" sz="3200" dirty="0"/>
          </a:p>
        </p:txBody>
      </p:sp>
      <p:sp>
        <p:nvSpPr>
          <p:cNvPr id="3" name="a-left-rn0"/>
          <p:cNvSpPr/>
          <p:nvPr/>
        </p:nvSpPr>
        <p:spPr>
          <a:xfrm>
            <a:off x="548640" y="1463040"/>
            <a:ext cx="685800" cy="685800"/>
          </a:xfrm>
          <a:prstGeom prst="ellipse">
            <a:avLst/>
          </a:prstGeom>
          <a:solidFill>
            <a:schemeClr val="accent1"/>
          </a:solidFill>
          <a:ln/>
        </p:spPr>
      </p:sp>
      <p:sp>
        <p:nvSpPr>
          <p:cNvPr id="4" name="a-left-w-rnn0"/>
          <p:cNvSpPr txBox="1"/>
          <p:nvPr/>
        </p:nvSpPr>
        <p:spPr>
          <a:xfrm>
            <a:off x="548640" y="146304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a-left-w-rnt0"/>
          <p:cNvSpPr txBox="1"/>
          <p:nvPr/>
        </p:nvSpPr>
        <p:spPr>
          <a:xfrm>
            <a:off x="1463040" y="1572768"/>
            <a:ext cx="5120640" cy="548640"/>
          </a:xfrm>
          <a:prstGeom prst="rect">
            <a:avLst/>
          </a:prstGeom>
          <a:noFill/>
          <a:ln/>
        </p:spPr>
        <p:txBody>
          <a:bodyPr wrap="square" lIns="0" tIns="0" rIns="0" bIns="0" rtlCol="0" anchor="ctr"/>
          <a:lstStyle/>
          <a:p>
            <a:pPr indent="0" marL="0">
              <a:buNone/>
            </a:pPr>
            <a:r>
              <a:rPr lang="en-US" sz="1600" dirty="0">
                <a:solidFill>
                  <a:schemeClr val="tx1"/>
                </a:solidFill>
              </a:rPr>
              <a:t>Install the .NET 8 SDK and SQL Server Express</a:t>
            </a:r>
            <a:endParaRPr lang="en-US" sz="1600" dirty="0"/>
          </a:p>
        </p:txBody>
      </p:sp>
      <p:sp>
        <p:nvSpPr>
          <p:cNvPr id="6" name="a-left-rn1"/>
          <p:cNvSpPr/>
          <p:nvPr/>
        </p:nvSpPr>
        <p:spPr>
          <a:xfrm>
            <a:off x="548640" y="2542032"/>
            <a:ext cx="685800" cy="685800"/>
          </a:xfrm>
          <a:prstGeom prst="ellipse">
            <a:avLst/>
          </a:prstGeom>
          <a:solidFill>
            <a:schemeClr val="accent1"/>
          </a:solidFill>
          <a:ln/>
        </p:spPr>
      </p:sp>
      <p:sp>
        <p:nvSpPr>
          <p:cNvPr id="7" name="a-left-w-rnn1"/>
          <p:cNvSpPr txBox="1"/>
          <p:nvPr/>
        </p:nvSpPr>
        <p:spPr>
          <a:xfrm>
            <a:off x="548640" y="2542032"/>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a-left-w-rnt1"/>
          <p:cNvSpPr txBox="1"/>
          <p:nvPr/>
        </p:nvSpPr>
        <p:spPr>
          <a:xfrm>
            <a:off x="1463040" y="2651760"/>
            <a:ext cx="5120640" cy="548640"/>
          </a:xfrm>
          <a:prstGeom prst="rect">
            <a:avLst/>
          </a:prstGeom>
          <a:noFill/>
          <a:ln/>
        </p:spPr>
        <p:txBody>
          <a:bodyPr wrap="square" lIns="0" tIns="0" rIns="0" bIns="0" rtlCol="0" anchor="ctr"/>
          <a:lstStyle/>
          <a:p>
            <a:pPr indent="0" marL="0">
              <a:buNone/>
            </a:pPr>
            <a:r>
              <a:rPr lang="en-US" sz="1600" dirty="0">
                <a:solidFill>
                  <a:schemeClr val="tx1"/>
                </a:solidFill>
              </a:rPr>
              <a:t>Set the SQL Server name in Nexus\appsettings.json</a:t>
            </a:r>
            <a:endParaRPr lang="en-US" sz="1600" dirty="0"/>
          </a:p>
        </p:txBody>
      </p:sp>
      <p:sp>
        <p:nvSpPr>
          <p:cNvPr id="9" name="a-left-rn2"/>
          <p:cNvSpPr/>
          <p:nvPr/>
        </p:nvSpPr>
        <p:spPr>
          <a:xfrm>
            <a:off x="548640" y="3621024"/>
            <a:ext cx="685800" cy="685800"/>
          </a:xfrm>
          <a:prstGeom prst="ellipse">
            <a:avLst/>
          </a:prstGeom>
          <a:solidFill>
            <a:schemeClr val="accent1"/>
          </a:solidFill>
          <a:ln/>
        </p:spPr>
      </p:sp>
      <p:sp>
        <p:nvSpPr>
          <p:cNvPr id="10" name="a-left-w-rnn2"/>
          <p:cNvSpPr txBox="1"/>
          <p:nvPr/>
        </p:nvSpPr>
        <p:spPr>
          <a:xfrm>
            <a:off x="548640" y="3621024"/>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1" name="a-left-w-rnt2"/>
          <p:cNvSpPr txBox="1"/>
          <p:nvPr/>
        </p:nvSpPr>
        <p:spPr>
          <a:xfrm>
            <a:off x="1463040" y="3730752"/>
            <a:ext cx="5120640" cy="548640"/>
          </a:xfrm>
          <a:prstGeom prst="rect">
            <a:avLst/>
          </a:prstGeom>
          <a:noFill/>
          <a:ln/>
        </p:spPr>
        <p:txBody>
          <a:bodyPr wrap="square" lIns="0" tIns="0" rIns="0" bIns="0" rtlCol="0" anchor="ctr"/>
          <a:lstStyle/>
          <a:p>
            <a:pPr indent="0" marL="0">
              <a:buNone/>
            </a:pPr>
            <a:r>
              <a:rPr lang="en-US" sz="1600" dirty="0">
                <a:solidFill>
                  <a:schemeClr val="tx1"/>
                </a:solidFill>
              </a:rPr>
              <a:t>Double-click RUN-NEXUS.bat - the database is created automatically</a:t>
            </a:r>
            <a:endParaRPr lang="en-US" sz="1600" dirty="0"/>
          </a:p>
        </p:txBody>
      </p:sp>
      <p:sp>
        <p:nvSpPr>
          <p:cNvPr id="12" name="a-left-rn3"/>
          <p:cNvSpPr/>
          <p:nvPr/>
        </p:nvSpPr>
        <p:spPr>
          <a:xfrm>
            <a:off x="548640" y="4700016"/>
            <a:ext cx="685800" cy="685800"/>
          </a:xfrm>
          <a:prstGeom prst="ellipse">
            <a:avLst/>
          </a:prstGeom>
          <a:solidFill>
            <a:schemeClr val="accent1"/>
          </a:solidFill>
          <a:ln/>
        </p:spPr>
      </p:sp>
      <p:sp>
        <p:nvSpPr>
          <p:cNvPr id="13" name="a-left-w-rnn3"/>
          <p:cNvSpPr txBox="1"/>
          <p:nvPr/>
        </p:nvSpPr>
        <p:spPr>
          <a:xfrm>
            <a:off x="548640" y="4700016"/>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4" name="a-left-w-rnt3"/>
          <p:cNvSpPr txBox="1"/>
          <p:nvPr/>
        </p:nvSpPr>
        <p:spPr>
          <a:xfrm>
            <a:off x="1463040" y="4809744"/>
            <a:ext cx="5120640" cy="548640"/>
          </a:xfrm>
          <a:prstGeom prst="rect">
            <a:avLst/>
          </a:prstGeom>
          <a:noFill/>
          <a:ln/>
        </p:spPr>
        <p:txBody>
          <a:bodyPr wrap="square" lIns="0" tIns="0" rIns="0" bIns="0" rtlCol="0" anchor="ctr"/>
          <a:lstStyle/>
          <a:p>
            <a:pPr indent="0" marL="0">
              <a:buNone/>
            </a:pPr>
            <a:r>
              <a:rPr lang="en-US" sz="1600" dirty="0">
                <a:solidFill>
                  <a:schemeClr val="tx1"/>
                </a:solidFill>
              </a:rPr>
              <a:t>Open http://localhost:5294 and sign in</a:t>
            </a:r>
            <a:endParaRPr lang="en-US" sz="1600" dirty="0"/>
          </a:p>
        </p:txBody>
      </p:sp>
      <p:sp>
        <p:nvSpPr>
          <p:cNvPr id="15" name="a-zoom-cred"/>
          <p:cNvSpPr/>
          <p:nvPr/>
        </p:nvSpPr>
        <p:spPr>
          <a:xfrm>
            <a:off x="7040880" y="1463040"/>
            <a:ext cx="4572000" cy="3566160"/>
          </a:xfrm>
          <a:prstGeom prst="roundRect">
            <a:avLst>
              <a:gd name="adj" fmla="val 3077"/>
            </a:avLst>
          </a:prstGeom>
          <a:solidFill>
            <a:schemeClr val="bg1"/>
          </a:solidFill>
          <a:ln w="9525">
            <a:solidFill>
              <a:srgbClr val="CBD5E1"/>
            </a:solidFill>
            <a:prstDash val="solid"/>
          </a:ln>
          <a:effectLst>
            <a:outerShdw sx="100000" sy="100000" kx="0" ky="0" algn="bl" rotWithShape="0" blurRad="127000" dist="38100" dir="5400000">
              <a:srgbClr val="0A2540">
                <a:alpha val="16000"/>
              </a:srgbClr>
            </a:outerShdw>
          </a:effectLst>
        </p:spPr>
      </p:sp>
      <p:pic>
        <p:nvPicPr>
          <p:cNvPr id="16" name="a-zoom-w-credi" descr="/tmp/claude-0/-home-user-done/4a4296a4-6fd8-5cee-98c2-5de0aee80c99/scratchpad/docs/img/icons/key-b.png">    </p:cNvPr>
          <p:cNvPicPr>
            <a:picLocks noChangeAspect="1"/>
          </p:cNvPicPr>
          <p:nvPr/>
        </p:nvPicPr>
        <p:blipFill>
          <a:blip r:embed="rId1"/>
          <a:stretch>
            <a:fillRect/>
          </a:stretch>
        </p:blipFill>
        <p:spPr>
          <a:xfrm>
            <a:off x="7360920" y="1737360"/>
            <a:ext cx="411480" cy="411480"/>
          </a:xfrm>
          <a:prstGeom prst="rect">
            <a:avLst/>
          </a:prstGeom>
        </p:spPr>
      </p:pic>
      <p:sp>
        <p:nvSpPr>
          <p:cNvPr id="17" name="a-fade-credh"/>
          <p:cNvSpPr txBox="1"/>
          <p:nvPr/>
        </p:nvSpPr>
        <p:spPr>
          <a:xfrm>
            <a:off x="7909560" y="1719072"/>
            <a:ext cx="3474720" cy="457200"/>
          </a:xfrm>
          <a:prstGeom prst="rect">
            <a:avLst/>
          </a:prstGeom>
          <a:noFill/>
          <a:ln/>
        </p:spPr>
        <p:txBody>
          <a:bodyPr wrap="square" lIns="0" tIns="0" rIns="0" bIns="0" rtlCol="0" anchor="t"/>
          <a:lstStyle/>
          <a:p>
            <a:pPr indent="0" marL="0">
              <a:buNone/>
            </a:pPr>
            <a:r>
              <a:rPr lang="en-US" sz="2000" b="1" dirty="0">
                <a:solidFill>
                  <a:schemeClr val="tx2"/>
                </a:solidFill>
              </a:rPr>
              <a:t>Demo login</a:t>
            </a:r>
            <a:endParaRPr lang="en-US" sz="2000" dirty="0"/>
          </a:p>
        </p:txBody>
      </p:sp>
      <p:sp>
        <p:nvSpPr>
          <p:cNvPr id="18" name="a-fade-credb"/>
          <p:cNvSpPr txBox="1"/>
          <p:nvPr/>
        </p:nvSpPr>
        <p:spPr>
          <a:xfrm>
            <a:off x="7360920" y="2377440"/>
            <a:ext cx="4023360" cy="2468880"/>
          </a:xfrm>
          <a:prstGeom prst="rect">
            <a:avLst/>
          </a:prstGeom>
          <a:noFill/>
          <a:ln/>
        </p:spPr>
        <p:txBody>
          <a:bodyPr wrap="square" lIns="0" tIns="0" rIns="0" bIns="0" rtlCol="0" anchor="t"/>
          <a:lstStyle/>
          <a:p>
            <a:pPr indent="0" marL="0">
              <a:spcAft>
                <a:spcPts val="400"/>
              </a:spcAft>
              <a:buNone/>
            </a:pPr>
            <a:r>
              <a:rPr lang="en-US" sz="1600" dirty="0">
                <a:solidFill>
                  <a:schemeClr val="accent6"/>
                </a:solidFill>
              </a:rPr>
              <a:t>Username   </a:t>
            </a:r>
            <a:pPr indent="0" marL="0">
              <a:spcAft>
                <a:spcPts val="400"/>
              </a:spcAft>
              <a:buNone/>
            </a:pPr>
            <a:r>
              <a:rPr lang="en-US" sz="1600" b="1" dirty="0">
                <a:solidFill>
                  <a:schemeClr val="tx1"/>
                </a:solidFill>
              </a:rPr>
              <a:t>admin</a:t>
            </a:r>
            <a:endParaRPr lang="en-US" sz="1600" dirty="0"/>
          </a:p>
          <a:p>
            <a:pPr indent="0" marL="0">
              <a:spcAft>
                <a:spcPts val="400"/>
              </a:spcAft>
              <a:buNone/>
            </a:pPr>
            <a:r>
              <a:rPr lang="en-US" sz="1600" dirty="0">
                <a:solidFill>
                  <a:schemeClr val="accent6"/>
                </a:solidFill>
              </a:rPr>
              <a:t>Password    </a:t>
            </a:r>
            <a:pPr indent="0" marL="0">
              <a:spcAft>
                <a:spcPts val="400"/>
              </a:spcAft>
              <a:buNone/>
            </a:pPr>
            <a:r>
              <a:rPr lang="en-US" sz="1600" b="1" dirty="0">
                <a:solidFill>
                  <a:schemeClr val="tx1"/>
                </a:solidFill>
              </a:rPr>
              <a:t>Admin@123</a:t>
            </a:r>
            <a:endParaRPr lang="en-US" sz="1600" dirty="0"/>
          </a:p>
          <a:p>
            <a:pPr indent="0" marL="0">
              <a:spcAft>
                <a:spcPts val="400"/>
              </a:spcAft>
              <a:buNone/>
            </a:pPr>
            <a:r>
              <a:rPr lang="en-US" sz="1600" dirty="0">
                <a:solidFill>
                  <a:schemeClr val="tx1"/>
                </a:solidFill>
              </a:rPr>
              <a:t> </a:t>
            </a:r>
            <a:endParaRPr lang="en-US" sz="1600" dirty="0"/>
          </a:p>
          <a:p>
            <a:pPr indent="0" marL="0">
              <a:spcAft>
                <a:spcPts val="400"/>
              </a:spcAft>
              <a:buNone/>
            </a:pPr>
            <a:r>
              <a:rPr lang="en-US" sz="1600" dirty="0">
                <a:solidFill>
                  <a:schemeClr val="accent6"/>
                </a:solidFill>
              </a:rPr>
              <a:t>Demo staff (from the database backup): </a:t>
            </a:r>
            <a:pPr indent="0" marL="0">
              <a:spcAft>
                <a:spcPts val="400"/>
              </a:spcAft>
              <a:buNone/>
            </a:pPr>
            <a:r>
              <a:rPr lang="en-US" sz="1600" b="1" dirty="0">
                <a:solidFill>
                  <a:schemeClr val="tx1"/>
                </a:solidFill>
              </a:rPr>
              <a:t>retail1, tech1, acct1, alice</a:t>
            </a:r>
            <a:endParaRPr lang="en-US" sz="1600" dirty="0"/>
          </a:p>
          <a:p>
            <a:pPr indent="0" marL="0">
              <a:spcAft>
                <a:spcPts val="400"/>
              </a:spcAft>
              <a:buNone/>
            </a:pPr>
            <a:r>
              <a:rPr lang="en-US" sz="1600" dirty="0">
                <a:solidFill>
                  <a:schemeClr val="accent6"/>
                </a:solidFill>
              </a:rPr>
              <a:t>password </a:t>
            </a:r>
            <a:pPr indent="0" marL="0">
              <a:spcAft>
                <a:spcPts val="400"/>
              </a:spcAft>
              <a:buNone/>
            </a:pPr>
            <a:r>
              <a:rPr lang="en-US" sz="1600" b="1" dirty="0">
                <a:solidFill>
                  <a:schemeClr val="tx1"/>
                </a:solidFill>
              </a:rPr>
              <a:t>Passw0rd!x</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86"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11" presetID="42" presetClass="entr" presetSubtype="0" fill="hold" grpId="0" nodeType="withEffect">
                                  <p:stCondLst>
                                    <p:cond delay="2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600"/>
                                        <p:tgtEl>
                                          <p:spTgt spid="3"/>
                                        </p:tgtEl>
                                      </p:cBhvr>
                                    </p:animEffect>
                                    <p:anim calcmode="lin" valueType="num">
                                      <p:cBhvr>
                                        <p:cTn id="9" dur="600" decel="100000" fill="hold"/>
                                        <p:tgtEl>
                                          <p:spTgt spid="3"/>
                                        </p:tgtEl>
                                        <p:attrNameLst>
                                          <p:attrName>ppt_x</p:attrName>
                                        </p:attrNameLst>
                                      </p:cBhvr>
                                      <p:tavLst>
                                        <p:tav tm="0">
                                          <p:val>
                                            <p:strVal val="#ppt_x-.08"/>
                                          </p:val>
                                        </p:tav>
                                        <p:tav tm="100000">
                                          <p:val>
                                            <p:strVal val="#ppt_x"/>
                                          </p:val>
                                        </p:tav>
                                      </p:tavLst>
                                    </p:anim>
                                    <p:anim calcmode="lin" valueType="num">
                                      <p:cBhvr>
                                        <p:cTn id="10" dur="600" decel="100000" fill="hold"/>
                                        <p:tgtEl>
                                          <p:spTgt spid="3"/>
                                        </p:tgtEl>
                                        <p:attrNameLst>
                                          <p:attrName>ppt_y</p:attrName>
                                        </p:attrNameLst>
                                      </p:cBhvr>
                                      <p:tavLst>
                                        <p:tav tm="0">
                                          <p:val>
                                            <p:strVal val="#ppt_y"/>
                                          </p:val>
                                        </p:tav>
                                        <p:tav tm="100000">
                                          <p:val>
                                            <p:strVal val="#ppt_y"/>
                                          </p:val>
                                        </p:tav>
                                      </p:tavLst>
                                    </p:anim>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anim calcmode="lin" valueType="num">
                                      <p:cBhvr>
                                        <p:cTn id="14" dur="600" decel="100000" fill="hold"/>
                                        <p:tgtEl>
                                          <p:spTgt spid="4"/>
                                        </p:tgtEl>
                                        <p:attrNameLst>
                                          <p:attrName>ppt_x</p:attrName>
                                        </p:attrNameLst>
                                      </p:cBhvr>
                                      <p:tavLst>
                                        <p:tav tm="0">
                                          <p:val>
                                            <p:strVal val="#ppt_x-.08"/>
                                          </p:val>
                                        </p:tav>
                                        <p:tav tm="100000">
                                          <p:val>
                                            <p:strVal val="#ppt_x"/>
                                          </p:val>
                                        </p:tav>
                                      </p:tavLst>
                                    </p:anim>
                                    <p:anim calcmode="lin" valueType="num">
                                      <p:cBhvr>
                                        <p:cTn id="15" dur="600" decel="100000" fill="hold"/>
                                        <p:tgtEl>
                                          <p:spTgt spid="4"/>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p:cTn id="19" dur="600" decel="100000" fill="hold"/>
                                        <p:tgtEl>
                                          <p:spTgt spid="5"/>
                                        </p:tgtEl>
                                        <p:attrNameLst>
                                          <p:attrName>ppt_x</p:attrName>
                                        </p:attrNameLst>
                                      </p:cBhvr>
                                      <p:tavLst>
                                        <p:tav tm="0">
                                          <p:val>
                                            <p:strVal val="#ppt_x-.08"/>
                                          </p:val>
                                        </p:tav>
                                        <p:tav tm="100000">
                                          <p:val>
                                            <p:strVal val="#ppt_x"/>
                                          </p:val>
                                        </p:tav>
                                      </p:tavLst>
                                    </p:anim>
                                    <p:anim calcmode="lin" valueType="num">
                                      <p:cBhvr>
                                        <p:cTn id="20" dur="600" decel="1000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decel="100000" fill="hold"/>
                                        <p:tgtEl>
                                          <p:spTgt spid="6"/>
                                        </p:tgtEl>
                                        <p:attrNameLst>
                                          <p:attrName>ppt_x</p:attrName>
                                        </p:attrNameLst>
                                      </p:cBhvr>
                                      <p:tavLst>
                                        <p:tav tm="0">
                                          <p:val>
                                            <p:strVal val="#ppt_x-.08"/>
                                          </p:val>
                                        </p:tav>
                                        <p:tav tm="100000">
                                          <p:val>
                                            <p:strVal val="#ppt_x"/>
                                          </p:val>
                                        </p:tav>
                                      </p:tavLst>
                                    </p:anim>
                                    <p:anim calcmode="lin" valueType="num">
                                      <p:cBhvr>
                                        <p:cTn id="25" dur="600" decel="1000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4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decel="100000" fill="hold"/>
                                        <p:tgtEl>
                                          <p:spTgt spid="7"/>
                                        </p:tgtEl>
                                        <p:attrNameLst>
                                          <p:attrName>ppt_x</p:attrName>
                                        </p:attrNameLst>
                                      </p:cBhvr>
                                      <p:tavLst>
                                        <p:tav tm="0">
                                          <p:val>
                                            <p:strVal val="#ppt_x-.08"/>
                                          </p:val>
                                        </p:tav>
                                        <p:tav tm="100000">
                                          <p:val>
                                            <p:strVal val="#ppt_x"/>
                                          </p:val>
                                        </p:tav>
                                      </p:tavLst>
                                    </p:anim>
                                    <p:anim calcmode="lin" valueType="num">
                                      <p:cBhvr>
                                        <p:cTn id="30" dur="600" decel="1000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decel="100000" fill="hold"/>
                                        <p:tgtEl>
                                          <p:spTgt spid="8"/>
                                        </p:tgtEl>
                                        <p:attrNameLst>
                                          <p:attrName>ppt_x</p:attrName>
                                        </p:attrNameLst>
                                      </p:cBhvr>
                                      <p:tavLst>
                                        <p:tav tm="0">
                                          <p:val>
                                            <p:strVal val="#ppt_x-.08"/>
                                          </p:val>
                                        </p:tav>
                                        <p:tav tm="100000">
                                          <p:val>
                                            <p:strVal val="#ppt_x"/>
                                          </p:val>
                                        </p:tav>
                                      </p:tavLst>
                                    </p:anim>
                                    <p:anim calcmode="lin" valueType="num">
                                      <p:cBhvr>
                                        <p:cTn id="35" dur="600" decel="1000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6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decel="100000" fill="hold"/>
                                        <p:tgtEl>
                                          <p:spTgt spid="9"/>
                                        </p:tgtEl>
                                        <p:attrNameLst>
                                          <p:attrName>ppt_x</p:attrName>
                                        </p:attrNameLst>
                                      </p:cBhvr>
                                      <p:tavLst>
                                        <p:tav tm="0">
                                          <p:val>
                                            <p:strVal val="#ppt_x-.08"/>
                                          </p:val>
                                        </p:tav>
                                        <p:tav tm="100000">
                                          <p:val>
                                            <p:strVal val="#ppt_x"/>
                                          </p:val>
                                        </p:tav>
                                      </p:tavLst>
                                    </p:anim>
                                    <p:anim calcmode="lin" valueType="num">
                                      <p:cBhvr>
                                        <p:cTn id="40" dur="600" decel="1000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6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p:cTn id="44" dur="600" decel="100000" fill="hold"/>
                                        <p:tgtEl>
                                          <p:spTgt spid="10"/>
                                        </p:tgtEl>
                                        <p:attrNameLst>
                                          <p:attrName>ppt_x</p:attrName>
                                        </p:attrNameLst>
                                      </p:cBhvr>
                                      <p:tavLst>
                                        <p:tav tm="0">
                                          <p:val>
                                            <p:strVal val="#ppt_x-.08"/>
                                          </p:val>
                                        </p:tav>
                                        <p:tav tm="100000">
                                          <p:val>
                                            <p:strVal val="#ppt_x"/>
                                          </p:val>
                                        </p:tav>
                                      </p:tavLst>
                                    </p:anim>
                                    <p:anim calcmode="lin" valueType="num">
                                      <p:cBhvr>
                                        <p:cTn id="45" dur="600" decel="1000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6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p:cTn id="49" dur="600" decel="100000" fill="hold"/>
                                        <p:tgtEl>
                                          <p:spTgt spid="11"/>
                                        </p:tgtEl>
                                        <p:attrNameLst>
                                          <p:attrName>ppt_x</p:attrName>
                                        </p:attrNameLst>
                                      </p:cBhvr>
                                      <p:tavLst>
                                        <p:tav tm="0">
                                          <p:val>
                                            <p:strVal val="#ppt_x-.08"/>
                                          </p:val>
                                        </p:tav>
                                        <p:tav tm="100000">
                                          <p:val>
                                            <p:strVal val="#ppt_x"/>
                                          </p:val>
                                        </p:tav>
                                      </p:tavLst>
                                    </p:anim>
                                    <p:anim calcmode="lin" valueType="num">
                                      <p:cBhvr>
                                        <p:cTn id="50" dur="600" decel="1000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8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p:cTn id="54" dur="600" decel="100000" fill="hold"/>
                                        <p:tgtEl>
                                          <p:spTgt spid="12"/>
                                        </p:tgtEl>
                                        <p:attrNameLst>
                                          <p:attrName>ppt_x</p:attrName>
                                        </p:attrNameLst>
                                      </p:cBhvr>
                                      <p:tavLst>
                                        <p:tav tm="0">
                                          <p:val>
                                            <p:strVal val="#ppt_x-.08"/>
                                          </p:val>
                                        </p:tav>
                                        <p:tav tm="100000">
                                          <p:val>
                                            <p:strVal val="#ppt_x"/>
                                          </p:val>
                                        </p:tav>
                                      </p:tavLst>
                                    </p:anim>
                                    <p:anim calcmode="lin" valueType="num">
                                      <p:cBhvr>
                                        <p:cTn id="55" dur="600" decel="1000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8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decel="100000" fill="hold"/>
                                        <p:tgtEl>
                                          <p:spTgt spid="13"/>
                                        </p:tgtEl>
                                        <p:attrNameLst>
                                          <p:attrName>ppt_x</p:attrName>
                                        </p:attrNameLst>
                                      </p:cBhvr>
                                      <p:tavLst>
                                        <p:tav tm="0">
                                          <p:val>
                                            <p:strVal val="#ppt_x-.08"/>
                                          </p:val>
                                        </p:tav>
                                        <p:tav tm="100000">
                                          <p:val>
                                            <p:strVal val="#ppt_x"/>
                                          </p:val>
                                        </p:tav>
                                      </p:tavLst>
                                    </p:anim>
                                    <p:anim calcmode="lin" valueType="num">
                                      <p:cBhvr>
                                        <p:cTn id="60" dur="600" decel="1000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8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p:cTn id="64" dur="600" decel="100000" fill="hold"/>
                                        <p:tgtEl>
                                          <p:spTgt spid="14"/>
                                        </p:tgtEl>
                                        <p:attrNameLst>
                                          <p:attrName>ppt_x</p:attrName>
                                        </p:attrNameLst>
                                      </p:cBhvr>
                                      <p:tavLst>
                                        <p:tav tm="0">
                                          <p:val>
                                            <p:strVal val="#ppt_x-.08"/>
                                          </p:val>
                                        </p:tav>
                                        <p:tav tm="100000">
                                          <p:val>
                                            <p:strVal val="#ppt_x"/>
                                          </p:val>
                                        </p:tav>
                                      </p:tavLst>
                                    </p:anim>
                                    <p:anim calcmode="lin" valueType="num">
                                      <p:cBhvr>
                                        <p:cTn id="65" dur="600" decel="100000" fill="hold"/>
                                        <p:tgtEl>
                                          <p:spTgt spid="14"/>
                                        </p:tgtEl>
                                        <p:attrNameLst>
                                          <p:attrName>ppt_y</p:attrName>
                                        </p:attrNameLst>
                                      </p:cBhvr>
                                      <p:tavLst>
                                        <p:tav tm="0">
                                          <p:val>
                                            <p:strVal val="#ppt_y"/>
                                          </p:val>
                                        </p:tav>
                                        <p:tav tm="100000">
                                          <p:val>
                                            <p:strVal val="#ppt_y"/>
                                          </p:val>
                                        </p:tav>
                                      </p:tavLst>
                                    </p:anim>
                                  </p:childTnLst>
                                </p:cTn>
                              </p:par>
                              <p:par>
                                <p:cTn id="71" presetID="53" presetClass="entr" presetSubtype="16" fill="hold" grpId="0" nodeType="withEffect">
                                  <p:stCondLst>
                                    <p:cond delay="1000"/>
                                  </p:stCondLst>
                                  <p:childTnLst>
                                    <p:set>
                                      <p:cBhvr>
                                        <p:cTn id="67" dur="1" fill="hold">
                                          <p:stCondLst>
                                            <p:cond delay="0"/>
                                          </p:stCondLst>
                                        </p:cTn>
                                        <p:tgtEl>
                                          <p:spTgt spid="15"/>
                                        </p:tgtEl>
                                        <p:attrNameLst>
                                          <p:attrName>style.visibility</p:attrName>
                                        </p:attrNameLst>
                                      </p:cBhvr>
                                      <p:to>
                                        <p:strVal val="visible"/>
                                      </p:to>
                                    </p:set>
                                    <p:anim calcmode="lin" valueType="num">
                                      <p:cBhvr>
                                        <p:cTn id="69" dur="650" decel="100000" fill="hold"/>
                                        <p:tgtEl>
                                          <p:spTgt spid="15"/>
                                        </p:tgtEl>
                                        <p:attrNameLst>
                                          <p:attrName>ppt_w</p:attrName>
                                        </p:attrNameLst>
                                      </p:cBhvr>
                                      <p:tavLst>
                                        <p:tav tm="0">
                                          <p:val>
                                            <p:strVal val="#ppt_w*0.7"/>
                                          </p:val>
                                        </p:tav>
                                        <p:tav tm="100000">
                                          <p:val>
                                            <p:strVal val="#ppt_w"/>
                                          </p:val>
                                        </p:tav>
                                      </p:tavLst>
                                    </p:anim>
                                    <p:anim calcmode="lin" valueType="num">
                                      <p:cBhvr>
                                        <p:cTn id="70" dur="650" decel="100000" fill="hold"/>
                                        <p:tgtEl>
                                          <p:spTgt spid="15"/>
                                        </p:tgtEl>
                                        <p:attrNameLst>
                                          <p:attrName>ppt_h</p:attrName>
                                        </p:attrNameLst>
                                      </p:cBhvr>
                                      <p:tavLst>
                                        <p:tav tm="0">
                                          <p:val>
                                            <p:strVal val="#ppt_h*0.7"/>
                                          </p:val>
                                        </p:tav>
                                        <p:tav tm="100000">
                                          <p:val>
                                            <p:strVal val="#ppt_h"/>
                                          </p:val>
                                        </p:tav>
                                      </p:tavLst>
                                    </p:anim>
                                    <p:animEffect transition="in" filter="fade">
                                      <p:cBhvr>
                                        <p:cTn id="68" dur="650"/>
                                        <p:tgtEl>
                                          <p:spTgt spid="15"/>
                                        </p:tgtEl>
                                      </p:cBhvr>
                                    </p:animEffect>
                                  </p:childTnLst>
                                </p:cTn>
                              </p:par>
                              <p:par>
                                <p:cTn id="76" presetID="53" presetClass="entr" presetSubtype="16" fill="hold" grpId="0" nodeType="withEffect">
                                  <p:stCondLst>
                                    <p:cond delay="1000"/>
                                  </p:stCondLst>
                                  <p:childTnLst>
                                    <p:set>
                                      <p:cBhvr>
                                        <p:cTn id="72" dur="1" fill="hold">
                                          <p:stCondLst>
                                            <p:cond delay="0"/>
                                          </p:stCondLst>
                                        </p:cTn>
                                        <p:tgtEl>
                                          <p:spTgt spid="16"/>
                                        </p:tgtEl>
                                        <p:attrNameLst>
                                          <p:attrName>style.visibility</p:attrName>
                                        </p:attrNameLst>
                                      </p:cBhvr>
                                      <p:to>
                                        <p:strVal val="visible"/>
                                      </p:to>
                                    </p:set>
                                    <p:anim calcmode="lin" valueType="num">
                                      <p:cBhvr>
                                        <p:cTn id="74" dur="650" decel="100000" fill="hold"/>
                                        <p:tgtEl>
                                          <p:spTgt spid="16"/>
                                        </p:tgtEl>
                                        <p:attrNameLst>
                                          <p:attrName>ppt_w</p:attrName>
                                        </p:attrNameLst>
                                      </p:cBhvr>
                                      <p:tavLst>
                                        <p:tav tm="0">
                                          <p:val>
                                            <p:strVal val="#ppt_w*0.7"/>
                                          </p:val>
                                        </p:tav>
                                        <p:tav tm="100000">
                                          <p:val>
                                            <p:strVal val="#ppt_w"/>
                                          </p:val>
                                        </p:tav>
                                      </p:tavLst>
                                    </p:anim>
                                    <p:anim calcmode="lin" valueType="num">
                                      <p:cBhvr>
                                        <p:cTn id="75" dur="650" decel="100000" fill="hold"/>
                                        <p:tgtEl>
                                          <p:spTgt spid="16"/>
                                        </p:tgtEl>
                                        <p:attrNameLst>
                                          <p:attrName>ppt_h</p:attrName>
                                        </p:attrNameLst>
                                      </p:cBhvr>
                                      <p:tavLst>
                                        <p:tav tm="0">
                                          <p:val>
                                            <p:strVal val="#ppt_h*0.7"/>
                                          </p:val>
                                        </p:tav>
                                        <p:tav tm="100000">
                                          <p:val>
                                            <p:strVal val="#ppt_h"/>
                                          </p:val>
                                        </p:tav>
                                      </p:tavLst>
                                    </p:anim>
                                    <p:animEffect transition="in" filter="fade">
                                      <p:cBhvr>
                                        <p:cTn id="73" dur="650"/>
                                        <p:tgtEl>
                                          <p:spTgt spid="16"/>
                                        </p:tgtEl>
                                      </p:cBhvr>
                                    </p:animEffect>
                                  </p:childTnLst>
                                </p:cTn>
                              </p:par>
                              <p:par>
                                <p:cTn id="79" presetID="10" presetClass="entr" presetSubtype="0" fill="hold" grpId="0" nodeType="withEffect">
                                  <p:stCondLst>
                                    <p:cond delay="12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500"/>
                                        <p:tgtEl>
                                          <p:spTgt spid="17"/>
                                        </p:tgtEl>
                                      </p:cBhvr>
                                    </p:animEffect>
                                  </p:childTnLst>
                                </p:cTn>
                              </p:par>
                              <p:par>
                                <p:cTn id="82" presetID="10" presetClass="entr" presetSubtype="0" fill="hold" grpId="0" nodeType="withEffect">
                                  <p:stCondLst>
                                    <p:cond delay="140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500"/>
                                        <p:tgtEl>
                                          <p:spTgt spid="18"/>
                                        </p:tgtEl>
                                      </p:cBhvr>
                                    </p:animEffect>
                                  </p:childTnLst>
                                </p:cTn>
                              </p:par>
                              <p:par>
                                <p:cTn id="85" presetID="10" presetClass="entr" presetSubtype="0" fill="hold" grpId="0" nodeType="withEffect">
                                  <p:stCondLst>
                                    <p:cond delay="160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P spid="8" grpId="0" animBg="1"/>
      <p:bldP spid="10" grpId="0" animBg="1"/>
      <p:bldP spid="11" grpId="0" animBg="1"/>
      <p:bldP spid="13" grpId="0" animBg="1"/>
      <p:bldP spid="14" grpId="0" animBg="1"/>
      <p:bldP spid="17" grpId="0" animBg="1"/>
      <p:bldP spid="18"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a-zoom-cglobe" descr="Decorative globe">    </p:cNvPr>
          <p:cNvPicPr>
            <a:picLocks noChangeAspect="1"/>
          </p:cNvPicPr>
          <p:nvPr/>
        </p:nvPicPr>
        <p:blipFill>
          <a:blip r:embed="rId1"/>
          <a:stretch>
            <a:fillRect/>
          </a:stretch>
        </p:blipFill>
        <p:spPr>
          <a:xfrm>
            <a:off x="5184648" y="411480"/>
            <a:ext cx="1828800" cy="1828800"/>
          </a:xfrm>
          <a:prstGeom prst="rect">
            <a:avLst/>
          </a:prstGeom>
        </p:spPr>
      </p:pic>
      <p:sp>
        <p:nvSpPr>
          <p:cNvPr id="3" name="Text 0"/>
          <p:cNvSpPr/>
          <p:nvPr>
            <p:ph idx="100" type="title" hasCustomPrompt="1"/>
          </p:nvPr>
        </p:nvSpPr>
        <p:spPr>
          <a:xfrm>
            <a:off x="685800" y="2194560"/>
            <a:ext cx="10789920" cy="1188720"/>
          </a:xfrm>
          <a:prstGeom prst="rect">
            <a:avLst/>
          </a:prstGeom>
          <a:noFill/>
          <a:ln/>
        </p:spPr>
        <p:txBody>
          <a:bodyPr wrap="square" lIns="0" tIns="0" rIns="0" bIns="0" rtlCol="0" anchor="ctr"/>
          <a:lstStyle/>
          <a:p>
            <a:pPr algn="ctr" indent="0" marL="0">
              <a:buNone/>
            </a:pPr>
            <a:r>
              <a:rPr lang="en-US" sz="5400" b="1" dirty="0">
                <a:solidFill>
                  <a:schemeClr val="bg1"/>
                </a:solidFill>
              </a:rPr>
              <a:t>Thank you</a:t>
            </a:r>
            <a:endParaRPr lang="en-US" sz="5400" dirty="0"/>
          </a:p>
        </p:txBody>
      </p:sp>
      <p:sp>
        <p:nvSpPr>
          <p:cNvPr id="4" name="Text 0"/>
          <p:cNvSpPr/>
          <p:nvPr>
            <p:ph idx="101" type="body" hasCustomPrompt="1"/>
          </p:nvPr>
        </p:nvSpPr>
        <p:spPr>
          <a:xfrm>
            <a:off x="1371600" y="3474720"/>
            <a:ext cx="9418320" cy="822960"/>
          </a:xfrm>
          <a:prstGeom prst="rect">
            <a:avLst/>
          </a:prstGeom>
          <a:noFill/>
          <a:ln/>
        </p:spPr>
        <p:txBody>
          <a:bodyPr wrap="square" lIns="0" tIns="0" rIns="0" bIns="0" rtlCol="0" anchor="t"/>
          <a:lstStyle/>
          <a:p>
            <a:pPr algn="ctr" indent="0" marL="0">
              <a:buNone/>
            </a:pPr>
            <a:r>
              <a:rPr lang="en-US" sz="2000" dirty="0">
                <a:solidFill>
                  <a:schemeClr val="bg2"/>
                </a:solidFill>
              </a:rPr>
              <a:t>Questions and live demo</a:t>
            </a:r>
            <a:endParaRPr lang="en-US" sz="2000" dirty="0"/>
          </a:p>
        </p:txBody>
      </p:sp>
      <p:sp>
        <p:nvSpPr>
          <p:cNvPr id="5" name="a-fade-cfoot"/>
          <p:cNvSpPr txBox="1"/>
          <p:nvPr/>
        </p:nvSpPr>
        <p:spPr>
          <a:xfrm>
            <a:off x="731520" y="5669280"/>
            <a:ext cx="10698480" cy="411480"/>
          </a:xfrm>
          <a:prstGeom prst="rect">
            <a:avLst/>
          </a:prstGeom>
          <a:noFill/>
          <a:ln/>
        </p:spPr>
        <p:txBody>
          <a:bodyPr wrap="square" lIns="0" tIns="0" rIns="0" bIns="0" rtlCol="0" anchor="ctr"/>
          <a:lstStyle/>
          <a:p>
            <a:pPr algn="ctr" indent="0" marL="0">
              <a:buNone/>
            </a:pPr>
            <a:r>
              <a:rPr lang="en-US" sz="1300" dirty="0">
                <a:solidFill>
                  <a:srgbClr val="BAE6FD"/>
                </a:solidFill>
              </a:rPr>
              <a:t>Ali Jan  ·  Humaiz Khan  ·  Muhammad Ehtisham Shakeel  ·  Muhammad Waleed  ·  Ali Turab</a:t>
            </a:r>
            <a:endParaRPr lang="en-US" sz="13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8" fill="hold">
                            <p:stCondLst>
                              <p:cond delay="0"/>
                            </p:stCondLst>
                            <p:childTnLst>
                              <p:par>
                                <p:cTn id="8" presetID="53" presetClass="entr" presetSubtype="16"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 calcmode="lin" valueType="num">
                                      <p:cBhvr>
                                        <p:cTn id="6" dur="650" decel="100000" fill="hold"/>
                                        <p:tgtEl>
                                          <p:spTgt spid="2"/>
                                        </p:tgtEl>
                                        <p:attrNameLst>
                                          <p:attrName>ppt_w</p:attrName>
                                        </p:attrNameLst>
                                      </p:cBhvr>
                                      <p:tavLst>
                                        <p:tav tm="0">
                                          <p:val>
                                            <p:strVal val="#ppt_w*0.7"/>
                                          </p:val>
                                        </p:tav>
                                        <p:tav tm="100000">
                                          <p:val>
                                            <p:strVal val="#ppt_w"/>
                                          </p:val>
                                        </p:tav>
                                      </p:tavLst>
                                    </p:anim>
                                    <p:anim calcmode="lin" valueType="num">
                                      <p:cBhvr>
                                        <p:cTn id="7" dur="650" decel="100000" fill="hold"/>
                                        <p:tgtEl>
                                          <p:spTgt spid="2"/>
                                        </p:tgtEl>
                                        <p:attrNameLst>
                                          <p:attrName>ppt_h</p:attrName>
                                        </p:attrNameLst>
                                      </p:cBhvr>
                                      <p:tavLst>
                                        <p:tav tm="0">
                                          <p:val>
                                            <p:strVal val="#ppt_h*0.7"/>
                                          </p:val>
                                        </p:tav>
                                        <p:tav tm="100000">
                                          <p:val>
                                            <p:strVal val="#ppt_h"/>
                                          </p:val>
                                        </p:tav>
                                      </p:tavLst>
                                    </p:anim>
                                    <p:animEffect transition="in" filter="fade">
                                      <p:cBhvr>
                                        <p:cTn id="5" dur="650"/>
                                        <p:tgtEl>
                                          <p:spTgt spid="2"/>
                                        </p:tgtEl>
                                      </p:cBhvr>
                                    </p:animEffect>
                                  </p:childTnLst>
                                </p:cTn>
                              </p:par>
                              <p:par>
                                <p:cTn id="11" presetID="10" presetClass="entr" presetSubtype="0"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4" presetID="10" presetClass="entr" presetSubtype="0" fill="hold" grpId="0" nodeType="withEffect">
                                  <p:stCondLst>
                                    <p:cond delay="4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7" presetID="10" presetClass="entr" presetSubtype="0" fill="hold" grpId="0" nodeType="withEffect">
                                  <p:stCondLst>
                                    <p:cond delay="6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theme/theme1.xml><?xml version="1.0" encoding="utf-8"?>
<a:theme xmlns:a="http://schemas.openxmlformats.org/drawingml/2006/main" name="Nexus">
  <a:themeElements>
    <a:clrScheme name="Nexus">
      <a:dk1>
        <a:srgbClr val="0F172A"/>
      </a:dk1>
      <a:lt1>
        <a:srgbClr val="FFFFFF"/>
      </a:lt1>
      <a:dk2>
        <a:srgbClr val="0A2540"/>
      </a:dk2>
      <a:lt2>
        <a:srgbClr val="F0F9FF"/>
      </a:lt2>
      <a:accent1>
        <a:srgbClr val="0369A1"/>
      </a:accent1>
      <a:accent2>
        <a:srgbClr val="059669"/>
      </a:accent2>
      <a:accent3>
        <a:srgbClr val="0EA5E9"/>
      </a:accent3>
      <a:accent4>
        <a:srgbClr val="F59E0B"/>
      </a:accent4>
      <a:accent5>
        <a:srgbClr val="DC2626"/>
      </a:accent5>
      <a:accent6>
        <a:srgbClr val="64748B"/>
      </a:accent6>
      <a:hlink>
        <a:srgbClr val="0369A1"/>
      </a:hlink>
      <a:folHlink>
        <a:srgbClr val="0A2540"/>
      </a:folHlink>
    </a:clrScheme>
    <a:fontScheme name="Nexu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Nexus Communications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Nexus Service Marketing System</dc:title>
  <dc:subject>PptxGenJS Presentation</dc:subject>
  <dc:creator>Ali Jan, Humaiz Khan, Muhammad Ehtisham Shakeel, Muhammad Waleed, Ali Turab</dc:creator>
  <cp:lastModifiedBy>Ali Jan, Humaiz Khan, Muhammad Ehtisham Shakeel, Muhammad Waleed, Ali Turab</cp:lastModifiedBy>
  <cp:revision>1</cp:revision>
  <dcterms:created xsi:type="dcterms:W3CDTF">2026-10-12T20:10:13Z</dcterms:created>
  <dcterms:modified xsi:type="dcterms:W3CDTF">2026-10-12T20:10:13Z</dcterms:modified>
</cp:coreProperties>
</file>