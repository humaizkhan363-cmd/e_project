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27ce859-87c0-a2a7-b7b2-432a24cc5299}">
          <p14:sldIdLst>
            <p14:sldId id="256"/>
            <p14:sldId id="257"/>
          </p14:sldIdLst>
        </p14:section>
        <p14:section name="Problem and solution" id="{71e44aa7-d57e-9d99-1c74-c5a8c9314446}">
          <p14:sldIdLst>
            <p14:sldId id="258"/>
            <p14:sldId id="259"/>
          </p14:sldIdLst>
        </p14:section>
        <p14:section name="Design" id="{8a40ffa8-619c-2d6d-3e3e-be8362ebfe3c}">
          <p14:sldIdLst>
            <p14:sldId id="260"/>
            <p14:sldId id="261"/>
            <p14:sldId id="262"/>
          </p14:sldIdLst>
        </p14:section>
        <p14:section name="Business rules" id="{7d7a54ca-1bfb-4494-b649-4515a9933c6d}">
          <p14:sldIdLst>
            <p14:sldId id="263"/>
            <p14:sldId id="264"/>
            <p14:sldId id="265"/>
            <p14:sldId id="266"/>
          </p14:sldIdLst>
        </p14:section>
        <p14:section name="Interface" id="{3b5da8fc-a2a0-2d6a-e0e0-94942a7d0a6c}">
          <p14:sldIdLst>
            <p14:sldId id="267"/>
            <p14:sldId id="268"/>
          </p14:sldIdLst>
        </p14:section>
        <p14:section name="Quality" id="{b9cb1bbd-1d93-c40f-8bd2-ea38e4813d99}">
          <p14:sldIdLst>
            <p14:sldId id="269"/>
            <p14:sldId id="270"/>
          </p14:sldIdLst>
        </p14:section>
        <p14:section name="Close" id="{ae1524dc-a634-f29c-6023-7e56c7e6051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2540"/>
                </a:solidFill>
                <a:latin typeface="+mn-lt"/>
              </a:defRPr>
            </a:pPr>
            <a:r>
              <a:rPr sz="1600" b="0" i="0" u="none" strike="noStrike">
                <a:solidFill>
                  <a:srgbClr val="0A2540"/>
                </a:solidFill>
                <a:latin typeface="+mn-lt"/>
              </a:rPr>
              <a:t>Bulk discount by number of connections</a:t>
            </a:r>
          </a:p>
        </c:rich>
      </c:tx>
      <c:layout/>
      <c:overlay val="0"/>
    </c:title>
    <c:autoTitleDeleted val="0"/>
    <c:plotArea>
      <c:layout/>
      <c:barChart>
        <c:barDir val="col"/>
        <c:grouping val="clustered"/>
        <c:varyColors val="0"/>
        <c:ser>
          <c:idx val="0"/>
          <c:order val="0"/>
          <c:tx>
            <c:strRef>
              <c:f>Sheet1!$B$1</c:f>
              <c:strCache>
                <c:ptCount val="1"/>
                <c:pt idx="0">
                  <c:v>Discount %</c:v>
                </c:pt>
              </c:strCache>
            </c:strRef>
          </c:tx>
          <c:spPr>
            <a:solidFill>
              <a:srgbClr val="0369A1"/>
            </a:solidFill>
            <a:effectLst/>
          </c:spPr>
          <c:invertIfNegative val="0"/>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cat>
            <c:multiLvlStrRef>
              <c:f>Sheet1!$A$2:$A$5</c:f>
              <c:multiLvlStrCache>
                <c:ptCount val="4"/>
                <c:lvl>
                  <c:pt idx="0">
                    <c:v>10-14</c:v>
                  </c:pt>
                  <c:pt idx="1">
                    <c:v>15-24</c:v>
                  </c:pt>
                  <c:pt idx="2">
                    <c:v>25-49</c:v>
                  </c:pt>
                  <c:pt idx="3">
                    <c:v>50+</c:v>
                  </c:pt>
                </c:lvl>
              </c:multiLvlStrCache>
            </c:multiLvlStrRef>
          </c:cat>
          <c:val>
            <c:numRef>
              <c:f>Sheet1!$B$2:$B$5</c:f>
              <c:numCache>
                <c:formatCode>General</c:formatCode>
                <c:ptCount val="4"/>
                <c:pt idx="0">
                  <c:v>25</c:v>
                </c:pt>
                <c:pt idx="1">
                  <c:v>50</c:v>
                </c:pt>
                <c:pt idx="2">
                  <c:v>75</c:v>
                </c:pt>
                <c:pt idx="3">
                  <c:v>100</c:v>
                </c:pt>
              </c:numCache>
            </c:numRef>
          </c:val>
        </c:ser>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9525" cap="flat">
              <a:solidFill>
                <a:srgbClr val="E2E8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online system for Nexus Communications that replaces paper records for telephone, dial-up and broadband services. Mention the five roles and that the system covers the full journey from order to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the problem, the solution, the technical design, the business rules, the user interface and finally testing and how to run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existing scenario from the problem statement: everything is paper based, feasibility and billing are manual, and documents are filed by hand. With retail shops in every city this no longer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signs in to its own area and only sees its own functions. Passwords are hashed and every page checks the role. Visitors can still see prices and track an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talks to role areas in ASP.NET Core MVC. Controllers call business services, and the services use Entity Framework Core to reach SQL Server. Customer documents are stored outside the public web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 diagram shows the 19 tables. Orders link customers to plans and cities; connections come from orders; bills belong to connections and payments to bills. The database itself enforces the ID formats and value rules through CHECK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never type these IDs. A database counter is incremented atomically, so two shops placing orders at the same moment always get different numbers. CHECK constraints reject anything that does not match the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order moves through feasibility to connection. If any check fails the order becomes Not feasible. A customer without a Nexus landline can apply for the telephone line and dial-up together; both checks run and the line is created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Accounts department generates bills. The service calculates every amount; Accounts only enters call minutes and any other usage. The worked example is one of the automated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discount band depends on all the connections a customer takes, and applies to the advance and the security deposit. Deposits are refundable when a connection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says the connection status depends on the bill. Technical staff see every overdue connection, can suspend them, and reactivate them once the customer has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a custom glass design system: frosted cards over an animated background that turn clear when hovered and press in when clicked, a 3D parallax hero, tilt cards, smooth page transitions and micro-interactions. Everything respects the reduced-motion setting and works on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lands on its own dashboard with live figures and quick actions. Status values everywhere appear as coloured badges, so problems such as overdue bills stand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script drives every role through the real application and checks the database results - 48 checks, all passing. Testing also found and fixed two real bugs: uploaded documents were saved corrupted, and combined phone and dial-up orders could never be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steps to run the system and the default admin login. Recommend changing the admin password after the first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offer a live demonstration of the system: place an order, run feasibility, create the connection and generate the first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DARK_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965960"/>
            <a:ext cx="6583680" cy="17373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85800" y="3840480"/>
            <a:ext cx="621792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Nexus Service Marketing System</a:t>
            </a:r>
            <a:endParaRPr lang="en-US" sz="10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789920" cy="1188720"/>
          </a:xfrm>
          <a:prstGeom prst="rect">
            <a:avLst/>
          </a:prstGeom>
          <a:noFill/>
          <a:ln/>
        </p:spPr>
        <p:txBody>
          <a:bodyPr wrap="square" rtlCol="0"/>
          <a:lstStyle>
            <a:lvl1pPr algn="ctr" indent="0" marL="0">
              <a:buNone/>
              <a:defRPr lang="en-US" sz="5400" b="1" dirty="0">
                <a:solidFill>
                  <a:schemeClr val="bg1"/>
                </a:solidFill>
              </a:defRPr>
            </a:lvl1pPr>
          </a:lstStyle>
          <a:p>
            <a:pPr algn="ctr" indent="0" marL="0">
              <a:buNone/>
            </a:pPr>
            <a:endParaRPr lang="en-US" sz="5400" dirty="0"/>
          </a:p>
        </p:txBody>
      </p:sp>
      <p:sp>
        <p:nvSpPr>
          <p:cNvPr id="3" name="Text 0"/>
          <p:cNvSpPr/>
          <p:nvPr>
            <p:ph idx="101" type="body" hasCustomPrompt="1"/>
          </p:nvPr>
        </p:nvSpPr>
        <p:spPr>
          <a:xfrm>
            <a:off x="1371600" y="3474720"/>
            <a:ext cx="9418320" cy="822960"/>
          </a:xfrm>
          <a:prstGeom prst="rect">
            <a:avLst/>
          </a:prstGeom>
          <a:noFill/>
          <a:ln/>
        </p:spPr>
        <p:txBody>
          <a:bodyPr wrap="square" rtlCol="0"/>
          <a:lstStyle>
            <a:lvl1pPr algn="ctr" indent="0" marL="0">
              <a:buNone/>
              <a:defRPr lang="en-US" sz="2000" dirty="0">
                <a:solidFill>
                  <a:schemeClr val="bg2"/>
                </a:solidFill>
              </a:defRPr>
            </a:lvl1pPr>
          </a:lstStyle>
          <a:p>
            <a:pPr algn="ct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2.png"/><Relationship Id="rId4" Type="http://schemas.openxmlformats.org/officeDocument/2006/relationships/image" Target="../media/image-9-2.png"/><Relationship Id="rId5" Type="http://schemas.openxmlformats.org/officeDocument/2006/relationships/image" Target="../media/image-9-2.png"/><Relationship Id="rId6" Type="http://schemas.openxmlformats.org/officeDocument/2006/relationships/image" Target="../media/image-9-2.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fade-eyebrow"/>
          <p:cNvSpPr txBox="1"/>
          <p:nvPr/>
        </p:nvSpPr>
        <p:spPr>
          <a:xfrm>
            <a:off x="685800" y="1417320"/>
            <a:ext cx="6400800" cy="365760"/>
          </a:xfrm>
          <a:prstGeom prst="rect">
            <a:avLst/>
          </a:prstGeom>
          <a:noFill/>
          <a:ln/>
        </p:spPr>
        <p:txBody>
          <a:bodyPr wrap="square" lIns="0" tIns="0" rIns="0" bIns="0" rtlCol="0" anchor="ctr"/>
          <a:lstStyle/>
          <a:p>
            <a:pPr indent="0" marL="0">
              <a:buNone/>
            </a:pPr>
            <a:r>
              <a:rPr lang="en-US" sz="1400" b="1" spc="200" kern="0" dirty="0">
                <a:solidFill>
                  <a:srgbClr val="6EE7B7"/>
                </a:solidFill>
              </a:rPr>
              <a:t>eProject  ·  Telephone &amp; Internet Services</a:t>
            </a:r>
            <a:endParaRPr lang="en-US" sz="1400" dirty="0"/>
          </a:p>
        </p:txBody>
      </p:sp>
      <p:sp>
        <p:nvSpPr>
          <p:cNvPr id="3" name="Text 0"/>
          <p:cNvSpPr/>
          <p:nvPr>
            <p:ph idx="100" type="title" hasCustomPrompt="1"/>
          </p:nvPr>
        </p:nvSpPr>
        <p:spPr>
          <a:xfrm>
            <a:off x="685800" y="1965960"/>
            <a:ext cx="6583680" cy="1737360"/>
          </a:xfrm>
          <a:prstGeom prst="rect">
            <a:avLst/>
          </a:prstGeom>
          <a:noFill/>
          <a:ln/>
        </p:spPr>
        <p:txBody>
          <a:bodyPr wrap="square" lIns="0" tIns="0" rIns="0" bIns="0" rtlCol="0" anchor="b"/>
          <a:lstStyle/>
          <a:p>
            <a:pPr algn="l" indent="0" marL="0">
              <a:buNone/>
            </a:pPr>
            <a:r>
              <a:rPr lang="en-US" sz="4600" b="1" dirty="0">
                <a:solidFill>
                  <a:schemeClr val="bg1"/>
                </a:solidFill>
              </a:rPr>
              <a:t>Nexus Service Marketing System</a:t>
            </a:r>
            <a:endParaRPr lang="en-US" sz="4600" dirty="0"/>
          </a:p>
        </p:txBody>
      </p:sp>
      <p:sp>
        <p:nvSpPr>
          <p:cNvPr id="4" name="Text 0"/>
          <p:cNvSpPr/>
          <p:nvPr>
            <p:ph idx="101" type="body" hasCustomPrompt="1"/>
          </p:nvPr>
        </p:nvSpPr>
        <p:spPr>
          <a:xfrm>
            <a:off x="685800" y="3840480"/>
            <a:ext cx="6217920" cy="1005840"/>
          </a:xfrm>
          <a:prstGeom prst="rect">
            <a:avLst/>
          </a:prstGeom>
          <a:noFill/>
          <a:ln/>
        </p:spPr>
        <p:txBody>
          <a:bodyPr wrap="square" lIns="0" tIns="0" rIns="0" bIns="0" rtlCol="0" anchor="t"/>
          <a:lstStyle/>
          <a:p>
            <a:pPr algn="l" indent="0" marL="0">
              <a:buNone/>
            </a:pPr>
            <a:r>
              <a:rPr lang="en-US" sz="1800" dirty="0">
                <a:solidFill>
                  <a:schemeClr val="bg2"/>
                </a:solidFill>
              </a:rPr>
              <a:t>Orders, feasibility, connections, postpaid billing and retail operations - one secure system for every role</a:t>
            </a:r>
            <a:endParaRPr lang="en-US" sz="1800" dirty="0"/>
          </a:p>
        </p:txBody>
      </p:sp>
      <p:sp>
        <p:nvSpPr>
          <p:cNvPr id="5" name="a-fade-presenter"/>
          <p:cNvSpPr txBox="1"/>
          <p:nvPr/>
        </p:nvSpPr>
        <p:spPr>
          <a:xfrm>
            <a:off x="685800" y="5257800"/>
            <a:ext cx="6400800" cy="365760"/>
          </a:xfrm>
          <a:prstGeom prst="rect">
            <a:avLst/>
          </a:prstGeom>
          <a:noFill/>
          <a:ln/>
        </p:spPr>
        <p:txBody>
          <a:bodyPr wrap="square" lIns="0" tIns="0" rIns="0" bIns="0" rtlCol="0" anchor="ctr"/>
          <a:lstStyle/>
          <a:p>
            <a:pPr indent="0" marL="0">
              <a:buNone/>
            </a:pPr>
            <a:r>
              <a:rPr lang="en-US" sz="1400" dirty="0">
                <a:solidFill>
                  <a:srgbClr val="BAE6FD"/>
                </a:solidFill>
              </a:rPr>
              <a:t>[Your name]  ·  [Batch] / [Group]  ·  [Centre name]</a:t>
            </a:r>
            <a:endParaRPr lang="en-US" sz="1400" dirty="0"/>
          </a:p>
        </p:txBody>
      </p:sp>
      <p:pic>
        <p:nvPicPr>
          <p:cNvPr id="6" name="a-zoom-globe" descr="Decorative globe">    </p:cNvPr>
          <p:cNvPicPr>
            <a:picLocks noChangeAspect="1"/>
          </p:cNvPicPr>
          <p:nvPr/>
        </p:nvPicPr>
        <p:blipFill>
          <a:blip r:embed="rId1"/>
          <a:stretch>
            <a:fillRect/>
          </a:stretch>
        </p:blipFill>
        <p:spPr>
          <a:xfrm>
            <a:off x="7635240" y="1143000"/>
            <a:ext cx="4206240" cy="420624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2" presetID="10"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par>
                                <p:cTn id="15" presetID="10" presetClass="entr" presetSubtype="0" fill="hold" grpId="0" nodeType="withEffect">
                                  <p:stCondLst>
                                    <p:cond delay="6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par>
                                <p:cTn id="20" presetID="53" presetClass="entr" presetSubtype="16" fill="hold" grpId="0" nodeType="withEffect">
                                  <p:stCondLst>
                                    <p:cond delay="800"/>
                                  </p:stCondLst>
                                  <p:childTnLst>
                                    <p:set>
                                      <p:cBhvr>
                                        <p:cTn id="16" dur="1" fill="hold">
                                          <p:stCondLst>
                                            <p:cond delay="0"/>
                                          </p:stCondLst>
                                        </p:cTn>
                                        <p:tgtEl>
                                          <p:spTgt spid="6"/>
                                        </p:tgtEl>
                                        <p:attrNameLst>
                                          <p:attrName>style.visibility</p:attrName>
                                        </p:attrNameLst>
                                      </p:cBhvr>
                                      <p:to>
                                        <p:strVal val="visible"/>
                                      </p:to>
                                    </p:set>
                                    <p:anim calcmode="lin" valueType="num">
                                      <p:cBhvr>
                                        <p:cTn id="18" dur="650" decel="100000" fill="hold"/>
                                        <p:tgtEl>
                                          <p:spTgt spid="6"/>
                                        </p:tgtEl>
                                        <p:attrNameLst>
                                          <p:attrName>ppt_w</p:attrName>
                                        </p:attrNameLst>
                                      </p:cBhvr>
                                      <p:tavLst>
                                        <p:tav tm="0">
                                          <p:val>
                                            <p:strVal val="#ppt_w*0.7"/>
                                          </p:val>
                                        </p:tav>
                                        <p:tav tm="100000">
                                          <p:val>
                                            <p:strVal val="#ppt_w"/>
                                          </p:val>
                                        </p:tav>
                                      </p:tavLst>
                                    </p:anim>
                                    <p:anim calcmode="lin" valueType="num">
                                      <p:cBhvr>
                                        <p:cTn id="19" dur="650" decel="100000" fill="hold"/>
                                        <p:tgtEl>
                                          <p:spTgt spid="6"/>
                                        </p:tgtEl>
                                        <p:attrNameLst>
                                          <p:attrName>ppt_h</p:attrName>
                                        </p:attrNameLst>
                                      </p:cBhvr>
                                      <p:tavLst>
                                        <p:tav tm="0">
                                          <p:val>
                                            <p:strVal val="#ppt_h*0.7"/>
                                          </p:val>
                                        </p:tav>
                                        <p:tav tm="100000">
                                          <p:val>
                                            <p:strVal val="#ppt_h"/>
                                          </p:val>
                                        </p:tav>
                                      </p:tavLst>
                                    </p:anim>
                                    <p:animEffect transition="in" filter="fade">
                                      <p:cBhvr>
                                        <p:cTn id="17" dur="6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3" name="a-up-ag0"/>
          <p:cNvSpPr/>
          <p:nvPr/>
        </p:nvSpPr>
        <p:spPr>
          <a:xfrm>
            <a:off x="54864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agn0"/>
          <p:cNvSpPr txBox="1"/>
          <p:nvPr/>
        </p:nvSpPr>
        <p:spPr>
          <a:xfrm>
            <a:off x="86868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pic>
        <p:nvPicPr>
          <p:cNvPr id="5" name="a-up-w-agi0" descr="/tmp/claude-0/-home-user-done/4a4296a4-6fd8-5cee-98c2-5de0aee80c99/scratchpad/docs/img/icons/paper-b.png">    </p:cNvPr>
          <p:cNvPicPr>
            <a:picLocks noChangeAspect="1"/>
          </p:cNvPicPr>
          <p:nvPr/>
        </p:nvPicPr>
        <p:blipFill>
          <a:blip r:embed="rId1"/>
          <a:stretch>
            <a:fillRect/>
          </a:stretch>
        </p:blipFill>
        <p:spPr>
          <a:xfrm>
            <a:off x="3291840" y="1856232"/>
            <a:ext cx="411480" cy="411480"/>
          </a:xfrm>
          <a:prstGeom prst="rect">
            <a:avLst/>
          </a:prstGeom>
        </p:spPr>
      </p:pic>
      <p:sp>
        <p:nvSpPr>
          <p:cNvPr id="6" name="a-up-w-agt0"/>
          <p:cNvSpPr txBox="1"/>
          <p:nvPr/>
        </p:nvSpPr>
        <p:spPr>
          <a:xfrm>
            <a:off x="86868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challenge</a:t>
            </a:r>
            <a:endParaRPr lang="en-US" sz="2000" dirty="0"/>
          </a:p>
        </p:txBody>
      </p:sp>
      <p:sp>
        <p:nvSpPr>
          <p:cNvPr id="7" name="a-up-w-agd0"/>
          <p:cNvSpPr txBox="1"/>
          <p:nvPr/>
        </p:nvSpPr>
        <p:spPr>
          <a:xfrm>
            <a:off x="86868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Why Nexus needed a system</a:t>
            </a:r>
            <a:endParaRPr lang="en-US" sz="1400" dirty="0"/>
          </a:p>
        </p:txBody>
      </p:sp>
      <p:sp>
        <p:nvSpPr>
          <p:cNvPr id="8" name="a-up-ag1"/>
          <p:cNvSpPr/>
          <p:nvPr/>
        </p:nvSpPr>
        <p:spPr>
          <a:xfrm>
            <a:off x="429768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agn1"/>
          <p:cNvSpPr txBox="1"/>
          <p:nvPr/>
        </p:nvSpPr>
        <p:spPr>
          <a:xfrm>
            <a:off x="461772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pic>
        <p:nvPicPr>
          <p:cNvPr id="10" name="a-up-w-agi1" descr="/tmp/claude-0/-home-user-done/4a4296a4-6fd8-5cee-98c2-5de0aee80c99/scratchpad/docs/img/icons/layers-b.png">    </p:cNvPr>
          <p:cNvPicPr>
            <a:picLocks noChangeAspect="1"/>
          </p:cNvPicPr>
          <p:nvPr/>
        </p:nvPicPr>
        <p:blipFill>
          <a:blip r:embed="rId2"/>
          <a:stretch>
            <a:fillRect/>
          </a:stretch>
        </p:blipFill>
        <p:spPr>
          <a:xfrm>
            <a:off x="7040880" y="1856232"/>
            <a:ext cx="411480" cy="411480"/>
          </a:xfrm>
          <a:prstGeom prst="rect">
            <a:avLst/>
          </a:prstGeom>
        </p:spPr>
      </p:pic>
      <p:sp>
        <p:nvSpPr>
          <p:cNvPr id="11" name="a-up-w-agt1"/>
          <p:cNvSpPr txBox="1"/>
          <p:nvPr/>
        </p:nvSpPr>
        <p:spPr>
          <a:xfrm>
            <a:off x="461772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Our solution</a:t>
            </a:r>
            <a:endParaRPr lang="en-US" sz="2000" dirty="0"/>
          </a:p>
        </p:txBody>
      </p:sp>
      <p:sp>
        <p:nvSpPr>
          <p:cNvPr id="12" name="a-up-w-agd1"/>
          <p:cNvSpPr txBox="1"/>
          <p:nvPr/>
        </p:nvSpPr>
        <p:spPr>
          <a:xfrm>
            <a:off x="461772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Five roles, one database</a:t>
            </a:r>
            <a:endParaRPr lang="en-US" sz="1400" dirty="0"/>
          </a:p>
        </p:txBody>
      </p:sp>
      <p:sp>
        <p:nvSpPr>
          <p:cNvPr id="13" name="a-up-ag2"/>
          <p:cNvSpPr/>
          <p:nvPr/>
        </p:nvSpPr>
        <p:spPr>
          <a:xfrm>
            <a:off x="804672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agn2"/>
          <p:cNvSpPr txBox="1"/>
          <p:nvPr/>
        </p:nvSpPr>
        <p:spPr>
          <a:xfrm>
            <a:off x="836676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pic>
        <p:nvPicPr>
          <p:cNvPr id="15" name="a-up-w-agi2" descr="/tmp/claude-0/-home-user-done/4a4296a4-6fd8-5cee-98c2-5de0aee80c99/scratchpad/docs/img/icons/db-b.png">    </p:cNvPr>
          <p:cNvPicPr>
            <a:picLocks noChangeAspect="1"/>
          </p:cNvPicPr>
          <p:nvPr/>
        </p:nvPicPr>
        <p:blipFill>
          <a:blip r:embed="rId3"/>
          <a:stretch>
            <a:fillRect/>
          </a:stretch>
        </p:blipFill>
        <p:spPr>
          <a:xfrm>
            <a:off x="10789920" y="1856232"/>
            <a:ext cx="411480" cy="411480"/>
          </a:xfrm>
          <a:prstGeom prst="rect">
            <a:avLst/>
          </a:prstGeom>
        </p:spPr>
      </p:pic>
      <p:sp>
        <p:nvSpPr>
          <p:cNvPr id="16" name="a-up-w-agt2"/>
          <p:cNvSpPr txBox="1"/>
          <p:nvPr/>
        </p:nvSpPr>
        <p:spPr>
          <a:xfrm>
            <a:off x="836676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Under the hood</a:t>
            </a:r>
            <a:endParaRPr lang="en-US" sz="2000" dirty="0"/>
          </a:p>
        </p:txBody>
      </p:sp>
      <p:sp>
        <p:nvSpPr>
          <p:cNvPr id="17" name="a-up-w-agd2"/>
          <p:cNvSpPr txBox="1"/>
          <p:nvPr/>
        </p:nvSpPr>
        <p:spPr>
          <a:xfrm>
            <a:off x="836676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Architecture, data and IDs</a:t>
            </a:r>
            <a:endParaRPr lang="en-US" sz="1400" dirty="0"/>
          </a:p>
        </p:txBody>
      </p:sp>
      <p:sp>
        <p:nvSpPr>
          <p:cNvPr id="18" name="a-up-ag3"/>
          <p:cNvSpPr/>
          <p:nvPr/>
        </p:nvSpPr>
        <p:spPr>
          <a:xfrm>
            <a:off x="54864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agn3"/>
          <p:cNvSpPr txBox="1"/>
          <p:nvPr/>
        </p:nvSpPr>
        <p:spPr>
          <a:xfrm>
            <a:off x="86868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pic>
        <p:nvPicPr>
          <p:cNvPr id="20" name="a-up-w-agi3" descr="/tmp/claude-0/-home-user-done/4a4296a4-6fd8-5cee-98c2-5de0aee80c99/scratchpad/docs/img/icons/receipt-b.png">    </p:cNvPr>
          <p:cNvPicPr>
            <a:picLocks noChangeAspect="1"/>
          </p:cNvPicPr>
          <p:nvPr/>
        </p:nvPicPr>
        <p:blipFill>
          <a:blip r:embed="rId4"/>
          <a:stretch>
            <a:fillRect/>
          </a:stretch>
        </p:blipFill>
        <p:spPr>
          <a:xfrm>
            <a:off x="3291840" y="4187952"/>
            <a:ext cx="411480" cy="411480"/>
          </a:xfrm>
          <a:prstGeom prst="rect">
            <a:avLst/>
          </a:prstGeom>
        </p:spPr>
      </p:pic>
      <p:sp>
        <p:nvSpPr>
          <p:cNvPr id="21" name="a-up-w-agt3"/>
          <p:cNvSpPr txBox="1"/>
          <p:nvPr/>
        </p:nvSpPr>
        <p:spPr>
          <a:xfrm>
            <a:off x="86868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Business rules</a:t>
            </a:r>
            <a:endParaRPr lang="en-US" sz="2000" dirty="0"/>
          </a:p>
        </p:txBody>
      </p:sp>
      <p:sp>
        <p:nvSpPr>
          <p:cNvPr id="22" name="a-up-w-agd3"/>
          <p:cNvSpPr txBox="1"/>
          <p:nvPr/>
        </p:nvSpPr>
        <p:spPr>
          <a:xfrm>
            <a:off x="86868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Feasibility, connections, billing</a:t>
            </a:r>
            <a:endParaRPr lang="en-US" sz="1400" dirty="0"/>
          </a:p>
        </p:txBody>
      </p:sp>
      <p:sp>
        <p:nvSpPr>
          <p:cNvPr id="23" name="a-up-ag4"/>
          <p:cNvSpPr/>
          <p:nvPr/>
        </p:nvSpPr>
        <p:spPr>
          <a:xfrm>
            <a:off x="429768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agn4"/>
          <p:cNvSpPr txBox="1"/>
          <p:nvPr/>
        </p:nvSpPr>
        <p:spPr>
          <a:xfrm>
            <a:off x="461772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05</a:t>
            </a:r>
            <a:endParaRPr lang="en-US" sz="3000" dirty="0"/>
          </a:p>
        </p:txBody>
      </p:sp>
      <p:pic>
        <p:nvPicPr>
          <p:cNvPr id="25" name="a-up-w-agi4" descr="/tmp/claude-0/-home-user-done/4a4296a4-6fd8-5cee-98c2-5de0aee80c99/scratchpad/docs/img/icons/wand-b.png">    </p:cNvPr>
          <p:cNvPicPr>
            <a:picLocks noChangeAspect="1"/>
          </p:cNvPicPr>
          <p:nvPr/>
        </p:nvPicPr>
        <p:blipFill>
          <a:blip r:embed="rId5"/>
          <a:stretch>
            <a:fillRect/>
          </a:stretch>
        </p:blipFill>
        <p:spPr>
          <a:xfrm>
            <a:off x="7040880" y="4187952"/>
            <a:ext cx="411480" cy="411480"/>
          </a:xfrm>
          <a:prstGeom prst="rect">
            <a:avLst/>
          </a:prstGeom>
        </p:spPr>
      </p:pic>
      <p:sp>
        <p:nvSpPr>
          <p:cNvPr id="26" name="a-up-w-agt4"/>
          <p:cNvSpPr txBox="1"/>
          <p:nvPr/>
        </p:nvSpPr>
        <p:spPr>
          <a:xfrm>
            <a:off x="461772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interface</a:t>
            </a:r>
            <a:endParaRPr lang="en-US" sz="2000" dirty="0"/>
          </a:p>
        </p:txBody>
      </p:sp>
      <p:sp>
        <p:nvSpPr>
          <p:cNvPr id="27" name="a-up-w-agd4"/>
          <p:cNvSpPr txBox="1"/>
          <p:nvPr/>
        </p:nvSpPr>
        <p:spPr>
          <a:xfrm>
            <a:off x="461772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3D design and dashboards</a:t>
            </a:r>
            <a:endParaRPr lang="en-US" sz="1400" dirty="0"/>
          </a:p>
        </p:txBody>
      </p:sp>
      <p:sp>
        <p:nvSpPr>
          <p:cNvPr id="28" name="a-up-ag5"/>
          <p:cNvSpPr/>
          <p:nvPr/>
        </p:nvSpPr>
        <p:spPr>
          <a:xfrm>
            <a:off x="804672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9" name="a-up-w-agn5"/>
          <p:cNvSpPr txBox="1"/>
          <p:nvPr/>
        </p:nvSpPr>
        <p:spPr>
          <a:xfrm>
            <a:off x="836676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06</a:t>
            </a:r>
            <a:endParaRPr lang="en-US" sz="3000" dirty="0"/>
          </a:p>
        </p:txBody>
      </p:sp>
      <p:pic>
        <p:nvPicPr>
          <p:cNvPr id="30" name="a-up-w-agi5" descr="/tmp/claude-0/-home-user-done/4a4296a4-6fd8-5cee-98c2-5de0aee80c99/scratchpad/docs/img/icons/check-b.png">    </p:cNvPr>
          <p:cNvPicPr>
            <a:picLocks noChangeAspect="1"/>
          </p:cNvPicPr>
          <p:nvPr/>
        </p:nvPicPr>
        <p:blipFill>
          <a:blip r:embed="rId6"/>
          <a:stretch>
            <a:fillRect/>
          </a:stretch>
        </p:blipFill>
        <p:spPr>
          <a:xfrm>
            <a:off x="10789920" y="4187952"/>
            <a:ext cx="411480" cy="411480"/>
          </a:xfrm>
          <a:prstGeom prst="rect">
            <a:avLst/>
          </a:prstGeom>
        </p:spPr>
      </p:pic>
      <p:sp>
        <p:nvSpPr>
          <p:cNvPr id="31" name="a-up-w-agt5"/>
          <p:cNvSpPr txBox="1"/>
          <p:nvPr/>
        </p:nvSpPr>
        <p:spPr>
          <a:xfrm>
            <a:off x="836676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Quality</a:t>
            </a:r>
            <a:endParaRPr lang="en-US" sz="2000" dirty="0"/>
          </a:p>
        </p:txBody>
      </p:sp>
      <p:sp>
        <p:nvSpPr>
          <p:cNvPr id="32" name="a-up-w-agd5"/>
          <p:cNvSpPr txBox="1"/>
          <p:nvPr/>
        </p:nvSpPr>
        <p:spPr>
          <a:xfrm>
            <a:off x="836676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Testing and how to run it</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6" presetID="42"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decel="100000" fill="hold"/>
                                        <p:tgtEl>
                                          <p:spTgt spid="28"/>
                                        </p:tgtEl>
                                        <p:attrNameLst>
                                          <p:attrName>ppt_x</p:attrName>
                                        </p:attrNameLst>
                                      </p:cBhvr>
                                      <p:tavLst>
                                        <p:tav tm="0">
                                          <p:val>
                                            <p:strVal val="#ppt_x"/>
                                          </p:val>
                                        </p:tav>
                                        <p:tav tm="100000">
                                          <p:val>
                                            <p:strVal val="#ppt_x"/>
                                          </p:val>
                                        </p:tav>
                                      </p:tavLst>
                                    </p:anim>
                                    <p:anim calcmode="lin" valueType="num">
                                      <p:cBhvr>
                                        <p:cTn id="135" dur="600" decel="100000" fill="hold"/>
                                        <p:tgtEl>
                                          <p:spTgt spid="28"/>
                                        </p:tgtEl>
                                        <p:attrNameLst>
                                          <p:attrName>ppt_y</p:attrName>
                                        </p:attrNameLst>
                                      </p:cBhvr>
                                      <p:tavLst>
                                        <p:tav tm="0">
                                          <p:val>
                                            <p:strVal val="#ppt_y+.08"/>
                                          </p:val>
                                        </p:tav>
                                        <p:tav tm="100000">
                                          <p:val>
                                            <p:strVal val="#ppt_y"/>
                                          </p:val>
                                        </p:tav>
                                      </p:tavLst>
                                    </p:anim>
                                  </p:childTnLst>
                                </p:cTn>
                              </p:par>
                              <p:par>
                                <p:cTn id="141" presetID="42" presetClass="entr" presetSubtype="0" fill="hold" grpId="0" nodeType="withEffect">
                                  <p:stCondLst>
                                    <p:cond delay="120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600"/>
                                        <p:tgtEl>
                                          <p:spTgt spid="29"/>
                                        </p:tgtEl>
                                      </p:cBhvr>
                                    </p:animEffect>
                                    <p:anim calcmode="lin" valueType="num">
                                      <p:cBhvr>
                                        <p:cTn id="139" dur="600" decel="100000" fill="hold"/>
                                        <p:tgtEl>
                                          <p:spTgt spid="29"/>
                                        </p:tgtEl>
                                        <p:attrNameLst>
                                          <p:attrName>ppt_x</p:attrName>
                                        </p:attrNameLst>
                                      </p:cBhvr>
                                      <p:tavLst>
                                        <p:tav tm="0">
                                          <p:val>
                                            <p:strVal val="#ppt_x"/>
                                          </p:val>
                                        </p:tav>
                                        <p:tav tm="100000">
                                          <p:val>
                                            <p:strVal val="#ppt_x"/>
                                          </p:val>
                                        </p:tav>
                                      </p:tavLst>
                                    </p:anim>
                                    <p:anim calcmode="lin" valueType="num">
                                      <p:cBhvr>
                                        <p:cTn id="140" dur="600" decel="100000" fill="hold"/>
                                        <p:tgtEl>
                                          <p:spTgt spid="29"/>
                                        </p:tgtEl>
                                        <p:attrNameLst>
                                          <p:attrName>ppt_y</p:attrName>
                                        </p:attrNameLst>
                                      </p:cBhvr>
                                      <p:tavLst>
                                        <p:tav tm="0">
                                          <p:val>
                                            <p:strVal val="#ppt_y+.08"/>
                                          </p:val>
                                        </p:tav>
                                        <p:tav tm="100000">
                                          <p:val>
                                            <p:strVal val="#ppt_y"/>
                                          </p:val>
                                        </p:tav>
                                      </p:tavLst>
                                    </p:anim>
                                  </p:childTnLst>
                                </p:cTn>
                              </p:par>
                              <p:par>
                                <p:cTn id="146" presetID="42" presetClass="entr" presetSubtype="0" fill="hold" grpId="0" nodeType="withEffect">
                                  <p:stCondLst>
                                    <p:cond delay="1200"/>
                                  </p:stCondLst>
                                  <p:childTnLst>
                                    <p:set>
                                      <p:cBhvr>
                                        <p:cTn id="142" dur="1" fill="hold">
                                          <p:stCondLst>
                                            <p:cond delay="0"/>
                                          </p:stCondLst>
                                        </p:cTn>
                                        <p:tgtEl>
                                          <p:spTgt spid="30"/>
                                        </p:tgtEl>
                                        <p:attrNameLst>
                                          <p:attrName>style.visibility</p:attrName>
                                        </p:attrNameLst>
                                      </p:cBhvr>
                                      <p:to>
                                        <p:strVal val="visible"/>
                                      </p:to>
                                    </p:set>
                                    <p:animEffect transition="in" filter="fade">
                                      <p:cBhvr>
                                        <p:cTn id="143" dur="600"/>
                                        <p:tgtEl>
                                          <p:spTgt spid="30"/>
                                        </p:tgtEl>
                                      </p:cBhvr>
                                    </p:animEffect>
                                    <p:anim calcmode="lin" valueType="num">
                                      <p:cBhvr>
                                        <p:cTn id="144" dur="600" decel="100000" fill="hold"/>
                                        <p:tgtEl>
                                          <p:spTgt spid="30"/>
                                        </p:tgtEl>
                                        <p:attrNameLst>
                                          <p:attrName>ppt_x</p:attrName>
                                        </p:attrNameLst>
                                      </p:cBhvr>
                                      <p:tavLst>
                                        <p:tav tm="0">
                                          <p:val>
                                            <p:strVal val="#ppt_x"/>
                                          </p:val>
                                        </p:tav>
                                        <p:tav tm="100000">
                                          <p:val>
                                            <p:strVal val="#ppt_x"/>
                                          </p:val>
                                        </p:tav>
                                      </p:tavLst>
                                    </p:anim>
                                    <p:anim calcmode="lin" valueType="num">
                                      <p:cBhvr>
                                        <p:cTn id="145" dur="600" decel="100000" fill="hold"/>
                                        <p:tgtEl>
                                          <p:spTgt spid="30"/>
                                        </p:tgtEl>
                                        <p:attrNameLst>
                                          <p:attrName>ppt_y</p:attrName>
                                        </p:attrNameLst>
                                      </p:cBhvr>
                                      <p:tavLst>
                                        <p:tav tm="0">
                                          <p:val>
                                            <p:strVal val="#ppt_y+.08"/>
                                          </p:val>
                                        </p:tav>
                                        <p:tav tm="100000">
                                          <p:val>
                                            <p:strVal val="#ppt_y"/>
                                          </p:val>
                                        </p:tav>
                                      </p:tavLst>
                                    </p:anim>
                                  </p:childTnLst>
                                </p:cTn>
                              </p:par>
                              <p:par>
                                <p:cTn id="151" presetID="42" presetClass="entr" presetSubtype="0" fill="hold" grpId="0" nodeType="withEffect">
                                  <p:stCondLst>
                                    <p:cond delay="12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decel="100000" fill="hold"/>
                                        <p:tgtEl>
                                          <p:spTgt spid="31"/>
                                        </p:tgtEl>
                                        <p:attrNameLst>
                                          <p:attrName>ppt_x</p:attrName>
                                        </p:attrNameLst>
                                      </p:cBhvr>
                                      <p:tavLst>
                                        <p:tav tm="0">
                                          <p:val>
                                            <p:strVal val="#ppt_x"/>
                                          </p:val>
                                        </p:tav>
                                        <p:tav tm="100000">
                                          <p:val>
                                            <p:strVal val="#ppt_x"/>
                                          </p:val>
                                        </p:tav>
                                      </p:tavLst>
                                    </p:anim>
                                    <p:anim calcmode="lin" valueType="num">
                                      <p:cBhvr>
                                        <p:cTn id="150" dur="600" decel="100000" fill="hold"/>
                                        <p:tgtEl>
                                          <p:spTgt spid="31"/>
                                        </p:tgtEl>
                                        <p:attrNameLst>
                                          <p:attrName>ppt_y</p:attrName>
                                        </p:attrNameLst>
                                      </p:cBhvr>
                                      <p:tavLst>
                                        <p:tav tm="0">
                                          <p:val>
                                            <p:strVal val="#ppt_y+.08"/>
                                          </p:val>
                                        </p:tav>
                                        <p:tav tm="100000">
                                          <p:val>
                                            <p:strVal val="#ppt_y"/>
                                          </p:val>
                                        </p:tav>
                                      </p:tavLst>
                                    </p:anim>
                                  </p:childTnLst>
                                </p:cTn>
                              </p:par>
                              <p:par>
                                <p:cTn id="156" presetID="42" presetClass="entr" presetSubtype="0" fill="hold" grpId="0" nodeType="withEffect">
                                  <p:stCondLst>
                                    <p:cond delay="12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decel="100000" fill="hold"/>
                                        <p:tgtEl>
                                          <p:spTgt spid="32"/>
                                        </p:tgtEl>
                                        <p:attrNameLst>
                                          <p:attrName>ppt_x</p:attrName>
                                        </p:attrNameLst>
                                      </p:cBhvr>
                                      <p:tavLst>
                                        <p:tav tm="0">
                                          <p:val>
                                            <p:strVal val="#ppt_x"/>
                                          </p:val>
                                        </p:tav>
                                        <p:tav tm="100000">
                                          <p:val>
                                            <p:strVal val="#ppt_x"/>
                                          </p:val>
                                        </p:tav>
                                      </p:tavLst>
                                    </p:anim>
                                    <p:anim calcmode="lin" valueType="num">
                                      <p:cBhvr>
                                        <p:cTn id="155" dur="600" decel="100000" fill="hold"/>
                                        <p:tgtEl>
                                          <p:spTgt spid="32"/>
                                        </p:tgtEl>
                                        <p:attrNameLst>
                                          <p:attrName>ppt_y</p:attrName>
                                        </p:attrNameLst>
                                      </p:cBhvr>
                                      <p:tavLst>
                                        <p:tav tm="0">
                                          <p:val>
                                            <p:strVal val="#ppt_y+.08"/>
                                          </p:val>
                                        </p:tav>
                                        <p:tav tm="100000">
                                          <p:val>
                                            <p:strVal val="#ppt_y"/>
                                          </p:val>
                                        </p:tav>
                                      </p:tavLst>
                                    </p:anim>
                                  </p:childTnLst>
                                </p:cTn>
                              </p:par>
                              <p:par>
                                <p:cTn id="159" presetID="10" presetClass="entr" presetSubtype="0" fill="hold" grpId="0" nodeType="withEffect">
                                  <p:stCondLst>
                                    <p:cond delay="1400"/>
                                  </p:stCondLst>
                                  <p:childTnLst>
                                    <p:set>
                                      <p:cBhvr>
                                        <p:cTn id="157" dur="1" fill="hold">
                                          <p:stCondLst>
                                            <p:cond delay="0"/>
                                          </p:stCondLst>
                                        </p:cTn>
                                        <p:tgtEl>
                                          <p:spTgt spid="25"/>
                                        </p:tgtEl>
                                        <p:attrNameLst>
                                          <p:attrName>style.visibility</p:attrName>
                                        </p:attrNameLst>
                                      </p:cBhvr>
                                      <p:to>
                                        <p:strVal val="visible"/>
                                      </p:to>
                                    </p:set>
                                    <p:animEffect transition="in" filter="fade">
                                      <p:cBhvr>
                                        <p:cTn id="15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6" grpId="0" animBg="1"/>
      <p:bldP spid="7" grpId="0" animBg="1"/>
      <p:bldP spid="9" grpId="0" animBg="1"/>
      <p:bldP spid="11" grpId="0" animBg="1"/>
      <p:bldP spid="12" grpId="0" animBg="1"/>
      <p:bldP spid="14" grpId="0" animBg="1"/>
      <p:bldP spid="16" grpId="0" animBg="1"/>
      <p:bldP spid="17" grpId="0" animBg="1"/>
      <p:bldP spid="19" grpId="0" animBg="1"/>
      <p:bldP spid="21" grpId="0" animBg="1"/>
      <p:bldP spid="22" grpId="0" animBg="1"/>
      <p:bldP spid="24" grpId="0" animBg="1"/>
      <p:bldP spid="26" grpId="0" animBg="1"/>
      <p:bldP spid="27" grpId="0" animBg="1"/>
      <p:bldP spid="29" grpId="0" animBg="1"/>
      <p:bldP spid="31" grpId="0" animBg="1"/>
      <p:bldP spid="32"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challenge: a growing network run on paper</a:t>
            </a:r>
            <a:endParaRPr lang="en-US" sz="3200" dirty="0"/>
          </a:p>
        </p:txBody>
      </p:sp>
      <p:sp>
        <p:nvSpPr>
          <p:cNvPr id="3" name="a-left-pi0"/>
          <p:cNvSpPr/>
          <p:nvPr/>
        </p:nvSpPr>
        <p:spPr>
          <a:xfrm>
            <a:off x="548640" y="1417320"/>
            <a:ext cx="777240" cy="777240"/>
          </a:xfrm>
          <a:prstGeom prst="ellipse">
            <a:avLst/>
          </a:prstGeom>
          <a:solidFill>
            <a:schemeClr val="accent5"/>
          </a:solidFill>
          <a:ln/>
        </p:spPr>
      </p:sp>
      <p:pic>
        <p:nvPicPr>
          <p:cNvPr id="4" name="a-left-w-pi0-i" descr="/tmp/claude-0/-home-user-done/4a4296a4-6fd8-5cee-98c2-5de0aee80c99/scratchpad/docs/img/icons/paper-w.png">    </p:cNvPr>
          <p:cNvPicPr>
            <a:picLocks noChangeAspect="1"/>
          </p:cNvPicPr>
          <p:nvPr/>
        </p:nvPicPr>
        <p:blipFill>
          <a:blip r:embed="rId1"/>
          <a:stretch>
            <a:fillRect/>
          </a:stretch>
        </p:blipFill>
        <p:spPr>
          <a:xfrm>
            <a:off x="742950" y="1611630"/>
            <a:ext cx="388620" cy="388620"/>
          </a:xfrm>
          <a:prstGeom prst="rect">
            <a:avLst/>
          </a:prstGeom>
        </p:spPr>
      </p:pic>
      <p:sp>
        <p:nvSpPr>
          <p:cNvPr id="5" name="a-left-w-pt0"/>
          <p:cNvSpPr txBox="1"/>
          <p:nvPr/>
        </p:nvSpPr>
        <p:spPr>
          <a:xfrm>
            <a:off x="1600200" y="1417320"/>
            <a:ext cx="5120640" cy="365760"/>
          </a:xfrm>
          <a:prstGeom prst="rect">
            <a:avLst/>
          </a:prstGeom>
          <a:noFill/>
          <a:ln/>
        </p:spPr>
        <p:txBody>
          <a:bodyPr wrap="square" lIns="0" tIns="0" rIns="0" bIns="0" rtlCol="0" anchor="t"/>
          <a:lstStyle/>
          <a:p>
            <a:pPr indent="0" marL="0">
              <a:buNone/>
            </a:pPr>
            <a:r>
              <a:rPr lang="en-US" sz="1900" b="1" dirty="0">
                <a:solidFill>
                  <a:schemeClr val="tx2"/>
                </a:solidFill>
              </a:rPr>
              <a:t>Records on paper</a:t>
            </a:r>
            <a:endParaRPr lang="en-US" sz="1900" dirty="0"/>
          </a:p>
        </p:txBody>
      </p:sp>
      <p:sp>
        <p:nvSpPr>
          <p:cNvPr id="6" name="a-left-w-pd0"/>
          <p:cNvSpPr txBox="1"/>
          <p:nvPr/>
        </p:nvSpPr>
        <p:spPr>
          <a:xfrm>
            <a:off x="1600200" y="180136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Customers, orders, connections, vendors and payments kept by hand - slip-ups and slow searches.</a:t>
            </a:r>
            <a:endParaRPr lang="en-US" sz="1400" dirty="0"/>
          </a:p>
        </p:txBody>
      </p:sp>
      <p:sp>
        <p:nvSpPr>
          <p:cNvPr id="7" name="a-left-pi1"/>
          <p:cNvSpPr/>
          <p:nvPr/>
        </p:nvSpPr>
        <p:spPr>
          <a:xfrm>
            <a:off x="548640" y="2606040"/>
            <a:ext cx="777240" cy="777240"/>
          </a:xfrm>
          <a:prstGeom prst="ellipse">
            <a:avLst/>
          </a:prstGeom>
          <a:solidFill>
            <a:schemeClr val="accent5"/>
          </a:solidFill>
          <a:ln/>
        </p:spPr>
      </p:sp>
      <p:pic>
        <p:nvPicPr>
          <p:cNvPr id="8" name="a-left-w-pi1-i" descr="/tmp/claude-0/-home-user-done/4a4296a4-6fd8-5cee-98c2-5de0aee80c99/scratchpad/docs/img/icons/clock-w.png">    </p:cNvPr>
          <p:cNvPicPr>
            <a:picLocks noChangeAspect="1"/>
          </p:cNvPicPr>
          <p:nvPr/>
        </p:nvPicPr>
        <p:blipFill>
          <a:blip r:embed="rId2"/>
          <a:stretch>
            <a:fillRect/>
          </a:stretch>
        </p:blipFill>
        <p:spPr>
          <a:xfrm>
            <a:off x="742950" y="2800350"/>
            <a:ext cx="388620" cy="388620"/>
          </a:xfrm>
          <a:prstGeom prst="rect">
            <a:avLst/>
          </a:prstGeom>
        </p:spPr>
      </p:pic>
      <p:sp>
        <p:nvSpPr>
          <p:cNvPr id="9" name="a-left-w-pt1"/>
          <p:cNvSpPr txBox="1"/>
          <p:nvPr/>
        </p:nvSpPr>
        <p:spPr>
          <a:xfrm>
            <a:off x="1600200" y="2606040"/>
            <a:ext cx="5120640" cy="365760"/>
          </a:xfrm>
          <a:prstGeom prst="rect">
            <a:avLst/>
          </a:prstGeom>
          <a:noFill/>
          <a:ln/>
        </p:spPr>
        <p:txBody>
          <a:bodyPr wrap="square" lIns="0" tIns="0" rIns="0" bIns="0" rtlCol="0" anchor="t"/>
          <a:lstStyle/>
          <a:p>
            <a:pPr indent="0" marL="0">
              <a:buNone/>
            </a:pPr>
            <a:r>
              <a:rPr lang="en-US" sz="1900" b="1" dirty="0">
                <a:solidFill>
                  <a:schemeClr val="tx2"/>
                </a:solidFill>
              </a:rPr>
              <a:t>Manual feasibility</a:t>
            </a:r>
            <a:endParaRPr lang="en-US" sz="1900" dirty="0"/>
          </a:p>
        </p:txBody>
      </p:sp>
      <p:sp>
        <p:nvSpPr>
          <p:cNvPr id="10" name="a-left-w-pd1"/>
          <p:cNvSpPr txBox="1"/>
          <p:nvPr/>
        </p:nvSpPr>
        <p:spPr>
          <a:xfrm>
            <a:off x="1600200" y="299008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Distance and server checks tracked outside any system, so customers cannot follow their order.</a:t>
            </a:r>
            <a:endParaRPr lang="en-US" sz="1400" dirty="0"/>
          </a:p>
        </p:txBody>
      </p:sp>
      <p:sp>
        <p:nvSpPr>
          <p:cNvPr id="11" name="a-left-pi2"/>
          <p:cNvSpPr/>
          <p:nvPr/>
        </p:nvSpPr>
        <p:spPr>
          <a:xfrm>
            <a:off x="548640" y="3794760"/>
            <a:ext cx="777240" cy="777240"/>
          </a:xfrm>
          <a:prstGeom prst="ellipse">
            <a:avLst/>
          </a:prstGeom>
          <a:solidFill>
            <a:schemeClr val="accent5"/>
          </a:solidFill>
          <a:ln/>
        </p:spPr>
      </p:sp>
      <p:pic>
        <p:nvPicPr>
          <p:cNvPr id="12" name="a-left-w-pi2-i" descr="/tmp/claude-0/-home-user-done/4a4296a4-6fd8-5cee-98c2-5de0aee80c99/scratchpad/docs/img/icons/money-w.png">    </p:cNvPr>
          <p:cNvPicPr>
            <a:picLocks noChangeAspect="1"/>
          </p:cNvPicPr>
          <p:nvPr/>
        </p:nvPicPr>
        <p:blipFill>
          <a:blip r:embed="rId3"/>
          <a:stretch>
            <a:fillRect/>
          </a:stretch>
        </p:blipFill>
        <p:spPr>
          <a:xfrm>
            <a:off x="742950" y="3989070"/>
            <a:ext cx="388620" cy="388620"/>
          </a:xfrm>
          <a:prstGeom prst="rect">
            <a:avLst/>
          </a:prstGeom>
        </p:spPr>
      </p:pic>
      <p:sp>
        <p:nvSpPr>
          <p:cNvPr id="13" name="a-left-w-pt2"/>
          <p:cNvSpPr txBox="1"/>
          <p:nvPr/>
        </p:nvSpPr>
        <p:spPr>
          <a:xfrm>
            <a:off x="1600200" y="3794760"/>
            <a:ext cx="5120640" cy="365760"/>
          </a:xfrm>
          <a:prstGeom prst="rect">
            <a:avLst/>
          </a:prstGeom>
          <a:noFill/>
          <a:ln/>
        </p:spPr>
        <p:txBody>
          <a:bodyPr wrap="square" lIns="0" tIns="0" rIns="0" bIns="0" rtlCol="0" anchor="t"/>
          <a:lstStyle/>
          <a:p>
            <a:pPr indent="0" marL="0">
              <a:buNone/>
            </a:pPr>
            <a:r>
              <a:rPr lang="en-US" sz="1900" b="1" dirty="0">
                <a:solidFill>
                  <a:schemeClr val="tx2"/>
                </a:solidFill>
              </a:rPr>
              <a:t>Hand-made bills</a:t>
            </a:r>
            <a:endParaRPr lang="en-US" sz="1900" dirty="0"/>
          </a:p>
        </p:txBody>
      </p:sp>
      <p:sp>
        <p:nvSpPr>
          <p:cNvPr id="14" name="a-left-w-pd2"/>
          <p:cNvSpPr txBox="1"/>
          <p:nvPr/>
        </p:nvSpPr>
        <p:spPr>
          <a:xfrm>
            <a:off x="1600200" y="417880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Plan fees, call charges, deposits, bulk discounts and 12.24% tax calculated manually every month.</a:t>
            </a:r>
            <a:endParaRPr lang="en-US" sz="1400" dirty="0"/>
          </a:p>
        </p:txBody>
      </p:sp>
      <p:sp>
        <p:nvSpPr>
          <p:cNvPr id="15" name="a-left-pi3"/>
          <p:cNvSpPr/>
          <p:nvPr/>
        </p:nvSpPr>
        <p:spPr>
          <a:xfrm>
            <a:off x="548640" y="4983480"/>
            <a:ext cx="777240" cy="777240"/>
          </a:xfrm>
          <a:prstGeom prst="ellipse">
            <a:avLst/>
          </a:prstGeom>
          <a:solidFill>
            <a:schemeClr val="accent5"/>
          </a:solidFill>
          <a:ln/>
        </p:spPr>
      </p:sp>
      <p:pic>
        <p:nvPicPr>
          <p:cNvPr id="16" name="a-left-w-pi3-i" descr="/tmp/claude-0/-home-user-done/4a4296a4-6fd8-5cee-98c2-5de0aee80c99/scratchpad/docs/img/icons/folder-w.png">    </p:cNvPr>
          <p:cNvPicPr>
            <a:picLocks noChangeAspect="1"/>
          </p:cNvPicPr>
          <p:nvPr/>
        </p:nvPicPr>
        <p:blipFill>
          <a:blip r:embed="rId4"/>
          <a:stretch>
            <a:fillRect/>
          </a:stretch>
        </p:blipFill>
        <p:spPr>
          <a:xfrm>
            <a:off x="742950" y="5177790"/>
            <a:ext cx="388620" cy="388620"/>
          </a:xfrm>
          <a:prstGeom prst="rect">
            <a:avLst/>
          </a:prstGeom>
        </p:spPr>
      </p:pic>
      <p:sp>
        <p:nvSpPr>
          <p:cNvPr id="17" name="a-left-w-pt3"/>
          <p:cNvSpPr txBox="1"/>
          <p:nvPr/>
        </p:nvSpPr>
        <p:spPr>
          <a:xfrm>
            <a:off x="1600200" y="4983480"/>
            <a:ext cx="5120640" cy="365760"/>
          </a:xfrm>
          <a:prstGeom prst="rect">
            <a:avLst/>
          </a:prstGeom>
          <a:noFill/>
          <a:ln/>
        </p:spPr>
        <p:txBody>
          <a:bodyPr wrap="square" lIns="0" tIns="0" rIns="0" bIns="0" rtlCol="0" anchor="t"/>
          <a:lstStyle/>
          <a:p>
            <a:pPr indent="0" marL="0">
              <a:buNone/>
            </a:pPr>
            <a:r>
              <a:rPr lang="en-US" sz="1900" b="1" dirty="0">
                <a:solidFill>
                  <a:schemeClr val="tx2"/>
                </a:solidFill>
              </a:rPr>
              <a:t>Paper filing</a:t>
            </a:r>
            <a:endParaRPr lang="en-US" sz="1900" dirty="0"/>
          </a:p>
        </p:txBody>
      </p:sp>
      <p:sp>
        <p:nvSpPr>
          <p:cNvPr id="18" name="a-left-w-pd3"/>
          <p:cNvSpPr txBox="1"/>
          <p:nvPr/>
        </p:nvSpPr>
        <p:spPr>
          <a:xfrm>
            <a:off x="1600200" y="536752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Address proofs, forms and receipts filed by year and area in cabinets.</a:t>
            </a:r>
            <a:endParaRPr lang="en-US" sz="1400" dirty="0"/>
          </a:p>
        </p:txBody>
      </p:sp>
      <p:sp>
        <p:nvSpPr>
          <p:cNvPr id="19" name="a-zoom-quote"/>
          <p:cNvSpPr/>
          <p:nvPr/>
        </p:nvSpPr>
        <p:spPr>
          <a:xfrm>
            <a:off x="7223760" y="1463040"/>
            <a:ext cx="4389120" cy="4343400"/>
          </a:xfrm>
          <a:prstGeom prst="roundRect">
            <a:avLst>
              <a:gd name="adj" fmla="val 252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0" name="a-fade-qbig"/>
          <p:cNvSpPr txBox="1"/>
          <p:nvPr/>
        </p:nvSpPr>
        <p:spPr>
          <a:xfrm>
            <a:off x="7589520" y="1783080"/>
            <a:ext cx="3657600" cy="1097280"/>
          </a:xfrm>
          <a:prstGeom prst="rect">
            <a:avLst/>
          </a:prstGeom>
          <a:noFill/>
          <a:ln/>
        </p:spPr>
        <p:txBody>
          <a:bodyPr wrap="square" lIns="0" tIns="0" rIns="0" bIns="0" rtlCol="0" anchor="t"/>
          <a:lstStyle/>
          <a:p>
            <a:pPr indent="0" marL="0">
              <a:buNone/>
            </a:pPr>
            <a:r>
              <a:rPr lang="en-US" sz="7200" b="1" dirty="0">
                <a:solidFill>
                  <a:schemeClr val="accent1"/>
                </a:solidFill>
              </a:rPr>
              <a:t>5</a:t>
            </a:r>
            <a:endParaRPr lang="en-US" sz="7200" dirty="0"/>
          </a:p>
        </p:txBody>
      </p:sp>
      <p:sp>
        <p:nvSpPr>
          <p:cNvPr id="21" name="a-fade-qtxt"/>
          <p:cNvSpPr txBox="1"/>
          <p:nvPr/>
        </p:nvSpPr>
        <p:spPr>
          <a:xfrm>
            <a:off x="7589520" y="2971800"/>
            <a:ext cx="3749040" cy="1280160"/>
          </a:xfrm>
          <a:prstGeom prst="rect">
            <a:avLst/>
          </a:prstGeom>
          <a:noFill/>
          <a:ln/>
        </p:spPr>
        <p:txBody>
          <a:bodyPr wrap="square" lIns="0" tIns="0" rIns="0" bIns="0" rtlCol="0" anchor="t"/>
          <a:lstStyle/>
          <a:p>
            <a:pPr indent="0" marL="0">
              <a:buNone/>
            </a:pPr>
            <a:r>
              <a:rPr lang="en-US" sz="1700" dirty="0">
                <a:solidFill>
                  <a:schemeClr val="tx2"/>
                </a:solidFill>
              </a:rPr>
              <a:t>roles - Admin, Accounts, Technical, Retail staff and Customers - all working from the same paper files</a:t>
            </a:r>
            <a:endParaRPr lang="en-US" sz="1700" dirty="0"/>
          </a:p>
        </p:txBody>
      </p:sp>
      <p:sp>
        <p:nvSpPr>
          <p:cNvPr id="22" name="a-fade-qnote"/>
          <p:cNvSpPr txBox="1"/>
          <p:nvPr/>
        </p:nvSpPr>
        <p:spPr>
          <a:xfrm>
            <a:off x="7589520" y="4434840"/>
            <a:ext cx="3749040" cy="1097280"/>
          </a:xfrm>
          <a:prstGeom prst="rect">
            <a:avLst/>
          </a:prstGeom>
          <a:noFill/>
          <a:ln/>
        </p:spPr>
        <p:txBody>
          <a:bodyPr wrap="square" lIns="0" tIns="0" rIns="0" bIns="0" rtlCol="0" anchor="t"/>
          <a:lstStyle/>
          <a:p>
            <a:pPr indent="0" marL="0">
              <a:buNone/>
            </a:pPr>
            <a:r>
              <a:rPr lang="en-US" sz="1400" i="1" dirty="0">
                <a:solidFill>
                  <a:schemeClr val="accent6"/>
                </a:solidFill>
              </a:rPr>
              <a:t>Expansion to every city made the paper process impossible to scale.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53" presetClass="entr" presetSubtype="16"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 calcmode="lin" valueType="num">
                                      <p:cBhvr>
                                        <p:cTn id="89" dur="650" decel="100000" fill="hold"/>
                                        <p:tgtEl>
                                          <p:spTgt spid="19"/>
                                        </p:tgtEl>
                                        <p:attrNameLst>
                                          <p:attrName>ppt_w</p:attrName>
                                        </p:attrNameLst>
                                      </p:cBhvr>
                                      <p:tavLst>
                                        <p:tav tm="0">
                                          <p:val>
                                            <p:strVal val="#ppt_w*0.7"/>
                                          </p:val>
                                        </p:tav>
                                        <p:tav tm="100000">
                                          <p:val>
                                            <p:strVal val="#ppt_w"/>
                                          </p:val>
                                        </p:tav>
                                      </p:tavLst>
                                    </p:anim>
                                    <p:anim calcmode="lin" valueType="num">
                                      <p:cBhvr>
                                        <p:cTn id="90" dur="650" decel="100000" fill="hold"/>
                                        <p:tgtEl>
                                          <p:spTgt spid="19"/>
                                        </p:tgtEl>
                                        <p:attrNameLst>
                                          <p:attrName>ppt_h</p:attrName>
                                        </p:attrNameLst>
                                      </p:cBhvr>
                                      <p:tavLst>
                                        <p:tav tm="0">
                                          <p:val>
                                            <p:strVal val="#ppt_h*0.7"/>
                                          </p:val>
                                        </p:tav>
                                        <p:tav tm="100000">
                                          <p:val>
                                            <p:strVal val="#ppt_h"/>
                                          </p:val>
                                        </p:tav>
                                      </p:tavLst>
                                    </p:anim>
                                    <p:animEffect transition="in" filter="fade">
                                      <p:cBhvr>
                                        <p:cTn id="88" dur="650"/>
                                        <p:tgtEl>
                                          <p:spTgt spid="19"/>
                                        </p:tgtEl>
                                      </p:cBhvr>
                                    </p:animEffect>
                                  </p:childTnLst>
                                </p:cTn>
                              </p:par>
                              <p:par>
                                <p:cTn id="94" presetID="10" presetClass="entr" presetSubtype="0" fill="hold" grpId="0" nodeType="withEffect">
                                  <p:stCondLst>
                                    <p:cond delay="12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500"/>
                                        <p:tgtEl>
                                          <p:spTgt spid="20"/>
                                        </p:tgtEl>
                                      </p:cBhvr>
                                    </p:animEffect>
                                  </p:childTnLst>
                                </p:cTn>
                              </p:par>
                              <p:par>
                                <p:cTn id="97" presetID="10" presetClass="entr" presetSubtype="0" fill="hold" grpId="0" nodeType="withEffect">
                                  <p:stCondLst>
                                    <p:cond delay="140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500"/>
                                        <p:tgtEl>
                                          <p:spTgt spid="21"/>
                                        </p:tgtEl>
                                      </p:cBhvr>
                                    </p:animEffect>
                                  </p:childTnLst>
                                </p:cTn>
                              </p:par>
                              <p:par>
                                <p:cTn id="100" presetID="10" presetClass="entr" presetSubtype="0" fill="hold" grpId="0" nodeType="withEffect">
                                  <p:stCondLst>
                                    <p:cond delay="16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500"/>
                                        <p:tgtEl>
                                          <p:spTgt spid="22"/>
                                        </p:tgtEl>
                                      </p:cBhvr>
                                    </p:animEffect>
                                  </p:childTnLst>
                                </p:cTn>
                              </p:par>
                              <p:par>
                                <p:cTn id="103" presetID="10" presetClass="entr" presetSubtype="0" fill="hold" grpId="0" nodeType="withEffect">
                                  <p:stCondLst>
                                    <p:cond delay="18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9" grpId="0" animBg="1"/>
      <p:bldP spid="10" grpId="0" animBg="1"/>
      <p:bldP spid="13" grpId="0" animBg="1"/>
      <p:bldP spid="14" grpId="0" animBg="1"/>
      <p:bldP spid="17" grpId="0" animBg="1"/>
      <p:bldP spid="18" grpId="0" animBg="1"/>
      <p:bldP spid="20" grpId="0" animBg="1"/>
      <p:bldP spid="21" grpId="0" animBg="1"/>
      <p:bldP spid="22"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Our solution: one system, five secure roles</a:t>
            </a:r>
            <a:endParaRPr lang="en-US" sz="3200" dirty="0"/>
          </a:p>
        </p:txBody>
      </p:sp>
      <p:sp>
        <p:nvSpPr>
          <p:cNvPr id="3" name="a-up-rc0"/>
          <p:cNvSpPr/>
          <p:nvPr/>
        </p:nvSpPr>
        <p:spPr>
          <a:xfrm>
            <a:off x="548640"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ri0"/>
          <p:cNvSpPr/>
          <p:nvPr/>
        </p:nvSpPr>
        <p:spPr>
          <a:xfrm>
            <a:off x="1143000" y="1828800"/>
            <a:ext cx="868680" cy="868680"/>
          </a:xfrm>
          <a:prstGeom prst="ellipse">
            <a:avLst/>
          </a:prstGeom>
          <a:solidFill>
            <a:schemeClr val="accent1"/>
          </a:solidFill>
          <a:ln/>
        </p:spPr>
      </p:sp>
      <p:pic>
        <p:nvPicPr>
          <p:cNvPr id="5" name="a-up-w-w-ri0-i" descr="/tmp/claude-0/-home-user-done/4a4296a4-6fd8-5cee-98c2-5de0aee80c99/scratchpad/docs/img/icons/user-w.png">    </p:cNvPr>
          <p:cNvPicPr>
            <a:picLocks noChangeAspect="1"/>
          </p:cNvPicPr>
          <p:nvPr/>
        </p:nvPicPr>
        <p:blipFill>
          <a:blip r:embed="rId1"/>
          <a:stretch>
            <a:fillRect/>
          </a:stretch>
        </p:blipFill>
        <p:spPr>
          <a:xfrm>
            <a:off x="1360170" y="2045970"/>
            <a:ext cx="434340" cy="434340"/>
          </a:xfrm>
          <a:prstGeom prst="rect">
            <a:avLst/>
          </a:prstGeom>
        </p:spPr>
      </p:pic>
      <p:sp>
        <p:nvSpPr>
          <p:cNvPr id="6" name="a-up-w-rt0"/>
          <p:cNvSpPr txBox="1"/>
          <p:nvPr/>
        </p:nvSpPr>
        <p:spPr>
          <a:xfrm>
            <a:off x="731520"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Admin</a:t>
            </a:r>
            <a:endParaRPr lang="en-US" sz="1900" dirty="0"/>
          </a:p>
        </p:txBody>
      </p:sp>
      <p:sp>
        <p:nvSpPr>
          <p:cNvPr id="7" name="a-up-w-rd0"/>
          <p:cNvSpPr txBox="1"/>
          <p:nvPr/>
        </p:nvSpPr>
        <p:spPr>
          <a:xfrm>
            <a:off x="731520"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Cities, shops, employees, plans, stock, vendors, reports</a:t>
            </a:r>
            <a:endParaRPr lang="en-US" sz="1300" dirty="0"/>
          </a:p>
        </p:txBody>
      </p:sp>
      <p:sp>
        <p:nvSpPr>
          <p:cNvPr id="8" name="a-up-rc1"/>
          <p:cNvSpPr/>
          <p:nvPr/>
        </p:nvSpPr>
        <p:spPr>
          <a:xfrm>
            <a:off x="2816352"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ri1"/>
          <p:cNvSpPr/>
          <p:nvPr/>
        </p:nvSpPr>
        <p:spPr>
          <a:xfrm>
            <a:off x="3410712" y="1828800"/>
            <a:ext cx="868680" cy="868680"/>
          </a:xfrm>
          <a:prstGeom prst="ellipse">
            <a:avLst/>
          </a:prstGeom>
          <a:solidFill>
            <a:schemeClr val="accent2"/>
          </a:solidFill>
          <a:ln/>
        </p:spPr>
      </p:sp>
      <p:pic>
        <p:nvPicPr>
          <p:cNvPr id="10" name="a-up-w-w-ri1-i" descr="/tmp/claude-0/-home-user-done/4a4296a4-6fd8-5cee-98c2-5de0aee80c99/scratchpad/docs/img/icons/store-w.png">    </p:cNvPr>
          <p:cNvPicPr>
            <a:picLocks noChangeAspect="1"/>
          </p:cNvPicPr>
          <p:nvPr/>
        </p:nvPicPr>
        <p:blipFill>
          <a:blip r:embed="rId2"/>
          <a:stretch>
            <a:fillRect/>
          </a:stretch>
        </p:blipFill>
        <p:spPr>
          <a:xfrm>
            <a:off x="3627882" y="2045970"/>
            <a:ext cx="434340" cy="434340"/>
          </a:xfrm>
          <a:prstGeom prst="rect">
            <a:avLst/>
          </a:prstGeom>
        </p:spPr>
      </p:pic>
      <p:sp>
        <p:nvSpPr>
          <p:cNvPr id="11" name="a-up-w-rt1"/>
          <p:cNvSpPr txBox="1"/>
          <p:nvPr/>
        </p:nvSpPr>
        <p:spPr>
          <a:xfrm>
            <a:off x="2999232"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Retail staff</a:t>
            </a:r>
            <a:endParaRPr lang="en-US" sz="1900" dirty="0"/>
          </a:p>
        </p:txBody>
      </p:sp>
      <p:sp>
        <p:nvSpPr>
          <p:cNvPr id="12" name="a-up-w-rd1"/>
          <p:cNvSpPr txBox="1"/>
          <p:nvPr/>
        </p:nvSpPr>
        <p:spPr>
          <a:xfrm>
            <a:off x="2999232"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Register customers, place orders, collect payments</a:t>
            </a:r>
            <a:endParaRPr lang="en-US" sz="1300" dirty="0"/>
          </a:p>
        </p:txBody>
      </p:sp>
      <p:sp>
        <p:nvSpPr>
          <p:cNvPr id="13" name="a-up-rc2"/>
          <p:cNvSpPr/>
          <p:nvPr/>
        </p:nvSpPr>
        <p:spPr>
          <a:xfrm>
            <a:off x="5084064"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ri2"/>
          <p:cNvSpPr/>
          <p:nvPr/>
        </p:nvSpPr>
        <p:spPr>
          <a:xfrm>
            <a:off x="5678424" y="1828800"/>
            <a:ext cx="868680" cy="868680"/>
          </a:xfrm>
          <a:prstGeom prst="ellipse">
            <a:avLst/>
          </a:prstGeom>
          <a:solidFill>
            <a:schemeClr val="accent1"/>
          </a:solidFill>
          <a:ln/>
        </p:spPr>
      </p:sp>
      <p:pic>
        <p:nvPicPr>
          <p:cNvPr id="15" name="a-up-w-w-ri2-i" descr="/tmp/claude-0/-home-user-done/4a4296a4-6fd8-5cee-98c2-5de0aee80c99/scratchpad/docs/img/icons/tools-w.png">    </p:cNvPr>
          <p:cNvPicPr>
            <a:picLocks noChangeAspect="1"/>
          </p:cNvPicPr>
          <p:nvPr/>
        </p:nvPicPr>
        <p:blipFill>
          <a:blip r:embed="rId3"/>
          <a:stretch>
            <a:fillRect/>
          </a:stretch>
        </p:blipFill>
        <p:spPr>
          <a:xfrm>
            <a:off x="5895594" y="2045970"/>
            <a:ext cx="434340" cy="434340"/>
          </a:xfrm>
          <a:prstGeom prst="rect">
            <a:avLst/>
          </a:prstGeom>
        </p:spPr>
      </p:pic>
      <p:sp>
        <p:nvSpPr>
          <p:cNvPr id="16" name="a-up-w-rt2"/>
          <p:cNvSpPr txBox="1"/>
          <p:nvPr/>
        </p:nvSpPr>
        <p:spPr>
          <a:xfrm>
            <a:off x="5266944"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Technical</a:t>
            </a:r>
            <a:endParaRPr lang="en-US" sz="1900" dirty="0"/>
          </a:p>
        </p:txBody>
      </p:sp>
      <p:sp>
        <p:nvSpPr>
          <p:cNvPr id="17" name="a-up-w-rd2"/>
          <p:cNvSpPr txBox="1"/>
          <p:nvPr/>
        </p:nvSpPr>
        <p:spPr>
          <a:xfrm>
            <a:off x="5266944"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Feasibility, connections, suspend and reactivate</a:t>
            </a:r>
            <a:endParaRPr lang="en-US" sz="1300" dirty="0"/>
          </a:p>
        </p:txBody>
      </p:sp>
      <p:sp>
        <p:nvSpPr>
          <p:cNvPr id="18" name="a-up-rc3"/>
          <p:cNvSpPr/>
          <p:nvPr/>
        </p:nvSpPr>
        <p:spPr>
          <a:xfrm>
            <a:off x="7351776"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ri3"/>
          <p:cNvSpPr/>
          <p:nvPr/>
        </p:nvSpPr>
        <p:spPr>
          <a:xfrm>
            <a:off x="7946136" y="1828800"/>
            <a:ext cx="868680" cy="868680"/>
          </a:xfrm>
          <a:prstGeom prst="ellipse">
            <a:avLst/>
          </a:prstGeom>
          <a:solidFill>
            <a:schemeClr val="accent2"/>
          </a:solidFill>
          <a:ln/>
        </p:spPr>
      </p:sp>
      <p:pic>
        <p:nvPicPr>
          <p:cNvPr id="20" name="a-up-w-w-ri3-i" descr="/tmp/claude-0/-home-user-done/4a4296a4-6fd8-5cee-98c2-5de0aee80c99/scratchpad/docs/img/icons/calc-w.png">    </p:cNvPr>
          <p:cNvPicPr>
            <a:picLocks noChangeAspect="1"/>
          </p:cNvPicPr>
          <p:nvPr/>
        </p:nvPicPr>
        <p:blipFill>
          <a:blip r:embed="rId4"/>
          <a:stretch>
            <a:fillRect/>
          </a:stretch>
        </p:blipFill>
        <p:spPr>
          <a:xfrm>
            <a:off x="8163306" y="2045970"/>
            <a:ext cx="434340" cy="434340"/>
          </a:xfrm>
          <a:prstGeom prst="rect">
            <a:avLst/>
          </a:prstGeom>
        </p:spPr>
      </p:pic>
      <p:sp>
        <p:nvSpPr>
          <p:cNvPr id="21" name="a-up-w-rt3"/>
          <p:cNvSpPr txBox="1"/>
          <p:nvPr/>
        </p:nvSpPr>
        <p:spPr>
          <a:xfrm>
            <a:off x="7534656"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Accounts</a:t>
            </a:r>
            <a:endParaRPr lang="en-US" sz="1900" dirty="0"/>
          </a:p>
        </p:txBody>
      </p:sp>
      <p:sp>
        <p:nvSpPr>
          <p:cNvPr id="22" name="a-up-w-rd3"/>
          <p:cNvSpPr txBox="1"/>
          <p:nvPr/>
        </p:nvSpPr>
        <p:spPr>
          <a:xfrm>
            <a:off x="7534656"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Generate postpaid bills, record office payments</a:t>
            </a:r>
            <a:endParaRPr lang="en-US" sz="1300" dirty="0"/>
          </a:p>
        </p:txBody>
      </p:sp>
      <p:sp>
        <p:nvSpPr>
          <p:cNvPr id="23" name="a-up-rc4"/>
          <p:cNvSpPr/>
          <p:nvPr/>
        </p:nvSpPr>
        <p:spPr>
          <a:xfrm>
            <a:off x="9619488"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ri4"/>
          <p:cNvSpPr/>
          <p:nvPr/>
        </p:nvSpPr>
        <p:spPr>
          <a:xfrm>
            <a:off x="10213848" y="1828800"/>
            <a:ext cx="868680" cy="868680"/>
          </a:xfrm>
          <a:prstGeom prst="ellipse">
            <a:avLst/>
          </a:prstGeom>
          <a:solidFill>
            <a:schemeClr val="accent1"/>
          </a:solidFill>
          <a:ln/>
        </p:spPr>
      </p:sp>
      <p:pic>
        <p:nvPicPr>
          <p:cNvPr id="25" name="a-up-w-w-ri4-i" descr="/tmp/claude-0/-home-user-done/4a4296a4-6fd8-5cee-98c2-5de0aee80c99/scratchpad/docs/img/icons/customer-w.png">    </p:cNvPr>
          <p:cNvPicPr>
            <a:picLocks noChangeAspect="1"/>
          </p:cNvPicPr>
          <p:nvPr/>
        </p:nvPicPr>
        <p:blipFill>
          <a:blip r:embed="rId5"/>
          <a:stretch>
            <a:fillRect/>
          </a:stretch>
        </p:blipFill>
        <p:spPr>
          <a:xfrm>
            <a:off x="10431018" y="2045970"/>
            <a:ext cx="434340" cy="434340"/>
          </a:xfrm>
          <a:prstGeom prst="rect">
            <a:avLst/>
          </a:prstGeom>
        </p:spPr>
      </p:pic>
      <p:sp>
        <p:nvSpPr>
          <p:cNvPr id="26" name="a-up-w-rt4"/>
          <p:cNvSpPr txBox="1"/>
          <p:nvPr/>
        </p:nvSpPr>
        <p:spPr>
          <a:xfrm>
            <a:off x="9802368"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Customer</a:t>
            </a:r>
            <a:endParaRPr lang="en-US" sz="1900" dirty="0"/>
          </a:p>
        </p:txBody>
      </p:sp>
      <p:sp>
        <p:nvSpPr>
          <p:cNvPr id="27" name="a-up-w-rd4"/>
          <p:cNvSpPr txBox="1"/>
          <p:nvPr/>
        </p:nvSpPr>
        <p:spPr>
          <a:xfrm>
            <a:off x="9802368"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Orders, bills, dues, documents and feedback</a:t>
            </a:r>
            <a:endParaRPr lang="en-US" sz="1300" dirty="0"/>
          </a:p>
        </p:txBody>
      </p:sp>
      <p:sp>
        <p:nvSpPr>
          <p:cNvPr id="28" name="a-fade-pub"/>
          <p:cNvSpPr/>
          <p:nvPr/>
        </p:nvSpPr>
        <p:spPr>
          <a:xfrm>
            <a:off x="548640" y="5120640"/>
            <a:ext cx="11064240" cy="868680"/>
          </a:xfrm>
          <a:prstGeom prst="roundRect">
            <a:avLst>
              <a:gd name="adj" fmla="val 12632"/>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29" name="a-fade-w-pubi" descr="/tmp/claude-0/-home-user-done/4a4296a4-6fd8-5cee-98c2-5de0aee80c99/scratchpad/docs/img/icons/globe-b.png">    </p:cNvPr>
          <p:cNvPicPr>
            <a:picLocks noChangeAspect="1"/>
          </p:cNvPicPr>
          <p:nvPr/>
        </p:nvPicPr>
        <p:blipFill>
          <a:blip r:embed="rId6"/>
          <a:stretch>
            <a:fillRect/>
          </a:stretch>
        </p:blipFill>
        <p:spPr>
          <a:xfrm>
            <a:off x="868680" y="5349240"/>
            <a:ext cx="411480" cy="411480"/>
          </a:xfrm>
          <a:prstGeom prst="rect">
            <a:avLst/>
          </a:prstGeom>
        </p:spPr>
      </p:pic>
      <p:sp>
        <p:nvSpPr>
          <p:cNvPr id="30" name="a-fade-w-pubt"/>
          <p:cNvSpPr txBox="1"/>
          <p:nvPr/>
        </p:nvSpPr>
        <p:spPr>
          <a:xfrm>
            <a:off x="1508760" y="5285232"/>
            <a:ext cx="9875520" cy="548640"/>
          </a:xfrm>
          <a:prstGeom prst="rect">
            <a:avLst/>
          </a:prstGeom>
          <a:noFill/>
          <a:ln/>
        </p:spPr>
        <p:txBody>
          <a:bodyPr wrap="square" lIns="0" tIns="0" rIns="0" bIns="0" rtlCol="0" anchor="ctr"/>
          <a:lstStyle/>
          <a:p>
            <a:pPr indent="0" marL="0">
              <a:buNone/>
            </a:pPr>
            <a:r>
              <a:rPr lang="en-US" sz="1500" b="1" dirty="0">
                <a:solidFill>
                  <a:schemeClr val="tx2"/>
                </a:solidFill>
              </a:rPr>
              <a:t>Public visitors </a:t>
            </a:r>
            <a:pPr indent="0" marL="0">
              <a:buNone/>
            </a:pPr>
            <a:r>
              <a:rPr lang="en-US" sz="1500" dirty="0">
                <a:solidFill>
                  <a:schemeClr val="accent6"/>
                </a:solidFill>
              </a:rPr>
              <a:t>see plans and prices and track any order number or account ID - amounts appear only after signing in.</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4" presetID="10"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500"/>
                                        <p:tgtEl>
                                          <p:spTgt spid="28"/>
                                        </p:tgtEl>
                                      </p:cBhvr>
                                    </p:animEffect>
                                  </p:childTnLst>
                                </p:cTn>
                              </p:par>
                              <p:par>
                                <p:cTn id="137" presetID="10" presetClass="entr" presetSubtype="0" fill="hold" grpId="0" nodeType="withEffect">
                                  <p:stCondLst>
                                    <p:cond delay="1200"/>
                                  </p:stCondLst>
                                  <p:childTnLst>
                                    <p:set>
                                      <p:cBhvr>
                                        <p:cTn id="135" dur="1" fill="hold">
                                          <p:stCondLst>
                                            <p:cond delay="0"/>
                                          </p:stCondLst>
                                        </p:cTn>
                                        <p:tgtEl>
                                          <p:spTgt spid="29"/>
                                        </p:tgtEl>
                                        <p:attrNameLst>
                                          <p:attrName>style.visibility</p:attrName>
                                        </p:attrNameLst>
                                      </p:cBhvr>
                                      <p:to>
                                        <p:strVal val="visible"/>
                                      </p:to>
                                    </p:set>
                                    <p:animEffect transition="in" filter="fade">
                                      <p:cBhvr>
                                        <p:cTn id="136" dur="500"/>
                                        <p:tgtEl>
                                          <p:spTgt spid="29"/>
                                        </p:tgtEl>
                                      </p:cBhvr>
                                    </p:animEffect>
                                  </p:childTnLst>
                                </p:cTn>
                              </p:par>
                              <p:par>
                                <p:cTn id="140" presetID="10" presetClass="entr" presetSubtype="0" fill="hold" grpId="0" nodeType="withEffect">
                                  <p:stCondLst>
                                    <p:cond delay="1200"/>
                                  </p:stCondLst>
                                  <p:childTnLst>
                                    <p:set>
                                      <p:cBhvr>
                                        <p:cTn id="138" dur="1" fill="hold">
                                          <p:stCondLst>
                                            <p:cond delay="0"/>
                                          </p:stCondLst>
                                        </p:cTn>
                                        <p:tgtEl>
                                          <p:spTgt spid="30"/>
                                        </p:tgtEl>
                                        <p:attrNameLst>
                                          <p:attrName>style.visibility</p:attrName>
                                        </p:attrNameLst>
                                      </p:cBhvr>
                                      <p:to>
                                        <p:strVal val="visible"/>
                                      </p:to>
                                    </p:set>
                                    <p:animEffect transition="in" filter="fade">
                                      <p:cBhvr>
                                        <p:cTn id="139" dur="500"/>
                                        <p:tgtEl>
                                          <p:spTgt spid="30"/>
                                        </p:tgtEl>
                                      </p:cBhvr>
                                    </p:animEffect>
                                  </p:childTnLst>
                                </p:cTn>
                              </p:par>
                              <p:par>
                                <p:cTn id="143" presetID="10" presetClass="entr" presetSubtype="0" fill="hold" grpId="0" nodeType="withEffect">
                                  <p:stCondLst>
                                    <p:cond delay="1400"/>
                                  </p:stCondLst>
                                  <p:childTnLst>
                                    <p:set>
                                      <p:cBhvr>
                                        <p:cTn id="141" dur="1" fill="hold">
                                          <p:stCondLst>
                                            <p:cond delay="0"/>
                                          </p:stCondLst>
                                        </p:cTn>
                                        <p:tgtEl>
                                          <p:spTgt spid="25"/>
                                        </p:tgtEl>
                                        <p:attrNameLst>
                                          <p:attrName>style.visibility</p:attrName>
                                        </p:attrNameLst>
                                      </p:cBhvr>
                                      <p:to>
                                        <p:strVal val="visible"/>
                                      </p:to>
                                    </p:set>
                                    <p:animEffect transition="in" filter="fade">
                                      <p:cBhvr>
                                        <p:cTn id="1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0" grpId="0" animBg="1"/>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Architecture: layered and rule-driven</a:t>
            </a:r>
            <a:endParaRPr lang="en-US" sz="3200" dirty="0"/>
          </a:p>
        </p:txBody>
      </p:sp>
      <p:sp>
        <p:nvSpPr>
          <p:cNvPr id="3" name="a-zoom-arch"/>
          <p:cNvSpPr/>
          <p:nvPr/>
        </p:nvSpPr>
        <p:spPr>
          <a:xfrm>
            <a:off x="493776" y="1362456"/>
            <a:ext cx="7059168" cy="2414016"/>
          </a:xfrm>
          <a:prstGeom prst="roundRect">
            <a:avLst>
              <a:gd name="adj" fmla="val 303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arch-img" descr="/tmp/claude-0/-home-user-done/4a4296a4-6fd8-5cee-98c2-5de0aee80c99/scratchpad/docs/img/architecture.png">    </p:cNvPr>
          <p:cNvPicPr>
            <a:picLocks noChangeAspect="1"/>
          </p:cNvPicPr>
          <p:nvPr/>
        </p:nvPicPr>
        <p:blipFill>
          <a:blip r:embed="rId1"/>
          <a:stretch>
            <a:fillRect/>
          </a:stretch>
        </p:blipFill>
        <p:spPr>
          <a:xfrm>
            <a:off x="548640" y="1417320"/>
            <a:ext cx="6949440" cy="2304288"/>
          </a:xfrm>
          <a:prstGeom prst="rect">
            <a:avLst/>
          </a:prstGeom>
        </p:spPr>
      </p:pic>
      <p:sp>
        <p:nvSpPr>
          <p:cNvPr id="5" name="a-right-ai0"/>
          <p:cNvSpPr/>
          <p:nvPr/>
        </p:nvSpPr>
        <p:spPr>
          <a:xfrm>
            <a:off x="7863840" y="1417320"/>
            <a:ext cx="685800" cy="685800"/>
          </a:xfrm>
          <a:prstGeom prst="ellipse">
            <a:avLst/>
          </a:prstGeom>
          <a:solidFill>
            <a:schemeClr val="accent1"/>
          </a:solidFill>
          <a:ln/>
        </p:spPr>
      </p:sp>
      <p:pic>
        <p:nvPicPr>
          <p:cNvPr id="6" name="a-right-w-ai0-i" descr="/tmp/claude-0/-home-user-done/4a4296a4-6fd8-5cee-98c2-5de0aee80c99/scratchpad/docs/img/icons/shield-w.png">    </p:cNvPr>
          <p:cNvPicPr>
            <a:picLocks noChangeAspect="1"/>
          </p:cNvPicPr>
          <p:nvPr/>
        </p:nvPicPr>
        <p:blipFill>
          <a:blip r:embed="rId2"/>
          <a:stretch>
            <a:fillRect/>
          </a:stretch>
        </p:blipFill>
        <p:spPr>
          <a:xfrm>
            <a:off x="8035290" y="1588770"/>
            <a:ext cx="342900" cy="342900"/>
          </a:xfrm>
          <a:prstGeom prst="rect">
            <a:avLst/>
          </a:prstGeom>
        </p:spPr>
      </p:pic>
      <p:sp>
        <p:nvSpPr>
          <p:cNvPr id="7" name="a-right-w-at0"/>
          <p:cNvSpPr txBox="1"/>
          <p:nvPr/>
        </p:nvSpPr>
        <p:spPr>
          <a:xfrm>
            <a:off x="8686800" y="1399032"/>
            <a:ext cx="2953512" cy="365760"/>
          </a:xfrm>
          <a:prstGeom prst="rect">
            <a:avLst/>
          </a:prstGeom>
          <a:noFill/>
          <a:ln/>
        </p:spPr>
        <p:txBody>
          <a:bodyPr wrap="square" lIns="0" tIns="0" rIns="0" bIns="0" rtlCol="0" anchor="t"/>
          <a:lstStyle/>
          <a:p>
            <a:pPr indent="0" marL="0">
              <a:buNone/>
            </a:pPr>
            <a:r>
              <a:rPr lang="en-US" sz="1700" b="1" dirty="0">
                <a:solidFill>
                  <a:schemeClr val="tx2"/>
                </a:solidFill>
              </a:rPr>
              <a:t>Role areas</a:t>
            </a:r>
            <a:endParaRPr lang="en-US" sz="1700" dirty="0"/>
          </a:p>
        </p:txBody>
      </p:sp>
      <p:sp>
        <p:nvSpPr>
          <p:cNvPr id="8" name="a-right-w-ad0"/>
          <p:cNvSpPr txBox="1"/>
          <p:nvPr/>
        </p:nvSpPr>
        <p:spPr>
          <a:xfrm>
            <a:off x="8686800" y="180136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Cookie login and role authorization on every controller.</a:t>
            </a:r>
            <a:endParaRPr lang="en-US" sz="1300" dirty="0"/>
          </a:p>
        </p:txBody>
      </p:sp>
      <p:sp>
        <p:nvSpPr>
          <p:cNvPr id="9" name="a-right-ai1"/>
          <p:cNvSpPr/>
          <p:nvPr/>
        </p:nvSpPr>
        <p:spPr>
          <a:xfrm>
            <a:off x="7863840" y="2880360"/>
            <a:ext cx="685800" cy="685800"/>
          </a:xfrm>
          <a:prstGeom prst="ellipse">
            <a:avLst/>
          </a:prstGeom>
          <a:solidFill>
            <a:schemeClr val="accent1"/>
          </a:solidFill>
          <a:ln/>
        </p:spPr>
      </p:sp>
      <p:pic>
        <p:nvPicPr>
          <p:cNvPr id="10" name="a-right-w-ai1-i" descr="/tmp/claude-0/-home-user-done/4a4296a4-6fd8-5cee-98c2-5de0aee80c99/scratchpad/docs/img/icons/layers-w.png">    </p:cNvPr>
          <p:cNvPicPr>
            <a:picLocks noChangeAspect="1"/>
          </p:cNvPicPr>
          <p:nvPr/>
        </p:nvPicPr>
        <p:blipFill>
          <a:blip r:embed="rId3"/>
          <a:stretch>
            <a:fillRect/>
          </a:stretch>
        </p:blipFill>
        <p:spPr>
          <a:xfrm>
            <a:off x="8035290" y="3051810"/>
            <a:ext cx="342900" cy="342900"/>
          </a:xfrm>
          <a:prstGeom prst="rect">
            <a:avLst/>
          </a:prstGeom>
        </p:spPr>
      </p:pic>
      <p:sp>
        <p:nvSpPr>
          <p:cNvPr id="11" name="a-right-w-at1"/>
          <p:cNvSpPr txBox="1"/>
          <p:nvPr/>
        </p:nvSpPr>
        <p:spPr>
          <a:xfrm>
            <a:off x="8686800" y="2862072"/>
            <a:ext cx="2953512" cy="365760"/>
          </a:xfrm>
          <a:prstGeom prst="rect">
            <a:avLst/>
          </a:prstGeom>
          <a:noFill/>
          <a:ln/>
        </p:spPr>
        <p:txBody>
          <a:bodyPr wrap="square" lIns="0" tIns="0" rIns="0" bIns="0" rtlCol="0" anchor="t"/>
          <a:lstStyle/>
          <a:p>
            <a:pPr indent="0" marL="0">
              <a:buNone/>
            </a:pPr>
            <a:r>
              <a:rPr lang="en-US" sz="1700" b="1" dirty="0">
                <a:solidFill>
                  <a:schemeClr val="tx2"/>
                </a:solidFill>
              </a:rPr>
              <a:t>Business services</a:t>
            </a:r>
            <a:endParaRPr lang="en-US" sz="1700" dirty="0"/>
          </a:p>
        </p:txBody>
      </p:sp>
      <p:sp>
        <p:nvSpPr>
          <p:cNvPr id="12" name="a-right-w-ad1"/>
          <p:cNvSpPr txBox="1"/>
          <p:nvPr/>
        </p:nvSpPr>
        <p:spPr>
          <a:xfrm>
            <a:off x="8686800" y="326440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Orders, provisioning and billing rules live in one place.</a:t>
            </a:r>
            <a:endParaRPr lang="en-US" sz="1300" dirty="0"/>
          </a:p>
        </p:txBody>
      </p:sp>
      <p:sp>
        <p:nvSpPr>
          <p:cNvPr id="13" name="a-right-ai2"/>
          <p:cNvSpPr/>
          <p:nvPr/>
        </p:nvSpPr>
        <p:spPr>
          <a:xfrm>
            <a:off x="7863840" y="4343400"/>
            <a:ext cx="685800" cy="685800"/>
          </a:xfrm>
          <a:prstGeom prst="ellipse">
            <a:avLst/>
          </a:prstGeom>
          <a:solidFill>
            <a:schemeClr val="accent1"/>
          </a:solidFill>
          <a:ln/>
        </p:spPr>
      </p:sp>
      <p:pic>
        <p:nvPicPr>
          <p:cNvPr id="14" name="a-right-w-ai2-i" descr="/tmp/claude-0/-home-user-done/4a4296a4-6fd8-5cee-98c2-5de0aee80c99/scratchpad/docs/img/icons/db-w.png">    </p:cNvPr>
          <p:cNvPicPr>
            <a:picLocks noChangeAspect="1"/>
          </p:cNvPicPr>
          <p:nvPr/>
        </p:nvPicPr>
        <p:blipFill>
          <a:blip r:embed="rId4"/>
          <a:stretch>
            <a:fillRect/>
          </a:stretch>
        </p:blipFill>
        <p:spPr>
          <a:xfrm>
            <a:off x="8035290" y="4514850"/>
            <a:ext cx="342900" cy="342900"/>
          </a:xfrm>
          <a:prstGeom prst="rect">
            <a:avLst/>
          </a:prstGeom>
        </p:spPr>
      </p:pic>
      <p:sp>
        <p:nvSpPr>
          <p:cNvPr id="15" name="a-right-w-at2"/>
          <p:cNvSpPr txBox="1"/>
          <p:nvPr/>
        </p:nvSpPr>
        <p:spPr>
          <a:xfrm>
            <a:off x="8686800" y="4325112"/>
            <a:ext cx="2953512" cy="365760"/>
          </a:xfrm>
          <a:prstGeom prst="rect">
            <a:avLst/>
          </a:prstGeom>
          <a:noFill/>
          <a:ln/>
        </p:spPr>
        <p:txBody>
          <a:bodyPr wrap="square" lIns="0" tIns="0" rIns="0" bIns="0" rtlCol="0" anchor="t"/>
          <a:lstStyle/>
          <a:p>
            <a:pPr indent="0" marL="0">
              <a:buNone/>
            </a:pPr>
            <a:r>
              <a:rPr lang="en-US" sz="1700" b="1" dirty="0">
                <a:solidFill>
                  <a:schemeClr val="tx2"/>
                </a:solidFill>
              </a:rPr>
              <a:t>EF Core + SQL Server</a:t>
            </a:r>
            <a:endParaRPr lang="en-US" sz="1700" dirty="0"/>
          </a:p>
        </p:txBody>
      </p:sp>
      <p:sp>
        <p:nvSpPr>
          <p:cNvPr id="16" name="a-right-w-ad2"/>
          <p:cNvSpPr txBox="1"/>
          <p:nvPr/>
        </p:nvSpPr>
        <p:spPr>
          <a:xfrm>
            <a:off x="8686800" y="472744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Migrations, foreign keys and CHECK constraints protect the data.</a:t>
            </a:r>
            <a:endParaRPr lang="en-US" sz="1300" dirty="0"/>
          </a:p>
        </p:txBody>
      </p:sp>
      <p:sp>
        <p:nvSpPr>
          <p:cNvPr id="17" name="a-fade-archnote"/>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400" b="1" dirty="0">
                <a:solidFill>
                  <a:schemeClr val="accent1"/>
                </a:solidFill>
              </a:rPr>
              <a:t>ASP.NET Core 8 MVC  ·  Entity Framework Core 8  ·  SQL Server  ·  Bootstrap 5</a:t>
            </a:r>
            <a:endParaRPr lang="en-US" sz="1400" dirty="0"/>
          </a:p>
        </p:txBody>
      </p:sp>
      <p:sp>
        <p:nvSpPr>
          <p:cNvPr id="18" name="a-fade-archnote2"/>
          <p:cNvSpPr txBox="1"/>
          <p:nvPr/>
        </p:nvSpPr>
        <p:spPr>
          <a:xfrm>
            <a:off x="548640" y="4572000"/>
            <a:ext cx="6949440" cy="1097280"/>
          </a:xfrm>
          <a:prstGeom prst="rect">
            <a:avLst/>
          </a:prstGeom>
          <a:noFill/>
          <a:ln/>
        </p:spPr>
        <p:txBody>
          <a:bodyPr wrap="square" lIns="0" tIns="0" rIns="0" bIns="0" rtlCol="0" anchor="t"/>
          <a:lstStyle/>
          <a:p>
            <a:pPr indent="0" marL="0">
              <a:buNone/>
            </a:pPr>
            <a:r>
              <a:rPr lang="en-US" sz="1400" dirty="0">
                <a:solidFill>
                  <a:schemeClr val="accent6"/>
                </a:solidFill>
              </a:rPr>
              <a:t>Controllers only collect input and show results; every rule (IDs, feasibility, deposits, discounts, tax, payments) is enforced by a service, so all screens behave the same.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2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7" grpId="0" animBg="1"/>
      <p:bldP spid="18"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Database: 19 related tables</a:t>
            </a:r>
            <a:endParaRPr lang="en-US" sz="3200" dirty="0"/>
          </a:p>
        </p:txBody>
      </p:sp>
      <p:sp>
        <p:nvSpPr>
          <p:cNvPr id="3" name="a-zoom-erd"/>
          <p:cNvSpPr/>
          <p:nvPr/>
        </p:nvSpPr>
        <p:spPr>
          <a:xfrm>
            <a:off x="493776" y="1316736"/>
            <a:ext cx="6144768" cy="4864608"/>
          </a:xfrm>
          <a:prstGeom prst="roundRect">
            <a:avLst>
              <a:gd name="adj" fmla="val 150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erd-img" descr="/tmp/claude-0/-home-user-done/4a4296a4-6fd8-5cee-98c2-5de0aee80c99/scratchpad/docs/img/erd.png">    </p:cNvPr>
          <p:cNvPicPr>
            <a:picLocks noChangeAspect="1"/>
          </p:cNvPicPr>
          <p:nvPr/>
        </p:nvPicPr>
        <p:blipFill>
          <a:blip r:embed="rId1"/>
          <a:stretch>
            <a:fillRect/>
          </a:stretch>
        </p:blipFill>
        <p:spPr>
          <a:xfrm>
            <a:off x="548640" y="1371600"/>
            <a:ext cx="6035040" cy="4754880"/>
          </a:xfrm>
          <a:prstGeom prst="rect">
            <a:avLst/>
          </a:prstGeom>
        </p:spPr>
      </p:pic>
      <p:sp>
        <p:nvSpPr>
          <p:cNvPr id="5" name="a-right-st0"/>
          <p:cNvSpPr/>
          <p:nvPr/>
        </p:nvSpPr>
        <p:spPr>
          <a:xfrm>
            <a:off x="7040880" y="1371600"/>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right-w-sn0"/>
          <p:cNvSpPr txBox="1"/>
          <p:nvPr/>
        </p:nvSpPr>
        <p:spPr>
          <a:xfrm>
            <a:off x="7269480" y="1554480"/>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19</a:t>
            </a:r>
            <a:endParaRPr lang="en-US" sz="5000" dirty="0"/>
          </a:p>
        </p:txBody>
      </p:sp>
      <p:sp>
        <p:nvSpPr>
          <p:cNvPr id="7" name="a-right-w-sl0"/>
          <p:cNvSpPr txBox="1"/>
          <p:nvPr/>
        </p:nvSpPr>
        <p:spPr>
          <a:xfrm>
            <a:off x="8915400" y="1645920"/>
            <a:ext cx="2560320" cy="411480"/>
          </a:xfrm>
          <a:prstGeom prst="rect">
            <a:avLst/>
          </a:prstGeom>
          <a:noFill/>
          <a:ln/>
        </p:spPr>
        <p:txBody>
          <a:bodyPr wrap="square" lIns="0" tIns="0" rIns="0" bIns="0" rtlCol="0" anchor="t"/>
          <a:lstStyle/>
          <a:p>
            <a:pPr indent="0" marL="0">
              <a:buNone/>
            </a:pPr>
            <a:r>
              <a:rPr lang="en-US" sz="1900" b="1" dirty="0">
                <a:solidFill>
                  <a:schemeClr val="tx2"/>
                </a:solidFill>
              </a:rPr>
              <a:t>tables</a:t>
            </a:r>
            <a:endParaRPr lang="en-US" sz="1900" dirty="0"/>
          </a:p>
        </p:txBody>
      </p:sp>
      <p:sp>
        <p:nvSpPr>
          <p:cNvPr id="8" name="a-right-w-sd0"/>
          <p:cNvSpPr txBox="1"/>
          <p:nvPr/>
        </p:nvSpPr>
        <p:spPr>
          <a:xfrm>
            <a:off x="8915400" y="2084832"/>
            <a:ext cx="2560320" cy="411480"/>
          </a:xfrm>
          <a:prstGeom prst="rect">
            <a:avLst/>
          </a:prstGeom>
          <a:noFill/>
          <a:ln/>
        </p:spPr>
        <p:txBody>
          <a:bodyPr wrap="square" lIns="0" tIns="0" rIns="0" bIns="0" rtlCol="0" anchor="t"/>
          <a:lstStyle/>
          <a:p>
            <a:pPr indent="0" marL="0">
              <a:buNone/>
            </a:pPr>
            <a:r>
              <a:rPr lang="en-US" sz="1400" dirty="0">
                <a:solidFill>
                  <a:schemeClr val="accent6"/>
                </a:solidFill>
              </a:rPr>
              <a:t>customers to payments</a:t>
            </a:r>
            <a:endParaRPr lang="en-US" sz="1400" dirty="0"/>
          </a:p>
        </p:txBody>
      </p:sp>
      <p:sp>
        <p:nvSpPr>
          <p:cNvPr id="9" name="a-right-st1"/>
          <p:cNvSpPr/>
          <p:nvPr/>
        </p:nvSpPr>
        <p:spPr>
          <a:xfrm>
            <a:off x="7040880" y="2999232"/>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0" name="a-right-w-sn1"/>
          <p:cNvSpPr txBox="1"/>
          <p:nvPr/>
        </p:nvSpPr>
        <p:spPr>
          <a:xfrm>
            <a:off x="7269480" y="3182112"/>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5</a:t>
            </a:r>
            <a:endParaRPr lang="en-US" sz="5000" dirty="0"/>
          </a:p>
        </p:txBody>
      </p:sp>
      <p:sp>
        <p:nvSpPr>
          <p:cNvPr id="11" name="a-right-w-sl1"/>
          <p:cNvSpPr txBox="1"/>
          <p:nvPr/>
        </p:nvSpPr>
        <p:spPr>
          <a:xfrm>
            <a:off x="8915400" y="3273552"/>
            <a:ext cx="2560320" cy="411480"/>
          </a:xfrm>
          <a:prstGeom prst="rect">
            <a:avLst/>
          </a:prstGeom>
          <a:noFill/>
          <a:ln/>
        </p:spPr>
        <p:txBody>
          <a:bodyPr wrap="square" lIns="0" tIns="0" rIns="0" bIns="0" rtlCol="0" anchor="t"/>
          <a:lstStyle/>
          <a:p>
            <a:pPr indent="0" marL="0">
              <a:buNone/>
            </a:pPr>
            <a:r>
              <a:rPr lang="en-US" sz="1900" b="1" dirty="0">
                <a:solidFill>
                  <a:schemeClr val="tx2"/>
                </a:solidFill>
              </a:rPr>
              <a:t>migrations</a:t>
            </a:r>
            <a:endParaRPr lang="en-US" sz="1900" dirty="0"/>
          </a:p>
        </p:txBody>
      </p:sp>
      <p:sp>
        <p:nvSpPr>
          <p:cNvPr id="12" name="a-right-w-sd1"/>
          <p:cNvSpPr txBox="1"/>
          <p:nvPr/>
        </p:nvSpPr>
        <p:spPr>
          <a:xfrm>
            <a:off x="8915400" y="3712464"/>
            <a:ext cx="2560320" cy="411480"/>
          </a:xfrm>
          <a:prstGeom prst="rect">
            <a:avLst/>
          </a:prstGeom>
          <a:noFill/>
          <a:ln/>
        </p:spPr>
        <p:txBody>
          <a:bodyPr wrap="square" lIns="0" tIns="0" rIns="0" bIns="0" rtlCol="0" anchor="t"/>
          <a:lstStyle/>
          <a:p>
            <a:pPr indent="0" marL="0">
              <a:buNone/>
            </a:pPr>
            <a:r>
              <a:rPr lang="en-US" sz="1400" dirty="0">
                <a:solidFill>
                  <a:schemeClr val="accent6"/>
                </a:solidFill>
              </a:rPr>
              <a:t>repeatable schema</a:t>
            </a:r>
            <a:endParaRPr lang="en-US" sz="1400" dirty="0"/>
          </a:p>
        </p:txBody>
      </p:sp>
      <p:sp>
        <p:nvSpPr>
          <p:cNvPr id="13" name="a-right-st2"/>
          <p:cNvSpPr/>
          <p:nvPr/>
        </p:nvSpPr>
        <p:spPr>
          <a:xfrm>
            <a:off x="7040880" y="4626864"/>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right-w-sn2"/>
          <p:cNvSpPr txBox="1"/>
          <p:nvPr/>
        </p:nvSpPr>
        <p:spPr>
          <a:xfrm>
            <a:off x="7269480" y="4809744"/>
            <a:ext cx="1645920" cy="1005840"/>
          </a:xfrm>
          <a:prstGeom prst="rect">
            <a:avLst/>
          </a:prstGeom>
          <a:noFill/>
          <a:ln/>
        </p:spPr>
        <p:txBody>
          <a:bodyPr wrap="square" lIns="0" tIns="0" rIns="0" bIns="0" rtlCol="0" anchor="ctr"/>
          <a:lstStyle/>
          <a:p>
            <a:pPr indent="0" marL="0">
              <a:buNone/>
            </a:pPr>
            <a:r>
              <a:rPr lang="en-US" sz="5000" b="1" dirty="0">
                <a:solidFill>
                  <a:schemeClr val="accent2"/>
                </a:solidFill>
              </a:rPr>
              <a:t>47</a:t>
            </a:r>
            <a:endParaRPr lang="en-US" sz="5000" dirty="0"/>
          </a:p>
        </p:txBody>
      </p:sp>
      <p:sp>
        <p:nvSpPr>
          <p:cNvPr id="15" name="a-right-w-sl2"/>
          <p:cNvSpPr txBox="1"/>
          <p:nvPr/>
        </p:nvSpPr>
        <p:spPr>
          <a:xfrm>
            <a:off x="8915400" y="4901184"/>
            <a:ext cx="2560320" cy="411480"/>
          </a:xfrm>
          <a:prstGeom prst="rect">
            <a:avLst/>
          </a:prstGeom>
          <a:noFill/>
          <a:ln/>
        </p:spPr>
        <p:txBody>
          <a:bodyPr wrap="square" lIns="0" tIns="0" rIns="0" bIns="0" rtlCol="0" anchor="t"/>
          <a:lstStyle/>
          <a:p>
            <a:pPr indent="0" marL="0">
              <a:buNone/>
            </a:pPr>
            <a:r>
              <a:rPr lang="en-US" sz="1900" b="1" dirty="0">
                <a:solidFill>
                  <a:schemeClr val="tx2"/>
                </a:solidFill>
              </a:rPr>
              <a:t>CHECK constraints</a:t>
            </a:r>
            <a:endParaRPr lang="en-US" sz="1900" dirty="0"/>
          </a:p>
        </p:txBody>
      </p:sp>
      <p:sp>
        <p:nvSpPr>
          <p:cNvPr id="16" name="a-right-w-sd2"/>
          <p:cNvSpPr txBox="1"/>
          <p:nvPr/>
        </p:nvSpPr>
        <p:spPr>
          <a:xfrm>
            <a:off x="8915400" y="5340096"/>
            <a:ext cx="2560320" cy="411480"/>
          </a:xfrm>
          <a:prstGeom prst="rect">
            <a:avLst/>
          </a:prstGeom>
          <a:noFill/>
          <a:ln/>
        </p:spPr>
        <p:txBody>
          <a:bodyPr wrap="square" lIns="0" tIns="0" rIns="0" bIns="0" rtlCol="0" anchor="t"/>
          <a:lstStyle/>
          <a:p>
            <a:pPr indent="0" marL="0">
              <a:buNone/>
            </a:pPr>
            <a:r>
              <a:rPr lang="en-US" sz="1400" dirty="0">
                <a:solidFill>
                  <a:schemeClr val="accent6"/>
                </a:solidFill>
              </a:rPr>
              <a:t>bad data cannot be saved</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8" grpId="0" animBg="1"/>
      <p:bldP spid="10" grpId="0" animBg="1"/>
      <p:bldP spid="11" grpId="0" animBg="1"/>
      <p:bldP spid="12" grpId="0" animBg="1"/>
      <p:bldP spid="14" grpId="0" animBg="1"/>
      <p:bldP spid="15" grpId="0" animBg="1"/>
      <p:bldP spid="16"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Smart identifiers, generated safely</a:t>
            </a:r>
            <a:endParaRPr lang="en-US" sz="3200" dirty="0"/>
          </a:p>
        </p:txBody>
      </p:sp>
      <p:sp>
        <p:nvSpPr>
          <p:cNvPr id="3" name="a-fade-oh"/>
          <p:cNvSpPr txBox="1"/>
          <p:nvPr/>
        </p:nvSpPr>
        <p:spPr>
          <a:xfrm>
            <a:off x="548640" y="1325880"/>
            <a:ext cx="7315200" cy="411480"/>
          </a:xfrm>
          <a:prstGeom prst="rect">
            <a:avLst/>
          </a:prstGeom>
          <a:noFill/>
          <a:ln/>
        </p:spPr>
        <p:txBody>
          <a:bodyPr wrap="square" lIns="0" tIns="0" rIns="0" bIns="0" rtlCol="0" anchor="t"/>
          <a:lstStyle/>
          <a:p>
            <a:pPr indent="0" marL="0">
              <a:buNone/>
            </a:pPr>
            <a:r>
              <a:rPr lang="en-US" sz="2000" b="1" dirty="0">
                <a:solidFill>
                  <a:schemeClr val="tx2"/>
                </a:solidFill>
              </a:rPr>
              <a:t>Order number - 11 characters</a:t>
            </a:r>
            <a:endParaRPr lang="en-US" sz="2000" dirty="0"/>
          </a:p>
        </p:txBody>
      </p:sp>
      <p:sp>
        <p:nvSpPr>
          <p:cNvPr id="4" name="a-up-o0"/>
          <p:cNvSpPr/>
          <p:nvPr/>
        </p:nvSpPr>
        <p:spPr>
          <a:xfrm>
            <a:off x="548640" y="1874520"/>
            <a:ext cx="822960" cy="914400"/>
          </a:xfrm>
          <a:prstGeom prst="roundRect">
            <a:avLst>
              <a:gd name="adj" fmla="val 11111"/>
            </a:avLst>
          </a:prstGeom>
          <a:solidFill>
            <a:srgbClr val="059669"/>
          </a:solidFill>
          <a:ln/>
        </p:spPr>
      </p:sp>
      <p:sp>
        <p:nvSpPr>
          <p:cNvPr id="5" name="a-up-w-ot0"/>
          <p:cNvSpPr txBox="1"/>
          <p:nvPr/>
        </p:nvSpPr>
        <p:spPr>
          <a:xfrm>
            <a:off x="548640" y="187452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D</a:t>
            </a:r>
            <a:endParaRPr lang="en-US" sz="3000" dirty="0"/>
          </a:p>
        </p:txBody>
      </p:sp>
      <p:sp>
        <p:nvSpPr>
          <p:cNvPr id="6" name="a-up-w-ol0"/>
          <p:cNvSpPr txBox="1"/>
          <p:nvPr/>
        </p:nvSpPr>
        <p:spPr>
          <a:xfrm>
            <a:off x="548640" y="288036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7" name="a-up-o1"/>
          <p:cNvSpPr/>
          <p:nvPr/>
        </p:nvSpPr>
        <p:spPr>
          <a:xfrm>
            <a:off x="1508760" y="1874520"/>
            <a:ext cx="3840480" cy="914400"/>
          </a:xfrm>
          <a:prstGeom prst="roundRect">
            <a:avLst>
              <a:gd name="adj" fmla="val 10000"/>
            </a:avLst>
          </a:prstGeom>
          <a:solidFill>
            <a:srgbClr val="0369A1"/>
          </a:solidFill>
          <a:ln/>
        </p:spPr>
      </p:sp>
      <p:sp>
        <p:nvSpPr>
          <p:cNvPr id="8" name="a-up-w-ot1"/>
          <p:cNvSpPr txBox="1"/>
          <p:nvPr/>
        </p:nvSpPr>
        <p:spPr>
          <a:xfrm>
            <a:off x="1508760" y="1874520"/>
            <a:ext cx="38404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0000000001</a:t>
            </a:r>
            <a:endParaRPr lang="en-US" sz="3000" dirty="0"/>
          </a:p>
        </p:txBody>
      </p:sp>
      <p:sp>
        <p:nvSpPr>
          <p:cNvPr id="9" name="a-up-w-ol1"/>
          <p:cNvSpPr txBox="1"/>
          <p:nvPr/>
        </p:nvSpPr>
        <p:spPr>
          <a:xfrm>
            <a:off x="1508760" y="2880360"/>
            <a:ext cx="3840480" cy="365760"/>
          </a:xfrm>
          <a:prstGeom prst="rect">
            <a:avLst/>
          </a:prstGeom>
          <a:noFill/>
          <a:ln/>
        </p:spPr>
        <p:txBody>
          <a:bodyPr wrap="square" lIns="0" tIns="0" rIns="0" bIns="0" rtlCol="0" anchor="t"/>
          <a:lstStyle/>
          <a:p>
            <a:pPr algn="ctr" indent="0" marL="0">
              <a:buNone/>
            </a:pPr>
            <a:r>
              <a:rPr lang="en-US" sz="1300" dirty="0">
                <a:solidFill>
                  <a:schemeClr val="accent6"/>
                </a:solidFill>
              </a:rPr>
              <a:t>10-digit serial per type</a:t>
            </a:r>
            <a:endParaRPr lang="en-US" sz="1300" dirty="0"/>
          </a:p>
        </p:txBody>
      </p:sp>
      <p:sp>
        <p:nvSpPr>
          <p:cNvPr id="10" name="a-fade-on"/>
          <p:cNvSpPr txBox="1"/>
          <p:nvPr/>
        </p:nvSpPr>
        <p:spPr>
          <a:xfrm>
            <a:off x="5715000" y="1874520"/>
            <a:ext cx="5897880" cy="1005840"/>
          </a:xfrm>
          <a:prstGeom prst="rect">
            <a:avLst/>
          </a:prstGeom>
          <a:noFill/>
          <a:ln/>
        </p:spPr>
        <p:txBody>
          <a:bodyPr wrap="square" lIns="0" tIns="0" rIns="0" bIns="0" rtlCol="0" anchor="ctr"/>
          <a:lstStyle/>
          <a:p>
            <a:pPr indent="0" marL="0">
              <a:buNone/>
            </a:pPr>
            <a:r>
              <a:rPr lang="en-US" sz="1400" dirty="0">
                <a:solidFill>
                  <a:schemeClr val="accent6"/>
                </a:solidFill>
              </a:rPr>
              <a:t>D = Dial-Up, B = Broadband, T = Telephone</a:t>
            </a:r>
            <a:endParaRPr lang="en-US" sz="1400" dirty="0"/>
          </a:p>
        </p:txBody>
      </p:sp>
      <p:sp>
        <p:nvSpPr>
          <p:cNvPr id="11" name="a-fade-ch"/>
          <p:cNvSpPr txBox="1"/>
          <p:nvPr/>
        </p:nvSpPr>
        <p:spPr>
          <a:xfrm>
            <a:off x="548640" y="3657600"/>
            <a:ext cx="7315200" cy="411480"/>
          </a:xfrm>
          <a:prstGeom prst="rect">
            <a:avLst/>
          </a:prstGeom>
          <a:noFill/>
          <a:ln/>
        </p:spPr>
        <p:txBody>
          <a:bodyPr wrap="square" lIns="0" tIns="0" rIns="0" bIns="0" rtlCol="0" anchor="t"/>
          <a:lstStyle/>
          <a:p>
            <a:pPr indent="0" marL="0">
              <a:buNone/>
            </a:pPr>
            <a:r>
              <a:rPr lang="en-US" sz="2000" b="1" dirty="0">
                <a:solidFill>
                  <a:schemeClr val="tx2"/>
                </a:solidFill>
              </a:rPr>
              <a:t>Account ID - 16 characters</a:t>
            </a:r>
            <a:endParaRPr lang="en-US" sz="2000" dirty="0"/>
          </a:p>
        </p:txBody>
      </p:sp>
      <p:sp>
        <p:nvSpPr>
          <p:cNvPr id="12" name="a-up-c0"/>
          <p:cNvSpPr/>
          <p:nvPr/>
        </p:nvSpPr>
        <p:spPr>
          <a:xfrm>
            <a:off x="548640" y="4206240"/>
            <a:ext cx="822960" cy="914400"/>
          </a:xfrm>
          <a:prstGeom prst="roundRect">
            <a:avLst>
              <a:gd name="adj" fmla="val 11111"/>
            </a:avLst>
          </a:prstGeom>
          <a:solidFill>
            <a:srgbClr val="059669"/>
          </a:solidFill>
          <a:ln/>
        </p:spPr>
      </p:sp>
      <p:sp>
        <p:nvSpPr>
          <p:cNvPr id="13" name="a-up-w-ct0"/>
          <p:cNvSpPr txBox="1"/>
          <p:nvPr/>
        </p:nvSpPr>
        <p:spPr>
          <a:xfrm>
            <a:off x="548640" y="420624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B</a:t>
            </a:r>
            <a:endParaRPr lang="en-US" sz="3000" dirty="0"/>
          </a:p>
        </p:txBody>
      </p:sp>
      <p:sp>
        <p:nvSpPr>
          <p:cNvPr id="14" name="a-up-w-cl0"/>
          <p:cNvSpPr txBox="1"/>
          <p:nvPr/>
        </p:nvSpPr>
        <p:spPr>
          <a:xfrm>
            <a:off x="548640" y="521208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15" name="a-up-c1"/>
          <p:cNvSpPr/>
          <p:nvPr/>
        </p:nvSpPr>
        <p:spPr>
          <a:xfrm>
            <a:off x="1508760" y="4206240"/>
            <a:ext cx="1463040" cy="914400"/>
          </a:xfrm>
          <a:prstGeom prst="roundRect">
            <a:avLst>
              <a:gd name="adj" fmla="val 10000"/>
            </a:avLst>
          </a:prstGeom>
          <a:solidFill>
            <a:srgbClr val="0EA5E9"/>
          </a:solidFill>
          <a:ln/>
        </p:spPr>
      </p:sp>
      <p:sp>
        <p:nvSpPr>
          <p:cNvPr id="16" name="a-up-w-ct1"/>
          <p:cNvSpPr txBox="1"/>
          <p:nvPr/>
        </p:nvSpPr>
        <p:spPr>
          <a:xfrm>
            <a:off x="1508760" y="4206240"/>
            <a:ext cx="146304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001</a:t>
            </a:r>
            <a:endParaRPr lang="en-US" sz="3000" dirty="0"/>
          </a:p>
        </p:txBody>
      </p:sp>
      <p:sp>
        <p:nvSpPr>
          <p:cNvPr id="17" name="a-up-w-cl1"/>
          <p:cNvSpPr txBox="1"/>
          <p:nvPr/>
        </p:nvSpPr>
        <p:spPr>
          <a:xfrm>
            <a:off x="1508760" y="5212080"/>
            <a:ext cx="1463040" cy="365760"/>
          </a:xfrm>
          <a:prstGeom prst="rect">
            <a:avLst/>
          </a:prstGeom>
          <a:noFill/>
          <a:ln/>
        </p:spPr>
        <p:txBody>
          <a:bodyPr wrap="square" lIns="0" tIns="0" rIns="0" bIns="0" rtlCol="0" anchor="t"/>
          <a:lstStyle/>
          <a:p>
            <a:pPr algn="ctr" indent="0" marL="0">
              <a:buNone/>
            </a:pPr>
            <a:r>
              <a:rPr lang="en-US" sz="1300" dirty="0">
                <a:solidFill>
                  <a:schemeClr val="accent6"/>
                </a:solidFill>
              </a:rPr>
              <a:t>city code</a:t>
            </a:r>
            <a:endParaRPr lang="en-US" sz="1300" dirty="0"/>
          </a:p>
        </p:txBody>
      </p:sp>
      <p:sp>
        <p:nvSpPr>
          <p:cNvPr id="18" name="a-up-c2"/>
          <p:cNvSpPr/>
          <p:nvPr/>
        </p:nvSpPr>
        <p:spPr>
          <a:xfrm>
            <a:off x="3108960" y="4206240"/>
            <a:ext cx="4480560" cy="914400"/>
          </a:xfrm>
          <a:prstGeom prst="roundRect">
            <a:avLst>
              <a:gd name="adj" fmla="val 10000"/>
            </a:avLst>
          </a:prstGeom>
          <a:solidFill>
            <a:srgbClr val="0369A1"/>
          </a:solidFill>
          <a:ln/>
        </p:spPr>
      </p:sp>
      <p:sp>
        <p:nvSpPr>
          <p:cNvPr id="19" name="a-up-w-ct2"/>
          <p:cNvSpPr txBox="1"/>
          <p:nvPr/>
        </p:nvSpPr>
        <p:spPr>
          <a:xfrm>
            <a:off x="3108960" y="4206240"/>
            <a:ext cx="44805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000000000001</a:t>
            </a:r>
            <a:endParaRPr lang="en-US" sz="3000" dirty="0"/>
          </a:p>
        </p:txBody>
      </p:sp>
      <p:sp>
        <p:nvSpPr>
          <p:cNvPr id="20" name="a-up-w-cl2"/>
          <p:cNvSpPr txBox="1"/>
          <p:nvPr/>
        </p:nvSpPr>
        <p:spPr>
          <a:xfrm>
            <a:off x="3108960" y="5212080"/>
            <a:ext cx="4480560" cy="365760"/>
          </a:xfrm>
          <a:prstGeom prst="rect">
            <a:avLst/>
          </a:prstGeom>
          <a:noFill/>
          <a:ln/>
        </p:spPr>
        <p:txBody>
          <a:bodyPr wrap="square" lIns="0" tIns="0" rIns="0" bIns="0" rtlCol="0" anchor="t"/>
          <a:lstStyle/>
          <a:p>
            <a:pPr algn="ctr" indent="0" marL="0">
              <a:buNone/>
            </a:pPr>
            <a:r>
              <a:rPr lang="en-US" sz="1300" dirty="0">
                <a:solidFill>
                  <a:schemeClr val="accent6"/>
                </a:solidFill>
              </a:rPr>
              <a:t>12-digit serial</a:t>
            </a:r>
            <a:endParaRPr lang="en-US" sz="1300" dirty="0"/>
          </a:p>
        </p:txBody>
      </p:sp>
      <p:sp>
        <p:nvSpPr>
          <p:cNvPr id="21" name="a-fade-cn"/>
          <p:cNvSpPr txBox="1"/>
          <p:nvPr/>
        </p:nvSpPr>
        <p:spPr>
          <a:xfrm>
            <a:off x="7955280" y="4206240"/>
            <a:ext cx="3657600" cy="1005840"/>
          </a:xfrm>
          <a:prstGeom prst="rect">
            <a:avLst/>
          </a:prstGeom>
          <a:noFill/>
          <a:ln/>
        </p:spPr>
        <p:txBody>
          <a:bodyPr wrap="square" lIns="0" tIns="0" rIns="0" bIns="0" rtlCol="0" anchor="ctr"/>
          <a:lstStyle/>
          <a:p>
            <a:pPr indent="0" marL="0">
              <a:buNone/>
            </a:pPr>
            <a:r>
              <a:rPr lang="en-US" sz="1400" dirty="0">
                <a:solidFill>
                  <a:schemeClr val="accent6"/>
                </a:solidFill>
              </a:rPr>
              <a:t>Serial counted per type and city</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7"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600"/>
                                        <p:tgtEl>
                                          <p:spTgt spid="4"/>
                                        </p:tgtEl>
                                      </p:cBhvr>
                                    </p:animEffect>
                                    <p:anim calcmode="lin" valueType="num">
                                      <p:cBhvr>
                                        <p:cTn id="12" dur="600" decel="100000" fill="hold"/>
                                        <p:tgtEl>
                                          <p:spTgt spid="4"/>
                                        </p:tgtEl>
                                        <p:attrNameLst>
                                          <p:attrName>ppt_x</p:attrName>
                                        </p:attrNameLst>
                                      </p:cBhvr>
                                      <p:tavLst>
                                        <p:tav tm="0">
                                          <p:val>
                                            <p:strVal val="#ppt_x"/>
                                          </p:val>
                                        </p:tav>
                                        <p:tav tm="100000">
                                          <p:val>
                                            <p:strVal val="#ppt_x"/>
                                          </p:val>
                                        </p:tav>
                                      </p:tavLst>
                                    </p:anim>
                                    <p:anim calcmode="lin" valueType="num">
                                      <p:cBhvr>
                                        <p:cTn id="13" dur="600" decel="100000" fill="hold"/>
                                        <p:tgtEl>
                                          <p:spTgt spid="4"/>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4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anim calcmode="lin" valueType="num">
                                      <p:cBhvr>
                                        <p:cTn id="17" dur="600" decel="100000" fill="hold"/>
                                        <p:tgtEl>
                                          <p:spTgt spid="5"/>
                                        </p:tgtEl>
                                        <p:attrNameLst>
                                          <p:attrName>ppt_x</p:attrName>
                                        </p:attrNameLst>
                                      </p:cBhvr>
                                      <p:tavLst>
                                        <p:tav tm="0">
                                          <p:val>
                                            <p:strVal val="#ppt_x"/>
                                          </p:val>
                                        </p:tav>
                                        <p:tav tm="100000">
                                          <p:val>
                                            <p:strVal val="#ppt_x"/>
                                          </p:val>
                                        </p:tav>
                                      </p:tavLst>
                                    </p:anim>
                                    <p:anim calcmode="lin" valueType="num">
                                      <p:cBhvr>
                                        <p:cTn id="18" dur="600" decel="100000" fill="hold"/>
                                        <p:tgtEl>
                                          <p:spTgt spid="5"/>
                                        </p:tgtEl>
                                        <p:attrNameLst>
                                          <p:attrName>ppt_y</p:attrName>
                                        </p:attrNameLst>
                                      </p:cBhvr>
                                      <p:tavLst>
                                        <p:tav tm="0">
                                          <p:val>
                                            <p:strVal val="#ppt_y+.08"/>
                                          </p:val>
                                        </p:tav>
                                        <p:tav tm="100000">
                                          <p:val>
                                            <p:strVal val="#ppt_y"/>
                                          </p:val>
                                        </p:tav>
                                      </p:tavLst>
                                    </p:anim>
                                  </p:childTnLst>
                                </p:cTn>
                              </p:par>
                              <p:par>
                                <p:cTn id="24" presetID="42" presetClass="entr" presetSubtype="0" fill="hold" grpId="0"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600"/>
                                        <p:tgtEl>
                                          <p:spTgt spid="6"/>
                                        </p:tgtEl>
                                      </p:cBhvr>
                                    </p:animEffect>
                                    <p:anim calcmode="lin" valueType="num">
                                      <p:cBhvr>
                                        <p:cTn id="22" dur="600" decel="100000" fill="hold"/>
                                        <p:tgtEl>
                                          <p:spTgt spid="6"/>
                                        </p:tgtEl>
                                        <p:attrNameLst>
                                          <p:attrName>ppt_x</p:attrName>
                                        </p:attrNameLst>
                                      </p:cBhvr>
                                      <p:tavLst>
                                        <p:tav tm="0">
                                          <p:val>
                                            <p:strVal val="#ppt_x"/>
                                          </p:val>
                                        </p:tav>
                                        <p:tav tm="100000">
                                          <p:val>
                                            <p:strVal val="#ppt_x"/>
                                          </p:val>
                                        </p:tav>
                                      </p:tavLst>
                                    </p:anim>
                                    <p:anim calcmode="lin" valueType="num">
                                      <p:cBhvr>
                                        <p:cTn id="23" dur="600" decel="100000" fill="hold"/>
                                        <p:tgtEl>
                                          <p:spTgt spid="6"/>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6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600"/>
                                        <p:tgtEl>
                                          <p:spTgt spid="7"/>
                                        </p:tgtEl>
                                      </p:cBhvr>
                                    </p:animEffect>
                                    <p:anim calcmode="lin" valueType="num">
                                      <p:cBhvr>
                                        <p:cTn id="27" dur="600" decel="100000" fill="hold"/>
                                        <p:tgtEl>
                                          <p:spTgt spid="7"/>
                                        </p:tgtEl>
                                        <p:attrNameLst>
                                          <p:attrName>ppt_x</p:attrName>
                                        </p:attrNameLst>
                                      </p:cBhvr>
                                      <p:tavLst>
                                        <p:tav tm="0">
                                          <p:val>
                                            <p:strVal val="#ppt_x"/>
                                          </p:val>
                                        </p:tav>
                                        <p:tav tm="100000">
                                          <p:val>
                                            <p:strVal val="#ppt_x"/>
                                          </p:val>
                                        </p:tav>
                                      </p:tavLst>
                                    </p:anim>
                                    <p:anim calcmode="lin" valueType="num">
                                      <p:cBhvr>
                                        <p:cTn id="28" dur="600" decel="100000" fill="hold"/>
                                        <p:tgtEl>
                                          <p:spTgt spid="7"/>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6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p:cTn id="32" dur="600" decel="100000" fill="hold"/>
                                        <p:tgtEl>
                                          <p:spTgt spid="8"/>
                                        </p:tgtEl>
                                        <p:attrNameLst>
                                          <p:attrName>ppt_x</p:attrName>
                                        </p:attrNameLst>
                                      </p:cBhvr>
                                      <p:tavLst>
                                        <p:tav tm="0">
                                          <p:val>
                                            <p:strVal val="#ppt_x"/>
                                          </p:val>
                                        </p:tav>
                                        <p:tav tm="100000">
                                          <p:val>
                                            <p:strVal val="#ppt_x"/>
                                          </p:val>
                                        </p:tav>
                                      </p:tavLst>
                                    </p:anim>
                                    <p:anim calcmode="lin" valueType="num">
                                      <p:cBhvr>
                                        <p:cTn id="33" dur="600" decel="100000" fill="hold"/>
                                        <p:tgtEl>
                                          <p:spTgt spid="8"/>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600"/>
                                        <p:tgtEl>
                                          <p:spTgt spid="9"/>
                                        </p:tgtEl>
                                      </p:cBhvr>
                                    </p:animEffect>
                                    <p:anim calcmode="lin" valueType="num">
                                      <p:cBhvr>
                                        <p:cTn id="37" dur="600" decel="100000" fill="hold"/>
                                        <p:tgtEl>
                                          <p:spTgt spid="9"/>
                                        </p:tgtEl>
                                        <p:attrNameLst>
                                          <p:attrName>ppt_x</p:attrName>
                                        </p:attrNameLst>
                                      </p:cBhvr>
                                      <p:tavLst>
                                        <p:tav tm="0">
                                          <p:val>
                                            <p:strVal val="#ppt_x"/>
                                          </p:val>
                                        </p:tav>
                                        <p:tav tm="100000">
                                          <p:val>
                                            <p:strVal val="#ppt_x"/>
                                          </p:val>
                                        </p:tav>
                                      </p:tavLst>
                                    </p:anim>
                                    <p:anim calcmode="lin" valueType="num">
                                      <p:cBhvr>
                                        <p:cTn id="38" dur="600" decel="100000" fill="hold"/>
                                        <p:tgtEl>
                                          <p:spTgt spid="9"/>
                                        </p:tgtEl>
                                        <p:attrNameLst>
                                          <p:attrName>ppt_y</p:attrName>
                                        </p:attrNameLst>
                                      </p:cBhvr>
                                      <p:tavLst>
                                        <p:tav tm="0">
                                          <p:val>
                                            <p:strVal val="#ppt_y+.08"/>
                                          </p:val>
                                        </p:tav>
                                        <p:tav tm="100000">
                                          <p:val>
                                            <p:strVal val="#ppt_y"/>
                                          </p:val>
                                        </p:tav>
                                      </p:tavLst>
                                    </p:anim>
                                  </p:childTnLst>
                                </p:cTn>
                              </p:par>
                              <p:par>
                                <p:cTn id="42" presetID="10" presetClass="entr" presetSubtype="0" fill="hold" grpId="0" nodeType="withEffect">
                                  <p:stCondLst>
                                    <p:cond delay="8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par>
                                <p:cTn id="50" presetID="42" presetClass="entr" presetSubtype="0" fill="hold" grpId="0" nodeType="withEffect">
                                  <p:stCondLst>
                                    <p:cond delay="12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ppt_x</p:attrName>
                                        </p:attrNameLst>
                                      </p:cBhvr>
                                      <p:tavLst>
                                        <p:tav tm="0">
                                          <p:val>
                                            <p:strVal val="#ppt_x"/>
                                          </p:val>
                                        </p:tav>
                                        <p:tav tm="100000">
                                          <p:val>
                                            <p:strVal val="#ppt_x"/>
                                          </p:val>
                                        </p:tav>
                                      </p:tavLst>
                                    </p:anim>
                                    <p:anim calcmode="lin" valueType="num">
                                      <p:cBhvr>
                                        <p:cTn id="49" dur="600" decel="100000" fill="hold"/>
                                        <p:tgtEl>
                                          <p:spTgt spid="12"/>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120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decel="100000" fill="hold"/>
                                        <p:tgtEl>
                                          <p:spTgt spid="13"/>
                                        </p:tgtEl>
                                        <p:attrNameLst>
                                          <p:attrName>ppt_x</p:attrName>
                                        </p:attrNameLst>
                                      </p:cBhvr>
                                      <p:tavLst>
                                        <p:tav tm="0">
                                          <p:val>
                                            <p:strVal val="#ppt_x"/>
                                          </p:val>
                                        </p:tav>
                                        <p:tav tm="100000">
                                          <p:val>
                                            <p:strVal val="#ppt_x"/>
                                          </p:val>
                                        </p:tav>
                                      </p:tavLst>
                                    </p:anim>
                                    <p:anim calcmode="lin" valueType="num">
                                      <p:cBhvr>
                                        <p:cTn id="54" dur="600" decel="100000" fill="hold"/>
                                        <p:tgtEl>
                                          <p:spTgt spid="13"/>
                                        </p:tgtEl>
                                        <p:attrNameLst>
                                          <p:attrName>ppt_y</p:attrName>
                                        </p:attrNameLst>
                                      </p:cBhvr>
                                      <p:tavLst>
                                        <p:tav tm="0">
                                          <p:val>
                                            <p:strVal val="#ppt_y+.08"/>
                                          </p:val>
                                        </p:tav>
                                        <p:tav tm="100000">
                                          <p:val>
                                            <p:strVal val="#ppt_y"/>
                                          </p:val>
                                        </p:tav>
                                      </p:tavLst>
                                    </p:anim>
                                  </p:childTnLst>
                                </p:cTn>
                              </p:par>
                              <p:par>
                                <p:cTn id="60" presetID="42" presetClass="entr" presetSubtype="0" fill="hold" grpId="0" nodeType="withEffect">
                                  <p:stCondLst>
                                    <p:cond delay="12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decel="100000" fill="hold"/>
                                        <p:tgtEl>
                                          <p:spTgt spid="14"/>
                                        </p:tgtEl>
                                        <p:attrNameLst>
                                          <p:attrName>ppt_x</p:attrName>
                                        </p:attrNameLst>
                                      </p:cBhvr>
                                      <p:tavLst>
                                        <p:tav tm="0">
                                          <p:val>
                                            <p:strVal val="#ppt_x"/>
                                          </p:val>
                                        </p:tav>
                                        <p:tav tm="100000">
                                          <p:val>
                                            <p:strVal val="#ppt_x"/>
                                          </p:val>
                                        </p:tav>
                                      </p:tavLst>
                                    </p:anim>
                                    <p:anim calcmode="lin" valueType="num">
                                      <p:cBhvr>
                                        <p:cTn id="59" dur="600" decel="100000" fill="hold"/>
                                        <p:tgtEl>
                                          <p:spTgt spid="14"/>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14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decel="100000" fill="hold"/>
                                        <p:tgtEl>
                                          <p:spTgt spid="15"/>
                                        </p:tgtEl>
                                        <p:attrNameLst>
                                          <p:attrName>ppt_x</p:attrName>
                                        </p:attrNameLst>
                                      </p:cBhvr>
                                      <p:tavLst>
                                        <p:tav tm="0">
                                          <p:val>
                                            <p:strVal val="#ppt_x"/>
                                          </p:val>
                                        </p:tav>
                                        <p:tav tm="100000">
                                          <p:val>
                                            <p:strVal val="#ppt_x"/>
                                          </p:val>
                                        </p:tav>
                                      </p:tavLst>
                                    </p:anim>
                                    <p:anim calcmode="lin" valueType="num">
                                      <p:cBhvr>
                                        <p:cTn id="64" dur="600" decel="100000" fill="hold"/>
                                        <p:tgtEl>
                                          <p:spTgt spid="15"/>
                                        </p:tgtEl>
                                        <p:attrNameLst>
                                          <p:attrName>ppt_y</p:attrName>
                                        </p:attrNameLst>
                                      </p:cBhvr>
                                      <p:tavLst>
                                        <p:tav tm="0">
                                          <p:val>
                                            <p:strVal val="#ppt_y+.08"/>
                                          </p:val>
                                        </p:tav>
                                        <p:tav tm="100000">
                                          <p:val>
                                            <p:strVal val="#ppt_y"/>
                                          </p:val>
                                        </p:tav>
                                      </p:tavLst>
                                    </p:anim>
                                  </p:childTnLst>
                                </p:cTn>
                              </p:par>
                              <p:par>
                                <p:cTn id="70" presetID="42" presetClass="entr" presetSubtype="0" fill="hold" grpId="0" nodeType="withEffect">
                                  <p:stCondLst>
                                    <p:cond delay="14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decel="100000" fill="hold"/>
                                        <p:tgtEl>
                                          <p:spTgt spid="16"/>
                                        </p:tgtEl>
                                        <p:attrNameLst>
                                          <p:attrName>ppt_x</p:attrName>
                                        </p:attrNameLst>
                                      </p:cBhvr>
                                      <p:tavLst>
                                        <p:tav tm="0">
                                          <p:val>
                                            <p:strVal val="#ppt_x"/>
                                          </p:val>
                                        </p:tav>
                                        <p:tav tm="100000">
                                          <p:val>
                                            <p:strVal val="#ppt_x"/>
                                          </p:val>
                                        </p:tav>
                                      </p:tavLst>
                                    </p:anim>
                                    <p:anim calcmode="lin" valueType="num">
                                      <p:cBhvr>
                                        <p:cTn id="69" dur="600" decel="100000" fill="hold"/>
                                        <p:tgtEl>
                                          <p:spTgt spid="16"/>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140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600"/>
                                        <p:tgtEl>
                                          <p:spTgt spid="17"/>
                                        </p:tgtEl>
                                      </p:cBhvr>
                                    </p:animEffect>
                                    <p:anim calcmode="lin" valueType="num">
                                      <p:cBhvr>
                                        <p:cTn id="73" dur="600" decel="100000" fill="hold"/>
                                        <p:tgtEl>
                                          <p:spTgt spid="17"/>
                                        </p:tgtEl>
                                        <p:attrNameLst>
                                          <p:attrName>ppt_x</p:attrName>
                                        </p:attrNameLst>
                                      </p:cBhvr>
                                      <p:tavLst>
                                        <p:tav tm="0">
                                          <p:val>
                                            <p:strVal val="#ppt_x"/>
                                          </p:val>
                                        </p:tav>
                                        <p:tav tm="100000">
                                          <p:val>
                                            <p:strVal val="#ppt_x"/>
                                          </p:val>
                                        </p:tav>
                                      </p:tavLst>
                                    </p:anim>
                                    <p:anim calcmode="lin" valueType="num">
                                      <p:cBhvr>
                                        <p:cTn id="74" dur="600" decel="100000" fill="hold"/>
                                        <p:tgtEl>
                                          <p:spTgt spid="17"/>
                                        </p:tgtEl>
                                        <p:attrNameLst>
                                          <p:attrName>ppt_y</p:attrName>
                                        </p:attrNameLst>
                                      </p:cBhvr>
                                      <p:tavLst>
                                        <p:tav tm="0">
                                          <p:val>
                                            <p:strVal val="#ppt_y+.08"/>
                                          </p:val>
                                        </p:tav>
                                        <p:tav tm="100000">
                                          <p:val>
                                            <p:strVal val="#ppt_y"/>
                                          </p:val>
                                        </p:tav>
                                      </p:tavLst>
                                    </p:anim>
                                  </p:childTnLst>
                                </p:cTn>
                              </p:par>
                              <p:par>
                                <p:cTn id="80" presetID="42" presetClass="entr" presetSubtype="0" fill="hold" grpId="0" nodeType="withEffect">
                                  <p:stCondLst>
                                    <p:cond delay="16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anim calcmode="lin" valueType="num">
                                      <p:cBhvr>
                                        <p:cTn id="78" dur="600" decel="100000" fill="hold"/>
                                        <p:tgtEl>
                                          <p:spTgt spid="18"/>
                                        </p:tgtEl>
                                        <p:attrNameLst>
                                          <p:attrName>ppt_x</p:attrName>
                                        </p:attrNameLst>
                                      </p:cBhvr>
                                      <p:tavLst>
                                        <p:tav tm="0">
                                          <p:val>
                                            <p:strVal val="#ppt_x"/>
                                          </p:val>
                                        </p:tav>
                                        <p:tav tm="100000">
                                          <p:val>
                                            <p:strVal val="#ppt_x"/>
                                          </p:val>
                                        </p:tav>
                                      </p:tavLst>
                                    </p:anim>
                                    <p:anim calcmode="lin" valueType="num">
                                      <p:cBhvr>
                                        <p:cTn id="79" dur="600" decel="100000" fill="hold"/>
                                        <p:tgtEl>
                                          <p:spTgt spid="18"/>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16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decel="100000" fill="hold"/>
                                        <p:tgtEl>
                                          <p:spTgt spid="19"/>
                                        </p:tgtEl>
                                        <p:attrNameLst>
                                          <p:attrName>ppt_x</p:attrName>
                                        </p:attrNameLst>
                                      </p:cBhvr>
                                      <p:tavLst>
                                        <p:tav tm="0">
                                          <p:val>
                                            <p:strVal val="#ppt_x"/>
                                          </p:val>
                                        </p:tav>
                                        <p:tav tm="100000">
                                          <p:val>
                                            <p:strVal val="#ppt_x"/>
                                          </p:val>
                                        </p:tav>
                                      </p:tavLst>
                                    </p:anim>
                                    <p:anim calcmode="lin" valueType="num">
                                      <p:cBhvr>
                                        <p:cTn id="84" dur="600" decel="100000" fill="hold"/>
                                        <p:tgtEl>
                                          <p:spTgt spid="19"/>
                                        </p:tgtEl>
                                        <p:attrNameLst>
                                          <p:attrName>ppt_y</p:attrName>
                                        </p:attrNameLst>
                                      </p:cBhvr>
                                      <p:tavLst>
                                        <p:tav tm="0">
                                          <p:val>
                                            <p:strVal val="#ppt_y+.08"/>
                                          </p:val>
                                        </p:tav>
                                        <p:tav tm="100000">
                                          <p:val>
                                            <p:strVal val="#ppt_y"/>
                                          </p:val>
                                        </p:tav>
                                      </p:tavLst>
                                    </p:anim>
                                  </p:childTnLst>
                                </p:cTn>
                              </p:par>
                              <p:par>
                                <p:cTn id="90" presetID="42" presetClass="entr" presetSubtype="0" fill="hold" grpId="0" nodeType="withEffect">
                                  <p:stCondLst>
                                    <p:cond delay="16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decel="100000" fill="hold"/>
                                        <p:tgtEl>
                                          <p:spTgt spid="20"/>
                                        </p:tgtEl>
                                        <p:attrNameLst>
                                          <p:attrName>ppt_x</p:attrName>
                                        </p:attrNameLst>
                                      </p:cBhvr>
                                      <p:tavLst>
                                        <p:tav tm="0">
                                          <p:val>
                                            <p:strVal val="#ppt_x"/>
                                          </p:val>
                                        </p:tav>
                                        <p:tav tm="100000">
                                          <p:val>
                                            <p:strVal val="#ppt_x"/>
                                          </p:val>
                                        </p:tav>
                                      </p:tavLst>
                                    </p:anim>
                                    <p:anim calcmode="lin" valueType="num">
                                      <p:cBhvr>
                                        <p:cTn id="89" dur="600" decel="100000" fill="hold"/>
                                        <p:tgtEl>
                                          <p:spTgt spid="20"/>
                                        </p:tgtEl>
                                        <p:attrNameLst>
                                          <p:attrName>ppt_y</p:attrName>
                                        </p:attrNameLst>
                                      </p:cBhvr>
                                      <p:tavLst>
                                        <p:tav tm="0">
                                          <p:val>
                                            <p:strVal val="#ppt_y+.08"/>
                                          </p:val>
                                        </p:tav>
                                        <p:tav tm="100000">
                                          <p:val>
                                            <p:strVal val="#ppt_y"/>
                                          </p:val>
                                        </p:tav>
                                      </p:tavLst>
                                    </p:anim>
                                  </p:childTnLst>
                                </p:cTn>
                              </p:par>
                              <p:par>
                                <p:cTn id="93" presetID="10" presetClass="entr" presetSubtype="0" fill="hold" grpId="0" nodeType="withEffect">
                                  <p:stCondLst>
                                    <p:cond delay="180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par>
                                <p:cTn id="96" presetID="10" presetClass="entr" presetSubtype="0" fill="hold" grpId="0" nodeType="withEffect">
                                  <p:stCondLst>
                                    <p:cond delay="20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9" grpId="0" animBg="1"/>
      <p:bldP spid="20" grpId="0" animBg="1"/>
      <p:bldP spid="21"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From order to connection</a:t>
            </a:r>
            <a:endParaRPr lang="en-US" sz="3200" dirty="0"/>
          </a:p>
        </p:txBody>
      </p:sp>
      <p:sp>
        <p:nvSpPr>
          <p:cNvPr id="3" name="a-zoom-life"/>
          <p:cNvSpPr/>
          <p:nvPr/>
        </p:nvSpPr>
        <p:spPr>
          <a:xfrm>
            <a:off x="493776" y="1316736"/>
            <a:ext cx="11173968" cy="2697480"/>
          </a:xfrm>
          <a:prstGeom prst="roundRect">
            <a:avLst>
              <a:gd name="adj" fmla="val 271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life-img" descr="/tmp/claude-0/-home-user-done/4a4296a4-6fd8-5cee-98c2-5de0aee80c99/scratchpad/docs/img/order-lifecycle.png">    </p:cNvPr>
          <p:cNvPicPr>
            <a:picLocks noChangeAspect="1"/>
          </p:cNvPicPr>
          <p:nvPr/>
        </p:nvPicPr>
        <p:blipFill>
          <a:blip r:embed="rId1"/>
          <a:stretch>
            <a:fillRect/>
          </a:stretch>
        </p:blipFill>
        <p:spPr>
          <a:xfrm>
            <a:off x="548640" y="1371600"/>
            <a:ext cx="11064240" cy="2587752"/>
          </a:xfrm>
          <a:prstGeom prst="rect">
            <a:avLst/>
          </a:prstGeom>
        </p:spPr>
      </p:pic>
      <p:sp>
        <p:nvSpPr>
          <p:cNvPr id="5" name="a-up-ls0"/>
          <p:cNvSpPr/>
          <p:nvPr/>
        </p:nvSpPr>
        <p:spPr>
          <a:xfrm>
            <a:off x="54864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up-w-li0"/>
          <p:cNvSpPr/>
          <p:nvPr/>
        </p:nvSpPr>
        <p:spPr>
          <a:xfrm>
            <a:off x="777240" y="4553712"/>
            <a:ext cx="548640" cy="548640"/>
          </a:xfrm>
          <a:prstGeom prst="ellipse">
            <a:avLst/>
          </a:prstGeom>
          <a:solidFill>
            <a:schemeClr val="accent1"/>
          </a:solidFill>
          <a:ln/>
        </p:spPr>
      </p:sp>
      <p:pic>
        <p:nvPicPr>
          <p:cNvPr id="7" name="a-up-w-w-li0-i" descr="/tmp/claude-0/-home-user-done/4a4296a4-6fd8-5cee-98c2-5de0aee80c99/scratchpad/docs/img/icons/store-w.png">    </p:cNvPr>
          <p:cNvPicPr>
            <a:picLocks noChangeAspect="1"/>
          </p:cNvPicPr>
          <p:nvPr/>
        </p:nvPicPr>
        <p:blipFill>
          <a:blip r:embed="rId2"/>
          <a:stretch>
            <a:fillRect/>
          </a:stretch>
        </p:blipFill>
        <p:spPr>
          <a:xfrm>
            <a:off x="914400" y="4690872"/>
            <a:ext cx="274320" cy="274320"/>
          </a:xfrm>
          <a:prstGeom prst="rect">
            <a:avLst/>
          </a:prstGeom>
        </p:spPr>
      </p:pic>
      <p:sp>
        <p:nvSpPr>
          <p:cNvPr id="8" name="a-up-w-lt0"/>
          <p:cNvSpPr txBox="1"/>
          <p:nvPr/>
        </p:nvSpPr>
        <p:spPr>
          <a:xfrm>
            <a:off x="146304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Order</a:t>
            </a:r>
            <a:endParaRPr lang="en-US" sz="1600" dirty="0"/>
          </a:p>
        </p:txBody>
      </p:sp>
      <p:sp>
        <p:nvSpPr>
          <p:cNvPr id="9" name="a-up-w-ld0"/>
          <p:cNvSpPr txBox="1"/>
          <p:nvPr/>
        </p:nvSpPr>
        <p:spPr>
          <a:xfrm>
            <a:off x="77724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Retail or customer; bulk band counts all the customer's connections</a:t>
            </a:r>
            <a:endParaRPr lang="en-US" sz="1250" dirty="0"/>
          </a:p>
        </p:txBody>
      </p:sp>
      <p:sp>
        <p:nvSpPr>
          <p:cNvPr id="10" name="a-up-ls1"/>
          <p:cNvSpPr/>
          <p:nvPr/>
        </p:nvSpPr>
        <p:spPr>
          <a:xfrm>
            <a:off x="338328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li1"/>
          <p:cNvSpPr/>
          <p:nvPr/>
        </p:nvSpPr>
        <p:spPr>
          <a:xfrm>
            <a:off x="3611880" y="4553712"/>
            <a:ext cx="548640" cy="548640"/>
          </a:xfrm>
          <a:prstGeom prst="ellipse">
            <a:avLst/>
          </a:prstGeom>
          <a:solidFill>
            <a:schemeClr val="accent1"/>
          </a:solidFill>
          <a:ln/>
        </p:spPr>
      </p:sp>
      <p:pic>
        <p:nvPicPr>
          <p:cNvPr id="12" name="a-up-w-w-li1-i" descr="/tmp/claude-0/-home-user-done/4a4296a4-6fd8-5cee-98c2-5de0aee80c99/scratchpad/docs/img/icons/search-w.png">    </p:cNvPr>
          <p:cNvPicPr>
            <a:picLocks noChangeAspect="1"/>
          </p:cNvPicPr>
          <p:nvPr/>
        </p:nvPicPr>
        <p:blipFill>
          <a:blip r:embed="rId3"/>
          <a:stretch>
            <a:fillRect/>
          </a:stretch>
        </p:blipFill>
        <p:spPr>
          <a:xfrm>
            <a:off x="3749040" y="4690872"/>
            <a:ext cx="274320" cy="274320"/>
          </a:xfrm>
          <a:prstGeom prst="rect">
            <a:avLst/>
          </a:prstGeom>
        </p:spPr>
      </p:pic>
      <p:sp>
        <p:nvSpPr>
          <p:cNvPr id="13" name="a-up-w-lt1"/>
          <p:cNvSpPr txBox="1"/>
          <p:nvPr/>
        </p:nvSpPr>
        <p:spPr>
          <a:xfrm>
            <a:off x="429768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Feasibility</a:t>
            </a:r>
            <a:endParaRPr lang="en-US" sz="1600" dirty="0"/>
          </a:p>
        </p:txBody>
      </p:sp>
      <p:sp>
        <p:nvSpPr>
          <p:cNvPr id="14" name="a-up-w-ld1"/>
          <p:cNvSpPr txBox="1"/>
          <p:nvPr/>
        </p:nvSpPr>
        <p:spPr>
          <a:xfrm>
            <a:off x="361188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Landline and / or internet check: distance and server capacity</a:t>
            </a:r>
            <a:endParaRPr lang="en-US" sz="1250" dirty="0"/>
          </a:p>
        </p:txBody>
      </p:sp>
      <p:sp>
        <p:nvSpPr>
          <p:cNvPr id="15" name="a-up-ls2"/>
          <p:cNvSpPr/>
          <p:nvPr/>
        </p:nvSpPr>
        <p:spPr>
          <a:xfrm>
            <a:off x="621792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up-w-li2"/>
          <p:cNvSpPr/>
          <p:nvPr/>
        </p:nvSpPr>
        <p:spPr>
          <a:xfrm>
            <a:off x="6446520" y="4553712"/>
            <a:ext cx="548640" cy="548640"/>
          </a:xfrm>
          <a:prstGeom prst="ellipse">
            <a:avLst/>
          </a:prstGeom>
          <a:solidFill>
            <a:schemeClr val="accent1"/>
          </a:solidFill>
          <a:ln/>
        </p:spPr>
      </p:sp>
      <p:pic>
        <p:nvPicPr>
          <p:cNvPr id="17" name="a-up-w-w-li2-i" descr="/tmp/claude-0/-home-user-done/4a4296a4-6fd8-5cee-98c2-5de0aee80c99/scratchpad/docs/img/icons/wifi-w.png">    </p:cNvPr>
          <p:cNvPicPr>
            <a:picLocks noChangeAspect="1"/>
          </p:cNvPicPr>
          <p:nvPr/>
        </p:nvPicPr>
        <p:blipFill>
          <a:blip r:embed="rId4"/>
          <a:stretch>
            <a:fillRect/>
          </a:stretch>
        </p:blipFill>
        <p:spPr>
          <a:xfrm>
            <a:off x="6583680" y="4690872"/>
            <a:ext cx="274320" cy="274320"/>
          </a:xfrm>
          <a:prstGeom prst="rect">
            <a:avLst/>
          </a:prstGeom>
        </p:spPr>
      </p:pic>
      <p:sp>
        <p:nvSpPr>
          <p:cNvPr id="18" name="a-up-w-lt2"/>
          <p:cNvSpPr txBox="1"/>
          <p:nvPr/>
        </p:nvSpPr>
        <p:spPr>
          <a:xfrm>
            <a:off x="713232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Connection</a:t>
            </a:r>
            <a:endParaRPr lang="en-US" sz="1600" dirty="0"/>
          </a:p>
        </p:txBody>
      </p:sp>
      <p:sp>
        <p:nvSpPr>
          <p:cNvPr id="19" name="a-up-w-ld2"/>
          <p:cNvSpPr txBox="1"/>
          <p:nvPr/>
        </p:nvSpPr>
        <p:spPr>
          <a:xfrm>
            <a:off x="644652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Equipment from stock, deposit after discount, account ID created</a:t>
            </a:r>
            <a:endParaRPr lang="en-US" sz="1250" dirty="0"/>
          </a:p>
        </p:txBody>
      </p:sp>
      <p:sp>
        <p:nvSpPr>
          <p:cNvPr id="20" name="a-up-ls3"/>
          <p:cNvSpPr/>
          <p:nvPr/>
        </p:nvSpPr>
        <p:spPr>
          <a:xfrm>
            <a:off x="905256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1" name="a-up-w-li3"/>
          <p:cNvSpPr/>
          <p:nvPr/>
        </p:nvSpPr>
        <p:spPr>
          <a:xfrm>
            <a:off x="9281160" y="4553712"/>
            <a:ext cx="548640" cy="548640"/>
          </a:xfrm>
          <a:prstGeom prst="ellipse">
            <a:avLst/>
          </a:prstGeom>
          <a:solidFill>
            <a:schemeClr val="accent2"/>
          </a:solidFill>
          <a:ln/>
        </p:spPr>
      </p:sp>
      <p:pic>
        <p:nvPicPr>
          <p:cNvPr id="22" name="a-up-w-w-li3-i" descr="/tmp/claude-0/-home-user-done/4a4296a4-6fd8-5cee-98c2-5de0aee80c99/scratchpad/docs/img/icons/phone-w.png">    </p:cNvPr>
          <p:cNvPicPr>
            <a:picLocks noChangeAspect="1"/>
          </p:cNvPicPr>
          <p:nvPr/>
        </p:nvPicPr>
        <p:blipFill>
          <a:blip r:embed="rId5"/>
          <a:stretch>
            <a:fillRect/>
          </a:stretch>
        </p:blipFill>
        <p:spPr>
          <a:xfrm>
            <a:off x="9418320" y="4690872"/>
            <a:ext cx="274320" cy="274320"/>
          </a:xfrm>
          <a:prstGeom prst="rect">
            <a:avLst/>
          </a:prstGeom>
        </p:spPr>
      </p:pic>
      <p:sp>
        <p:nvSpPr>
          <p:cNvPr id="23" name="a-up-w-lt3"/>
          <p:cNvSpPr txBox="1"/>
          <p:nvPr/>
        </p:nvSpPr>
        <p:spPr>
          <a:xfrm>
            <a:off x="996696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Bundled line</a:t>
            </a:r>
            <a:endParaRPr lang="en-US" sz="1600" dirty="0"/>
          </a:p>
        </p:txBody>
      </p:sp>
      <p:sp>
        <p:nvSpPr>
          <p:cNvPr id="24" name="a-up-w-ld3"/>
          <p:cNvSpPr txBox="1"/>
          <p:nvPr/>
        </p:nvSpPr>
        <p:spPr>
          <a:xfrm>
            <a:off x="928116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Telephone line created first, dial-up linked to it</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10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10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19" presetID="10" presetClass="entr" presetSubtype="0" fill="hold" grpId="0" nodeType="withEffect">
                                  <p:stCondLst>
                                    <p:cond delay="12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3" grpId="0" animBg="1"/>
      <p:bldP spid="14" grpId="0" animBg="1"/>
      <p:bldP spid="18" grpId="0" animBg="1"/>
      <p:bldP spid="19" grpId="0" animBg="1"/>
      <p:bldP spid="23" grpId="0" animBg="1"/>
      <p:bldP spid="24"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billing engine</a:t>
            </a:r>
            <a:endParaRPr lang="en-US" sz="3200" dirty="0"/>
          </a:p>
        </p:txBody>
      </p:sp>
      <p:sp>
        <p:nvSpPr>
          <p:cNvPr id="3" name="a-zoom-bill"/>
          <p:cNvSpPr/>
          <p:nvPr/>
        </p:nvSpPr>
        <p:spPr>
          <a:xfrm>
            <a:off x="493776" y="1362456"/>
            <a:ext cx="6876288" cy="2825496"/>
          </a:xfrm>
          <a:prstGeom prst="roundRect">
            <a:avLst>
              <a:gd name="adj" fmla="val 258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bill-img" descr="/tmp/claude-0/-home-user-done/4a4296a4-6fd8-5cee-98c2-5de0aee80c99/scratchpad/docs/img/billing-flow.png">    </p:cNvPr>
          <p:cNvPicPr>
            <a:picLocks noChangeAspect="1"/>
          </p:cNvPicPr>
          <p:nvPr/>
        </p:nvPicPr>
        <p:blipFill>
          <a:blip r:embed="rId1"/>
          <a:stretch>
            <a:fillRect/>
          </a:stretch>
        </p:blipFill>
        <p:spPr>
          <a:xfrm>
            <a:off x="548640" y="1417320"/>
            <a:ext cx="6766560" cy="2715768"/>
          </a:xfrm>
          <a:prstGeom prst="rect">
            <a:avLst/>
          </a:prstGeom>
        </p:spPr>
      </p:pic>
      <p:pic>
        <p:nvPicPr>
          <p:cNvPr id="5" name="a-left-bi0" descr="/tmp/claude-0/-home-user-done/4a4296a4-6fd8-5cee-98c2-5de0aee80c99/scratchpad/docs/img/icons/check-g.png">    </p:cNvPr>
          <p:cNvPicPr>
            <a:picLocks noChangeAspect="1"/>
          </p:cNvPicPr>
          <p:nvPr/>
        </p:nvPicPr>
        <p:blipFill>
          <a:blip r:embed="rId2"/>
          <a:stretch>
            <a:fillRect/>
          </a:stretch>
        </p:blipFill>
        <p:spPr>
          <a:xfrm>
            <a:off x="548640" y="4526280"/>
            <a:ext cx="237744" cy="237744"/>
          </a:xfrm>
          <a:prstGeom prst="rect">
            <a:avLst/>
          </a:prstGeom>
        </p:spPr>
      </p:pic>
      <p:sp>
        <p:nvSpPr>
          <p:cNvPr id="6" name="a-left-w-bt0"/>
          <p:cNvSpPr txBox="1"/>
          <p:nvPr/>
        </p:nvSpPr>
        <p:spPr>
          <a:xfrm>
            <a:off x="914400" y="4498848"/>
            <a:ext cx="6400800" cy="310896"/>
          </a:xfrm>
          <a:prstGeom prst="rect">
            <a:avLst/>
          </a:prstGeom>
          <a:noFill/>
          <a:ln/>
        </p:spPr>
        <p:txBody>
          <a:bodyPr wrap="square" lIns="0" tIns="0" rIns="0" bIns="0" rtlCol="0" anchor="t"/>
          <a:lstStyle/>
          <a:p>
            <a:pPr indent="0" marL="0">
              <a:buNone/>
            </a:pPr>
            <a:r>
              <a:rPr lang="en-US" sz="1400" dirty="0">
                <a:solidFill>
                  <a:schemeClr val="tx1"/>
                </a:solidFill>
              </a:rPr>
              <a:t>Plan fee once per validity period</a:t>
            </a:r>
            <a:endParaRPr lang="en-US" sz="1400" dirty="0"/>
          </a:p>
        </p:txBody>
      </p:sp>
      <p:pic>
        <p:nvPicPr>
          <p:cNvPr id="7" name="a-left-bi1" descr="/tmp/claude-0/-home-user-done/4a4296a4-6fd8-5cee-98c2-5de0aee80c99/scratchpad/docs/img/icons/check-g.png">    </p:cNvPr>
          <p:cNvPicPr>
            <a:picLocks noChangeAspect="1"/>
          </p:cNvPicPr>
          <p:nvPr/>
        </p:nvPicPr>
        <p:blipFill>
          <a:blip r:embed="rId3"/>
          <a:stretch>
            <a:fillRect/>
          </a:stretch>
        </p:blipFill>
        <p:spPr>
          <a:xfrm>
            <a:off x="548640" y="4873752"/>
            <a:ext cx="237744" cy="237744"/>
          </a:xfrm>
          <a:prstGeom prst="rect">
            <a:avLst/>
          </a:prstGeom>
        </p:spPr>
      </p:pic>
      <p:sp>
        <p:nvSpPr>
          <p:cNvPr id="8" name="a-left-w-bt1"/>
          <p:cNvSpPr txBox="1"/>
          <p:nvPr/>
        </p:nvSpPr>
        <p:spPr>
          <a:xfrm>
            <a:off x="914400" y="4846320"/>
            <a:ext cx="6400800" cy="310896"/>
          </a:xfrm>
          <a:prstGeom prst="rect">
            <a:avLst/>
          </a:prstGeom>
          <a:noFill/>
          <a:ln/>
        </p:spPr>
        <p:txBody>
          <a:bodyPr wrap="square" lIns="0" tIns="0" rIns="0" bIns="0" rtlCol="0" anchor="t"/>
          <a:lstStyle/>
          <a:p>
            <a:pPr indent="0" marL="0">
              <a:buNone/>
            </a:pPr>
            <a:r>
              <a:rPr lang="en-US" sz="1400" dirty="0">
                <a:solidFill>
                  <a:schemeClr val="tx1"/>
                </a:solidFill>
              </a:rPr>
              <a:t>Call minutes x the plan's per-minute rates</a:t>
            </a:r>
            <a:endParaRPr lang="en-US" sz="1400" dirty="0"/>
          </a:p>
        </p:txBody>
      </p:sp>
      <p:pic>
        <p:nvPicPr>
          <p:cNvPr id="9" name="a-left-bi2" descr="/tmp/claude-0/-home-user-done/4a4296a4-6fd8-5cee-98c2-5de0aee80c99/scratchpad/docs/img/icons/check-g.png">    </p:cNvPr>
          <p:cNvPicPr>
            <a:picLocks noChangeAspect="1"/>
          </p:cNvPicPr>
          <p:nvPr/>
        </p:nvPicPr>
        <p:blipFill>
          <a:blip r:embed="rId4"/>
          <a:stretch>
            <a:fillRect/>
          </a:stretch>
        </p:blipFill>
        <p:spPr>
          <a:xfrm>
            <a:off x="548640" y="5221224"/>
            <a:ext cx="237744" cy="237744"/>
          </a:xfrm>
          <a:prstGeom prst="rect">
            <a:avLst/>
          </a:prstGeom>
        </p:spPr>
      </p:pic>
      <p:sp>
        <p:nvSpPr>
          <p:cNvPr id="10" name="a-left-w-bt2"/>
          <p:cNvSpPr txBox="1"/>
          <p:nvPr/>
        </p:nvSpPr>
        <p:spPr>
          <a:xfrm>
            <a:off x="914400" y="5193792"/>
            <a:ext cx="6400800" cy="310896"/>
          </a:xfrm>
          <a:prstGeom prst="rect">
            <a:avLst/>
          </a:prstGeom>
          <a:noFill/>
          <a:ln/>
        </p:spPr>
        <p:txBody>
          <a:bodyPr wrap="square" lIns="0" tIns="0" rIns="0" bIns="0" rtlCol="0" anchor="t"/>
          <a:lstStyle/>
          <a:p>
            <a:pPr indent="0" marL="0">
              <a:buNone/>
            </a:pPr>
            <a:r>
              <a:rPr lang="en-US" sz="1400" dirty="0">
                <a:solidFill>
                  <a:schemeClr val="tx1"/>
                </a:solidFill>
              </a:rPr>
              <a:t>Replacement charges added once, automatically</a:t>
            </a:r>
            <a:endParaRPr lang="en-US" sz="1400" dirty="0"/>
          </a:p>
        </p:txBody>
      </p:sp>
      <p:pic>
        <p:nvPicPr>
          <p:cNvPr id="11" name="a-left-bi3" descr="/tmp/claude-0/-home-user-done/4a4296a4-6fd8-5cee-98c2-5de0aee80c99/scratchpad/docs/img/icons/check-g.png">    </p:cNvPr>
          <p:cNvPicPr>
            <a:picLocks noChangeAspect="1"/>
          </p:cNvPicPr>
          <p:nvPr/>
        </p:nvPicPr>
        <p:blipFill>
          <a:blip r:embed="rId5"/>
          <a:stretch>
            <a:fillRect/>
          </a:stretch>
        </p:blipFill>
        <p:spPr>
          <a:xfrm>
            <a:off x="548640" y="5568696"/>
            <a:ext cx="237744" cy="237744"/>
          </a:xfrm>
          <a:prstGeom prst="rect">
            <a:avLst/>
          </a:prstGeom>
        </p:spPr>
      </p:pic>
      <p:sp>
        <p:nvSpPr>
          <p:cNvPr id="12" name="a-left-w-bt3"/>
          <p:cNvSpPr txBox="1"/>
          <p:nvPr/>
        </p:nvSpPr>
        <p:spPr>
          <a:xfrm>
            <a:off x="914400" y="5541264"/>
            <a:ext cx="6400800" cy="310896"/>
          </a:xfrm>
          <a:prstGeom prst="rect">
            <a:avLst/>
          </a:prstGeom>
          <a:noFill/>
          <a:ln/>
        </p:spPr>
        <p:txBody>
          <a:bodyPr wrap="square" lIns="0" tIns="0" rIns="0" bIns="0" rtlCol="0" anchor="t"/>
          <a:lstStyle/>
          <a:p>
            <a:pPr indent="0" marL="0">
              <a:buNone/>
            </a:pPr>
            <a:r>
              <a:rPr lang="en-US" sz="1400" dirty="0">
                <a:solidFill>
                  <a:schemeClr val="tx1"/>
                </a:solidFill>
              </a:rPr>
              <a:t>Deposit and bulk discount on the first bill</a:t>
            </a:r>
            <a:endParaRPr lang="en-US" sz="1400" dirty="0"/>
          </a:p>
        </p:txBody>
      </p:sp>
      <p:pic>
        <p:nvPicPr>
          <p:cNvPr id="13" name="a-left-bi4" descr="/tmp/claude-0/-home-user-done/4a4296a4-6fd8-5cee-98c2-5de0aee80c99/scratchpad/docs/img/icons/check-g.png">    </p:cNvPr>
          <p:cNvPicPr>
            <a:picLocks noChangeAspect="1"/>
          </p:cNvPicPr>
          <p:nvPr/>
        </p:nvPicPr>
        <p:blipFill>
          <a:blip r:embed="rId6"/>
          <a:stretch>
            <a:fillRect/>
          </a:stretch>
        </p:blipFill>
        <p:spPr>
          <a:xfrm>
            <a:off x="548640" y="5916168"/>
            <a:ext cx="237744" cy="237744"/>
          </a:xfrm>
          <a:prstGeom prst="rect">
            <a:avLst/>
          </a:prstGeom>
        </p:spPr>
      </p:pic>
      <p:sp>
        <p:nvSpPr>
          <p:cNvPr id="14" name="a-left-w-bt4"/>
          <p:cNvSpPr txBox="1"/>
          <p:nvPr/>
        </p:nvSpPr>
        <p:spPr>
          <a:xfrm>
            <a:off x="914400" y="5888736"/>
            <a:ext cx="6400800" cy="310896"/>
          </a:xfrm>
          <a:prstGeom prst="rect">
            <a:avLst/>
          </a:prstGeom>
          <a:noFill/>
          <a:ln/>
        </p:spPr>
        <p:txBody>
          <a:bodyPr wrap="square" lIns="0" tIns="0" rIns="0" bIns="0" rtlCol="0" anchor="t"/>
          <a:lstStyle/>
          <a:p>
            <a:pPr indent="0" marL="0">
              <a:buNone/>
            </a:pPr>
            <a:r>
              <a:rPr lang="en-US" sz="1400" dirty="0">
                <a:solidFill>
                  <a:schemeClr val="tx1"/>
                </a:solidFill>
              </a:rPr>
              <a:t>Unpaid earlier bills shown as brought forward</a:t>
            </a:r>
            <a:endParaRPr lang="en-US" sz="1400" dirty="0"/>
          </a:p>
        </p:txBody>
      </p:sp>
      <p:sp>
        <p:nvSpPr>
          <p:cNvPr id="15" name="a-zoom-ex"/>
          <p:cNvSpPr/>
          <p:nvPr/>
        </p:nvSpPr>
        <p:spPr>
          <a:xfrm>
            <a:off x="7772400" y="1417320"/>
            <a:ext cx="3840480" cy="4709160"/>
          </a:xfrm>
          <a:prstGeom prst="roundRect">
            <a:avLst>
              <a:gd name="adj" fmla="val 2857"/>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fade-exh"/>
          <p:cNvSpPr txBox="1"/>
          <p:nvPr/>
        </p:nvSpPr>
        <p:spPr>
          <a:xfrm>
            <a:off x="8092440" y="1691640"/>
            <a:ext cx="3291840" cy="365760"/>
          </a:xfrm>
          <a:prstGeom prst="rect">
            <a:avLst/>
          </a:prstGeom>
          <a:noFill/>
          <a:ln/>
        </p:spPr>
        <p:txBody>
          <a:bodyPr wrap="square" lIns="0" tIns="0" rIns="0" bIns="0" rtlCol="0" anchor="t"/>
          <a:lstStyle/>
          <a:p>
            <a:pPr indent="0" marL="0">
              <a:buNone/>
            </a:pPr>
            <a:r>
              <a:rPr lang="en-US" sz="1600" b="1" dirty="0">
                <a:solidFill>
                  <a:schemeClr val="accent1"/>
                </a:solidFill>
              </a:rPr>
              <a:t>Worked example</a:t>
            </a:r>
            <a:endParaRPr lang="en-US" sz="1600" dirty="0"/>
          </a:p>
        </p:txBody>
      </p:sp>
      <p:sp>
        <p:nvSpPr>
          <p:cNvPr id="17" name="a-fade-exb"/>
          <p:cNvSpPr txBox="1"/>
          <p:nvPr/>
        </p:nvSpPr>
        <p:spPr>
          <a:xfrm>
            <a:off x="8092440" y="2194560"/>
            <a:ext cx="3291840" cy="1554480"/>
          </a:xfrm>
          <a:prstGeom prst="rect">
            <a:avLst/>
          </a:prstGeom>
          <a:noFill/>
          <a:ln/>
        </p:spPr>
        <p:txBody>
          <a:bodyPr wrap="square" lIns="0" tIns="0" rIns="0" bIns="0" rtlCol="0" anchor="t"/>
          <a:lstStyle/>
          <a:p>
            <a:pPr indent="0" marL="0">
              <a:spcAft>
                <a:spcPts val="600"/>
              </a:spcAft>
              <a:buNone/>
            </a:pPr>
            <a:r>
              <a:rPr lang="en-US" sz="1400" dirty="0">
                <a:solidFill>
                  <a:schemeClr val="tx2"/>
                </a:solidFill>
              </a:rPr>
              <a:t>Plan fee  $35.00</a:t>
            </a:r>
            <a:endParaRPr lang="en-US" sz="1400" dirty="0"/>
          </a:p>
          <a:p>
            <a:pPr indent="0" marL="0">
              <a:spcAft>
                <a:spcPts val="600"/>
              </a:spcAft>
              <a:buNone/>
            </a:pPr>
            <a:r>
              <a:rPr lang="en-US" sz="1400" dirty="0">
                <a:solidFill>
                  <a:schemeClr val="tx2"/>
                </a:solidFill>
              </a:rPr>
              <a:t>100 local min x $0.75  $75.00</a:t>
            </a:r>
            <a:endParaRPr lang="en-US" sz="1400" dirty="0"/>
          </a:p>
          <a:p>
            <a:pPr indent="0" marL="0">
              <a:spcAft>
                <a:spcPts val="600"/>
              </a:spcAft>
              <a:buNone/>
            </a:pPr>
            <a:r>
              <a:rPr lang="en-US" sz="1400" dirty="0">
                <a:solidFill>
                  <a:schemeClr val="tx2"/>
                </a:solidFill>
              </a:rPr>
              <a:t>Deposit (first bill)  $250.00</a:t>
            </a:r>
            <a:endParaRPr lang="en-US" sz="1400" dirty="0"/>
          </a:p>
          <a:p>
            <a:pPr indent="0" marL="0">
              <a:spcAft>
                <a:spcPts val="600"/>
              </a:spcAft>
              <a:buNone/>
            </a:pPr>
            <a:r>
              <a:rPr lang="en-US" sz="1400" dirty="0">
                <a:solidFill>
                  <a:schemeClr val="tx2"/>
                </a:solidFill>
              </a:rPr>
              <a:t>Service tax 12.24%  $44.06</a:t>
            </a:r>
            <a:endParaRPr lang="en-US" sz="1400" dirty="0"/>
          </a:p>
        </p:txBody>
      </p:sp>
      <p:sp>
        <p:nvSpPr>
          <p:cNvPr id="18" name="a-zoom-ext"/>
          <p:cNvSpPr txBox="1"/>
          <p:nvPr/>
        </p:nvSpPr>
        <p:spPr>
          <a:xfrm>
            <a:off x="8092440" y="3886200"/>
            <a:ext cx="3291840" cy="914400"/>
          </a:xfrm>
          <a:prstGeom prst="rect">
            <a:avLst/>
          </a:prstGeom>
          <a:noFill/>
          <a:ln/>
        </p:spPr>
        <p:txBody>
          <a:bodyPr wrap="square" lIns="0" tIns="0" rIns="0" bIns="0" rtlCol="0" anchor="t"/>
          <a:lstStyle/>
          <a:p>
            <a:pPr indent="0" marL="0">
              <a:buNone/>
            </a:pPr>
            <a:r>
              <a:rPr lang="en-US" sz="5000" b="1" dirty="0">
                <a:solidFill>
                  <a:schemeClr val="accent2"/>
                </a:solidFill>
              </a:rPr>
              <a:t>$404.06</a:t>
            </a:r>
            <a:endParaRPr lang="en-US" sz="5000" dirty="0"/>
          </a:p>
        </p:txBody>
      </p:sp>
      <p:sp>
        <p:nvSpPr>
          <p:cNvPr id="19" name="a-fade-exn"/>
          <p:cNvSpPr txBox="1"/>
          <p:nvPr/>
        </p:nvSpPr>
        <p:spPr>
          <a:xfrm>
            <a:off x="8092440" y="4892040"/>
            <a:ext cx="3291840" cy="822960"/>
          </a:xfrm>
          <a:prstGeom prst="rect">
            <a:avLst/>
          </a:prstGeom>
          <a:noFill/>
          <a:ln/>
        </p:spPr>
        <p:txBody>
          <a:bodyPr wrap="square" lIns="0" tIns="0" rIns="0" bIns="0" rtlCol="0" anchor="t"/>
          <a:lstStyle/>
          <a:p>
            <a:pPr indent="0" marL="0">
              <a:buNone/>
            </a:pPr>
            <a:r>
              <a:rPr lang="en-US" sz="1300" i="1" dirty="0">
                <a:solidFill>
                  <a:schemeClr val="accent6"/>
                </a:solidFill>
              </a:rPr>
              <a:t>First bill total - verified by the automated tests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9"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8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8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0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10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12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12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4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4" presetID="10" presetClass="entr" presetSubtype="0" fill="hold" grpId="0" nodeType="withEffect">
                                  <p:stCondLst>
                                    <p:cond delay="1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500"/>
                                        <p:tgtEl>
                                          <p:spTgt spid="16"/>
                                        </p:tgtEl>
                                      </p:cBhvr>
                                    </p:animEffect>
                                  </p:childTnLst>
                                </p:cTn>
                              </p:par>
                              <p:par>
                                <p:cTn id="77" presetID="10" presetClass="entr" presetSubtype="0" fill="hold" grpId="0" nodeType="withEffect">
                                  <p:stCondLst>
                                    <p:cond delay="180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500"/>
                                        <p:tgtEl>
                                          <p:spTgt spid="17"/>
                                        </p:tgtEl>
                                      </p:cBhvr>
                                    </p:animEffect>
                                  </p:childTnLst>
                                </p:cTn>
                              </p:par>
                              <p:par>
                                <p:cTn id="82" presetID="53" presetClass="entr" presetSubtype="16" fill="hold" grpId="0" nodeType="withEffect">
                                  <p:stCondLst>
                                    <p:cond delay="2000"/>
                                  </p:stCondLst>
                                  <p:childTnLst>
                                    <p:set>
                                      <p:cBhvr>
                                        <p:cTn id="78" dur="1" fill="hold">
                                          <p:stCondLst>
                                            <p:cond delay="0"/>
                                          </p:stCondLst>
                                        </p:cTn>
                                        <p:tgtEl>
                                          <p:spTgt spid="18"/>
                                        </p:tgtEl>
                                        <p:attrNameLst>
                                          <p:attrName>style.visibility</p:attrName>
                                        </p:attrNameLst>
                                      </p:cBhvr>
                                      <p:to>
                                        <p:strVal val="visible"/>
                                      </p:to>
                                    </p:set>
                                    <p:anim calcmode="lin" valueType="num">
                                      <p:cBhvr>
                                        <p:cTn id="80" dur="650" decel="100000" fill="hold"/>
                                        <p:tgtEl>
                                          <p:spTgt spid="18"/>
                                        </p:tgtEl>
                                        <p:attrNameLst>
                                          <p:attrName>ppt_w</p:attrName>
                                        </p:attrNameLst>
                                      </p:cBhvr>
                                      <p:tavLst>
                                        <p:tav tm="0">
                                          <p:val>
                                            <p:strVal val="#ppt_w*0.7"/>
                                          </p:val>
                                        </p:tav>
                                        <p:tav tm="100000">
                                          <p:val>
                                            <p:strVal val="#ppt_w"/>
                                          </p:val>
                                        </p:tav>
                                      </p:tavLst>
                                    </p:anim>
                                    <p:anim calcmode="lin" valueType="num">
                                      <p:cBhvr>
                                        <p:cTn id="81" dur="650" decel="100000" fill="hold"/>
                                        <p:tgtEl>
                                          <p:spTgt spid="18"/>
                                        </p:tgtEl>
                                        <p:attrNameLst>
                                          <p:attrName>ppt_h</p:attrName>
                                        </p:attrNameLst>
                                      </p:cBhvr>
                                      <p:tavLst>
                                        <p:tav tm="0">
                                          <p:val>
                                            <p:strVal val="#ppt_h*0.7"/>
                                          </p:val>
                                        </p:tav>
                                        <p:tav tm="100000">
                                          <p:val>
                                            <p:strVal val="#ppt_h"/>
                                          </p:val>
                                        </p:tav>
                                      </p:tavLst>
                                    </p:anim>
                                    <p:animEffect transition="in" filter="fade">
                                      <p:cBhvr>
                                        <p:cTn id="79" dur="650"/>
                                        <p:tgtEl>
                                          <p:spTgt spid="18"/>
                                        </p:tgtEl>
                                      </p:cBhvr>
                                    </p:animEffect>
                                  </p:childTnLst>
                                </p:cTn>
                              </p:par>
                              <p:par>
                                <p:cTn id="85" presetID="10" presetClass="entr" presetSubtype="0" fill="hold" grpId="0" nodeType="withEffect">
                                  <p:stCondLst>
                                    <p:cond delay="2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8" presetID="10" presetClass="entr" presetSubtype="0" fill="hold" grpId="0" nodeType="withEffect">
                                  <p:stCondLst>
                                    <p:cond delay="240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8" grpId="0" animBg="1"/>
      <p:bldP spid="10" grpId="0" animBg="1"/>
      <p:bldP spid="12" grpId="0" animBg="1"/>
      <p:bldP spid="14" grpId="0" animBg="1"/>
      <p:bldP spid="16" grpId="0" animBg="1"/>
      <p:bldP spid="17" grpId="0" animBg="1"/>
      <p:bldP spid="18" grpId="0" animBg="1"/>
      <p:bldP spid="19"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Plans, deposits and bulk discounts</a:t>
            </a:r>
            <a:endParaRPr lang="en-US" sz="3200" dirty="0"/>
          </a:p>
        </p:txBody>
      </p:sp>
      <p:graphicFrame>
        <p:nvGraphicFramePr>
          <p:cNvPr id="3" name="a-up-chart"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a-right-dp0"/>
          <p:cNvSpPr/>
          <p:nvPr/>
        </p:nvSpPr>
        <p:spPr>
          <a:xfrm>
            <a:off x="7589520" y="13716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5" name="a-right-w-di0"/>
          <p:cNvSpPr/>
          <p:nvPr/>
        </p:nvSpPr>
        <p:spPr>
          <a:xfrm>
            <a:off x="7818120" y="1737360"/>
            <a:ext cx="640080" cy="640080"/>
          </a:xfrm>
          <a:prstGeom prst="ellipse">
            <a:avLst/>
          </a:prstGeom>
          <a:solidFill>
            <a:schemeClr val="accent1"/>
          </a:solidFill>
          <a:ln/>
        </p:spPr>
      </p:sp>
      <p:pic>
        <p:nvPicPr>
          <p:cNvPr id="6" name="a-right-w-w-di0-i" descr="/tmp/claude-0/-home-user-done/4a4296a4-6fd8-5cee-98c2-5de0aee80c99/scratchpad/docs/img/icons/wifi-w.png">    </p:cNvPr>
          <p:cNvPicPr>
            <a:picLocks noChangeAspect="1"/>
          </p:cNvPicPr>
          <p:nvPr/>
        </p:nvPicPr>
        <p:blipFill>
          <a:blip r:embed="rId2"/>
          <a:stretch>
            <a:fillRect/>
          </a:stretch>
        </p:blipFill>
        <p:spPr>
          <a:xfrm>
            <a:off x="7978140" y="1897380"/>
            <a:ext cx="320040" cy="320040"/>
          </a:xfrm>
          <a:prstGeom prst="rect">
            <a:avLst/>
          </a:prstGeom>
        </p:spPr>
      </p:pic>
      <p:sp>
        <p:nvSpPr>
          <p:cNvPr id="7" name="a-right-w-dt0"/>
          <p:cNvSpPr txBox="1"/>
          <p:nvPr/>
        </p:nvSpPr>
        <p:spPr>
          <a:xfrm>
            <a:off x="8641080" y="16002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Dial-Up</a:t>
            </a:r>
            <a:endParaRPr lang="en-US" sz="1700" dirty="0"/>
          </a:p>
        </p:txBody>
      </p:sp>
      <p:sp>
        <p:nvSpPr>
          <p:cNvPr id="8" name="a-right-w-dd0"/>
          <p:cNvSpPr txBox="1"/>
          <p:nvPr/>
        </p:nvSpPr>
        <p:spPr>
          <a:xfrm>
            <a:off x="8641080" y="20299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7 plans · from $50</a:t>
            </a:r>
            <a:endParaRPr lang="en-US" sz="1250" dirty="0"/>
          </a:p>
        </p:txBody>
      </p:sp>
      <p:sp>
        <p:nvSpPr>
          <p:cNvPr id="9" name="a-right-w-dv0"/>
          <p:cNvSpPr txBox="1"/>
          <p:nvPr/>
        </p:nvSpPr>
        <p:spPr>
          <a:xfrm>
            <a:off x="10241280" y="16459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$325</a:t>
            </a:r>
            <a:endParaRPr lang="en-US" sz="2400" dirty="0"/>
          </a:p>
        </p:txBody>
      </p:sp>
      <p:sp>
        <p:nvSpPr>
          <p:cNvPr id="10" name="a-right-w-dl0"/>
          <p:cNvSpPr txBox="1"/>
          <p:nvPr/>
        </p:nvSpPr>
        <p:spPr>
          <a:xfrm>
            <a:off x="10241280" y="21488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1" name="a-right-dp1"/>
          <p:cNvSpPr/>
          <p:nvPr/>
        </p:nvSpPr>
        <p:spPr>
          <a:xfrm>
            <a:off x="7589520" y="29718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2" name="a-right-w-di1"/>
          <p:cNvSpPr/>
          <p:nvPr/>
        </p:nvSpPr>
        <p:spPr>
          <a:xfrm>
            <a:off x="7818120" y="3337560"/>
            <a:ext cx="640080" cy="640080"/>
          </a:xfrm>
          <a:prstGeom prst="ellipse">
            <a:avLst/>
          </a:prstGeom>
          <a:solidFill>
            <a:schemeClr val="accent1"/>
          </a:solidFill>
          <a:ln/>
        </p:spPr>
      </p:sp>
      <p:pic>
        <p:nvPicPr>
          <p:cNvPr id="13" name="a-right-w-w-di1-i" descr="/tmp/claude-0/-home-user-done/4a4296a4-6fd8-5cee-98c2-5de0aee80c99/scratchpad/docs/img/icons/router-w.png">    </p:cNvPr>
          <p:cNvPicPr>
            <a:picLocks noChangeAspect="1"/>
          </p:cNvPicPr>
          <p:nvPr/>
        </p:nvPicPr>
        <p:blipFill>
          <a:blip r:embed="rId3"/>
          <a:stretch>
            <a:fillRect/>
          </a:stretch>
        </p:blipFill>
        <p:spPr>
          <a:xfrm>
            <a:off x="7978140" y="3497580"/>
            <a:ext cx="320040" cy="320040"/>
          </a:xfrm>
          <a:prstGeom prst="rect">
            <a:avLst/>
          </a:prstGeom>
        </p:spPr>
      </p:pic>
      <p:sp>
        <p:nvSpPr>
          <p:cNvPr id="14" name="a-right-w-dt1"/>
          <p:cNvSpPr txBox="1"/>
          <p:nvPr/>
        </p:nvSpPr>
        <p:spPr>
          <a:xfrm>
            <a:off x="8641080" y="32004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Broadband</a:t>
            </a:r>
            <a:endParaRPr lang="en-US" sz="1700" dirty="0"/>
          </a:p>
        </p:txBody>
      </p:sp>
      <p:sp>
        <p:nvSpPr>
          <p:cNvPr id="15" name="a-right-w-dd1"/>
          <p:cNvSpPr txBox="1"/>
          <p:nvPr/>
        </p:nvSpPr>
        <p:spPr>
          <a:xfrm>
            <a:off x="8641080" y="36301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6 plans · from $175</a:t>
            </a:r>
            <a:endParaRPr lang="en-US" sz="1250" dirty="0"/>
          </a:p>
        </p:txBody>
      </p:sp>
      <p:sp>
        <p:nvSpPr>
          <p:cNvPr id="16" name="a-right-w-dv1"/>
          <p:cNvSpPr txBox="1"/>
          <p:nvPr/>
        </p:nvSpPr>
        <p:spPr>
          <a:xfrm>
            <a:off x="10241280" y="32461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$500</a:t>
            </a:r>
            <a:endParaRPr lang="en-US" sz="2400" dirty="0"/>
          </a:p>
        </p:txBody>
      </p:sp>
      <p:sp>
        <p:nvSpPr>
          <p:cNvPr id="17" name="a-right-w-dl1"/>
          <p:cNvSpPr txBox="1"/>
          <p:nvPr/>
        </p:nvSpPr>
        <p:spPr>
          <a:xfrm>
            <a:off x="10241280" y="37490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8" name="a-right-dp2"/>
          <p:cNvSpPr/>
          <p:nvPr/>
        </p:nvSpPr>
        <p:spPr>
          <a:xfrm>
            <a:off x="7589520" y="45720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right-w-di2"/>
          <p:cNvSpPr/>
          <p:nvPr/>
        </p:nvSpPr>
        <p:spPr>
          <a:xfrm>
            <a:off x="7818120" y="4937760"/>
            <a:ext cx="640080" cy="640080"/>
          </a:xfrm>
          <a:prstGeom prst="ellipse">
            <a:avLst/>
          </a:prstGeom>
          <a:solidFill>
            <a:schemeClr val="accent1"/>
          </a:solidFill>
          <a:ln/>
        </p:spPr>
      </p:sp>
      <p:pic>
        <p:nvPicPr>
          <p:cNvPr id="20" name="a-right-w-w-di2-i" descr="/tmp/claude-0/-home-user-done/4a4296a4-6fd8-5cee-98c2-5de0aee80c99/scratchpad/docs/img/icons/phone-w.png">    </p:cNvPr>
          <p:cNvPicPr>
            <a:picLocks noChangeAspect="1"/>
          </p:cNvPicPr>
          <p:nvPr/>
        </p:nvPicPr>
        <p:blipFill>
          <a:blip r:embed="rId4"/>
          <a:stretch>
            <a:fillRect/>
          </a:stretch>
        </p:blipFill>
        <p:spPr>
          <a:xfrm>
            <a:off x="7978140" y="5097780"/>
            <a:ext cx="320040" cy="320040"/>
          </a:xfrm>
          <a:prstGeom prst="rect">
            <a:avLst/>
          </a:prstGeom>
        </p:spPr>
      </p:pic>
      <p:sp>
        <p:nvSpPr>
          <p:cNvPr id="21" name="a-right-w-dt2"/>
          <p:cNvSpPr txBox="1"/>
          <p:nvPr/>
        </p:nvSpPr>
        <p:spPr>
          <a:xfrm>
            <a:off x="8641080" y="48006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Landline</a:t>
            </a:r>
            <a:endParaRPr lang="en-US" sz="1700" dirty="0"/>
          </a:p>
        </p:txBody>
      </p:sp>
      <p:sp>
        <p:nvSpPr>
          <p:cNvPr id="22" name="a-right-w-dd2"/>
          <p:cNvSpPr txBox="1"/>
          <p:nvPr/>
        </p:nvSpPr>
        <p:spPr>
          <a:xfrm>
            <a:off x="8641080" y="52303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4 plans · from $35</a:t>
            </a:r>
            <a:endParaRPr lang="en-US" sz="1250" dirty="0"/>
          </a:p>
        </p:txBody>
      </p:sp>
      <p:sp>
        <p:nvSpPr>
          <p:cNvPr id="23" name="a-right-w-dv2"/>
          <p:cNvSpPr txBox="1"/>
          <p:nvPr/>
        </p:nvSpPr>
        <p:spPr>
          <a:xfrm>
            <a:off x="10241280" y="48463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$250</a:t>
            </a:r>
            <a:endParaRPr lang="en-US" sz="2400" dirty="0"/>
          </a:p>
        </p:txBody>
      </p:sp>
      <p:sp>
        <p:nvSpPr>
          <p:cNvPr id="24" name="a-right-w-dl2"/>
          <p:cNvSpPr txBox="1"/>
          <p:nvPr/>
        </p:nvSpPr>
        <p:spPr>
          <a:xfrm>
            <a:off x="10241280" y="53492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8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8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7" grpId="0" animBg="1"/>
      <p:bldP spid="8" grpId="0" animBg="1"/>
      <p:bldP spid="9" grpId="0" animBg="1"/>
      <p:bldP spid="10" grpId="0" animBg="1"/>
      <p:bldP spid="14" grpId="0" animBg="1"/>
      <p:bldP spid="15" grpId="0" animBg="1"/>
      <p:bldP spid="16" grpId="0" animBg="1"/>
      <p:bldP spid="17"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Postpaid control: unpaid bills matter</a:t>
            </a:r>
            <a:endParaRPr lang="en-US" sz="3200" dirty="0"/>
          </a:p>
        </p:txBody>
      </p:sp>
      <p:sp>
        <p:nvSpPr>
          <p:cNvPr id="3" name="a-zoom-conn"/>
          <p:cNvSpPr/>
          <p:nvPr/>
        </p:nvSpPr>
        <p:spPr>
          <a:xfrm>
            <a:off x="493776" y="1362456"/>
            <a:ext cx="5961888" cy="2185416"/>
          </a:xfrm>
          <a:prstGeom prst="roundRect">
            <a:avLst>
              <a:gd name="adj" fmla="val 334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conn-img" descr="/tmp/claude-0/-home-user-done/4a4296a4-6fd8-5cee-98c2-5de0aee80c99/scratchpad/docs/img/connection-lifecycle.png">    </p:cNvPr>
          <p:cNvPicPr>
            <a:picLocks noChangeAspect="1"/>
          </p:cNvPicPr>
          <p:nvPr/>
        </p:nvPicPr>
        <p:blipFill>
          <a:blip r:embed="rId1"/>
          <a:stretch>
            <a:fillRect/>
          </a:stretch>
        </p:blipFill>
        <p:spPr>
          <a:xfrm>
            <a:off x="548640" y="1417320"/>
            <a:ext cx="5852160" cy="2075688"/>
          </a:xfrm>
          <a:prstGeom prst="rect">
            <a:avLst/>
          </a:prstGeom>
        </p:spPr>
      </p:pic>
      <p:sp>
        <p:nvSpPr>
          <p:cNvPr id="5" name="a-zoom-w-od"/>
          <p:cNvSpPr/>
          <p:nvPr/>
        </p:nvSpPr>
        <p:spPr>
          <a:xfrm>
            <a:off x="6757416" y="1362456"/>
            <a:ext cx="4910328" cy="3108960"/>
          </a:xfrm>
          <a:prstGeom prst="roundRect">
            <a:avLst>
              <a:gd name="adj" fmla="val 235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6" name="a-zoom-w-w-od-img" descr="/tmp/claude-0/-home-user-done/4a4296a4-6fd8-5cee-98c2-5de0aee80c99/scratchpad/docs/img/ui-tech-overdue.jpg">    </p:cNvPr>
          <p:cNvPicPr>
            <a:picLocks noChangeAspect="1"/>
          </p:cNvPicPr>
          <p:nvPr/>
        </p:nvPicPr>
        <p:blipFill>
          <a:blip r:embed="rId2"/>
          <a:stretch>
            <a:fillRect/>
          </a:stretch>
        </p:blipFill>
        <p:spPr>
          <a:xfrm>
            <a:off x="6812280" y="1417320"/>
            <a:ext cx="4800600" cy="2999232"/>
          </a:xfrm>
          <a:prstGeom prst="rect">
            <a:avLst/>
          </a:prstGeom>
        </p:spPr>
      </p:pic>
      <p:sp>
        <p:nvSpPr>
          <p:cNvPr id="7" name="a-up-pp0"/>
          <p:cNvSpPr/>
          <p:nvPr/>
        </p:nvSpPr>
        <p:spPr>
          <a:xfrm>
            <a:off x="54864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up-w-ppt0"/>
          <p:cNvSpPr txBox="1"/>
          <p:nvPr/>
        </p:nvSpPr>
        <p:spPr>
          <a:xfrm>
            <a:off x="82296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1. Overdue list</a:t>
            </a:r>
            <a:endParaRPr lang="en-US" sz="1700" dirty="0"/>
          </a:p>
        </p:txBody>
      </p:sp>
      <p:sp>
        <p:nvSpPr>
          <p:cNvPr id="9" name="a-up-w-ppd0"/>
          <p:cNvSpPr txBox="1"/>
          <p:nvPr/>
        </p:nvSpPr>
        <p:spPr>
          <a:xfrm>
            <a:off x="82296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Active connections with a bill past its due date and not fully paid.</a:t>
            </a:r>
            <a:endParaRPr lang="en-US" sz="1300" dirty="0"/>
          </a:p>
        </p:txBody>
      </p:sp>
      <p:sp>
        <p:nvSpPr>
          <p:cNvPr id="10" name="a-up-pp1"/>
          <p:cNvSpPr/>
          <p:nvPr/>
        </p:nvSpPr>
        <p:spPr>
          <a:xfrm>
            <a:off x="429768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ppt1"/>
          <p:cNvSpPr txBox="1"/>
          <p:nvPr/>
        </p:nvSpPr>
        <p:spPr>
          <a:xfrm>
            <a:off x="4572000" y="4846320"/>
            <a:ext cx="3017520" cy="365760"/>
          </a:xfrm>
          <a:prstGeom prst="rect">
            <a:avLst/>
          </a:prstGeom>
          <a:noFill/>
          <a:ln/>
        </p:spPr>
        <p:txBody>
          <a:bodyPr wrap="square" lIns="0" tIns="0" rIns="0" bIns="0" rtlCol="0" anchor="t"/>
          <a:lstStyle/>
          <a:p>
            <a:pPr indent="0" marL="0">
              <a:buNone/>
            </a:pPr>
            <a:r>
              <a:rPr lang="en-US" sz="1700" b="1" dirty="0">
                <a:solidFill>
                  <a:schemeClr val="accent5"/>
                </a:solidFill>
              </a:rPr>
              <a:t>2. Suspend</a:t>
            </a:r>
            <a:endParaRPr lang="en-US" sz="1700" dirty="0"/>
          </a:p>
        </p:txBody>
      </p:sp>
      <p:sp>
        <p:nvSpPr>
          <p:cNvPr id="12" name="a-up-w-ppd1"/>
          <p:cNvSpPr txBox="1"/>
          <p:nvPr/>
        </p:nvSpPr>
        <p:spPr>
          <a:xfrm>
            <a:off x="457200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One click sets one or all of them temporarily inactive.</a:t>
            </a:r>
            <a:endParaRPr lang="en-US" sz="1300" dirty="0"/>
          </a:p>
        </p:txBody>
      </p:sp>
      <p:sp>
        <p:nvSpPr>
          <p:cNvPr id="13" name="a-up-pp2"/>
          <p:cNvSpPr/>
          <p:nvPr/>
        </p:nvSpPr>
        <p:spPr>
          <a:xfrm>
            <a:off x="804672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ppt2"/>
          <p:cNvSpPr txBox="1"/>
          <p:nvPr/>
        </p:nvSpPr>
        <p:spPr>
          <a:xfrm>
            <a:off x="832104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3. Reactivate</a:t>
            </a:r>
            <a:endParaRPr lang="en-US" sz="1700" dirty="0"/>
          </a:p>
        </p:txBody>
      </p:sp>
      <p:sp>
        <p:nvSpPr>
          <p:cNvPr id="15" name="a-up-w-ppd2"/>
          <p:cNvSpPr txBox="1"/>
          <p:nvPr/>
        </p:nvSpPr>
        <p:spPr>
          <a:xfrm>
            <a:off x="832104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When every bill is paid the connection is offered for reactivation.</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5"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53" presetClass="entr" presetSubtype="16"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 calcmode="lin" valueType="num">
                                      <p:cBhvr>
                                        <p:cTn id="19" dur="650" decel="100000" fill="hold"/>
                                        <p:tgtEl>
                                          <p:spTgt spid="5"/>
                                        </p:tgtEl>
                                        <p:attrNameLst>
                                          <p:attrName>ppt_w</p:attrName>
                                        </p:attrNameLst>
                                      </p:cBhvr>
                                      <p:tavLst>
                                        <p:tav tm="0">
                                          <p:val>
                                            <p:strVal val="#ppt_w*0.7"/>
                                          </p:val>
                                        </p:tav>
                                        <p:tav tm="100000">
                                          <p:val>
                                            <p:strVal val="#ppt_w"/>
                                          </p:val>
                                        </p:tav>
                                      </p:tavLst>
                                    </p:anim>
                                    <p:anim calcmode="lin" valueType="num">
                                      <p:cBhvr>
                                        <p:cTn id="20" dur="650" decel="100000" fill="hold"/>
                                        <p:tgtEl>
                                          <p:spTgt spid="5"/>
                                        </p:tgtEl>
                                        <p:attrNameLst>
                                          <p:attrName>ppt_h</p:attrName>
                                        </p:attrNameLst>
                                      </p:cBhvr>
                                      <p:tavLst>
                                        <p:tav tm="0">
                                          <p:val>
                                            <p:strVal val="#ppt_h*0.7"/>
                                          </p:val>
                                        </p:tav>
                                        <p:tav tm="100000">
                                          <p:val>
                                            <p:strVal val="#ppt_h"/>
                                          </p:val>
                                        </p:tav>
                                      </p:tavLst>
                                    </p:anim>
                                    <p:animEffect transition="in" filter="fade">
                                      <p:cBhvr>
                                        <p:cTn id="18" dur="650"/>
                                        <p:tgtEl>
                                          <p:spTgt spid="5"/>
                                        </p:tgtEl>
                                      </p:cBhvr>
                                    </p:animEffect>
                                  </p:childTnLst>
                                </p:cTn>
                              </p:par>
                              <p:par>
                                <p:cTn id="26" presetID="53" presetClass="entr" presetSubtype="16"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 calcmode="lin" valueType="num">
                                      <p:cBhvr>
                                        <p:cTn id="24" dur="650" decel="100000" fill="hold"/>
                                        <p:tgtEl>
                                          <p:spTgt spid="6"/>
                                        </p:tgtEl>
                                        <p:attrNameLst>
                                          <p:attrName>ppt_w</p:attrName>
                                        </p:attrNameLst>
                                      </p:cBhvr>
                                      <p:tavLst>
                                        <p:tav tm="0">
                                          <p:val>
                                            <p:strVal val="#ppt_w*0.7"/>
                                          </p:val>
                                        </p:tav>
                                        <p:tav tm="100000">
                                          <p:val>
                                            <p:strVal val="#ppt_w"/>
                                          </p:val>
                                        </p:tav>
                                      </p:tavLst>
                                    </p:anim>
                                    <p:anim calcmode="lin" valueType="num">
                                      <p:cBhvr>
                                        <p:cTn id="25" dur="650" decel="100000" fill="hold"/>
                                        <p:tgtEl>
                                          <p:spTgt spid="6"/>
                                        </p:tgtEl>
                                        <p:attrNameLst>
                                          <p:attrName>ppt_h</p:attrName>
                                        </p:attrNameLst>
                                      </p:cBhvr>
                                      <p:tavLst>
                                        <p:tav tm="0">
                                          <p:val>
                                            <p:strVal val="#ppt_h*0.7"/>
                                          </p:val>
                                        </p:tav>
                                        <p:tav tm="100000">
                                          <p:val>
                                            <p:strVal val="#ppt_h"/>
                                          </p:val>
                                        </p:tav>
                                      </p:tavLst>
                                    </p:anim>
                                    <p:animEffect transition="in" filter="fade">
                                      <p:cBhvr>
                                        <p:cTn id="23" dur="650"/>
                                        <p:tgtEl>
                                          <p:spTgt spid="6"/>
                                        </p:tgtEl>
                                      </p:cBhvr>
                                    </p:animEffect>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4" presetID="10" presetClass="entr" presetSubtype="0" fill="hold" grpId="0" nodeType="withEffect">
                                  <p:stCondLst>
                                    <p:cond delay="10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1" grpId="0" animBg="1"/>
      <p:bldP spid="12" grpId="0" animBg="1"/>
      <p:bldP spid="14" grpId="0" animBg="1"/>
      <p:bldP spid="15" grpId="0" animBg="1"/>
      <p:bldP spid="2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glass interface with 3D motion</a:t>
            </a:r>
            <a:endParaRPr lang="en-US" sz="3200" dirty="0"/>
          </a:p>
        </p:txBody>
      </p:sp>
      <p:sp>
        <p:nvSpPr>
          <p:cNvPr id="3" name="a-zoom-home"/>
          <p:cNvSpPr/>
          <p:nvPr/>
        </p:nvSpPr>
        <p:spPr>
          <a:xfrm>
            <a:off x="493776" y="1362456"/>
            <a:ext cx="6876288" cy="4343400"/>
          </a:xfrm>
          <a:prstGeom prst="roundRect">
            <a:avLst>
              <a:gd name="adj" fmla="val 168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home-img" descr="/tmp/claude-0/-home-user-done/4a4296a4-6fd8-5cee-98c2-5de0aee80c99/scratchpad/docs/img/ui-home.jpg">    </p:cNvPr>
          <p:cNvPicPr>
            <a:picLocks noChangeAspect="1"/>
          </p:cNvPicPr>
          <p:nvPr/>
        </p:nvPicPr>
        <p:blipFill>
          <a:blip r:embed="rId1"/>
          <a:stretch>
            <a:fillRect/>
          </a:stretch>
        </p:blipFill>
        <p:spPr>
          <a:xfrm>
            <a:off x="548640" y="1417320"/>
            <a:ext cx="6766560" cy="4233672"/>
          </a:xfrm>
          <a:prstGeom prst="rect">
            <a:avLst/>
          </a:prstGeom>
        </p:spPr>
      </p:pic>
      <p:sp>
        <p:nvSpPr>
          <p:cNvPr id="5" name="a-right-ui0"/>
          <p:cNvSpPr/>
          <p:nvPr/>
        </p:nvSpPr>
        <p:spPr>
          <a:xfrm>
            <a:off x="7726680" y="1417320"/>
            <a:ext cx="566928" cy="566928"/>
          </a:xfrm>
          <a:prstGeom prst="ellipse">
            <a:avLst/>
          </a:prstGeom>
          <a:solidFill>
            <a:schemeClr val="accent1"/>
          </a:solidFill>
          <a:ln/>
        </p:spPr>
      </p:sp>
      <p:pic>
        <p:nvPicPr>
          <p:cNvPr id="6" name="a-right-w-ui0-i" descr="/tmp/claude-0/-home-user-done/4a4296a4-6fd8-5cee-98c2-5de0aee80c99/scratchpad/docs/img/icons/globe-w.png">    </p:cNvPr>
          <p:cNvPicPr>
            <a:picLocks noChangeAspect="1"/>
          </p:cNvPicPr>
          <p:nvPr/>
        </p:nvPicPr>
        <p:blipFill>
          <a:blip r:embed="rId2"/>
          <a:stretch>
            <a:fillRect/>
          </a:stretch>
        </p:blipFill>
        <p:spPr>
          <a:xfrm>
            <a:off x="7868412" y="1559052"/>
            <a:ext cx="283464" cy="283464"/>
          </a:xfrm>
          <a:prstGeom prst="rect">
            <a:avLst/>
          </a:prstGeom>
        </p:spPr>
      </p:pic>
      <p:sp>
        <p:nvSpPr>
          <p:cNvPr id="7" name="a-right-w-ut0"/>
          <p:cNvSpPr txBox="1"/>
          <p:nvPr/>
        </p:nvSpPr>
        <p:spPr>
          <a:xfrm>
            <a:off x="8458200" y="1399032"/>
            <a:ext cx="3200400" cy="320040"/>
          </a:xfrm>
          <a:prstGeom prst="rect">
            <a:avLst/>
          </a:prstGeom>
          <a:noFill/>
          <a:ln/>
        </p:spPr>
        <p:txBody>
          <a:bodyPr wrap="square" lIns="0" tIns="0" rIns="0" bIns="0" rtlCol="0" anchor="t"/>
          <a:lstStyle/>
          <a:p>
            <a:pPr indent="0" marL="0">
              <a:buNone/>
            </a:pPr>
            <a:r>
              <a:rPr lang="en-US" sz="1500" b="1" dirty="0">
                <a:solidFill>
                  <a:schemeClr val="tx2"/>
                </a:solidFill>
              </a:rPr>
              <a:t>Frosted glass theme</a:t>
            </a:r>
            <a:endParaRPr lang="en-US" sz="1500" dirty="0"/>
          </a:p>
        </p:txBody>
      </p:sp>
      <p:sp>
        <p:nvSpPr>
          <p:cNvPr id="8" name="a-right-w-ud0"/>
          <p:cNvSpPr txBox="1"/>
          <p:nvPr/>
        </p:nvSpPr>
        <p:spPr>
          <a:xfrm>
            <a:off x="8458200" y="1719072"/>
            <a:ext cx="3200400" cy="457200"/>
          </a:xfrm>
          <a:prstGeom prst="rect">
            <a:avLst/>
          </a:prstGeom>
          <a:noFill/>
          <a:ln/>
        </p:spPr>
        <p:txBody>
          <a:bodyPr wrap="square" lIns="0" tIns="0" rIns="0" bIns="0" rtlCol="0" anchor="t"/>
          <a:lstStyle/>
          <a:p>
            <a:pPr indent="0" marL="0">
              <a:buNone/>
            </a:pPr>
            <a:r>
              <a:rPr lang="en-US" sz="1250" dirty="0">
                <a:solidFill>
                  <a:schemeClr val="accent6"/>
                </a:solidFill>
              </a:rPr>
              <a:t>Glass cards over animated aurora glows and particles</a:t>
            </a:r>
            <a:endParaRPr lang="en-US" sz="1250" dirty="0"/>
          </a:p>
        </p:txBody>
      </p:sp>
      <p:sp>
        <p:nvSpPr>
          <p:cNvPr id="9" name="a-right-ui1"/>
          <p:cNvSpPr/>
          <p:nvPr/>
        </p:nvSpPr>
        <p:spPr>
          <a:xfrm>
            <a:off x="7726680" y="2304288"/>
            <a:ext cx="566928" cy="566928"/>
          </a:xfrm>
          <a:prstGeom prst="ellipse">
            <a:avLst/>
          </a:prstGeom>
          <a:solidFill>
            <a:schemeClr val="accent2"/>
          </a:solidFill>
          <a:ln/>
        </p:spPr>
      </p:sp>
      <p:pic>
        <p:nvPicPr>
          <p:cNvPr id="10" name="a-right-w-ui1-i" descr="/tmp/claude-0/-home-user-done/4a4296a4-6fd8-5cee-98c2-5de0aee80c99/scratchpad/docs/img/icons/cube-w.png">    </p:cNvPr>
          <p:cNvPicPr>
            <a:picLocks noChangeAspect="1"/>
          </p:cNvPicPr>
          <p:nvPr/>
        </p:nvPicPr>
        <p:blipFill>
          <a:blip r:embed="rId3"/>
          <a:stretch>
            <a:fillRect/>
          </a:stretch>
        </p:blipFill>
        <p:spPr>
          <a:xfrm>
            <a:off x="7868412" y="2446020"/>
            <a:ext cx="283464" cy="283464"/>
          </a:xfrm>
          <a:prstGeom prst="rect">
            <a:avLst/>
          </a:prstGeom>
        </p:spPr>
      </p:pic>
      <p:sp>
        <p:nvSpPr>
          <p:cNvPr id="11" name="a-right-w-ut1"/>
          <p:cNvSpPr txBox="1"/>
          <p:nvPr/>
        </p:nvSpPr>
        <p:spPr>
          <a:xfrm>
            <a:off x="8458200" y="22860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Clear glass on hover</a:t>
            </a:r>
            <a:endParaRPr lang="en-US" sz="1500" dirty="0"/>
          </a:p>
        </p:txBody>
      </p:sp>
      <p:sp>
        <p:nvSpPr>
          <p:cNvPr id="12" name="a-right-w-ud1"/>
          <p:cNvSpPr txBox="1"/>
          <p:nvPr/>
        </p:nvSpPr>
        <p:spPr>
          <a:xfrm>
            <a:off x="8458200" y="2606040"/>
            <a:ext cx="3200400" cy="457200"/>
          </a:xfrm>
          <a:prstGeom prst="rect">
            <a:avLst/>
          </a:prstGeom>
          <a:noFill/>
          <a:ln/>
        </p:spPr>
        <p:txBody>
          <a:bodyPr wrap="square" lIns="0" tIns="0" rIns="0" bIns="0" rtlCol="0" anchor="t"/>
          <a:lstStyle/>
          <a:p>
            <a:pPr indent="0" marL="0">
              <a:buNone/>
            </a:pPr>
            <a:r>
              <a:rPr lang="en-US" sz="1250" dirty="0">
                <a:solidFill>
                  <a:schemeClr val="accent6"/>
                </a:solidFill>
              </a:rPr>
              <a:t>Cards turn clear, light up and tilt; a light flash on click</a:t>
            </a:r>
            <a:endParaRPr lang="en-US" sz="1250" dirty="0"/>
          </a:p>
        </p:txBody>
      </p:sp>
      <p:sp>
        <p:nvSpPr>
          <p:cNvPr id="13" name="a-right-ui2"/>
          <p:cNvSpPr/>
          <p:nvPr/>
        </p:nvSpPr>
        <p:spPr>
          <a:xfrm>
            <a:off x="7726680" y="3191256"/>
            <a:ext cx="566928" cy="566928"/>
          </a:xfrm>
          <a:prstGeom prst="ellipse">
            <a:avLst/>
          </a:prstGeom>
          <a:solidFill>
            <a:schemeClr val="accent1"/>
          </a:solidFill>
          <a:ln/>
        </p:spPr>
      </p:sp>
      <p:pic>
        <p:nvPicPr>
          <p:cNvPr id="14" name="a-right-w-ui2-i" descr="/tmp/claude-0/-home-user-done/4a4296a4-6fd8-5cee-98c2-5de0aee80c99/scratchpad/docs/img/icons/wand-w.png">    </p:cNvPr>
          <p:cNvPicPr>
            <a:picLocks noChangeAspect="1"/>
          </p:cNvPicPr>
          <p:nvPr/>
        </p:nvPicPr>
        <p:blipFill>
          <a:blip r:embed="rId4"/>
          <a:stretch>
            <a:fillRect/>
          </a:stretch>
        </p:blipFill>
        <p:spPr>
          <a:xfrm>
            <a:off x="7868412" y="3332988"/>
            <a:ext cx="283464" cy="283464"/>
          </a:xfrm>
          <a:prstGeom prst="rect">
            <a:avLst/>
          </a:prstGeom>
        </p:spPr>
      </p:pic>
      <p:sp>
        <p:nvSpPr>
          <p:cNvPr id="15" name="a-right-w-ut2"/>
          <p:cNvSpPr txBox="1"/>
          <p:nvPr/>
        </p:nvSpPr>
        <p:spPr>
          <a:xfrm>
            <a:off x="8458200" y="3172968"/>
            <a:ext cx="3200400" cy="320040"/>
          </a:xfrm>
          <a:prstGeom prst="rect">
            <a:avLst/>
          </a:prstGeom>
          <a:noFill/>
          <a:ln/>
        </p:spPr>
        <p:txBody>
          <a:bodyPr wrap="square" lIns="0" tIns="0" rIns="0" bIns="0" rtlCol="0" anchor="t"/>
          <a:lstStyle/>
          <a:p>
            <a:pPr indent="0" marL="0">
              <a:buNone/>
            </a:pPr>
            <a:r>
              <a:rPr lang="en-US" sz="1500" b="1" dirty="0">
                <a:solidFill>
                  <a:schemeClr val="tx2"/>
                </a:solidFill>
              </a:rPr>
              <a:t>Loader and reveals</a:t>
            </a:r>
            <a:endParaRPr lang="en-US" sz="1500" dirty="0"/>
          </a:p>
        </p:txBody>
      </p:sp>
      <p:sp>
        <p:nvSpPr>
          <p:cNvPr id="16" name="a-right-w-ud2"/>
          <p:cNvSpPr txBox="1"/>
          <p:nvPr/>
        </p:nvSpPr>
        <p:spPr>
          <a:xfrm>
            <a:off x="8458200" y="3493008"/>
            <a:ext cx="3200400" cy="457200"/>
          </a:xfrm>
          <a:prstGeom prst="rect">
            <a:avLst/>
          </a:prstGeom>
          <a:noFill/>
          <a:ln/>
        </p:spPr>
        <p:txBody>
          <a:bodyPr wrap="square" lIns="0" tIns="0" rIns="0" bIns="0" rtlCol="0" anchor="t"/>
          <a:lstStyle/>
          <a:p>
            <a:pPr indent="0" marL="0">
              <a:buNone/>
            </a:pPr>
            <a:r>
              <a:rPr lang="en-US" sz="1250" dirty="0">
                <a:solidFill>
                  <a:schemeClr val="accent6"/>
                </a:solidFill>
              </a:rPr>
              <a:t>Animated logo, word-by-word headlines, scroll reveals</a:t>
            </a:r>
            <a:endParaRPr lang="en-US" sz="1250" dirty="0"/>
          </a:p>
        </p:txBody>
      </p:sp>
      <p:sp>
        <p:nvSpPr>
          <p:cNvPr id="17" name="a-right-ui3"/>
          <p:cNvSpPr/>
          <p:nvPr/>
        </p:nvSpPr>
        <p:spPr>
          <a:xfrm>
            <a:off x="7726680" y="4078224"/>
            <a:ext cx="566928" cy="566928"/>
          </a:xfrm>
          <a:prstGeom prst="ellipse">
            <a:avLst/>
          </a:prstGeom>
          <a:solidFill>
            <a:schemeClr val="accent2"/>
          </a:solidFill>
          <a:ln/>
        </p:spPr>
      </p:sp>
      <p:pic>
        <p:nvPicPr>
          <p:cNvPr id="18" name="a-right-w-ui3-i" descr="/tmp/claude-0/-home-user-done/4a4296a4-6fd8-5cee-98c2-5de0aee80c99/scratchpad/docs/img/icons/eye-w.png">    </p:cNvPr>
          <p:cNvPicPr>
            <a:picLocks noChangeAspect="1"/>
          </p:cNvPicPr>
          <p:nvPr/>
        </p:nvPicPr>
        <p:blipFill>
          <a:blip r:embed="rId5"/>
          <a:stretch>
            <a:fillRect/>
          </a:stretch>
        </p:blipFill>
        <p:spPr>
          <a:xfrm>
            <a:off x="7868412" y="4219956"/>
            <a:ext cx="283464" cy="283464"/>
          </a:xfrm>
          <a:prstGeom prst="rect">
            <a:avLst/>
          </a:prstGeom>
        </p:spPr>
      </p:pic>
      <p:sp>
        <p:nvSpPr>
          <p:cNvPr id="19" name="a-right-w-ut3"/>
          <p:cNvSpPr txBox="1"/>
          <p:nvPr/>
        </p:nvSpPr>
        <p:spPr>
          <a:xfrm>
            <a:off x="8458200" y="4059936"/>
            <a:ext cx="3200400" cy="320040"/>
          </a:xfrm>
          <a:prstGeom prst="rect">
            <a:avLst/>
          </a:prstGeom>
          <a:noFill/>
          <a:ln/>
        </p:spPr>
        <p:txBody>
          <a:bodyPr wrap="square" lIns="0" tIns="0" rIns="0" bIns="0" rtlCol="0" anchor="t"/>
          <a:lstStyle/>
          <a:p>
            <a:pPr indent="0" marL="0">
              <a:buNone/>
            </a:pPr>
            <a:r>
              <a:rPr lang="en-US" sz="1500" b="1" dirty="0">
                <a:solidFill>
                  <a:schemeClr val="tx2"/>
                </a:solidFill>
              </a:rPr>
              <a:t>Accessible</a:t>
            </a:r>
            <a:endParaRPr lang="en-US" sz="1500" dirty="0"/>
          </a:p>
        </p:txBody>
      </p:sp>
      <p:sp>
        <p:nvSpPr>
          <p:cNvPr id="20" name="a-right-w-ud3"/>
          <p:cNvSpPr txBox="1"/>
          <p:nvPr/>
        </p:nvSpPr>
        <p:spPr>
          <a:xfrm>
            <a:off x="8458200" y="4379976"/>
            <a:ext cx="3200400" cy="457200"/>
          </a:xfrm>
          <a:prstGeom prst="rect">
            <a:avLst/>
          </a:prstGeom>
          <a:noFill/>
          <a:ln/>
        </p:spPr>
        <p:txBody>
          <a:bodyPr wrap="square" lIns="0" tIns="0" rIns="0" bIns="0" rtlCol="0" anchor="t"/>
          <a:lstStyle/>
          <a:p>
            <a:pPr indent="0" marL="0">
              <a:buNone/>
            </a:pPr>
            <a:r>
              <a:rPr lang="en-US" sz="1250" dirty="0">
                <a:solidFill>
                  <a:schemeClr val="accent6"/>
                </a:solidFill>
              </a:rPr>
              <a:t>Reduced-motion mode, keyboard focus, 4.5:1 contrast</a:t>
            </a:r>
            <a:endParaRPr lang="en-US" sz="1250" dirty="0"/>
          </a:p>
        </p:txBody>
      </p:sp>
      <p:sp>
        <p:nvSpPr>
          <p:cNvPr id="21" name="a-right-ui4"/>
          <p:cNvSpPr/>
          <p:nvPr/>
        </p:nvSpPr>
        <p:spPr>
          <a:xfrm>
            <a:off x="7726680" y="4965192"/>
            <a:ext cx="566928" cy="566928"/>
          </a:xfrm>
          <a:prstGeom prst="ellipse">
            <a:avLst/>
          </a:prstGeom>
          <a:solidFill>
            <a:schemeClr val="accent1"/>
          </a:solidFill>
          <a:ln/>
        </p:spPr>
      </p:sp>
      <p:pic>
        <p:nvPicPr>
          <p:cNvPr id="22" name="a-right-w-ui4-i" descr="/tmp/claude-0/-home-user-done/4a4296a4-6fd8-5cee-98c2-5de0aee80c99/scratchpad/docs/img/icons/mobile-w.png">    </p:cNvPr>
          <p:cNvPicPr>
            <a:picLocks noChangeAspect="1"/>
          </p:cNvPicPr>
          <p:nvPr/>
        </p:nvPicPr>
        <p:blipFill>
          <a:blip r:embed="rId6"/>
          <a:stretch>
            <a:fillRect/>
          </a:stretch>
        </p:blipFill>
        <p:spPr>
          <a:xfrm>
            <a:off x="7868412" y="5106924"/>
            <a:ext cx="283464" cy="283464"/>
          </a:xfrm>
          <a:prstGeom prst="rect">
            <a:avLst/>
          </a:prstGeom>
        </p:spPr>
      </p:pic>
      <p:sp>
        <p:nvSpPr>
          <p:cNvPr id="23" name="a-right-w-ut4"/>
          <p:cNvSpPr txBox="1"/>
          <p:nvPr/>
        </p:nvSpPr>
        <p:spPr>
          <a:xfrm>
            <a:off x="8458200" y="4946904"/>
            <a:ext cx="3200400" cy="320040"/>
          </a:xfrm>
          <a:prstGeom prst="rect">
            <a:avLst/>
          </a:prstGeom>
          <a:noFill/>
          <a:ln/>
        </p:spPr>
        <p:txBody>
          <a:bodyPr wrap="square" lIns="0" tIns="0" rIns="0" bIns="0" rtlCol="0" anchor="t"/>
          <a:lstStyle/>
          <a:p>
            <a:pPr indent="0" marL="0">
              <a:buNone/>
            </a:pPr>
            <a:r>
              <a:rPr lang="en-US" sz="1500" b="1" dirty="0">
                <a:solidFill>
                  <a:schemeClr val="tx2"/>
                </a:solidFill>
              </a:rPr>
              <a:t>Responsive</a:t>
            </a:r>
            <a:endParaRPr lang="en-US" sz="1500" dirty="0"/>
          </a:p>
        </p:txBody>
      </p:sp>
      <p:sp>
        <p:nvSpPr>
          <p:cNvPr id="24" name="a-right-w-ud4"/>
          <p:cNvSpPr txBox="1"/>
          <p:nvPr/>
        </p:nvSpPr>
        <p:spPr>
          <a:xfrm>
            <a:off x="8458200" y="5266944"/>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Phone, tablet and desktop layouts</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10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12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12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12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4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dashboard for every role</a:t>
            </a:r>
            <a:endParaRPr lang="en-US" sz="3200" dirty="0"/>
          </a:p>
        </p:txBody>
      </p:sp>
      <p:sp>
        <p:nvSpPr>
          <p:cNvPr id="3" name="a-up-db0"/>
          <p:cNvSpPr/>
          <p:nvPr/>
        </p:nvSpPr>
        <p:spPr>
          <a:xfrm>
            <a:off x="49377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up-w-db0-img" descr="/tmp/claude-0/-home-user-done/4a4296a4-6fd8-5cee-98c2-5de0aee80c99/scratchpad/docs/img/ui-admin-dashboard.jpg">    </p:cNvPr>
          <p:cNvPicPr>
            <a:picLocks noChangeAspect="1"/>
          </p:cNvPicPr>
          <p:nvPr/>
        </p:nvPicPr>
        <p:blipFill>
          <a:blip r:embed="rId1"/>
          <a:stretch>
            <a:fillRect/>
          </a:stretch>
        </p:blipFill>
        <p:spPr>
          <a:xfrm>
            <a:off x="548640" y="1508760"/>
            <a:ext cx="3520440" cy="2203704"/>
          </a:xfrm>
          <a:prstGeom prst="rect">
            <a:avLst/>
          </a:prstGeom>
        </p:spPr>
      </p:pic>
      <p:sp>
        <p:nvSpPr>
          <p:cNvPr id="5" name="a-up-w-dbt0"/>
          <p:cNvSpPr txBox="1"/>
          <p:nvPr/>
        </p:nvSpPr>
        <p:spPr>
          <a:xfrm>
            <a:off x="54864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Admin</a:t>
            </a:r>
            <a:endParaRPr lang="en-US" sz="1800" dirty="0"/>
          </a:p>
        </p:txBody>
      </p:sp>
      <p:sp>
        <p:nvSpPr>
          <p:cNvPr id="6" name="a-up-db1"/>
          <p:cNvSpPr/>
          <p:nvPr/>
        </p:nvSpPr>
        <p:spPr>
          <a:xfrm>
            <a:off x="424281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7" name="a-up-w-db1-img" descr="/tmp/claude-0/-home-user-done/4a4296a4-6fd8-5cee-98c2-5de0aee80c99/scratchpad/docs/img/ui-accounts-dashboard.jpg">    </p:cNvPr>
          <p:cNvPicPr>
            <a:picLocks noChangeAspect="1"/>
          </p:cNvPicPr>
          <p:nvPr/>
        </p:nvPicPr>
        <p:blipFill>
          <a:blip r:embed="rId2"/>
          <a:stretch>
            <a:fillRect/>
          </a:stretch>
        </p:blipFill>
        <p:spPr>
          <a:xfrm>
            <a:off x="4297680" y="1508760"/>
            <a:ext cx="3520440" cy="2203704"/>
          </a:xfrm>
          <a:prstGeom prst="rect">
            <a:avLst/>
          </a:prstGeom>
        </p:spPr>
      </p:pic>
      <p:sp>
        <p:nvSpPr>
          <p:cNvPr id="8" name="a-up-w-dbt1"/>
          <p:cNvSpPr txBox="1"/>
          <p:nvPr/>
        </p:nvSpPr>
        <p:spPr>
          <a:xfrm>
            <a:off x="429768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Accounts</a:t>
            </a:r>
            <a:endParaRPr lang="en-US" sz="1800" dirty="0"/>
          </a:p>
        </p:txBody>
      </p:sp>
      <p:sp>
        <p:nvSpPr>
          <p:cNvPr id="9" name="a-up-db2"/>
          <p:cNvSpPr/>
          <p:nvPr/>
        </p:nvSpPr>
        <p:spPr>
          <a:xfrm>
            <a:off x="799185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0" name="a-up-w-db2-img" descr="/tmp/claude-0/-home-user-done/4a4296a4-6fd8-5cee-98c2-5de0aee80c99/scratchpad/docs/img/ui-customer-dashboard.jpg">    </p:cNvPr>
          <p:cNvPicPr>
            <a:picLocks noChangeAspect="1"/>
          </p:cNvPicPr>
          <p:nvPr/>
        </p:nvPicPr>
        <p:blipFill>
          <a:blip r:embed="rId3"/>
          <a:stretch>
            <a:fillRect/>
          </a:stretch>
        </p:blipFill>
        <p:spPr>
          <a:xfrm>
            <a:off x="8046720" y="1508760"/>
            <a:ext cx="3520440" cy="2203704"/>
          </a:xfrm>
          <a:prstGeom prst="rect">
            <a:avLst/>
          </a:prstGeom>
        </p:spPr>
      </p:pic>
      <p:sp>
        <p:nvSpPr>
          <p:cNvPr id="11" name="a-up-w-dbt2"/>
          <p:cNvSpPr txBox="1"/>
          <p:nvPr/>
        </p:nvSpPr>
        <p:spPr>
          <a:xfrm>
            <a:off x="804672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Customer</a:t>
            </a:r>
            <a:endParaRPr lang="en-US" sz="1800" dirty="0"/>
          </a:p>
        </p:txBody>
      </p:sp>
      <p:sp>
        <p:nvSpPr>
          <p:cNvPr id="12" name="a-fade-dbn"/>
          <p:cNvSpPr/>
          <p:nvPr/>
        </p:nvSpPr>
        <p:spPr>
          <a:xfrm>
            <a:off x="548640" y="4663440"/>
            <a:ext cx="11064240" cy="1325880"/>
          </a:xfrm>
          <a:prstGeom prst="roundRect">
            <a:avLst>
              <a:gd name="adj" fmla="val 827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fade-w-dbnt"/>
          <p:cNvSpPr txBox="1"/>
          <p:nvPr/>
        </p:nvSpPr>
        <p:spPr>
          <a:xfrm>
            <a:off x="868680" y="4800600"/>
            <a:ext cx="10424160" cy="1051560"/>
          </a:xfrm>
          <a:prstGeom prst="rect">
            <a:avLst/>
          </a:prstGeom>
          <a:noFill/>
          <a:ln/>
        </p:spPr>
        <p:txBody>
          <a:bodyPr wrap="square" lIns="0" tIns="0" rIns="0" bIns="0" rtlCol="0" anchor="ctr"/>
          <a:lstStyle/>
          <a:p>
            <a:pPr indent="0" marL="0">
              <a:buNone/>
            </a:pPr>
            <a:r>
              <a:rPr lang="en-US" sz="1500" b="1" dirty="0">
                <a:solidFill>
                  <a:schemeClr val="accent1"/>
                </a:solidFill>
              </a:rPr>
              <a:t>Live key figures </a:t>
            </a:r>
            <a:pPr indent="0" marL="0">
              <a:buNone/>
            </a:pPr>
            <a:r>
              <a:rPr lang="en-US" sz="1500" dirty="0">
                <a:solidFill>
                  <a:schemeClr val="tx2"/>
                </a:solidFill>
              </a:rPr>
              <a:t>on every dashboard - open orders, overdue bills, money outstanding, collections this month, low stock or the customer's own amount due - read from the database for that user only.</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4" presetID="10"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7" presetID="10" presetClass="entr" presetSubtype="0" fill="hold" grpId="0" nodeType="withEffect">
                                  <p:stCondLst>
                                    <p:cond delay="80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par>
                                <p:cTn id="60" presetID="10" presetClass="entr" presetSubtype="0" fill="hold" grpId="0"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11" grpId="0" animBg="1"/>
      <p:bldP spid="13" grpId="0" animBg="1"/>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Quality: tested end to end</a:t>
            </a:r>
            <a:endParaRPr lang="en-US" sz="3200" dirty="0"/>
          </a:p>
        </p:txBody>
      </p:sp>
      <p:sp>
        <p:nvSpPr>
          <p:cNvPr id="3" name="a-zoom-qc"/>
          <p:cNvSpPr/>
          <p:nvPr/>
        </p:nvSpPr>
        <p:spPr>
          <a:xfrm>
            <a:off x="548640" y="1417320"/>
            <a:ext cx="3931920" cy="4572000"/>
          </a:xfrm>
          <a:prstGeom prst="roundRect">
            <a:avLst>
              <a:gd name="adj" fmla="val 2791"/>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zoom-w-qn"/>
          <p:cNvSpPr txBox="1"/>
          <p:nvPr/>
        </p:nvSpPr>
        <p:spPr>
          <a:xfrm>
            <a:off x="548640" y="1965960"/>
            <a:ext cx="3931920" cy="1188720"/>
          </a:xfrm>
          <a:prstGeom prst="rect">
            <a:avLst/>
          </a:prstGeom>
          <a:noFill/>
          <a:ln/>
        </p:spPr>
        <p:txBody>
          <a:bodyPr wrap="square" lIns="0" tIns="0" rIns="0" bIns="0" rtlCol="0" anchor="t"/>
          <a:lstStyle/>
          <a:p>
            <a:pPr algn="ctr" indent="0" marL="0">
              <a:buNone/>
            </a:pPr>
            <a:r>
              <a:rPr lang="en-US" sz="6000" b="1" dirty="0">
                <a:solidFill>
                  <a:schemeClr val="accent2"/>
                </a:solidFill>
              </a:rPr>
              <a:t>48 / 48</a:t>
            </a:r>
            <a:endParaRPr lang="en-US" sz="6000" dirty="0"/>
          </a:p>
        </p:txBody>
      </p:sp>
      <p:sp>
        <p:nvSpPr>
          <p:cNvPr id="5" name="a-fade-qd"/>
          <p:cNvSpPr txBox="1"/>
          <p:nvPr/>
        </p:nvSpPr>
        <p:spPr>
          <a:xfrm>
            <a:off x="868680" y="3246120"/>
            <a:ext cx="3291840" cy="822960"/>
          </a:xfrm>
          <a:prstGeom prst="rect">
            <a:avLst/>
          </a:prstGeom>
          <a:noFill/>
          <a:ln/>
        </p:spPr>
        <p:txBody>
          <a:bodyPr wrap="square" lIns="0" tIns="0" rIns="0" bIns="0" rtlCol="0" anchor="t"/>
          <a:lstStyle/>
          <a:p>
            <a:pPr algn="ctr" indent="0" marL="0">
              <a:buNone/>
            </a:pPr>
            <a:r>
              <a:rPr lang="en-US" sz="1600" dirty="0">
                <a:solidFill>
                  <a:schemeClr val="tx2"/>
                </a:solidFill>
              </a:rPr>
              <a:t>automated end-to-end checks pass on SQL Server 2022</a:t>
            </a:r>
            <a:endParaRPr lang="en-US" sz="1600" dirty="0"/>
          </a:p>
        </p:txBody>
      </p:sp>
      <p:sp>
        <p:nvSpPr>
          <p:cNvPr id="6" name="a-fade-qd2"/>
          <p:cNvSpPr txBox="1"/>
          <p:nvPr/>
        </p:nvSpPr>
        <p:spPr>
          <a:xfrm>
            <a:off x="868680" y="4206240"/>
            <a:ext cx="3291840" cy="1371600"/>
          </a:xfrm>
          <a:prstGeom prst="rect">
            <a:avLst/>
          </a:prstGeom>
          <a:noFill/>
          <a:ln/>
        </p:spPr>
        <p:txBody>
          <a:bodyPr wrap="square" lIns="0" tIns="0" rIns="0" bIns="0" rtlCol="0" anchor="t"/>
          <a:lstStyle/>
          <a:p>
            <a:pPr algn="ctr" indent="0" marL="0">
              <a:buNone/>
            </a:pPr>
            <a:r>
              <a:rPr lang="en-US" sz="1300" dirty="0">
                <a:solidFill>
                  <a:schemeClr val="accent6"/>
                </a:solidFill>
              </a:rPr>
              <a:t>plus browser checks: no script errors, no sideways scrolling on phones, all content visible with reduced motion</a:t>
            </a:r>
            <a:endParaRPr lang="en-US" sz="1300" dirty="0"/>
          </a:p>
        </p:txBody>
      </p:sp>
      <p:sp>
        <p:nvSpPr>
          <p:cNvPr id="7" name="a-right-qa0"/>
          <p:cNvSpPr/>
          <p:nvPr/>
        </p:nvSpPr>
        <p:spPr>
          <a:xfrm>
            <a:off x="4846320" y="1417320"/>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right-w-qi0"/>
          <p:cNvSpPr/>
          <p:nvPr/>
        </p:nvSpPr>
        <p:spPr>
          <a:xfrm>
            <a:off x="5074920" y="1618488"/>
            <a:ext cx="603504" cy="603504"/>
          </a:xfrm>
          <a:prstGeom prst="ellipse">
            <a:avLst/>
          </a:prstGeom>
          <a:solidFill>
            <a:schemeClr val="accent1"/>
          </a:solidFill>
          <a:ln/>
        </p:spPr>
      </p:sp>
      <p:pic>
        <p:nvPicPr>
          <p:cNvPr id="9" name="a-right-w-w-qi0-i" descr="/tmp/claude-0/-home-user-done/4a4296a4-6fd8-5cee-98c2-5de0aee80c99/scratchpad/docs/img/icons/check-w.png">    </p:cNvPr>
          <p:cNvPicPr>
            <a:picLocks noChangeAspect="1"/>
          </p:cNvPicPr>
          <p:nvPr/>
        </p:nvPicPr>
        <p:blipFill>
          <a:blip r:embed="rId1"/>
          <a:stretch>
            <a:fillRect/>
          </a:stretch>
        </p:blipFill>
        <p:spPr>
          <a:xfrm>
            <a:off x="5225796" y="1769364"/>
            <a:ext cx="301752" cy="301752"/>
          </a:xfrm>
          <a:prstGeom prst="rect">
            <a:avLst/>
          </a:prstGeom>
        </p:spPr>
      </p:pic>
      <p:sp>
        <p:nvSpPr>
          <p:cNvPr id="10" name="a-right-w-qt0"/>
          <p:cNvSpPr txBox="1"/>
          <p:nvPr/>
        </p:nvSpPr>
        <p:spPr>
          <a:xfrm>
            <a:off x="5897880" y="1572768"/>
            <a:ext cx="5486400" cy="365760"/>
          </a:xfrm>
          <a:prstGeom prst="rect">
            <a:avLst/>
          </a:prstGeom>
          <a:noFill/>
          <a:ln/>
        </p:spPr>
        <p:txBody>
          <a:bodyPr wrap="square" lIns="0" tIns="0" rIns="0" bIns="0" rtlCol="0" anchor="t"/>
          <a:lstStyle/>
          <a:p>
            <a:pPr indent="0" marL="0">
              <a:buNone/>
            </a:pPr>
            <a:r>
              <a:rPr lang="en-US" sz="1700" b="1" dirty="0">
                <a:solidFill>
                  <a:schemeClr val="tx2"/>
                </a:solidFill>
              </a:rPr>
              <a:t>Orders and bundles</a:t>
            </a:r>
            <a:endParaRPr lang="en-US" sz="1700" dirty="0"/>
          </a:p>
        </p:txBody>
      </p:sp>
      <p:sp>
        <p:nvSpPr>
          <p:cNvPr id="11" name="a-right-w-qd0"/>
          <p:cNvSpPr txBox="1"/>
          <p:nvPr/>
        </p:nvSpPr>
        <p:spPr>
          <a:xfrm>
            <a:off x="5897880" y="1947672"/>
            <a:ext cx="5486400" cy="365760"/>
          </a:xfrm>
          <a:prstGeom prst="rect">
            <a:avLst/>
          </a:prstGeom>
          <a:noFill/>
          <a:ln/>
        </p:spPr>
        <p:txBody>
          <a:bodyPr wrap="square" lIns="0" tIns="0" rIns="0" bIns="0" rtlCol="0" anchor="t"/>
          <a:lstStyle/>
          <a:p>
            <a:pPr indent="0" marL="0">
              <a:buNone/>
            </a:pPr>
            <a:r>
              <a:rPr lang="en-US" sz="1300" dirty="0">
                <a:solidFill>
                  <a:schemeClr val="accent6"/>
                </a:solidFill>
              </a:rPr>
              <a:t>landline plan rules, both feasibility checks, bulk bands</a:t>
            </a:r>
            <a:endParaRPr lang="en-US" sz="1300" dirty="0"/>
          </a:p>
        </p:txBody>
      </p:sp>
      <p:sp>
        <p:nvSpPr>
          <p:cNvPr id="12" name="a-right-qa1"/>
          <p:cNvSpPr/>
          <p:nvPr/>
        </p:nvSpPr>
        <p:spPr>
          <a:xfrm>
            <a:off x="4846320" y="2587752"/>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right-w-qi1"/>
          <p:cNvSpPr/>
          <p:nvPr/>
        </p:nvSpPr>
        <p:spPr>
          <a:xfrm>
            <a:off x="5074920" y="2788920"/>
            <a:ext cx="603504" cy="603504"/>
          </a:xfrm>
          <a:prstGeom prst="ellipse">
            <a:avLst/>
          </a:prstGeom>
          <a:solidFill>
            <a:schemeClr val="accent1"/>
          </a:solidFill>
          <a:ln/>
        </p:spPr>
      </p:sp>
      <p:pic>
        <p:nvPicPr>
          <p:cNvPr id="14" name="a-right-w-w-qi1-i" descr="/tmp/claude-0/-home-user-done/4a4296a4-6fd8-5cee-98c2-5de0aee80c99/scratchpad/docs/img/icons/receipt-w.png">    </p:cNvPr>
          <p:cNvPicPr>
            <a:picLocks noChangeAspect="1"/>
          </p:cNvPicPr>
          <p:nvPr/>
        </p:nvPicPr>
        <p:blipFill>
          <a:blip r:embed="rId2"/>
          <a:stretch>
            <a:fillRect/>
          </a:stretch>
        </p:blipFill>
        <p:spPr>
          <a:xfrm>
            <a:off x="5225796" y="2939796"/>
            <a:ext cx="301752" cy="301752"/>
          </a:xfrm>
          <a:prstGeom prst="rect">
            <a:avLst/>
          </a:prstGeom>
        </p:spPr>
      </p:pic>
      <p:sp>
        <p:nvSpPr>
          <p:cNvPr id="15" name="a-right-w-qt1"/>
          <p:cNvSpPr txBox="1"/>
          <p:nvPr/>
        </p:nvSpPr>
        <p:spPr>
          <a:xfrm>
            <a:off x="5897880" y="2743200"/>
            <a:ext cx="5486400" cy="365760"/>
          </a:xfrm>
          <a:prstGeom prst="rect">
            <a:avLst/>
          </a:prstGeom>
          <a:noFill/>
          <a:ln/>
        </p:spPr>
        <p:txBody>
          <a:bodyPr wrap="square" lIns="0" tIns="0" rIns="0" bIns="0" rtlCol="0" anchor="t"/>
          <a:lstStyle/>
          <a:p>
            <a:pPr indent="0" marL="0">
              <a:buNone/>
            </a:pPr>
            <a:r>
              <a:rPr lang="en-US" sz="1700" b="1" dirty="0">
                <a:solidFill>
                  <a:schemeClr val="tx2"/>
                </a:solidFill>
              </a:rPr>
              <a:t>Billing</a:t>
            </a:r>
            <a:endParaRPr lang="en-US" sz="1700" dirty="0"/>
          </a:p>
        </p:txBody>
      </p:sp>
      <p:sp>
        <p:nvSpPr>
          <p:cNvPr id="16" name="a-right-w-qd1"/>
          <p:cNvSpPr txBox="1"/>
          <p:nvPr/>
        </p:nvSpPr>
        <p:spPr>
          <a:xfrm>
            <a:off x="5897880" y="3118104"/>
            <a:ext cx="5486400" cy="365760"/>
          </a:xfrm>
          <a:prstGeom prst="rect">
            <a:avLst/>
          </a:prstGeom>
          <a:noFill/>
          <a:ln/>
        </p:spPr>
        <p:txBody>
          <a:bodyPr wrap="square" lIns="0" tIns="0" rIns="0" bIns="0" rtlCol="0" anchor="t"/>
          <a:lstStyle/>
          <a:p>
            <a:pPr indent="0" marL="0">
              <a:buNone/>
            </a:pPr>
            <a:r>
              <a:rPr lang="en-US" sz="1300" dirty="0">
                <a:solidFill>
                  <a:schemeClr val="accent6"/>
                </a:solidFill>
              </a:rPr>
              <a:t>amounts, tax, plan validity, replacements, brought forward</a:t>
            </a:r>
            <a:endParaRPr lang="en-US" sz="1300" dirty="0"/>
          </a:p>
        </p:txBody>
      </p:sp>
      <p:sp>
        <p:nvSpPr>
          <p:cNvPr id="17" name="a-right-qa2"/>
          <p:cNvSpPr/>
          <p:nvPr/>
        </p:nvSpPr>
        <p:spPr>
          <a:xfrm>
            <a:off x="4846320" y="3758184"/>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8" name="a-right-w-qi2"/>
          <p:cNvSpPr/>
          <p:nvPr/>
        </p:nvSpPr>
        <p:spPr>
          <a:xfrm>
            <a:off x="5074920" y="3959352"/>
            <a:ext cx="603504" cy="603504"/>
          </a:xfrm>
          <a:prstGeom prst="ellipse">
            <a:avLst/>
          </a:prstGeom>
          <a:solidFill>
            <a:schemeClr val="accent1"/>
          </a:solidFill>
          <a:ln/>
        </p:spPr>
      </p:sp>
      <p:pic>
        <p:nvPicPr>
          <p:cNvPr id="19" name="a-right-w-w-qi2-i" descr="/tmp/claude-0/-home-user-done/4a4296a4-6fd8-5cee-98c2-5de0aee80c99/scratchpad/docs/img/icons/shield-w.png">    </p:cNvPr>
          <p:cNvPicPr>
            <a:picLocks noChangeAspect="1"/>
          </p:cNvPicPr>
          <p:nvPr/>
        </p:nvPicPr>
        <p:blipFill>
          <a:blip r:embed="rId3"/>
          <a:stretch>
            <a:fillRect/>
          </a:stretch>
        </p:blipFill>
        <p:spPr>
          <a:xfrm>
            <a:off x="5225796" y="4110228"/>
            <a:ext cx="301752" cy="301752"/>
          </a:xfrm>
          <a:prstGeom prst="rect">
            <a:avLst/>
          </a:prstGeom>
        </p:spPr>
      </p:pic>
      <p:sp>
        <p:nvSpPr>
          <p:cNvPr id="20" name="a-right-w-qt2"/>
          <p:cNvSpPr txBox="1"/>
          <p:nvPr/>
        </p:nvSpPr>
        <p:spPr>
          <a:xfrm>
            <a:off x="5897880" y="3913632"/>
            <a:ext cx="5486400" cy="365760"/>
          </a:xfrm>
          <a:prstGeom prst="rect">
            <a:avLst/>
          </a:prstGeom>
          <a:noFill/>
          <a:ln/>
        </p:spPr>
        <p:txBody>
          <a:bodyPr wrap="square" lIns="0" tIns="0" rIns="0" bIns="0" rtlCol="0" anchor="t"/>
          <a:lstStyle/>
          <a:p>
            <a:pPr indent="0" marL="0">
              <a:buNone/>
            </a:pPr>
            <a:r>
              <a:rPr lang="en-US" sz="1700" b="1" dirty="0">
                <a:solidFill>
                  <a:schemeClr val="tx2"/>
                </a:solidFill>
              </a:rPr>
              <a:t>Security</a:t>
            </a:r>
            <a:endParaRPr lang="en-US" sz="1700" dirty="0"/>
          </a:p>
        </p:txBody>
      </p:sp>
      <p:sp>
        <p:nvSpPr>
          <p:cNvPr id="21" name="a-right-w-qd2"/>
          <p:cNvSpPr txBox="1"/>
          <p:nvPr/>
        </p:nvSpPr>
        <p:spPr>
          <a:xfrm>
            <a:off x="5897880" y="4288536"/>
            <a:ext cx="5486400" cy="365760"/>
          </a:xfrm>
          <a:prstGeom prst="rect">
            <a:avLst/>
          </a:prstGeom>
          <a:noFill/>
          <a:ln/>
        </p:spPr>
        <p:txBody>
          <a:bodyPr wrap="square" lIns="0" tIns="0" rIns="0" bIns="0" rtlCol="0" anchor="t"/>
          <a:lstStyle/>
          <a:p>
            <a:pPr indent="0" marL="0">
              <a:buNone/>
            </a:pPr>
            <a:r>
              <a:rPr lang="en-US" sz="1300" dirty="0">
                <a:solidFill>
                  <a:schemeClr val="accent6"/>
                </a:solidFill>
              </a:rPr>
              <a:t>role areas, shop isolation, hashed passwords</a:t>
            </a:r>
            <a:endParaRPr lang="en-US" sz="1300" dirty="0"/>
          </a:p>
        </p:txBody>
      </p:sp>
      <p:sp>
        <p:nvSpPr>
          <p:cNvPr id="22" name="a-right-qa3"/>
          <p:cNvSpPr/>
          <p:nvPr/>
        </p:nvSpPr>
        <p:spPr>
          <a:xfrm>
            <a:off x="4846320" y="4928616"/>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3" name="a-right-w-qi3"/>
          <p:cNvSpPr/>
          <p:nvPr/>
        </p:nvSpPr>
        <p:spPr>
          <a:xfrm>
            <a:off x="5074920" y="5129784"/>
            <a:ext cx="603504" cy="603504"/>
          </a:xfrm>
          <a:prstGeom prst="ellipse">
            <a:avLst/>
          </a:prstGeom>
          <a:solidFill>
            <a:schemeClr val="accent5"/>
          </a:solidFill>
          <a:ln/>
        </p:spPr>
      </p:sp>
      <p:pic>
        <p:nvPicPr>
          <p:cNvPr id="24" name="a-right-w-w-qi3-i" descr="/tmp/claude-0/-home-user-done/4a4296a4-6fd8-5cee-98c2-5de0aee80c99/scratchpad/docs/img/icons/bug-w.png">    </p:cNvPr>
          <p:cNvPicPr>
            <a:picLocks noChangeAspect="1"/>
          </p:cNvPicPr>
          <p:nvPr/>
        </p:nvPicPr>
        <p:blipFill>
          <a:blip r:embed="rId4"/>
          <a:stretch>
            <a:fillRect/>
          </a:stretch>
        </p:blipFill>
        <p:spPr>
          <a:xfrm>
            <a:off x="5225796" y="5280660"/>
            <a:ext cx="301752" cy="301752"/>
          </a:xfrm>
          <a:prstGeom prst="rect">
            <a:avLst/>
          </a:prstGeom>
        </p:spPr>
      </p:pic>
      <p:sp>
        <p:nvSpPr>
          <p:cNvPr id="25" name="a-right-w-qt3"/>
          <p:cNvSpPr txBox="1"/>
          <p:nvPr/>
        </p:nvSpPr>
        <p:spPr>
          <a:xfrm>
            <a:off x="5897880" y="5084064"/>
            <a:ext cx="5486400" cy="365760"/>
          </a:xfrm>
          <a:prstGeom prst="rect">
            <a:avLst/>
          </a:prstGeom>
          <a:noFill/>
          <a:ln/>
        </p:spPr>
        <p:txBody>
          <a:bodyPr wrap="square" lIns="0" tIns="0" rIns="0" bIns="0" rtlCol="0" anchor="t"/>
          <a:lstStyle/>
          <a:p>
            <a:pPr indent="0" marL="0">
              <a:buNone/>
            </a:pPr>
            <a:r>
              <a:rPr lang="en-US" sz="1700" b="1" dirty="0">
                <a:solidFill>
                  <a:schemeClr val="tx2"/>
                </a:solidFill>
              </a:rPr>
              <a:t>Bugs fixed</a:t>
            </a:r>
            <a:endParaRPr lang="en-US" sz="1700" dirty="0"/>
          </a:p>
        </p:txBody>
      </p:sp>
      <p:sp>
        <p:nvSpPr>
          <p:cNvPr id="26" name="a-right-w-qd3"/>
          <p:cNvSpPr txBox="1"/>
          <p:nvPr/>
        </p:nvSpPr>
        <p:spPr>
          <a:xfrm>
            <a:off x="5897880" y="5458968"/>
            <a:ext cx="5486400" cy="365760"/>
          </a:xfrm>
          <a:prstGeom prst="rect">
            <a:avLst/>
          </a:prstGeom>
          <a:noFill/>
          <a:ln/>
        </p:spPr>
        <p:txBody>
          <a:bodyPr wrap="square" lIns="0" tIns="0" rIns="0" bIns="0" rtlCol="0" anchor="t"/>
          <a:lstStyle/>
          <a:p>
            <a:pPr indent="0" marL="0">
              <a:buNone/>
            </a:pPr>
            <a:r>
              <a:rPr lang="en-US" sz="1300" dirty="0">
                <a:solidFill>
                  <a:schemeClr val="accent6"/>
                </a:solidFill>
              </a:rPr>
              <a:t>corrupted document uploads, unreachable dial-up orders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19" presetID="10"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6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7" presetID="42" presetClass="entr" presetSubtype="0" fill="hold" grpId="0" nodeType="withEffect">
                                  <p:stCondLst>
                                    <p:cond delay="8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decel="100000" fill="hold"/>
                                        <p:tgtEl>
                                          <p:spTgt spid="7"/>
                                        </p:tgtEl>
                                        <p:attrNameLst>
                                          <p:attrName>ppt_x</p:attrName>
                                        </p:attrNameLst>
                                      </p:cBhvr>
                                      <p:tavLst>
                                        <p:tav tm="0">
                                          <p:val>
                                            <p:strVal val="#ppt_x+.08"/>
                                          </p:val>
                                        </p:tav>
                                        <p:tav tm="100000">
                                          <p:val>
                                            <p:strVal val="#ppt_x"/>
                                          </p:val>
                                        </p:tav>
                                      </p:tavLst>
                                    </p:anim>
                                    <p:anim calcmode="lin" valueType="num">
                                      <p:cBhvr>
                                        <p:cTn id="26" dur="600" decel="100000" fill="hold"/>
                                        <p:tgtEl>
                                          <p:spTgt spid="7"/>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8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decel="100000" fill="hold"/>
                                        <p:tgtEl>
                                          <p:spTgt spid="8"/>
                                        </p:tgtEl>
                                        <p:attrNameLst>
                                          <p:attrName>ppt_x</p:attrName>
                                        </p:attrNameLst>
                                      </p:cBhvr>
                                      <p:tavLst>
                                        <p:tav tm="0">
                                          <p:val>
                                            <p:strVal val="#ppt_x+.08"/>
                                          </p:val>
                                        </p:tav>
                                        <p:tav tm="100000">
                                          <p:val>
                                            <p:strVal val="#ppt_x"/>
                                          </p:val>
                                        </p:tav>
                                      </p:tavLst>
                                    </p:anim>
                                    <p:anim calcmode="lin" valueType="num">
                                      <p:cBhvr>
                                        <p:cTn id="31" dur="600" decel="100000" fill="hold"/>
                                        <p:tgtEl>
                                          <p:spTgt spid="8"/>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8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anim calcmode="lin" valueType="num">
                                      <p:cBhvr>
                                        <p:cTn id="35" dur="600" decel="100000" fill="hold"/>
                                        <p:tgtEl>
                                          <p:spTgt spid="9"/>
                                        </p:tgtEl>
                                        <p:attrNameLst>
                                          <p:attrName>ppt_x</p:attrName>
                                        </p:attrNameLst>
                                      </p:cBhvr>
                                      <p:tavLst>
                                        <p:tav tm="0">
                                          <p:val>
                                            <p:strVal val="#ppt_x+.08"/>
                                          </p:val>
                                        </p:tav>
                                        <p:tav tm="100000">
                                          <p:val>
                                            <p:strVal val="#ppt_x"/>
                                          </p:val>
                                        </p:tav>
                                      </p:tavLst>
                                    </p:anim>
                                    <p:anim calcmode="lin" valueType="num">
                                      <p:cBhvr>
                                        <p:cTn id="36" dur="600" decel="100000" fill="hold"/>
                                        <p:tgtEl>
                                          <p:spTgt spid="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8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anim calcmode="lin" valueType="num">
                                      <p:cBhvr>
                                        <p:cTn id="40" dur="600" decel="100000" fill="hold"/>
                                        <p:tgtEl>
                                          <p:spTgt spid="10"/>
                                        </p:tgtEl>
                                        <p:attrNameLst>
                                          <p:attrName>ppt_x</p:attrName>
                                        </p:attrNameLst>
                                      </p:cBhvr>
                                      <p:tavLst>
                                        <p:tav tm="0">
                                          <p:val>
                                            <p:strVal val="#ppt_x+.08"/>
                                          </p:val>
                                        </p:tav>
                                        <p:tav tm="100000">
                                          <p:val>
                                            <p:strVal val="#ppt_x"/>
                                          </p:val>
                                        </p:tav>
                                      </p:tavLst>
                                    </p:anim>
                                    <p:anim calcmode="lin" valueType="num">
                                      <p:cBhvr>
                                        <p:cTn id="41" dur="600" decel="100000" fill="hold"/>
                                        <p:tgtEl>
                                          <p:spTgt spid="10"/>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8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600"/>
                                        <p:tgtEl>
                                          <p:spTgt spid="11"/>
                                        </p:tgtEl>
                                      </p:cBhvr>
                                    </p:animEffect>
                                    <p:anim calcmode="lin" valueType="num">
                                      <p:cBhvr>
                                        <p:cTn id="45" dur="600" decel="100000" fill="hold"/>
                                        <p:tgtEl>
                                          <p:spTgt spid="11"/>
                                        </p:tgtEl>
                                        <p:attrNameLst>
                                          <p:attrName>ppt_x</p:attrName>
                                        </p:attrNameLst>
                                      </p:cBhvr>
                                      <p:tavLst>
                                        <p:tav tm="0">
                                          <p:val>
                                            <p:strVal val="#ppt_x+.08"/>
                                          </p:val>
                                        </p:tav>
                                        <p:tav tm="100000">
                                          <p:val>
                                            <p:strVal val="#ppt_x"/>
                                          </p:val>
                                        </p:tav>
                                      </p:tavLst>
                                    </p:anim>
                                    <p:anim calcmode="lin" valueType="num">
                                      <p:cBhvr>
                                        <p:cTn id="46" dur="600" decel="100000" fill="hold"/>
                                        <p:tgtEl>
                                          <p:spTgt spid="11"/>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100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decel="100000" fill="hold"/>
                                        <p:tgtEl>
                                          <p:spTgt spid="12"/>
                                        </p:tgtEl>
                                        <p:attrNameLst>
                                          <p:attrName>ppt_x</p:attrName>
                                        </p:attrNameLst>
                                      </p:cBhvr>
                                      <p:tavLst>
                                        <p:tav tm="0">
                                          <p:val>
                                            <p:strVal val="#ppt_x+.08"/>
                                          </p:val>
                                        </p:tav>
                                        <p:tav tm="100000">
                                          <p:val>
                                            <p:strVal val="#ppt_x"/>
                                          </p:val>
                                        </p:tav>
                                      </p:tavLst>
                                    </p:anim>
                                    <p:anim calcmode="lin" valueType="num">
                                      <p:cBhvr>
                                        <p:cTn id="51" dur="600" decel="100000" fill="hold"/>
                                        <p:tgtEl>
                                          <p:spTgt spid="12"/>
                                        </p:tgtEl>
                                        <p:attrNameLst>
                                          <p:attrName>ppt_y</p:attrName>
                                        </p:attrNameLst>
                                      </p:cBhvr>
                                      <p:tavLst>
                                        <p:tav tm="0">
                                          <p:val>
                                            <p:strVal val="#ppt_y"/>
                                          </p:val>
                                        </p:tav>
                                        <p:tav tm="100000">
                                          <p:val>
                                            <p:strVal val="#ppt_y"/>
                                          </p:val>
                                        </p:tav>
                                      </p:tavLst>
                                    </p:anim>
                                  </p:childTnLst>
                                </p:cTn>
                              </p:par>
                              <p:par>
                                <p:cTn id="57" presetID="42" presetClass="entr" presetSubtype="0" fill="hold" grpId="0" nodeType="withEffect">
                                  <p:stCondLst>
                                    <p:cond delay="10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ppt_x</p:attrName>
                                        </p:attrNameLst>
                                      </p:cBhvr>
                                      <p:tavLst>
                                        <p:tav tm="0">
                                          <p:val>
                                            <p:strVal val="#ppt_x+.08"/>
                                          </p:val>
                                        </p:tav>
                                        <p:tav tm="100000">
                                          <p:val>
                                            <p:strVal val="#ppt_x"/>
                                          </p:val>
                                        </p:tav>
                                      </p:tavLst>
                                    </p:anim>
                                    <p:anim calcmode="lin" valueType="num">
                                      <p:cBhvr>
                                        <p:cTn id="56" dur="600" decel="100000" fill="hold"/>
                                        <p:tgtEl>
                                          <p:spTgt spid="13"/>
                                        </p:tgtEl>
                                        <p:attrNameLst>
                                          <p:attrName>ppt_y</p:attrName>
                                        </p:attrNameLst>
                                      </p:cBhvr>
                                      <p:tavLst>
                                        <p:tav tm="0">
                                          <p:val>
                                            <p:strVal val="#ppt_y"/>
                                          </p:val>
                                        </p:tav>
                                        <p:tav tm="100000">
                                          <p:val>
                                            <p:strVal val="#ppt_y"/>
                                          </p:val>
                                        </p:tav>
                                      </p:tavLst>
                                    </p:anim>
                                  </p:childTnLst>
                                </p:cTn>
                              </p:par>
                              <p:par>
                                <p:cTn id="62" presetID="42" presetClass="entr" presetSubtype="0" fill="hold" grpId="0" nodeType="withEffect">
                                  <p:stCondLst>
                                    <p:cond delay="100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600"/>
                                        <p:tgtEl>
                                          <p:spTgt spid="14"/>
                                        </p:tgtEl>
                                      </p:cBhvr>
                                    </p:animEffect>
                                    <p:anim calcmode="lin" valueType="num">
                                      <p:cBhvr>
                                        <p:cTn id="60" dur="600" decel="100000" fill="hold"/>
                                        <p:tgtEl>
                                          <p:spTgt spid="14"/>
                                        </p:tgtEl>
                                        <p:attrNameLst>
                                          <p:attrName>ppt_x</p:attrName>
                                        </p:attrNameLst>
                                      </p:cBhvr>
                                      <p:tavLst>
                                        <p:tav tm="0">
                                          <p:val>
                                            <p:strVal val="#ppt_x+.08"/>
                                          </p:val>
                                        </p:tav>
                                        <p:tav tm="100000">
                                          <p:val>
                                            <p:strVal val="#ppt_x"/>
                                          </p:val>
                                        </p:tav>
                                      </p:tavLst>
                                    </p:anim>
                                    <p:anim calcmode="lin" valueType="num">
                                      <p:cBhvr>
                                        <p:cTn id="61" dur="600" decel="100000" fill="hold"/>
                                        <p:tgtEl>
                                          <p:spTgt spid="14"/>
                                        </p:tgtEl>
                                        <p:attrNameLst>
                                          <p:attrName>ppt_y</p:attrName>
                                        </p:attrNameLst>
                                      </p:cBhvr>
                                      <p:tavLst>
                                        <p:tav tm="0">
                                          <p:val>
                                            <p:strVal val="#ppt_y"/>
                                          </p:val>
                                        </p:tav>
                                        <p:tav tm="100000">
                                          <p:val>
                                            <p:strVal val="#ppt_y"/>
                                          </p:val>
                                        </p:tav>
                                      </p:tavLst>
                                    </p:anim>
                                  </p:childTnLst>
                                </p:cTn>
                              </p:par>
                              <p:par>
                                <p:cTn id="67" presetID="42" presetClass="entr" presetSubtype="0" fill="hold" grpId="0" nodeType="withEffect">
                                  <p:stCondLst>
                                    <p:cond delay="100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600"/>
                                        <p:tgtEl>
                                          <p:spTgt spid="15"/>
                                        </p:tgtEl>
                                      </p:cBhvr>
                                    </p:animEffect>
                                    <p:anim calcmode="lin" valueType="num">
                                      <p:cBhvr>
                                        <p:cTn id="65" dur="600" decel="100000" fill="hold"/>
                                        <p:tgtEl>
                                          <p:spTgt spid="15"/>
                                        </p:tgtEl>
                                        <p:attrNameLst>
                                          <p:attrName>ppt_x</p:attrName>
                                        </p:attrNameLst>
                                      </p:cBhvr>
                                      <p:tavLst>
                                        <p:tav tm="0">
                                          <p:val>
                                            <p:strVal val="#ppt_x+.08"/>
                                          </p:val>
                                        </p:tav>
                                        <p:tav tm="100000">
                                          <p:val>
                                            <p:strVal val="#ppt_x"/>
                                          </p:val>
                                        </p:tav>
                                      </p:tavLst>
                                    </p:anim>
                                    <p:anim calcmode="lin" valueType="num">
                                      <p:cBhvr>
                                        <p:cTn id="66" dur="600" decel="100000" fill="hold"/>
                                        <p:tgtEl>
                                          <p:spTgt spid="15"/>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100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600"/>
                                        <p:tgtEl>
                                          <p:spTgt spid="16"/>
                                        </p:tgtEl>
                                      </p:cBhvr>
                                    </p:animEffect>
                                    <p:anim calcmode="lin" valueType="num">
                                      <p:cBhvr>
                                        <p:cTn id="70" dur="600" decel="100000" fill="hold"/>
                                        <p:tgtEl>
                                          <p:spTgt spid="16"/>
                                        </p:tgtEl>
                                        <p:attrNameLst>
                                          <p:attrName>ppt_x</p:attrName>
                                        </p:attrNameLst>
                                      </p:cBhvr>
                                      <p:tavLst>
                                        <p:tav tm="0">
                                          <p:val>
                                            <p:strVal val="#ppt_x+.08"/>
                                          </p:val>
                                        </p:tav>
                                        <p:tav tm="100000">
                                          <p:val>
                                            <p:strVal val="#ppt_x"/>
                                          </p:val>
                                        </p:tav>
                                      </p:tavLst>
                                    </p:anim>
                                    <p:anim calcmode="lin" valueType="num">
                                      <p:cBhvr>
                                        <p:cTn id="71" dur="600" decel="100000" fill="hold"/>
                                        <p:tgtEl>
                                          <p:spTgt spid="16"/>
                                        </p:tgtEl>
                                        <p:attrNameLst>
                                          <p:attrName>ppt_y</p:attrName>
                                        </p:attrNameLst>
                                      </p:cBhvr>
                                      <p:tavLst>
                                        <p:tav tm="0">
                                          <p:val>
                                            <p:strVal val="#ppt_y"/>
                                          </p:val>
                                        </p:tav>
                                        <p:tav tm="100000">
                                          <p:val>
                                            <p:strVal val="#ppt_y"/>
                                          </p:val>
                                        </p:tav>
                                      </p:tavLst>
                                    </p:anim>
                                  </p:childTnLst>
                                </p:cTn>
                              </p:par>
                              <p:par>
                                <p:cTn id="77" presetID="42" presetClass="entr" presetSubtype="0" fill="hold" grpId="0" nodeType="withEffect">
                                  <p:stCondLst>
                                    <p:cond delay="120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600"/>
                                        <p:tgtEl>
                                          <p:spTgt spid="17"/>
                                        </p:tgtEl>
                                      </p:cBhvr>
                                    </p:animEffect>
                                    <p:anim calcmode="lin" valueType="num">
                                      <p:cBhvr>
                                        <p:cTn id="75" dur="600" decel="100000" fill="hold"/>
                                        <p:tgtEl>
                                          <p:spTgt spid="17"/>
                                        </p:tgtEl>
                                        <p:attrNameLst>
                                          <p:attrName>ppt_x</p:attrName>
                                        </p:attrNameLst>
                                      </p:cBhvr>
                                      <p:tavLst>
                                        <p:tav tm="0">
                                          <p:val>
                                            <p:strVal val="#ppt_x+.08"/>
                                          </p:val>
                                        </p:tav>
                                        <p:tav tm="100000">
                                          <p:val>
                                            <p:strVal val="#ppt_x"/>
                                          </p:val>
                                        </p:tav>
                                      </p:tavLst>
                                    </p:anim>
                                    <p:anim calcmode="lin" valueType="num">
                                      <p:cBhvr>
                                        <p:cTn id="76" dur="600" decel="100000" fill="hold"/>
                                        <p:tgtEl>
                                          <p:spTgt spid="17"/>
                                        </p:tgtEl>
                                        <p:attrNameLst>
                                          <p:attrName>ppt_y</p:attrName>
                                        </p:attrNameLst>
                                      </p:cBhvr>
                                      <p:tavLst>
                                        <p:tav tm="0">
                                          <p:val>
                                            <p:strVal val="#ppt_y"/>
                                          </p:val>
                                        </p:tav>
                                        <p:tav tm="100000">
                                          <p:val>
                                            <p:strVal val="#ppt_y"/>
                                          </p:val>
                                        </p:tav>
                                      </p:tavLst>
                                    </p:anim>
                                  </p:childTnLst>
                                </p:cTn>
                              </p:par>
                              <p:par>
                                <p:cTn id="82" presetID="42" presetClass="entr" presetSubtype="0" fill="hold" grpId="0" nodeType="withEffect">
                                  <p:stCondLst>
                                    <p:cond delay="120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600"/>
                                        <p:tgtEl>
                                          <p:spTgt spid="18"/>
                                        </p:tgtEl>
                                      </p:cBhvr>
                                    </p:animEffect>
                                    <p:anim calcmode="lin" valueType="num">
                                      <p:cBhvr>
                                        <p:cTn id="80" dur="600" decel="100000" fill="hold"/>
                                        <p:tgtEl>
                                          <p:spTgt spid="18"/>
                                        </p:tgtEl>
                                        <p:attrNameLst>
                                          <p:attrName>ppt_x</p:attrName>
                                        </p:attrNameLst>
                                      </p:cBhvr>
                                      <p:tavLst>
                                        <p:tav tm="0">
                                          <p:val>
                                            <p:strVal val="#ppt_x+.08"/>
                                          </p:val>
                                        </p:tav>
                                        <p:tav tm="100000">
                                          <p:val>
                                            <p:strVal val="#ppt_x"/>
                                          </p:val>
                                        </p:tav>
                                      </p:tavLst>
                                    </p:anim>
                                    <p:anim calcmode="lin" valueType="num">
                                      <p:cBhvr>
                                        <p:cTn id="81" dur="600" decel="100000" fill="hold"/>
                                        <p:tgtEl>
                                          <p:spTgt spid="18"/>
                                        </p:tgtEl>
                                        <p:attrNameLst>
                                          <p:attrName>ppt_y</p:attrName>
                                        </p:attrNameLst>
                                      </p:cBhvr>
                                      <p:tavLst>
                                        <p:tav tm="0">
                                          <p:val>
                                            <p:strVal val="#ppt_y"/>
                                          </p:val>
                                        </p:tav>
                                        <p:tav tm="100000">
                                          <p:val>
                                            <p:strVal val="#ppt_y"/>
                                          </p:val>
                                        </p:tav>
                                      </p:tavLst>
                                    </p:anim>
                                  </p:childTnLst>
                                </p:cTn>
                              </p:par>
                              <p:par>
                                <p:cTn id="87" presetID="42" presetClass="entr" presetSubtype="0" fill="hold" grpId="0" nodeType="withEffect">
                                  <p:stCondLst>
                                    <p:cond delay="1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600"/>
                                        <p:tgtEl>
                                          <p:spTgt spid="19"/>
                                        </p:tgtEl>
                                      </p:cBhvr>
                                    </p:animEffect>
                                    <p:anim calcmode="lin" valueType="num">
                                      <p:cBhvr>
                                        <p:cTn id="85" dur="600" decel="100000" fill="hold"/>
                                        <p:tgtEl>
                                          <p:spTgt spid="19"/>
                                        </p:tgtEl>
                                        <p:attrNameLst>
                                          <p:attrName>ppt_x</p:attrName>
                                        </p:attrNameLst>
                                      </p:cBhvr>
                                      <p:tavLst>
                                        <p:tav tm="0">
                                          <p:val>
                                            <p:strVal val="#ppt_x+.08"/>
                                          </p:val>
                                        </p:tav>
                                        <p:tav tm="100000">
                                          <p:val>
                                            <p:strVal val="#ppt_x"/>
                                          </p:val>
                                        </p:tav>
                                      </p:tavLst>
                                    </p:anim>
                                    <p:anim calcmode="lin" valueType="num">
                                      <p:cBhvr>
                                        <p:cTn id="86" dur="600" decel="100000" fill="hold"/>
                                        <p:tgtEl>
                                          <p:spTgt spid="19"/>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120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600"/>
                                        <p:tgtEl>
                                          <p:spTgt spid="20"/>
                                        </p:tgtEl>
                                      </p:cBhvr>
                                    </p:animEffect>
                                    <p:anim calcmode="lin" valueType="num">
                                      <p:cBhvr>
                                        <p:cTn id="90" dur="600" decel="100000" fill="hold"/>
                                        <p:tgtEl>
                                          <p:spTgt spid="20"/>
                                        </p:tgtEl>
                                        <p:attrNameLst>
                                          <p:attrName>ppt_x</p:attrName>
                                        </p:attrNameLst>
                                      </p:cBhvr>
                                      <p:tavLst>
                                        <p:tav tm="0">
                                          <p:val>
                                            <p:strVal val="#ppt_x+.08"/>
                                          </p:val>
                                        </p:tav>
                                        <p:tav tm="100000">
                                          <p:val>
                                            <p:strVal val="#ppt_x"/>
                                          </p:val>
                                        </p:tav>
                                      </p:tavLst>
                                    </p:anim>
                                    <p:anim calcmode="lin" valueType="num">
                                      <p:cBhvr>
                                        <p:cTn id="91" dur="600" decel="100000" fill="hold"/>
                                        <p:tgtEl>
                                          <p:spTgt spid="20"/>
                                        </p:tgtEl>
                                        <p:attrNameLst>
                                          <p:attrName>ppt_y</p:attrName>
                                        </p:attrNameLst>
                                      </p:cBhvr>
                                      <p:tavLst>
                                        <p:tav tm="0">
                                          <p:val>
                                            <p:strVal val="#ppt_y"/>
                                          </p:val>
                                        </p:tav>
                                        <p:tav tm="100000">
                                          <p:val>
                                            <p:strVal val="#ppt_y"/>
                                          </p:val>
                                        </p:tav>
                                      </p:tavLst>
                                    </p:anim>
                                  </p:childTnLst>
                                </p:cTn>
                              </p:par>
                              <p:par>
                                <p:cTn id="97" presetID="42" presetClass="entr" presetSubtype="0" fill="hold" grpId="0" nodeType="withEffect">
                                  <p:stCondLst>
                                    <p:cond delay="12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600"/>
                                        <p:tgtEl>
                                          <p:spTgt spid="21"/>
                                        </p:tgtEl>
                                      </p:cBhvr>
                                    </p:animEffect>
                                    <p:anim calcmode="lin" valueType="num">
                                      <p:cBhvr>
                                        <p:cTn id="95" dur="600" decel="100000" fill="hold"/>
                                        <p:tgtEl>
                                          <p:spTgt spid="21"/>
                                        </p:tgtEl>
                                        <p:attrNameLst>
                                          <p:attrName>ppt_x</p:attrName>
                                        </p:attrNameLst>
                                      </p:cBhvr>
                                      <p:tavLst>
                                        <p:tav tm="0">
                                          <p:val>
                                            <p:strVal val="#ppt_x+.08"/>
                                          </p:val>
                                        </p:tav>
                                        <p:tav tm="100000">
                                          <p:val>
                                            <p:strVal val="#ppt_x"/>
                                          </p:val>
                                        </p:tav>
                                      </p:tavLst>
                                    </p:anim>
                                    <p:anim calcmode="lin" valueType="num">
                                      <p:cBhvr>
                                        <p:cTn id="96" dur="600" decel="100000" fill="hold"/>
                                        <p:tgtEl>
                                          <p:spTgt spid="21"/>
                                        </p:tgtEl>
                                        <p:attrNameLst>
                                          <p:attrName>ppt_y</p:attrName>
                                        </p:attrNameLst>
                                      </p:cBhvr>
                                      <p:tavLst>
                                        <p:tav tm="0">
                                          <p:val>
                                            <p:strVal val="#ppt_y"/>
                                          </p:val>
                                        </p:tav>
                                        <p:tav tm="100000">
                                          <p:val>
                                            <p:strVal val="#ppt_y"/>
                                          </p:val>
                                        </p:tav>
                                      </p:tavLst>
                                    </p:anim>
                                  </p:childTnLst>
                                </p:cTn>
                              </p:par>
                              <p:par>
                                <p:cTn id="102" presetID="42" presetClass="entr" presetSubtype="0" fill="hold" grpId="0" nodeType="withEffect">
                                  <p:stCondLst>
                                    <p:cond delay="14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600"/>
                                        <p:tgtEl>
                                          <p:spTgt spid="22"/>
                                        </p:tgtEl>
                                      </p:cBhvr>
                                    </p:animEffect>
                                    <p:anim calcmode="lin" valueType="num">
                                      <p:cBhvr>
                                        <p:cTn id="100" dur="600" decel="100000" fill="hold"/>
                                        <p:tgtEl>
                                          <p:spTgt spid="22"/>
                                        </p:tgtEl>
                                        <p:attrNameLst>
                                          <p:attrName>ppt_x</p:attrName>
                                        </p:attrNameLst>
                                      </p:cBhvr>
                                      <p:tavLst>
                                        <p:tav tm="0">
                                          <p:val>
                                            <p:strVal val="#ppt_x+.08"/>
                                          </p:val>
                                        </p:tav>
                                        <p:tav tm="100000">
                                          <p:val>
                                            <p:strVal val="#ppt_x"/>
                                          </p:val>
                                        </p:tav>
                                      </p:tavLst>
                                    </p:anim>
                                    <p:anim calcmode="lin" valueType="num">
                                      <p:cBhvr>
                                        <p:cTn id="101" dur="600" decel="100000" fill="hold"/>
                                        <p:tgtEl>
                                          <p:spTgt spid="22"/>
                                        </p:tgtEl>
                                        <p:attrNameLst>
                                          <p:attrName>ppt_y</p:attrName>
                                        </p:attrNameLst>
                                      </p:cBhvr>
                                      <p:tavLst>
                                        <p:tav tm="0">
                                          <p:val>
                                            <p:strVal val="#ppt_y"/>
                                          </p:val>
                                        </p:tav>
                                        <p:tav tm="100000">
                                          <p:val>
                                            <p:strVal val="#ppt_y"/>
                                          </p:val>
                                        </p:tav>
                                      </p:tavLst>
                                    </p:anim>
                                  </p:childTnLst>
                                </p:cTn>
                              </p:par>
                              <p:par>
                                <p:cTn id="107" presetID="42" presetClass="entr" presetSubtype="0" fill="hold" grpId="0" nodeType="withEffect">
                                  <p:stCondLst>
                                    <p:cond delay="140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600"/>
                                        <p:tgtEl>
                                          <p:spTgt spid="23"/>
                                        </p:tgtEl>
                                      </p:cBhvr>
                                    </p:animEffect>
                                    <p:anim calcmode="lin" valueType="num">
                                      <p:cBhvr>
                                        <p:cTn id="105" dur="600" decel="100000" fill="hold"/>
                                        <p:tgtEl>
                                          <p:spTgt spid="23"/>
                                        </p:tgtEl>
                                        <p:attrNameLst>
                                          <p:attrName>ppt_x</p:attrName>
                                        </p:attrNameLst>
                                      </p:cBhvr>
                                      <p:tavLst>
                                        <p:tav tm="0">
                                          <p:val>
                                            <p:strVal val="#ppt_x+.08"/>
                                          </p:val>
                                        </p:tav>
                                        <p:tav tm="100000">
                                          <p:val>
                                            <p:strVal val="#ppt_x"/>
                                          </p:val>
                                        </p:tav>
                                      </p:tavLst>
                                    </p:anim>
                                    <p:anim calcmode="lin" valueType="num">
                                      <p:cBhvr>
                                        <p:cTn id="106" dur="600" decel="100000" fill="hold"/>
                                        <p:tgtEl>
                                          <p:spTgt spid="23"/>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140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600"/>
                                        <p:tgtEl>
                                          <p:spTgt spid="24"/>
                                        </p:tgtEl>
                                      </p:cBhvr>
                                    </p:animEffect>
                                    <p:anim calcmode="lin" valueType="num">
                                      <p:cBhvr>
                                        <p:cTn id="110" dur="600" decel="100000" fill="hold"/>
                                        <p:tgtEl>
                                          <p:spTgt spid="24"/>
                                        </p:tgtEl>
                                        <p:attrNameLst>
                                          <p:attrName>ppt_x</p:attrName>
                                        </p:attrNameLst>
                                      </p:cBhvr>
                                      <p:tavLst>
                                        <p:tav tm="0">
                                          <p:val>
                                            <p:strVal val="#ppt_x+.08"/>
                                          </p:val>
                                        </p:tav>
                                        <p:tav tm="100000">
                                          <p:val>
                                            <p:strVal val="#ppt_x"/>
                                          </p:val>
                                        </p:tav>
                                      </p:tavLst>
                                    </p:anim>
                                    <p:anim calcmode="lin" valueType="num">
                                      <p:cBhvr>
                                        <p:cTn id="111" dur="600" decel="100000" fill="hold"/>
                                        <p:tgtEl>
                                          <p:spTgt spid="24"/>
                                        </p:tgtEl>
                                        <p:attrNameLst>
                                          <p:attrName>ppt_y</p:attrName>
                                        </p:attrNameLst>
                                      </p:cBhvr>
                                      <p:tavLst>
                                        <p:tav tm="0">
                                          <p:val>
                                            <p:strVal val="#ppt_y"/>
                                          </p:val>
                                        </p:tav>
                                        <p:tav tm="100000">
                                          <p:val>
                                            <p:strVal val="#ppt_y"/>
                                          </p:val>
                                        </p:tav>
                                      </p:tavLst>
                                    </p:anim>
                                  </p:childTnLst>
                                </p:cTn>
                              </p:par>
                              <p:par>
                                <p:cTn id="117" presetID="42" presetClass="entr" presetSubtype="0" fill="hold" grpId="0" nodeType="withEffect">
                                  <p:stCondLst>
                                    <p:cond delay="1400"/>
                                  </p:stCondLst>
                                  <p:childTnLst>
                                    <p:set>
                                      <p:cBhvr>
                                        <p:cTn id="113" dur="1" fill="hold">
                                          <p:stCondLst>
                                            <p:cond delay="0"/>
                                          </p:stCondLst>
                                        </p:cTn>
                                        <p:tgtEl>
                                          <p:spTgt spid="25"/>
                                        </p:tgtEl>
                                        <p:attrNameLst>
                                          <p:attrName>style.visibility</p:attrName>
                                        </p:attrNameLst>
                                      </p:cBhvr>
                                      <p:to>
                                        <p:strVal val="visible"/>
                                      </p:to>
                                    </p:set>
                                    <p:animEffect transition="in" filter="fade">
                                      <p:cBhvr>
                                        <p:cTn id="114" dur="600"/>
                                        <p:tgtEl>
                                          <p:spTgt spid="25"/>
                                        </p:tgtEl>
                                      </p:cBhvr>
                                    </p:animEffect>
                                    <p:anim calcmode="lin" valueType="num">
                                      <p:cBhvr>
                                        <p:cTn id="115" dur="600" decel="100000" fill="hold"/>
                                        <p:tgtEl>
                                          <p:spTgt spid="25"/>
                                        </p:tgtEl>
                                        <p:attrNameLst>
                                          <p:attrName>ppt_x</p:attrName>
                                        </p:attrNameLst>
                                      </p:cBhvr>
                                      <p:tavLst>
                                        <p:tav tm="0">
                                          <p:val>
                                            <p:strVal val="#ppt_x+.08"/>
                                          </p:val>
                                        </p:tav>
                                        <p:tav tm="100000">
                                          <p:val>
                                            <p:strVal val="#ppt_x"/>
                                          </p:val>
                                        </p:tav>
                                      </p:tavLst>
                                    </p:anim>
                                    <p:anim calcmode="lin" valueType="num">
                                      <p:cBhvr>
                                        <p:cTn id="116" dur="600" decel="100000" fill="hold"/>
                                        <p:tgtEl>
                                          <p:spTgt spid="25"/>
                                        </p:tgtEl>
                                        <p:attrNameLst>
                                          <p:attrName>ppt_y</p:attrName>
                                        </p:attrNameLst>
                                      </p:cBhvr>
                                      <p:tavLst>
                                        <p:tav tm="0">
                                          <p:val>
                                            <p:strVal val="#ppt_y"/>
                                          </p:val>
                                        </p:tav>
                                        <p:tav tm="100000">
                                          <p:val>
                                            <p:strVal val="#ppt_y"/>
                                          </p:val>
                                        </p:tav>
                                      </p:tavLst>
                                    </p:anim>
                                  </p:childTnLst>
                                </p:cTn>
                              </p:par>
                              <p:par>
                                <p:cTn id="122" presetID="42" presetClass="entr" presetSubtype="0" fill="hold" grpId="0" nodeType="withEffect">
                                  <p:stCondLst>
                                    <p:cond delay="140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600"/>
                                        <p:tgtEl>
                                          <p:spTgt spid="26"/>
                                        </p:tgtEl>
                                      </p:cBhvr>
                                    </p:animEffect>
                                    <p:anim calcmode="lin" valueType="num">
                                      <p:cBhvr>
                                        <p:cTn id="120" dur="600" decel="100000" fill="hold"/>
                                        <p:tgtEl>
                                          <p:spTgt spid="26"/>
                                        </p:tgtEl>
                                        <p:attrNameLst>
                                          <p:attrName>ppt_x</p:attrName>
                                        </p:attrNameLst>
                                      </p:cBhvr>
                                      <p:tavLst>
                                        <p:tav tm="0">
                                          <p:val>
                                            <p:strVal val="#ppt_x+.08"/>
                                          </p:val>
                                        </p:tav>
                                        <p:tav tm="100000">
                                          <p:val>
                                            <p:strVal val="#ppt_x"/>
                                          </p:val>
                                        </p:tav>
                                      </p:tavLst>
                                    </p:anim>
                                    <p:anim calcmode="lin" valueType="num">
                                      <p:cBhvr>
                                        <p:cTn id="121" dur="600" decel="100000" fill="hold"/>
                                        <p:tgtEl>
                                          <p:spTgt spid="26"/>
                                        </p:tgtEl>
                                        <p:attrNameLst>
                                          <p:attrName>ppt_y</p:attrName>
                                        </p:attrNameLst>
                                      </p:cBhvr>
                                      <p:tavLst>
                                        <p:tav tm="0">
                                          <p:val>
                                            <p:strVal val="#ppt_y"/>
                                          </p:val>
                                        </p:tav>
                                        <p:tav tm="100000">
                                          <p:val>
                                            <p:strVal val="#ppt_y"/>
                                          </p:val>
                                        </p:tav>
                                      </p:tavLst>
                                    </p:anim>
                                  </p:childTnLst>
                                </p:cTn>
                              </p:par>
                              <p:par>
                                <p:cTn id="125" presetID="10" presetClass="entr" presetSubtype="0" fill="hold" grpId="0" nodeType="withEffect">
                                  <p:stCondLst>
                                    <p:cond delay="160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10" grpId="0" animBg="1"/>
      <p:bldP spid="11" grpId="0" animBg="1"/>
      <p:bldP spid="15" grpId="0" animBg="1"/>
      <p:bldP spid="16" grpId="0" animBg="1"/>
      <p:bldP spid="20" grpId="0" animBg="1"/>
      <p:bldP spid="21" grpId="0" animBg="1"/>
      <p:bldP spid="25" grpId="0" animBg="1"/>
      <p:bldP spid="26" grpId="0" animBg="1"/>
      <p:bldP spid="2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Running the system</a:t>
            </a:r>
            <a:endParaRPr lang="en-US" sz="3200" dirty="0"/>
          </a:p>
        </p:txBody>
      </p:sp>
      <p:sp>
        <p:nvSpPr>
          <p:cNvPr id="3" name="a-left-rn0"/>
          <p:cNvSpPr/>
          <p:nvPr/>
        </p:nvSpPr>
        <p:spPr>
          <a:xfrm>
            <a:off x="548640" y="1463040"/>
            <a:ext cx="685800" cy="685800"/>
          </a:xfrm>
          <a:prstGeom prst="ellipse">
            <a:avLst/>
          </a:prstGeom>
          <a:solidFill>
            <a:schemeClr val="accent1"/>
          </a:solidFill>
          <a:ln/>
        </p:spPr>
      </p:sp>
      <p:sp>
        <p:nvSpPr>
          <p:cNvPr id="4" name="a-left-w-rnn0"/>
          <p:cNvSpPr txBox="1"/>
          <p:nvPr/>
        </p:nvSpPr>
        <p:spPr>
          <a:xfrm>
            <a:off x="548640" y="14630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a-left-w-rnt0"/>
          <p:cNvSpPr txBox="1"/>
          <p:nvPr/>
        </p:nvSpPr>
        <p:spPr>
          <a:xfrm>
            <a:off x="1463040" y="1572768"/>
            <a:ext cx="5120640" cy="548640"/>
          </a:xfrm>
          <a:prstGeom prst="rect">
            <a:avLst/>
          </a:prstGeom>
          <a:noFill/>
          <a:ln/>
        </p:spPr>
        <p:txBody>
          <a:bodyPr wrap="square" lIns="0" tIns="0" rIns="0" bIns="0" rtlCol="0" anchor="ctr"/>
          <a:lstStyle/>
          <a:p>
            <a:pPr indent="0" marL="0">
              <a:buNone/>
            </a:pPr>
            <a:r>
              <a:rPr lang="en-US" sz="1600" dirty="0">
                <a:solidFill>
                  <a:schemeClr val="tx1"/>
                </a:solidFill>
              </a:rPr>
              <a:t>Install the .NET 8 SDK and SQL Server Express</a:t>
            </a:r>
            <a:endParaRPr lang="en-US" sz="1600" dirty="0"/>
          </a:p>
        </p:txBody>
      </p:sp>
      <p:sp>
        <p:nvSpPr>
          <p:cNvPr id="6" name="a-left-rn1"/>
          <p:cNvSpPr/>
          <p:nvPr/>
        </p:nvSpPr>
        <p:spPr>
          <a:xfrm>
            <a:off x="548640" y="2542032"/>
            <a:ext cx="685800" cy="685800"/>
          </a:xfrm>
          <a:prstGeom prst="ellipse">
            <a:avLst/>
          </a:prstGeom>
          <a:solidFill>
            <a:schemeClr val="accent1"/>
          </a:solidFill>
          <a:ln/>
        </p:spPr>
      </p:sp>
      <p:sp>
        <p:nvSpPr>
          <p:cNvPr id="7" name="a-left-w-rnn1"/>
          <p:cNvSpPr txBox="1"/>
          <p:nvPr/>
        </p:nvSpPr>
        <p:spPr>
          <a:xfrm>
            <a:off x="548640" y="2542032"/>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8" name="a-left-w-rnt1"/>
          <p:cNvSpPr txBox="1"/>
          <p:nvPr/>
        </p:nvSpPr>
        <p:spPr>
          <a:xfrm>
            <a:off x="1463040" y="2651760"/>
            <a:ext cx="5120640" cy="548640"/>
          </a:xfrm>
          <a:prstGeom prst="rect">
            <a:avLst/>
          </a:prstGeom>
          <a:noFill/>
          <a:ln/>
        </p:spPr>
        <p:txBody>
          <a:bodyPr wrap="square" lIns="0" tIns="0" rIns="0" bIns="0" rtlCol="0" anchor="ctr"/>
          <a:lstStyle/>
          <a:p>
            <a:pPr indent="0" marL="0">
              <a:buNone/>
            </a:pPr>
            <a:r>
              <a:rPr lang="en-US" sz="1600" dirty="0">
                <a:solidFill>
                  <a:schemeClr val="tx1"/>
                </a:solidFill>
              </a:rPr>
              <a:t>dotnet ef database update  (or run the SQL script in SSMS)</a:t>
            </a:r>
            <a:endParaRPr lang="en-US" sz="1600" dirty="0"/>
          </a:p>
        </p:txBody>
      </p:sp>
      <p:sp>
        <p:nvSpPr>
          <p:cNvPr id="9" name="a-left-rn2"/>
          <p:cNvSpPr/>
          <p:nvPr/>
        </p:nvSpPr>
        <p:spPr>
          <a:xfrm>
            <a:off x="548640" y="3621024"/>
            <a:ext cx="685800" cy="685800"/>
          </a:xfrm>
          <a:prstGeom prst="ellipse">
            <a:avLst/>
          </a:prstGeom>
          <a:solidFill>
            <a:schemeClr val="accent1"/>
          </a:solidFill>
          <a:ln/>
        </p:spPr>
      </p:sp>
      <p:sp>
        <p:nvSpPr>
          <p:cNvPr id="10" name="a-left-w-rnn2"/>
          <p:cNvSpPr txBox="1"/>
          <p:nvPr/>
        </p:nvSpPr>
        <p:spPr>
          <a:xfrm>
            <a:off x="548640" y="3621024"/>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1" name="a-left-w-rnt2"/>
          <p:cNvSpPr txBox="1"/>
          <p:nvPr/>
        </p:nvSpPr>
        <p:spPr>
          <a:xfrm>
            <a:off x="1463040" y="3730752"/>
            <a:ext cx="5120640" cy="548640"/>
          </a:xfrm>
          <a:prstGeom prst="rect">
            <a:avLst/>
          </a:prstGeom>
          <a:noFill/>
          <a:ln/>
        </p:spPr>
        <p:txBody>
          <a:bodyPr wrap="square" lIns="0" tIns="0" rIns="0" bIns="0" rtlCol="0" anchor="ctr"/>
          <a:lstStyle/>
          <a:p>
            <a:pPr indent="0" marL="0">
              <a:buNone/>
            </a:pPr>
            <a:r>
              <a:rPr lang="en-US" sz="1600" dirty="0">
                <a:solidFill>
                  <a:schemeClr val="tx1"/>
                </a:solidFill>
              </a:rPr>
              <a:t>dotnet run - open http://localhost:5294</a:t>
            </a:r>
            <a:endParaRPr lang="en-US" sz="1600" dirty="0"/>
          </a:p>
        </p:txBody>
      </p:sp>
      <p:sp>
        <p:nvSpPr>
          <p:cNvPr id="12" name="a-left-rn3"/>
          <p:cNvSpPr/>
          <p:nvPr/>
        </p:nvSpPr>
        <p:spPr>
          <a:xfrm>
            <a:off x="548640" y="4700016"/>
            <a:ext cx="685800" cy="685800"/>
          </a:xfrm>
          <a:prstGeom prst="ellipse">
            <a:avLst/>
          </a:prstGeom>
          <a:solidFill>
            <a:schemeClr val="accent1"/>
          </a:solidFill>
          <a:ln/>
        </p:spPr>
      </p:sp>
      <p:sp>
        <p:nvSpPr>
          <p:cNvPr id="13" name="a-left-w-rnn3"/>
          <p:cNvSpPr txBox="1"/>
          <p:nvPr/>
        </p:nvSpPr>
        <p:spPr>
          <a:xfrm>
            <a:off x="548640" y="4700016"/>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4" name="a-left-w-rnt3"/>
          <p:cNvSpPr txBox="1"/>
          <p:nvPr/>
        </p:nvSpPr>
        <p:spPr>
          <a:xfrm>
            <a:off x="1463040" y="4809744"/>
            <a:ext cx="5120640" cy="548640"/>
          </a:xfrm>
          <a:prstGeom prst="rect">
            <a:avLst/>
          </a:prstGeom>
          <a:noFill/>
          <a:ln/>
        </p:spPr>
        <p:txBody>
          <a:bodyPr wrap="square" lIns="0" tIns="0" rIns="0" bIns="0" rtlCol="0" anchor="ctr"/>
          <a:lstStyle/>
          <a:p>
            <a:pPr indent="0" marL="0">
              <a:buNone/>
            </a:pPr>
            <a:r>
              <a:rPr lang="en-US" sz="1600" dirty="0">
                <a:solidFill>
                  <a:schemeClr val="tx1"/>
                </a:solidFill>
              </a:rPr>
              <a:t>Sign in as admin, create cities, shops and staff</a:t>
            </a:r>
            <a:endParaRPr lang="en-US" sz="1600" dirty="0"/>
          </a:p>
        </p:txBody>
      </p:sp>
      <p:sp>
        <p:nvSpPr>
          <p:cNvPr id="15" name="a-zoom-cred"/>
          <p:cNvSpPr/>
          <p:nvPr/>
        </p:nvSpPr>
        <p:spPr>
          <a:xfrm>
            <a:off x="7040880" y="1463040"/>
            <a:ext cx="4572000" cy="3566160"/>
          </a:xfrm>
          <a:prstGeom prst="roundRect">
            <a:avLst>
              <a:gd name="adj" fmla="val 307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6" name="a-zoom-w-credi" descr="/tmp/claude-0/-home-user-done/4a4296a4-6fd8-5cee-98c2-5de0aee80c99/scratchpad/docs/img/icons/key-b.png">    </p:cNvPr>
          <p:cNvPicPr>
            <a:picLocks noChangeAspect="1"/>
          </p:cNvPicPr>
          <p:nvPr/>
        </p:nvPicPr>
        <p:blipFill>
          <a:blip r:embed="rId1"/>
          <a:stretch>
            <a:fillRect/>
          </a:stretch>
        </p:blipFill>
        <p:spPr>
          <a:xfrm>
            <a:off x="7360920" y="1737360"/>
            <a:ext cx="411480" cy="411480"/>
          </a:xfrm>
          <a:prstGeom prst="rect">
            <a:avLst/>
          </a:prstGeom>
        </p:spPr>
      </p:pic>
      <p:sp>
        <p:nvSpPr>
          <p:cNvPr id="17" name="a-fade-credh"/>
          <p:cNvSpPr txBox="1"/>
          <p:nvPr/>
        </p:nvSpPr>
        <p:spPr>
          <a:xfrm>
            <a:off x="7909560" y="1719072"/>
            <a:ext cx="3474720" cy="457200"/>
          </a:xfrm>
          <a:prstGeom prst="rect">
            <a:avLst/>
          </a:prstGeom>
          <a:noFill/>
          <a:ln/>
        </p:spPr>
        <p:txBody>
          <a:bodyPr wrap="square" lIns="0" tIns="0" rIns="0" bIns="0" rtlCol="0" anchor="t"/>
          <a:lstStyle/>
          <a:p>
            <a:pPr indent="0" marL="0">
              <a:buNone/>
            </a:pPr>
            <a:r>
              <a:rPr lang="en-US" sz="2000" b="1" dirty="0">
                <a:solidFill>
                  <a:schemeClr val="tx2"/>
                </a:solidFill>
              </a:rPr>
              <a:t>Demo login</a:t>
            </a:r>
            <a:endParaRPr lang="en-US" sz="2000" dirty="0"/>
          </a:p>
        </p:txBody>
      </p:sp>
      <p:sp>
        <p:nvSpPr>
          <p:cNvPr id="18" name="a-fade-credb"/>
          <p:cNvSpPr txBox="1"/>
          <p:nvPr/>
        </p:nvSpPr>
        <p:spPr>
          <a:xfrm>
            <a:off x="7360920" y="2377440"/>
            <a:ext cx="4023360" cy="2468880"/>
          </a:xfrm>
          <a:prstGeom prst="rect">
            <a:avLst/>
          </a:prstGeom>
          <a:noFill/>
          <a:ln/>
        </p:spPr>
        <p:txBody>
          <a:bodyPr wrap="square" lIns="0" tIns="0" rIns="0" bIns="0" rtlCol="0" anchor="t"/>
          <a:lstStyle/>
          <a:p>
            <a:pPr indent="0" marL="0">
              <a:spcAft>
                <a:spcPts val="400"/>
              </a:spcAft>
              <a:buNone/>
            </a:pPr>
            <a:r>
              <a:rPr lang="en-US" sz="1600" dirty="0">
                <a:solidFill>
                  <a:schemeClr val="accent6"/>
                </a:solidFill>
              </a:rPr>
              <a:t>Username   </a:t>
            </a:r>
            <a:pPr indent="0" marL="0">
              <a:spcAft>
                <a:spcPts val="400"/>
              </a:spcAft>
              <a:buNone/>
            </a:pPr>
            <a:r>
              <a:rPr lang="en-US" sz="1600" b="1" dirty="0">
                <a:solidFill>
                  <a:schemeClr val="tx1"/>
                </a:solidFill>
              </a:rPr>
              <a:t>admin</a:t>
            </a:r>
            <a:endParaRPr lang="en-US" sz="1600" dirty="0"/>
          </a:p>
          <a:p>
            <a:pPr indent="0" marL="0">
              <a:spcAft>
                <a:spcPts val="400"/>
              </a:spcAft>
              <a:buNone/>
            </a:pPr>
            <a:r>
              <a:rPr lang="en-US" sz="1600" dirty="0">
                <a:solidFill>
                  <a:schemeClr val="accent6"/>
                </a:solidFill>
              </a:rPr>
              <a:t>Password    </a:t>
            </a:r>
            <a:pPr indent="0" marL="0">
              <a:spcAft>
                <a:spcPts val="400"/>
              </a:spcAft>
              <a:buNone/>
            </a:pPr>
            <a:r>
              <a:rPr lang="en-US" sz="1600" b="1" dirty="0">
                <a:solidFill>
                  <a:schemeClr val="tx1"/>
                </a:solidFill>
              </a:rPr>
              <a:t>Admin@123</a:t>
            </a:r>
            <a:endParaRPr lang="en-US" sz="1600" dirty="0"/>
          </a:p>
          <a:p>
            <a:pPr indent="0" marL="0">
              <a:spcAft>
                <a:spcPts val="400"/>
              </a:spcAft>
              <a:buNone/>
            </a:pPr>
            <a:r>
              <a:rPr lang="en-US" sz="1600" dirty="0">
                <a:solidFill>
                  <a:schemeClr val="tx1"/>
                </a:solidFill>
              </a:rPr>
              <a:t> </a:t>
            </a:r>
            <a:endParaRPr lang="en-US" sz="1600" dirty="0"/>
          </a:p>
          <a:p>
            <a:pPr indent="0" marL="0">
              <a:spcAft>
                <a:spcPts val="400"/>
              </a:spcAft>
              <a:buNone/>
            </a:pPr>
            <a:r>
              <a:rPr lang="en-US" sz="1600" dirty="0">
                <a:solidFill>
                  <a:schemeClr val="accent6"/>
                </a:solidFill>
              </a:rPr>
              <a:t>Staff and customer logins are created inside the application (Admin &gt; Employees, Register).</a:t>
            </a:r>
            <a:endParaRPr lang="en-US" sz="16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0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6" presetID="53" presetClass="entr" presetSubtype="16" fill="hold" grpId="0" nodeType="withEffect">
                                  <p:stCondLst>
                                    <p:cond delay="1000"/>
                                  </p:stCondLst>
                                  <p:childTnLst>
                                    <p:set>
                                      <p:cBhvr>
                                        <p:cTn id="72" dur="1" fill="hold">
                                          <p:stCondLst>
                                            <p:cond delay="0"/>
                                          </p:stCondLst>
                                        </p:cTn>
                                        <p:tgtEl>
                                          <p:spTgt spid="16"/>
                                        </p:tgtEl>
                                        <p:attrNameLst>
                                          <p:attrName>style.visibility</p:attrName>
                                        </p:attrNameLst>
                                      </p:cBhvr>
                                      <p:to>
                                        <p:strVal val="visible"/>
                                      </p:to>
                                    </p:set>
                                    <p:anim calcmode="lin" valueType="num">
                                      <p:cBhvr>
                                        <p:cTn id="74" dur="650" decel="100000" fill="hold"/>
                                        <p:tgtEl>
                                          <p:spTgt spid="16"/>
                                        </p:tgtEl>
                                        <p:attrNameLst>
                                          <p:attrName>ppt_w</p:attrName>
                                        </p:attrNameLst>
                                      </p:cBhvr>
                                      <p:tavLst>
                                        <p:tav tm="0">
                                          <p:val>
                                            <p:strVal val="#ppt_w*0.7"/>
                                          </p:val>
                                        </p:tav>
                                        <p:tav tm="100000">
                                          <p:val>
                                            <p:strVal val="#ppt_w"/>
                                          </p:val>
                                        </p:tav>
                                      </p:tavLst>
                                    </p:anim>
                                    <p:anim calcmode="lin" valueType="num">
                                      <p:cBhvr>
                                        <p:cTn id="75" dur="650" decel="100000" fill="hold"/>
                                        <p:tgtEl>
                                          <p:spTgt spid="16"/>
                                        </p:tgtEl>
                                        <p:attrNameLst>
                                          <p:attrName>ppt_h</p:attrName>
                                        </p:attrNameLst>
                                      </p:cBhvr>
                                      <p:tavLst>
                                        <p:tav tm="0">
                                          <p:val>
                                            <p:strVal val="#ppt_h*0.7"/>
                                          </p:val>
                                        </p:tav>
                                        <p:tav tm="100000">
                                          <p:val>
                                            <p:strVal val="#ppt_h"/>
                                          </p:val>
                                        </p:tav>
                                      </p:tavLst>
                                    </p:anim>
                                    <p:animEffect transition="in" filter="fade">
                                      <p:cBhvr>
                                        <p:cTn id="73" dur="650"/>
                                        <p:tgtEl>
                                          <p:spTgt spid="16"/>
                                        </p:tgtEl>
                                      </p:cBhvr>
                                    </p:animEffect>
                                  </p:childTnLst>
                                </p:cTn>
                              </p:par>
                              <p:par>
                                <p:cTn id="79" presetID="10" presetClass="entr" presetSubtype="0" fill="hold" grpId="0" nodeType="withEffect">
                                  <p:stCondLst>
                                    <p:cond delay="12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4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6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P spid="10" grpId="0" animBg="1"/>
      <p:bldP spid="11" grpId="0" animBg="1"/>
      <p:bldP spid="13" grpId="0" animBg="1"/>
      <p:bldP spid="14" grpId="0" animBg="1"/>
      <p:bldP spid="17" grpId="0" animBg="1"/>
      <p:bldP spid="18" grpId="0" animBg="1"/>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a-zoom-cglobe" descr="Decorative globe">    </p:cNvPr>
          <p:cNvPicPr>
            <a:picLocks noChangeAspect="1"/>
          </p:cNvPicPr>
          <p:nvPr/>
        </p:nvPicPr>
        <p:blipFill>
          <a:blip r:embed="rId1"/>
          <a:stretch>
            <a:fillRect/>
          </a:stretch>
        </p:blipFill>
        <p:spPr>
          <a:xfrm>
            <a:off x="5184648" y="411480"/>
            <a:ext cx="1828800" cy="1828800"/>
          </a:xfrm>
          <a:prstGeom prst="rect">
            <a:avLst/>
          </a:prstGeom>
        </p:spPr>
      </p:pic>
      <p:sp>
        <p:nvSpPr>
          <p:cNvPr id="3" name="Text 0"/>
          <p:cNvSpPr/>
          <p:nvPr>
            <p:ph idx="100" type="title" hasCustomPrompt="1"/>
          </p:nvPr>
        </p:nvSpPr>
        <p:spPr>
          <a:xfrm>
            <a:off x="685800" y="2194560"/>
            <a:ext cx="10789920" cy="1188720"/>
          </a:xfrm>
          <a:prstGeom prst="rect">
            <a:avLst/>
          </a:prstGeom>
          <a:noFill/>
          <a:ln/>
        </p:spPr>
        <p:txBody>
          <a:bodyPr wrap="square" lIns="0" tIns="0" rIns="0" bIns="0" rtlCol="0" anchor="ctr"/>
          <a:lstStyle/>
          <a:p>
            <a:pPr algn="ctr" indent="0" marL="0">
              <a:buNone/>
            </a:pPr>
            <a:r>
              <a:rPr lang="en-US" sz="5400" b="1" dirty="0">
                <a:solidFill>
                  <a:schemeClr val="bg1"/>
                </a:solidFill>
              </a:rPr>
              <a:t>Thank you</a:t>
            </a:r>
            <a:endParaRPr lang="en-US" sz="5400" dirty="0"/>
          </a:p>
        </p:txBody>
      </p:sp>
      <p:sp>
        <p:nvSpPr>
          <p:cNvPr id="4" name="Text 0"/>
          <p:cNvSpPr/>
          <p:nvPr>
            <p:ph idx="101" type="body" hasCustomPrompt="1"/>
          </p:nvPr>
        </p:nvSpPr>
        <p:spPr>
          <a:xfrm>
            <a:off x="1371600" y="3474720"/>
            <a:ext cx="9418320" cy="822960"/>
          </a:xfrm>
          <a:prstGeom prst="rect">
            <a:avLst/>
          </a:prstGeom>
          <a:noFill/>
          <a:ln/>
        </p:spPr>
        <p:txBody>
          <a:bodyPr wrap="square" lIns="0" tIns="0" rIns="0" bIns="0" rtlCol="0" anchor="t"/>
          <a:lstStyle/>
          <a:p>
            <a:pPr algn="ctr" indent="0" marL="0">
              <a:buNone/>
            </a:pPr>
            <a:r>
              <a:rPr lang="en-US" sz="2000" dirty="0">
                <a:solidFill>
                  <a:schemeClr val="bg2"/>
                </a:solidFill>
              </a:rPr>
              <a:t>Questions and live demo</a:t>
            </a:r>
            <a:endParaRPr lang="en-US" sz="2000" dirty="0"/>
          </a:p>
        </p:txBody>
      </p:sp>
      <p:sp>
        <p:nvSpPr>
          <p:cNvPr id="5" name="a-fade-cfoot"/>
          <p:cNvSpPr txBox="1"/>
          <p:nvPr/>
        </p:nvSpPr>
        <p:spPr>
          <a:xfrm>
            <a:off x="1371600" y="5760720"/>
            <a:ext cx="9418320" cy="365760"/>
          </a:xfrm>
          <a:prstGeom prst="rect">
            <a:avLst/>
          </a:prstGeom>
          <a:noFill/>
          <a:ln/>
        </p:spPr>
        <p:txBody>
          <a:bodyPr wrap="square" lIns="0" tIns="0" rIns="0" bIns="0" rtlCol="0" anchor="ctr"/>
          <a:lstStyle/>
          <a:p>
            <a:pPr algn="ctr" indent="0" marL="0">
              <a:buNone/>
            </a:pPr>
            <a:r>
              <a:rPr lang="en-US" sz="1400" dirty="0">
                <a:solidFill>
                  <a:srgbClr val="BAE6FD"/>
                </a:solidFill>
              </a:rPr>
              <a:t>Nexus Service Marketing System  ·  [Your name]  ·  [Batch] / [Group]</a:t>
            </a:r>
            <a:endParaRPr lang="en-US" sz="14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8" fill="hold">
                            <p:stCondLst>
                              <p:cond delay="0"/>
                            </p:stCondLst>
                            <p:childTnLst>
                              <p:par>
                                <p:cTn id="8" presetID="53" presetClass="entr" presetSubtype="16"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 calcmode="lin" valueType="num">
                                      <p:cBhvr>
                                        <p:cTn id="6" dur="650" decel="100000" fill="hold"/>
                                        <p:tgtEl>
                                          <p:spTgt spid="2"/>
                                        </p:tgtEl>
                                        <p:attrNameLst>
                                          <p:attrName>ppt_w</p:attrName>
                                        </p:attrNameLst>
                                      </p:cBhvr>
                                      <p:tavLst>
                                        <p:tav tm="0">
                                          <p:val>
                                            <p:strVal val="#ppt_w*0.7"/>
                                          </p:val>
                                        </p:tav>
                                        <p:tav tm="100000">
                                          <p:val>
                                            <p:strVal val="#ppt_w"/>
                                          </p:val>
                                        </p:tav>
                                      </p:tavLst>
                                    </p:anim>
                                    <p:anim calcmode="lin" valueType="num">
                                      <p:cBhvr>
                                        <p:cTn id="7" dur="650" decel="100000" fill="hold"/>
                                        <p:tgtEl>
                                          <p:spTgt spid="2"/>
                                        </p:tgtEl>
                                        <p:attrNameLst>
                                          <p:attrName>ppt_h</p:attrName>
                                        </p:attrNameLst>
                                      </p:cBhvr>
                                      <p:tavLst>
                                        <p:tav tm="0">
                                          <p:val>
                                            <p:strVal val="#ppt_h*0.7"/>
                                          </p:val>
                                        </p:tav>
                                        <p:tav tm="100000">
                                          <p:val>
                                            <p:strVal val="#ppt_h"/>
                                          </p:val>
                                        </p:tav>
                                      </p:tavLst>
                                    </p:anim>
                                    <p:animEffect transition="in" filter="fade">
                                      <p:cBhvr>
                                        <p:cTn id="5" dur="650"/>
                                        <p:tgtEl>
                                          <p:spTgt spid="2"/>
                                        </p:tgtEl>
                                      </p:cBhvr>
                                    </p:animEffect>
                                  </p:childTnLst>
                                </p:cTn>
                              </p:par>
                              <p:par>
                                <p:cTn id="11" presetID="10" presetClass="entr" presetSubtype="0" fill="hold" grpId="0" nodeType="withEffect">
                                  <p:stCondLst>
                                    <p:cond delay="2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4" presetID="10"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7" presetID="10" presetClass="entr" presetSubtype="0" fill="hold" grpId="0" nodeType="withEffect">
                                  <p:stCondLst>
                                    <p:cond delay="6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theme/theme1.xml><?xml version="1.0" encoding="utf-8"?>
<a:theme xmlns:a="http://schemas.openxmlformats.org/drawingml/2006/main" name="Nexus">
  <a:themeElements>
    <a:clrScheme name="Nexus">
      <a:dk1>
        <a:srgbClr val="0F172A"/>
      </a:dk1>
      <a:lt1>
        <a:srgbClr val="FFFFFF"/>
      </a:lt1>
      <a:dk2>
        <a:srgbClr val="0A2540"/>
      </a:dk2>
      <a:lt2>
        <a:srgbClr val="F0F9FF"/>
      </a:lt2>
      <a:accent1>
        <a:srgbClr val="0369A1"/>
      </a:accent1>
      <a:accent2>
        <a:srgbClr val="059669"/>
      </a:accent2>
      <a:accent3>
        <a:srgbClr val="0EA5E9"/>
      </a:accent3>
      <a:accent4>
        <a:srgbClr val="F59E0B"/>
      </a:accent4>
      <a:accent5>
        <a:srgbClr val="DC2626"/>
      </a:accent5>
      <a:accent6>
        <a:srgbClr val="64748B"/>
      </a:accent6>
      <a:hlink>
        <a:srgbClr val="0369A1"/>
      </a:hlink>
      <a:folHlink>
        <a:srgbClr val="0A2540"/>
      </a:folHlink>
    </a:clrScheme>
    <a:fontScheme name="Nexu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Nexus Communications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Service Marketing System</dc:title>
  <dc:subject>PptxGenJS Presentation</dc:subject>
  <dc:creator>[Your name]</dc:creator>
  <cp:lastModifiedBy>[Your name]</cp:lastModifiedBy>
  <cp:revision>1</cp:revision>
  <dcterms:created xsi:type="dcterms:W3CDTF">2026-10-09T11:09:08Z</dcterms:created>
  <dcterms:modified xsi:type="dcterms:W3CDTF">2026-10-09T11:09:08Z</dcterms:modified>
</cp:coreProperties>
</file>