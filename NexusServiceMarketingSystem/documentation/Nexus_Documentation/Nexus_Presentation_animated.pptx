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702f707-ba23-781e-ba49-2544f4ef536c}">
          <p14:sldIdLst>
            <p14:sldId id="256"/>
            <p14:sldId id="257"/>
            <p14:sldId id="258"/>
          </p14:sldIdLst>
        </p14:section>
        <p14:section name="How it works" id="{913da1f8-7da0-84dc-89ee-b47d8e0e6536}">
          <p14:sldIdLst>
            <p14:sldId id="259"/>
            <p14:sldId id="260"/>
            <p14:sldId id="261"/>
            <p14:sldId id="262"/>
          </p14:sldIdLst>
        </p14:section>
        <p14:section name="The new interface" id="{8901654c-0f3d-8185-3e7c-1c202d20b87f}">
          <p14:sldIdLst>
            <p14:sldId id="263"/>
            <p14:sldId id="264"/>
            <p14:sldId id="265"/>
            <p14:sldId id="266"/>
            <p14:sldId id="267"/>
          </p14:sldIdLst>
        </p14:section>
        <p14:section name="Quality and delivery" id="{98db3fc6-430b-5aec-c1d9-3eafac59c77b}">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A2540"/>
                </a:solidFill>
                <a:latin typeface="+mj-lt"/>
              </a:defRPr>
            </a:pPr>
            <a:r>
              <a:rPr sz="1600" b="0" i="0" u="none" strike="noStrike">
                <a:solidFill>
                  <a:srgbClr val="0A2540"/>
                </a:solidFill>
                <a:latin typeface="+mj-lt"/>
              </a:rPr>
              <a:t>Test cases by area</a:t>
            </a:r>
          </a:p>
        </c:rich>
      </c:tx>
      <c:layout/>
      <c:overlay val="0"/>
    </c:title>
    <c:autoTitleDeleted val="0"/>
    <c:plotArea>
      <c:layout/>
      <c:barChart>
        <c:barDir val="bar"/>
        <c:grouping val="clustered"/>
        <c:varyColors val="0"/>
        <c:ser>
          <c:idx val="0"/>
          <c:order val="0"/>
          <c:tx>
            <c:strRef>
              <c:f>Sheet1!$B$1</c:f>
              <c:strCache>
                <c:ptCount val="1"/>
                <c:pt idx="0">
                  <c:v>Tests</c:v>
                </c:pt>
              </c:strCache>
            </c:strRef>
          </c:tx>
          <c:spPr>
            <a:solidFill>
              <a:srgbClr val="0369A1"/>
            </a:solidFill>
            <a:effectLst/>
          </c:spPr>
          <c:invertIfNegative val="0"/>
          <c:dLbls>
            <c:numFmt formatCode="#,##0" sourceLinked="0"/>
            <c:txPr>
              <a:bodyPr/>
              <a:lstStyle/>
              <a:p>
                <a:pPr>
                  <a:defRPr b="0" i="0" strike="noStrike" sz="1300" u="none">
                    <a:solidFill>
                      <a:srgbClr val="0F172A"/>
                    </a:solidFill>
                    <a:latin typeface="+mn-lt"/>
                  </a:defRPr>
                </a:pPr>
              </a:p>
            </c:txPr>
            <c:showLegendKey val="0"/>
            <c:showVal val="1"/>
            <c:showCatName val="0"/>
            <c:showSerName val="0"/>
            <c:showPercent val="0"/>
            <c:showBubbleSize val="0"/>
            <c:showLeaderLines val="0"/>
          </c:dLbls>
          <c:dPt>
            <c:idx val="0"/>
            <c:invertIfNegative val="0"/>
            <c:bubble3D val="0"/>
            <c:spPr>
              <a:solidFill>
                <a:srgbClr val="0369A1"/>
              </a:solidFill>
              <a:effectLst/>
            </c:spPr>
          </c:dPt>
          <c:dPt>
            <c:idx val="1"/>
            <c:invertIfNegative val="0"/>
            <c:bubble3D val="0"/>
            <c:spPr>
              <a:solidFill>
                <a:srgbClr val="059669"/>
              </a:solidFill>
              <a:effectLst/>
            </c:spPr>
          </c:dPt>
          <c:dPt>
            <c:idx val="2"/>
            <c:invertIfNegative val="0"/>
            <c:bubble3D val="0"/>
            <c:spPr>
              <a:solidFill>
                <a:srgbClr val="6D28D9"/>
              </a:solidFill>
              <a:effectLst/>
            </c:spPr>
          </c:dPt>
          <c:dPt>
            <c:idx val="3"/>
            <c:invertIfNegative val="0"/>
            <c:bubble3D val="0"/>
            <c:spPr>
              <a:solidFill>
                <a:srgbClr val="0EA5E9"/>
              </a:solidFill>
              <a:effectLst/>
            </c:spPr>
          </c:dPt>
          <c:cat>
            <c:multiLvlStrRef>
              <c:f>Sheet1!$A$2:$A$5</c:f>
              <c:multiLvlStrCache>
                <c:ptCount val="4"/>
                <c:lvl>
                  <c:pt idx="0">
                    <c:v>Workflow</c:v>
                  </c:pt>
                  <c:pt idx="1">
                    <c:v>Validation</c:v>
                  </c:pt>
                  <c:pt idx="2">
                    <c:v>Security</c:v>
                  </c:pt>
                  <c:pt idx="3">
                    <c:v>Interface</c:v>
                  </c:pt>
                </c:lvl>
              </c:multiLvlStrCache>
            </c:multiLvlStrRef>
          </c:cat>
          <c:val>
            <c:numRef>
              <c:f>Sheet1!$B$2:$B$5</c:f>
              <c:numCache>
                <c:formatCode>General</c:formatCode>
                <c:ptCount val="4"/>
                <c:pt idx="0">
                  <c:v>10</c:v>
                </c:pt>
                <c:pt idx="1">
                  <c:v>7</c:v>
                </c:pt>
                <c:pt idx="2">
                  <c:v>4</c:v>
                </c:pt>
                <c:pt idx="3">
                  <c:v>3</c:v>
                </c:pt>
              </c:numCache>
            </c:numRef>
          </c:val>
        </c:ser>
        <c:dLbls>
          <c:numFmt formatCode="#,##0" sourceLinked="0"/>
          <c:txPr>
            <a:bodyPr/>
            <a:lstStyle/>
            <a:p>
              <a:pPr>
                <a:defRPr b="0" i="0" strike="noStrike" sz="1300" u="none">
                  <a:solidFill>
                    <a:srgbClr val="0F17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the Nexus Service Marketing System, an ASP.NET Core 8 MVC application on SQL Server. It runs the whole business of a telephone and internet provider: plans, retail shops, orders, feasibility checks, connections, equipment stock, bills and payments. Every user signs in to a dashboard made for their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Nexus kept customers, orders, bills and stock on paper in every shop. That caused lost orders, slow installation and billing mistakes. The new system gives every order a unique number, puts it in a live queue for the technical team and calculates every bill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five signed-in roles and public visitors. Login is shared, and the role decides which dashboard and menu the person sees. A retail employee can never open admin pages, and a customer sees only their own orders and bills.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order follows the same five steps. The order number and the account ID are generated by the server in the formats the specification asks for. Accounts generates the bill with the plan fee, call charges, deposit, bulk discount and 12.24 percent service tax. If a bill is not paid in time the technical team can suspend the connection and reactivate it after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has three layers. Controllers and views never touch the database; they call services that hold every business rule, and the services use Entity Framework Core to talk to SQL Server. Every area is protected by role authorization and every form by an anti-forgery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NexusServiceMarketingDb has 19 tables. Every relationship is a foreign key without cascade delete, so data in use is deactivated rather than deleted. 47 check constraints protect the order number and account ID formats, status values and amounts.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rules come straight from the specification. Dial-up needs a Nexus landline, so a customer without one orders both together. The bulk discount uses every connection the customer takes, and it applies to the advance and the security deposit on the first bill.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2 turns the staff side into a real work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login every user lands on a dashboard with live numbers for their job: the admin sees customers, orders, collections and low stock; technical staff see the feasibility queue and overdue connections; customers see their amount due. The top bar has a quick track box for any order number or account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between pages plays a cut-overlay transition: three angled panels sweep across. Destructive actions open a blurred confirm overlay instead of the plain browser box, and saves show a toast. Everything turns off for users who choose reduced motion in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role works in its own area. Retail sees only its own shop, technical works the feasibility queue, accounts sees bills and dues, and the customer sees the amount due and the next due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application works on phones. The sidebar becomes a drawer, cards stack in one column and wide tables scroll sideways.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used an automated browser that signs in as every role and runs the whole workflow through the real screens: 24 out of 24 system test cases passed, including validation and security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run it: connect SQL Server with the sa login, run dotnet ef database update to create the database, then dotnet run and open localhost port 5294 in Chrome. The admin account is created on first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show any part of the system live. The demo logins are on the slide; a fresh database contains only the admin, who creates the employees.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dark-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ection-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74520"/>
            <a:ext cx="6035040" cy="173736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3" name="Text 0"/>
          <p:cNvSpPr/>
          <p:nvPr>
            <p:ph idx="101" type="body" hasCustomPrompt="1"/>
          </p:nvPr>
        </p:nvSpPr>
        <p:spPr>
          <a:xfrm>
            <a:off x="548640" y="3703320"/>
            <a:ext cx="5486400" cy="914400"/>
          </a:xfrm>
          <a:prstGeom prst="rect">
            <a:avLst/>
          </a:prstGeom>
          <a:noFill/>
          <a:ln/>
        </p:spPr>
        <p:txBody>
          <a:bodyPr wrap="square" rtlCol="0"/>
          <a:lstStyle>
            <a:lvl1pPr algn="l" indent="0" marL="0">
              <a:buNone/>
              <a:defRPr lang="en-US" sz="1600" dirty="0">
                <a:solidFill>
                  <a:schemeClr val="bg2"/>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606040"/>
            <a:ext cx="6583680" cy="164592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4434840"/>
            <a:ext cx="4206240" cy="128016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424160"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spc="100" kern="0" dirty="0">
                <a:solidFill>
                  <a:srgbClr val="64748B"/>
                </a:solidFill>
              </a:rPr>
              <a:t>NEXUS  Service Marketing System</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4.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4.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4.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image" Target="../media/image-11-4.jpg"/><Relationship Id="rId5" Type="http://schemas.openxmlformats.org/officeDocument/2006/relationships/slideLayout" Target="../slideLayouts/slideLayout4.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A01-fade-kicker"/>
          <p:cNvSpPr txBox="1"/>
          <p:nvPr/>
        </p:nvSpPr>
        <p:spPr>
          <a:xfrm>
            <a:off x="548640" y="1325880"/>
            <a:ext cx="5486400" cy="365760"/>
          </a:xfrm>
          <a:prstGeom prst="rect">
            <a:avLst/>
          </a:prstGeom>
          <a:noFill/>
          <a:ln/>
        </p:spPr>
        <p:txBody>
          <a:bodyPr wrap="square" lIns="0" tIns="0" rIns="0" bIns="0" rtlCol="0" anchor="t"/>
          <a:lstStyle/>
          <a:p>
            <a:pPr indent="0" marL="0">
              <a:buNone/>
            </a:pPr>
            <a:r>
              <a:rPr lang="en-US" sz="1400" b="1" spc="200" kern="0" dirty="0">
                <a:solidFill>
                  <a:srgbClr val="7DD3FC"/>
                </a:solidFill>
              </a:rPr>
              <a:t>eProject  ·  Telephone &amp; Internet Services</a:t>
            </a:r>
            <a:endParaRPr lang="en-US" sz="1400" dirty="0"/>
          </a:p>
        </p:txBody>
      </p:sp>
      <p:sp>
        <p:nvSpPr>
          <p:cNvPr id="3" name="Text 0"/>
          <p:cNvSpPr/>
          <p:nvPr>
            <p:ph idx="100" type="title" hasCustomPrompt="1"/>
          </p:nvPr>
        </p:nvSpPr>
        <p:spPr>
          <a:xfrm>
            <a:off x="548640" y="1874520"/>
            <a:ext cx="6035040" cy="1737360"/>
          </a:xfrm>
          <a:prstGeom prst="rect">
            <a:avLst/>
          </a:prstGeom>
          <a:noFill/>
          <a:ln/>
        </p:spPr>
        <p:txBody>
          <a:bodyPr wrap="square" lIns="0" tIns="0" rIns="0" bIns="0" rtlCol="0" anchor="t"/>
          <a:lstStyle/>
          <a:p>
            <a:pPr algn="l" indent="0" marL="0">
              <a:buNone/>
            </a:pPr>
            <a:r>
              <a:rPr lang="en-US" sz="4600" b="1" dirty="0">
                <a:solidFill>
                  <a:schemeClr val="bg1"/>
                </a:solidFill>
              </a:rPr>
              <a:t>Nexus Service </a:t>
            </a:r>
            <a:pPr algn="l" indent="0" marL="0">
              <a:buNone/>
            </a:pPr>
            <a:r>
              <a:rPr lang="en-US" sz="4600" b="1" dirty="0">
                <a:solidFill>
                  <a:srgbClr val="34D399"/>
                </a:solidFill>
              </a:rPr>
              <a:t>Marketing System</a:t>
            </a:r>
            <a:endParaRPr lang="en-US" sz="4600" dirty="0"/>
          </a:p>
        </p:txBody>
      </p:sp>
      <p:sp>
        <p:nvSpPr>
          <p:cNvPr id="4" name="Text 0"/>
          <p:cNvSpPr/>
          <p:nvPr>
            <p:ph idx="101" type="body" hasCustomPrompt="1"/>
          </p:nvPr>
        </p:nvSpPr>
        <p:spPr>
          <a:xfrm>
            <a:off x="548640" y="3703320"/>
            <a:ext cx="5486400" cy="914400"/>
          </a:xfrm>
          <a:prstGeom prst="rect">
            <a:avLst/>
          </a:prstGeom>
          <a:noFill/>
          <a:ln/>
        </p:spPr>
        <p:txBody>
          <a:bodyPr wrap="square" lIns="0" tIns="0" rIns="0" bIns="0" rtlCol="0" anchor="t"/>
          <a:lstStyle/>
          <a:p>
            <a:pPr algn="l" indent="0" marL="0">
              <a:buNone/>
            </a:pPr>
            <a:r>
              <a:rPr lang="en-US" sz="1600" dirty="0">
                <a:solidFill>
                  <a:schemeClr val="bg2"/>
                </a:solidFill>
              </a:rPr>
              <a:t>Orders, feasibility, connections, equipment stock, postpaid billing and payments - one web application with a dashboard for every role.</a:t>
            </a:r>
            <a:endParaRPr lang="en-US" sz="1600" dirty="0"/>
          </a:p>
        </p:txBody>
      </p:sp>
      <p:sp>
        <p:nvSpPr>
          <p:cNvPr id="5" name="A02-rise-chip0"/>
          <p:cNvSpPr/>
          <p:nvPr/>
        </p:nvSpPr>
        <p:spPr>
          <a:xfrm>
            <a:off x="548640" y="4892040"/>
            <a:ext cx="1673352" cy="384048"/>
          </a:xfrm>
          <a:prstGeom prst="roundRect">
            <a:avLst>
              <a:gd name="adj" fmla="val 50000"/>
            </a:avLst>
          </a:prstGeom>
          <a:solidFill>
            <a:srgbClr val="0C3A5C">
              <a:alpha val="90000"/>
            </a:srgbClr>
          </a:solidFill>
          <a:ln w="9525">
            <a:solidFill>
              <a:srgbClr val="38BDF8"/>
            </a:solidFill>
            <a:prstDash val="solid"/>
          </a:ln>
        </p:spPr>
      </p:sp>
      <p:sp>
        <p:nvSpPr>
          <p:cNvPr id="6" name="A02-rise-chipt0"/>
          <p:cNvSpPr txBox="1"/>
          <p:nvPr/>
        </p:nvSpPr>
        <p:spPr>
          <a:xfrm>
            <a:off x="548640" y="4892040"/>
            <a:ext cx="1673352" cy="384048"/>
          </a:xfrm>
          <a:prstGeom prst="rect">
            <a:avLst/>
          </a:prstGeom>
          <a:noFill/>
          <a:ln/>
        </p:spPr>
        <p:txBody>
          <a:bodyPr wrap="square" lIns="0" tIns="0" rIns="0" bIns="0" rtlCol="0" anchor="ctr"/>
          <a:lstStyle/>
          <a:p>
            <a:pPr algn="ctr" indent="0" marL="0">
              <a:buNone/>
            </a:pPr>
            <a:r>
              <a:rPr lang="en-US" sz="1200" b="1" dirty="0">
                <a:solidFill>
                  <a:schemeClr val="bg1"/>
                </a:solidFill>
              </a:rPr>
              <a:t>ASP.NET Core 8 MVC</a:t>
            </a:r>
            <a:endParaRPr lang="en-US" sz="1200" dirty="0"/>
          </a:p>
        </p:txBody>
      </p:sp>
      <p:sp>
        <p:nvSpPr>
          <p:cNvPr id="7" name="A02-rise-chip1"/>
          <p:cNvSpPr/>
          <p:nvPr/>
        </p:nvSpPr>
        <p:spPr>
          <a:xfrm>
            <a:off x="2331720" y="4892040"/>
            <a:ext cx="429768" cy="384048"/>
          </a:xfrm>
          <a:prstGeom prst="roundRect">
            <a:avLst>
              <a:gd name="adj" fmla="val 50000"/>
            </a:avLst>
          </a:prstGeom>
          <a:solidFill>
            <a:srgbClr val="0C3A5C">
              <a:alpha val="90000"/>
            </a:srgbClr>
          </a:solidFill>
          <a:ln w="9525">
            <a:solidFill>
              <a:srgbClr val="38BDF8"/>
            </a:solidFill>
            <a:prstDash val="solid"/>
          </a:ln>
        </p:spPr>
      </p:sp>
      <p:sp>
        <p:nvSpPr>
          <p:cNvPr id="8" name="A02-rise-chipt1"/>
          <p:cNvSpPr txBox="1"/>
          <p:nvPr/>
        </p:nvSpPr>
        <p:spPr>
          <a:xfrm>
            <a:off x="2331720" y="4892040"/>
            <a:ext cx="429768" cy="384048"/>
          </a:xfrm>
          <a:prstGeom prst="rect">
            <a:avLst/>
          </a:prstGeom>
          <a:noFill/>
          <a:ln/>
        </p:spPr>
        <p:txBody>
          <a:bodyPr wrap="square" lIns="0" tIns="0" rIns="0" bIns="0" rtlCol="0" anchor="ctr"/>
          <a:lstStyle/>
          <a:p>
            <a:pPr algn="ctr" indent="0" marL="0">
              <a:buNone/>
            </a:pPr>
            <a:r>
              <a:rPr lang="en-US" sz="1200" b="1" dirty="0">
                <a:solidFill>
                  <a:schemeClr val="bg1"/>
                </a:solidFill>
              </a:rPr>
              <a:t>C#</a:t>
            </a:r>
            <a:endParaRPr lang="en-US" sz="1200" dirty="0"/>
          </a:p>
        </p:txBody>
      </p:sp>
      <p:sp>
        <p:nvSpPr>
          <p:cNvPr id="9" name="A02-rise-chip2"/>
          <p:cNvSpPr/>
          <p:nvPr/>
        </p:nvSpPr>
        <p:spPr>
          <a:xfrm>
            <a:off x="2871216" y="4892040"/>
            <a:ext cx="973836" cy="384048"/>
          </a:xfrm>
          <a:prstGeom prst="roundRect">
            <a:avLst>
              <a:gd name="adj" fmla="val 50000"/>
            </a:avLst>
          </a:prstGeom>
          <a:solidFill>
            <a:srgbClr val="0C3A5C">
              <a:alpha val="90000"/>
            </a:srgbClr>
          </a:solidFill>
          <a:ln w="9525">
            <a:solidFill>
              <a:srgbClr val="38BDF8"/>
            </a:solidFill>
            <a:prstDash val="solid"/>
          </a:ln>
        </p:spPr>
      </p:sp>
      <p:sp>
        <p:nvSpPr>
          <p:cNvPr id="10" name="A02-rise-chipt2"/>
          <p:cNvSpPr txBox="1"/>
          <p:nvPr/>
        </p:nvSpPr>
        <p:spPr>
          <a:xfrm>
            <a:off x="2871216" y="4892040"/>
            <a:ext cx="973836" cy="384048"/>
          </a:xfrm>
          <a:prstGeom prst="rect">
            <a:avLst/>
          </a:prstGeom>
          <a:noFill/>
          <a:ln/>
        </p:spPr>
        <p:txBody>
          <a:bodyPr wrap="square" lIns="0" tIns="0" rIns="0" bIns="0" rtlCol="0" anchor="ctr"/>
          <a:lstStyle/>
          <a:p>
            <a:pPr algn="ctr" indent="0" marL="0">
              <a:buNone/>
            </a:pPr>
            <a:r>
              <a:rPr lang="en-US" sz="1200" b="1" dirty="0">
                <a:solidFill>
                  <a:schemeClr val="bg1"/>
                </a:solidFill>
              </a:rPr>
              <a:t>EF Core 8</a:t>
            </a:r>
            <a:endParaRPr lang="en-US" sz="1200" dirty="0"/>
          </a:p>
        </p:txBody>
      </p:sp>
      <p:sp>
        <p:nvSpPr>
          <p:cNvPr id="11" name="A02-rise-chip3"/>
          <p:cNvSpPr/>
          <p:nvPr/>
        </p:nvSpPr>
        <p:spPr>
          <a:xfrm>
            <a:off x="3954780" y="4892040"/>
            <a:ext cx="1051560" cy="384048"/>
          </a:xfrm>
          <a:prstGeom prst="roundRect">
            <a:avLst>
              <a:gd name="adj" fmla="val 50000"/>
            </a:avLst>
          </a:prstGeom>
          <a:solidFill>
            <a:srgbClr val="0C3A5C">
              <a:alpha val="90000"/>
            </a:srgbClr>
          </a:solidFill>
          <a:ln w="9525">
            <a:solidFill>
              <a:srgbClr val="38BDF8"/>
            </a:solidFill>
            <a:prstDash val="solid"/>
          </a:ln>
        </p:spPr>
      </p:sp>
      <p:sp>
        <p:nvSpPr>
          <p:cNvPr id="12" name="A02-rise-chipt3"/>
          <p:cNvSpPr txBox="1"/>
          <p:nvPr/>
        </p:nvSpPr>
        <p:spPr>
          <a:xfrm>
            <a:off x="3954780" y="4892040"/>
            <a:ext cx="1051560" cy="384048"/>
          </a:xfrm>
          <a:prstGeom prst="rect">
            <a:avLst/>
          </a:prstGeom>
          <a:noFill/>
          <a:ln/>
        </p:spPr>
        <p:txBody>
          <a:bodyPr wrap="square" lIns="0" tIns="0" rIns="0" bIns="0" rtlCol="0" anchor="ctr"/>
          <a:lstStyle/>
          <a:p>
            <a:pPr algn="ctr" indent="0" marL="0">
              <a:buNone/>
            </a:pPr>
            <a:r>
              <a:rPr lang="en-US" sz="1200" b="1" dirty="0">
                <a:solidFill>
                  <a:schemeClr val="bg1"/>
                </a:solidFill>
              </a:rPr>
              <a:t>SQL Server</a:t>
            </a:r>
            <a:endParaRPr lang="en-US" sz="1200" dirty="0"/>
          </a:p>
        </p:txBody>
      </p:sp>
      <p:sp>
        <p:nvSpPr>
          <p:cNvPr id="13" name="A02-rise-chip4"/>
          <p:cNvSpPr/>
          <p:nvPr/>
        </p:nvSpPr>
        <p:spPr>
          <a:xfrm>
            <a:off x="5116068" y="4892040"/>
            <a:ext cx="1129284" cy="384048"/>
          </a:xfrm>
          <a:prstGeom prst="roundRect">
            <a:avLst>
              <a:gd name="adj" fmla="val 50000"/>
            </a:avLst>
          </a:prstGeom>
          <a:solidFill>
            <a:srgbClr val="0C3A5C">
              <a:alpha val="90000"/>
            </a:srgbClr>
          </a:solidFill>
          <a:ln w="9525">
            <a:solidFill>
              <a:srgbClr val="38BDF8"/>
            </a:solidFill>
            <a:prstDash val="solid"/>
          </a:ln>
        </p:spPr>
      </p:sp>
      <p:sp>
        <p:nvSpPr>
          <p:cNvPr id="14" name="A02-rise-chipt4"/>
          <p:cNvSpPr txBox="1"/>
          <p:nvPr/>
        </p:nvSpPr>
        <p:spPr>
          <a:xfrm>
            <a:off x="5116068" y="4892040"/>
            <a:ext cx="1129284" cy="384048"/>
          </a:xfrm>
          <a:prstGeom prst="rect">
            <a:avLst/>
          </a:prstGeom>
          <a:noFill/>
          <a:ln/>
        </p:spPr>
        <p:txBody>
          <a:bodyPr wrap="square" lIns="0" tIns="0" rIns="0" bIns="0" rtlCol="0" anchor="ctr"/>
          <a:lstStyle/>
          <a:p>
            <a:pPr algn="ctr" indent="0" marL="0">
              <a:buNone/>
            </a:pPr>
            <a:r>
              <a:rPr lang="en-US" sz="1200" b="1" dirty="0">
                <a:solidFill>
                  <a:schemeClr val="bg1"/>
                </a:solidFill>
              </a:rPr>
              <a:t>Bootstrap 5</a:t>
            </a:r>
            <a:endParaRPr lang="en-US" sz="1200" dirty="0"/>
          </a:p>
        </p:txBody>
      </p:sp>
      <p:pic>
        <p:nvPicPr>
          <p:cNvPr id="15" name="A03-zoom-hero" descr="/tmp/claude-0/-home-user-e-project/14373db0-086f-59d2-a972-520da66c003b/scratchpad/docs/shots-jpg/10-admin-dashboard.jpg">    </p:cNvPr>
          <p:cNvPicPr>
            <a:picLocks noChangeAspect="1"/>
          </p:cNvPicPr>
          <p:nvPr/>
        </p:nvPicPr>
        <p:blipFill>
          <a:blip r:embed="rId1"/>
          <a:stretch>
            <a:fillRect/>
          </a:stretch>
        </p:blipFill>
        <p:spPr>
          <a:xfrm>
            <a:off x="6629400" y="1600200"/>
            <a:ext cx="5029200" cy="3143250"/>
          </a:xfrm>
          <a:prstGeom prst="rect">
            <a:avLst/>
          </a:prstGeom>
          <a:effectLst>
            <a:outerShdw sx="100000" sy="100000" kx="0" ky="0" algn="bl" rotWithShape="0" blurRad="152400" dist="38100" dir="5400000">
              <a:srgbClr val="0A2540">
                <a:alpha val="18000"/>
              </a:srgbClr>
            </a:outerShdw>
          </a:effectLst>
        </p:spPr>
      </p:pic>
      <p:sp>
        <p:nvSpPr>
          <p:cNvPr id="16" name="A04-fade-presenter"/>
          <p:cNvSpPr txBox="1"/>
          <p:nvPr/>
        </p:nvSpPr>
        <p:spPr>
          <a:xfrm>
            <a:off x="548640" y="5989320"/>
            <a:ext cx="5486400" cy="320040"/>
          </a:xfrm>
          <a:prstGeom prst="rect">
            <a:avLst/>
          </a:prstGeom>
          <a:noFill/>
          <a:ln/>
        </p:spPr>
        <p:txBody>
          <a:bodyPr wrap="square" lIns="0" tIns="0" rIns="0" bIns="0" rtlCol="0" anchor="t"/>
          <a:lstStyle/>
          <a:p>
            <a:pPr indent="0" marL="0">
              <a:buNone/>
            </a:pPr>
            <a:r>
              <a:rPr lang="en-US" sz="1200" dirty="0">
                <a:solidFill>
                  <a:srgbClr val="BAE6FD"/>
                </a:solidFill>
              </a:rPr>
              <a:t>Presented by:  ______________________</a:t>
            </a:r>
            <a:endParaRPr lang="en-US" sz="12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65" fill="hold">
                      <p:stCondLst>
                        <p:cond delay="indefinite"/>
                        <p:cond evt="onBegin" delay="0">
                          <p:tn val="2"/>
                        </p:cond>
                      </p:stCondLst>
                      <p:childTnLst>
                        <p:par>
                          <p:cTn id="64" fill="hold">
                            <p:stCondLst>
                              <p:cond delay="0"/>
                            </p:stCondLst>
                            <p:childTnLst>
                              <p:par>
                                <p:cTn id="5" presetID="10" presetClass="entr" presetSubtype="0"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Effect transition="in" filter="fade">
                                      <p:cBhvr>
                                        <p:cTn id="4" dur="700"/>
                                        <p:tgtEl>
                                          <p:spTgt spid="2"/>
                                        </p:tgtEl>
                                      </p:cBhvr>
                                    </p:animEffect>
                                  </p:childTnLst>
                                </p:cTn>
                              </p:par>
                              <p:par>
                                <p:cTn id="10" presetID="42" presetClass="entr" presetSubtype="0" fill="hold" grpId="0" nodeType="withEffect">
                                  <p:stCondLst>
                                    <p:cond delay="36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anim calcmode="lin" valueType="num">
                                      <p:cBhvr additive="base">
                                        <p:cTn id="8" dur="600" fill="hold"/>
                                        <p:tgtEl>
                                          <p:spTgt spid="5"/>
                                        </p:tgtEl>
                                        <p:attrNameLst>
                                          <p:attrName>ppt_x</p:attrName>
                                        </p:attrNameLst>
                                      </p:cBhvr>
                                      <p:tavLst>
                                        <p:tav tm="0">
                                          <p:val>
                                            <p:strVal val="#ppt_x"/>
                                          </p:val>
                                        </p:tav>
                                        <p:tav tm="100000">
                                          <p:val>
                                            <p:strVal val="#ppt_x"/>
                                          </p:val>
                                        </p:tav>
                                      </p:tavLst>
                                    </p:anim>
                                    <p:anim calcmode="lin" valueType="num">
                                      <p:cBhvr additive="base">
                                        <p:cTn id="9" dur="600" fill="hold"/>
                                        <p:tgtEl>
                                          <p:spTgt spid="5"/>
                                        </p:tgtEl>
                                        <p:attrNameLst>
                                          <p:attrName>ppt_y</p:attrName>
                                        </p:attrNameLst>
                                      </p:cBhvr>
                                      <p:tavLst>
                                        <p:tav tm="0">
                                          <p:val>
                                            <p:strVal val="#ppt_y+0.08"/>
                                          </p:val>
                                        </p:tav>
                                        <p:tav tm="100000">
                                          <p:val>
                                            <p:strVal val="#ppt_y"/>
                                          </p:val>
                                        </p:tav>
                                      </p:tavLst>
                                    </p:anim>
                                  </p:childTnLst>
                                </p:cTn>
                              </p:par>
                              <p:par>
                                <p:cTn id="15" presetID="42" presetClass="entr" presetSubtype="0" fill="hold" grpId="0" nodeType="withEffect">
                                  <p:stCondLst>
                                    <p:cond delay="43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00"/>
                                        <p:tgtEl>
                                          <p:spTgt spid="6"/>
                                        </p:tgtEl>
                                      </p:cBhvr>
                                    </p:animEffect>
                                    <p:anim calcmode="lin" valueType="num">
                                      <p:cBhvr additive="base">
                                        <p:cTn id="13" dur="600" fill="hold"/>
                                        <p:tgtEl>
                                          <p:spTgt spid="6"/>
                                        </p:tgtEl>
                                        <p:attrNameLst>
                                          <p:attrName>ppt_x</p:attrName>
                                        </p:attrNameLst>
                                      </p:cBhvr>
                                      <p:tavLst>
                                        <p:tav tm="0">
                                          <p:val>
                                            <p:strVal val="#ppt_x"/>
                                          </p:val>
                                        </p:tav>
                                        <p:tav tm="100000">
                                          <p:val>
                                            <p:strVal val="#ppt_x"/>
                                          </p:val>
                                        </p:tav>
                                      </p:tavLst>
                                    </p:anim>
                                    <p:anim calcmode="lin" valueType="num">
                                      <p:cBhvr additive="base">
                                        <p:cTn id="14" dur="600" fill="hold"/>
                                        <p:tgtEl>
                                          <p:spTgt spid="6"/>
                                        </p:tgtEl>
                                        <p:attrNameLst>
                                          <p:attrName>ppt_y</p:attrName>
                                        </p:attrNameLst>
                                      </p:cBhvr>
                                      <p:tavLst>
                                        <p:tav tm="0">
                                          <p:val>
                                            <p:strVal val="#ppt_y+0.08"/>
                                          </p:val>
                                        </p:tav>
                                        <p:tav tm="100000">
                                          <p:val>
                                            <p:strVal val="#ppt_y"/>
                                          </p:val>
                                        </p:tav>
                                      </p:tavLst>
                                    </p:anim>
                                  </p:childTnLst>
                                </p:cTn>
                              </p:par>
                              <p:par>
                                <p:cTn id="20" presetID="42" presetClass="entr" presetSubtype="0" fill="hold" grpId="0" nodeType="withEffect">
                                  <p:stCondLst>
                                    <p:cond delay="50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00"/>
                                        <p:tgtEl>
                                          <p:spTgt spid="7"/>
                                        </p:tgtEl>
                                      </p:cBhvr>
                                    </p:animEffect>
                                    <p:anim calcmode="lin" valueType="num">
                                      <p:cBhvr additive="base">
                                        <p:cTn id="18" dur="600" fill="hold"/>
                                        <p:tgtEl>
                                          <p:spTgt spid="7"/>
                                        </p:tgtEl>
                                        <p:attrNameLst>
                                          <p:attrName>ppt_x</p:attrName>
                                        </p:attrNameLst>
                                      </p:cBhvr>
                                      <p:tavLst>
                                        <p:tav tm="0">
                                          <p:val>
                                            <p:strVal val="#ppt_x"/>
                                          </p:val>
                                        </p:tav>
                                        <p:tav tm="100000">
                                          <p:val>
                                            <p:strVal val="#ppt_x"/>
                                          </p:val>
                                        </p:tav>
                                      </p:tavLst>
                                    </p:anim>
                                    <p:anim calcmode="lin" valueType="num">
                                      <p:cBhvr additive="base">
                                        <p:cTn id="19" dur="600" fill="hold"/>
                                        <p:tgtEl>
                                          <p:spTgt spid="7"/>
                                        </p:tgtEl>
                                        <p:attrNameLst>
                                          <p:attrName>ppt_y</p:attrName>
                                        </p:attrNameLst>
                                      </p:cBhvr>
                                      <p:tavLst>
                                        <p:tav tm="0">
                                          <p:val>
                                            <p:strVal val="#ppt_y+0.08"/>
                                          </p:val>
                                        </p:tav>
                                        <p:tav tm="100000">
                                          <p:val>
                                            <p:strVal val="#ppt_y"/>
                                          </p:val>
                                        </p:tav>
                                      </p:tavLst>
                                    </p:anim>
                                  </p:childTnLst>
                                </p:cTn>
                              </p:par>
                              <p:par>
                                <p:cTn id="25" presetID="42" presetClass="entr" presetSubtype="0" fill="hold" grpId="0" nodeType="withEffect">
                                  <p:stCondLst>
                                    <p:cond delay="57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anim calcmode="lin" valueType="num">
                                      <p:cBhvr additive="base">
                                        <p:cTn id="23" dur="600" fill="hold"/>
                                        <p:tgtEl>
                                          <p:spTgt spid="8"/>
                                        </p:tgtEl>
                                        <p:attrNameLst>
                                          <p:attrName>ppt_x</p:attrName>
                                        </p:attrNameLst>
                                      </p:cBhvr>
                                      <p:tavLst>
                                        <p:tav tm="0">
                                          <p:val>
                                            <p:strVal val="#ppt_x"/>
                                          </p:val>
                                        </p:tav>
                                        <p:tav tm="100000">
                                          <p:val>
                                            <p:strVal val="#ppt_x"/>
                                          </p:val>
                                        </p:tav>
                                      </p:tavLst>
                                    </p:anim>
                                    <p:anim calcmode="lin" valueType="num">
                                      <p:cBhvr additive="base">
                                        <p:cTn id="24" dur="600" fill="hold"/>
                                        <p:tgtEl>
                                          <p:spTgt spid="8"/>
                                        </p:tgtEl>
                                        <p:attrNameLst>
                                          <p:attrName>ppt_y</p:attrName>
                                        </p:attrNameLst>
                                      </p:cBhvr>
                                      <p:tavLst>
                                        <p:tav tm="0">
                                          <p:val>
                                            <p:strVal val="#ppt_y+0.08"/>
                                          </p:val>
                                        </p:tav>
                                        <p:tav tm="100000">
                                          <p:val>
                                            <p:strVal val="#ppt_y"/>
                                          </p:val>
                                        </p:tav>
                                      </p:tavLst>
                                    </p:anim>
                                  </p:childTnLst>
                                </p:cTn>
                              </p:par>
                              <p:par>
                                <p:cTn id="30" presetID="42" presetClass="entr" presetSubtype="0" fill="hold" grpId="0" nodeType="withEffect">
                                  <p:stCondLst>
                                    <p:cond delay="64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600"/>
                                        <p:tgtEl>
                                          <p:spTgt spid="9"/>
                                        </p:tgtEl>
                                      </p:cBhvr>
                                    </p:animEffect>
                                    <p:anim calcmode="lin" valueType="num">
                                      <p:cBhvr additive="base">
                                        <p:cTn id="28" dur="600" fill="hold"/>
                                        <p:tgtEl>
                                          <p:spTgt spid="9"/>
                                        </p:tgtEl>
                                        <p:attrNameLst>
                                          <p:attrName>ppt_x</p:attrName>
                                        </p:attrNameLst>
                                      </p:cBhvr>
                                      <p:tavLst>
                                        <p:tav tm="0">
                                          <p:val>
                                            <p:strVal val="#ppt_x"/>
                                          </p:val>
                                        </p:tav>
                                        <p:tav tm="100000">
                                          <p:val>
                                            <p:strVal val="#ppt_x"/>
                                          </p:val>
                                        </p:tav>
                                      </p:tavLst>
                                    </p:anim>
                                    <p:anim calcmode="lin" valueType="num">
                                      <p:cBhvr additive="base">
                                        <p:cTn id="29" dur="600" fill="hold"/>
                                        <p:tgtEl>
                                          <p:spTgt spid="9"/>
                                        </p:tgtEl>
                                        <p:attrNameLst>
                                          <p:attrName>ppt_y</p:attrName>
                                        </p:attrNameLst>
                                      </p:cBhvr>
                                      <p:tavLst>
                                        <p:tav tm="0">
                                          <p:val>
                                            <p:strVal val="#ppt_y+0.08"/>
                                          </p:val>
                                        </p:tav>
                                        <p:tav tm="100000">
                                          <p:val>
                                            <p:strVal val="#ppt_y"/>
                                          </p:val>
                                        </p:tav>
                                      </p:tavLst>
                                    </p:anim>
                                  </p:childTnLst>
                                </p:cTn>
                              </p:par>
                              <p:par>
                                <p:cTn id="35" presetID="42" presetClass="entr" presetSubtype="0" fill="hold" grpId="0" nodeType="withEffect">
                                  <p:stCondLst>
                                    <p:cond delay="71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600"/>
                                        <p:tgtEl>
                                          <p:spTgt spid="10"/>
                                        </p:tgtEl>
                                      </p:cBhvr>
                                    </p:animEffect>
                                    <p:anim calcmode="lin" valueType="num">
                                      <p:cBhvr additive="base">
                                        <p:cTn id="33" dur="600" fill="hold"/>
                                        <p:tgtEl>
                                          <p:spTgt spid="10"/>
                                        </p:tgtEl>
                                        <p:attrNameLst>
                                          <p:attrName>ppt_x</p:attrName>
                                        </p:attrNameLst>
                                      </p:cBhvr>
                                      <p:tavLst>
                                        <p:tav tm="0">
                                          <p:val>
                                            <p:strVal val="#ppt_x"/>
                                          </p:val>
                                        </p:tav>
                                        <p:tav tm="100000">
                                          <p:val>
                                            <p:strVal val="#ppt_x"/>
                                          </p:val>
                                        </p:tav>
                                      </p:tavLst>
                                    </p:anim>
                                    <p:anim calcmode="lin" valueType="num">
                                      <p:cBhvr additive="base">
                                        <p:cTn id="34" dur="600" fill="hold"/>
                                        <p:tgtEl>
                                          <p:spTgt spid="10"/>
                                        </p:tgtEl>
                                        <p:attrNameLst>
                                          <p:attrName>ppt_y</p:attrName>
                                        </p:attrNameLst>
                                      </p:cBhvr>
                                      <p:tavLst>
                                        <p:tav tm="0">
                                          <p:val>
                                            <p:strVal val="#ppt_y+0.08"/>
                                          </p:val>
                                        </p:tav>
                                        <p:tav tm="100000">
                                          <p:val>
                                            <p:strVal val="#ppt_y"/>
                                          </p:val>
                                        </p:tav>
                                      </p:tavLst>
                                    </p:anim>
                                  </p:childTnLst>
                                </p:cTn>
                              </p:par>
                              <p:par>
                                <p:cTn id="40" presetID="42" presetClass="entr" presetSubtype="0" fill="hold" grpId="0" nodeType="withEffect">
                                  <p:stCondLst>
                                    <p:cond delay="78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600"/>
                                        <p:tgtEl>
                                          <p:spTgt spid="11"/>
                                        </p:tgtEl>
                                      </p:cBhvr>
                                    </p:animEffect>
                                    <p:anim calcmode="lin" valueType="num">
                                      <p:cBhvr additive="base">
                                        <p:cTn id="38" dur="600" fill="hold"/>
                                        <p:tgtEl>
                                          <p:spTgt spid="11"/>
                                        </p:tgtEl>
                                        <p:attrNameLst>
                                          <p:attrName>ppt_x</p:attrName>
                                        </p:attrNameLst>
                                      </p:cBhvr>
                                      <p:tavLst>
                                        <p:tav tm="0">
                                          <p:val>
                                            <p:strVal val="#ppt_x"/>
                                          </p:val>
                                        </p:tav>
                                        <p:tav tm="100000">
                                          <p:val>
                                            <p:strVal val="#ppt_x"/>
                                          </p:val>
                                        </p:tav>
                                      </p:tavLst>
                                    </p:anim>
                                    <p:anim calcmode="lin" valueType="num">
                                      <p:cBhvr additive="base">
                                        <p:cTn id="39" dur="600" fill="hold"/>
                                        <p:tgtEl>
                                          <p:spTgt spid="11"/>
                                        </p:tgtEl>
                                        <p:attrNameLst>
                                          <p:attrName>ppt_y</p:attrName>
                                        </p:attrNameLst>
                                      </p:cBhvr>
                                      <p:tavLst>
                                        <p:tav tm="0">
                                          <p:val>
                                            <p:strVal val="#ppt_y+0.08"/>
                                          </p:val>
                                        </p:tav>
                                        <p:tav tm="100000">
                                          <p:val>
                                            <p:strVal val="#ppt_y"/>
                                          </p:val>
                                        </p:tav>
                                      </p:tavLst>
                                    </p:anim>
                                  </p:childTnLst>
                                </p:cTn>
                              </p:par>
                              <p:par>
                                <p:cTn id="45" presetID="42" presetClass="entr" presetSubtype="0" fill="hold" grpId="0" nodeType="withEffect">
                                  <p:stCondLst>
                                    <p:cond delay="85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600"/>
                                        <p:tgtEl>
                                          <p:spTgt spid="12"/>
                                        </p:tgtEl>
                                      </p:cBhvr>
                                    </p:animEffect>
                                    <p:anim calcmode="lin" valueType="num">
                                      <p:cBhvr additive="base">
                                        <p:cTn id="43" dur="600" fill="hold"/>
                                        <p:tgtEl>
                                          <p:spTgt spid="12"/>
                                        </p:tgtEl>
                                        <p:attrNameLst>
                                          <p:attrName>ppt_x</p:attrName>
                                        </p:attrNameLst>
                                      </p:cBhvr>
                                      <p:tavLst>
                                        <p:tav tm="0">
                                          <p:val>
                                            <p:strVal val="#ppt_x"/>
                                          </p:val>
                                        </p:tav>
                                        <p:tav tm="100000">
                                          <p:val>
                                            <p:strVal val="#ppt_x"/>
                                          </p:val>
                                        </p:tav>
                                      </p:tavLst>
                                    </p:anim>
                                    <p:anim calcmode="lin" valueType="num">
                                      <p:cBhvr additive="base">
                                        <p:cTn id="44" dur="600" fill="hold"/>
                                        <p:tgtEl>
                                          <p:spTgt spid="12"/>
                                        </p:tgtEl>
                                        <p:attrNameLst>
                                          <p:attrName>ppt_y</p:attrName>
                                        </p:attrNameLst>
                                      </p:cBhvr>
                                      <p:tavLst>
                                        <p:tav tm="0">
                                          <p:val>
                                            <p:strVal val="#ppt_y+0.08"/>
                                          </p:val>
                                        </p:tav>
                                        <p:tav tm="100000">
                                          <p:val>
                                            <p:strVal val="#ppt_y"/>
                                          </p:val>
                                        </p:tav>
                                      </p:tavLst>
                                    </p:anim>
                                  </p:childTnLst>
                                </p:cTn>
                              </p:par>
                              <p:par>
                                <p:cTn id="50" presetID="42" presetClass="entr" presetSubtype="0" fill="hold" grpId="0" nodeType="withEffect">
                                  <p:stCondLst>
                                    <p:cond delay="92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600"/>
                                        <p:tgtEl>
                                          <p:spTgt spid="13"/>
                                        </p:tgtEl>
                                      </p:cBhvr>
                                    </p:animEffect>
                                    <p:anim calcmode="lin" valueType="num">
                                      <p:cBhvr additive="base">
                                        <p:cTn id="48" dur="600" fill="hold"/>
                                        <p:tgtEl>
                                          <p:spTgt spid="13"/>
                                        </p:tgtEl>
                                        <p:attrNameLst>
                                          <p:attrName>ppt_x</p:attrName>
                                        </p:attrNameLst>
                                      </p:cBhvr>
                                      <p:tavLst>
                                        <p:tav tm="0">
                                          <p:val>
                                            <p:strVal val="#ppt_x"/>
                                          </p:val>
                                        </p:tav>
                                        <p:tav tm="100000">
                                          <p:val>
                                            <p:strVal val="#ppt_x"/>
                                          </p:val>
                                        </p:tav>
                                      </p:tavLst>
                                    </p:anim>
                                    <p:anim calcmode="lin" valueType="num">
                                      <p:cBhvr additive="base">
                                        <p:cTn id="49" dur="600" fill="hold"/>
                                        <p:tgtEl>
                                          <p:spTgt spid="13"/>
                                        </p:tgtEl>
                                        <p:attrNameLst>
                                          <p:attrName>ppt_y</p:attrName>
                                        </p:attrNameLst>
                                      </p:cBhvr>
                                      <p:tavLst>
                                        <p:tav tm="0">
                                          <p:val>
                                            <p:strVal val="#ppt_y+0.08"/>
                                          </p:val>
                                        </p:tav>
                                        <p:tav tm="100000">
                                          <p:val>
                                            <p:strVal val="#ppt_y"/>
                                          </p:val>
                                        </p:tav>
                                      </p:tavLst>
                                    </p:anim>
                                  </p:childTnLst>
                                </p:cTn>
                              </p:par>
                              <p:par>
                                <p:cTn id="55" presetID="42" presetClass="entr" presetSubtype="0" fill="hold" grpId="0" nodeType="withEffect">
                                  <p:stCondLst>
                                    <p:cond delay="99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600"/>
                                        <p:tgtEl>
                                          <p:spTgt spid="14"/>
                                        </p:tgtEl>
                                      </p:cBhvr>
                                    </p:animEffect>
                                    <p:anim calcmode="lin" valueType="num">
                                      <p:cBhvr additive="base">
                                        <p:cTn id="53" dur="600" fill="hold"/>
                                        <p:tgtEl>
                                          <p:spTgt spid="14"/>
                                        </p:tgtEl>
                                        <p:attrNameLst>
                                          <p:attrName>ppt_x</p:attrName>
                                        </p:attrNameLst>
                                      </p:cBhvr>
                                      <p:tavLst>
                                        <p:tav tm="0">
                                          <p:val>
                                            <p:strVal val="#ppt_x"/>
                                          </p:val>
                                        </p:tav>
                                        <p:tav tm="100000">
                                          <p:val>
                                            <p:strVal val="#ppt_x"/>
                                          </p:val>
                                        </p:tav>
                                      </p:tavLst>
                                    </p:anim>
                                    <p:anim calcmode="lin" valueType="num">
                                      <p:cBhvr additive="base">
                                        <p:cTn id="54" dur="600" fill="hold"/>
                                        <p:tgtEl>
                                          <p:spTgt spid="14"/>
                                        </p:tgtEl>
                                        <p:attrNameLst>
                                          <p:attrName>ppt_y</p:attrName>
                                        </p:attrNameLst>
                                      </p:cBhvr>
                                      <p:tavLst>
                                        <p:tav tm="0">
                                          <p:val>
                                            <p:strVal val="#ppt_y+0.08"/>
                                          </p:val>
                                        </p:tav>
                                        <p:tav tm="100000">
                                          <p:val>
                                            <p:strVal val="#ppt_y"/>
                                          </p:val>
                                        </p:tav>
                                      </p:tavLst>
                                    </p:anim>
                                  </p:childTnLst>
                                </p:cTn>
                              </p:par>
                              <p:par>
                                <p:cTn id="60" presetID="53" presetClass="entr" presetSubtype="16" fill="hold" grpId="0" nodeType="withEffect">
                                  <p:stCondLst>
                                    <p:cond delay="720"/>
                                  </p:stCondLst>
                                  <p:childTnLst>
                                    <p:set>
                                      <p:cBhvr>
                                        <p:cTn id="56" dur="1" fill="hold">
                                          <p:stCondLst>
                                            <p:cond delay="0"/>
                                          </p:stCondLst>
                                        </p:cTn>
                                        <p:tgtEl>
                                          <p:spTgt spid="15"/>
                                        </p:tgtEl>
                                        <p:attrNameLst>
                                          <p:attrName>style.visibility</p:attrName>
                                        </p:attrNameLst>
                                      </p:cBhvr>
                                      <p:to>
                                        <p:strVal val="visible"/>
                                      </p:to>
                                    </p:set>
                                    <p:anim calcmode="lin" valueType="num">
                                      <p:cBhvr additive="base">
                                        <p:cTn id="57" dur="600" fill="hold"/>
                                        <p:tgtEl>
                                          <p:spTgt spid="15"/>
                                        </p:tgtEl>
                                        <p:attrNameLst>
                                          <p:attrName>ppt_w</p:attrName>
                                        </p:attrNameLst>
                                      </p:cBhvr>
                                      <p:tavLst>
                                        <p:tav tm="0">
                                          <p:val>
                                            <p:strVal val="0.7*#ppt_w"/>
                                          </p:val>
                                        </p:tav>
                                        <p:tav tm="100000">
                                          <p:val>
                                            <p:strVal val="#ppt_w"/>
                                          </p:val>
                                        </p:tav>
                                      </p:tavLst>
                                    </p:anim>
                                    <p:anim calcmode="lin" valueType="num">
                                      <p:cBhvr additive="base">
                                        <p:cTn id="58" dur="600" fill="hold"/>
                                        <p:tgtEl>
                                          <p:spTgt spid="15"/>
                                        </p:tgtEl>
                                        <p:attrNameLst>
                                          <p:attrName>ppt_h</p:attrName>
                                        </p:attrNameLst>
                                      </p:cBhvr>
                                      <p:tavLst>
                                        <p:tav tm="0">
                                          <p:val>
                                            <p:strVal val="0.7*#ppt_h"/>
                                          </p:val>
                                        </p:tav>
                                        <p:tav tm="100000">
                                          <p:val>
                                            <p:strVal val="#ppt_h"/>
                                          </p:val>
                                        </p:tav>
                                      </p:tavLst>
                                    </p:anim>
                                    <p:animEffect transition="in" filter="fade">
                                      <p:cBhvr>
                                        <p:cTn id="59" dur="600"/>
                                        <p:tgtEl>
                                          <p:spTgt spid="15"/>
                                        </p:tgtEl>
                                      </p:cBhvr>
                                    </p:animEffect>
                                  </p:childTnLst>
                                </p:cTn>
                              </p:par>
                              <p:par>
                                <p:cTn id="63" presetID="10" presetClass="entr" presetSubtype="0" fill="hold" grpId="0" nodeType="withEffect">
                                  <p:stCondLst>
                                    <p:cond delay="108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7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424160" cy="777240"/>
          </a:xfrm>
          <a:prstGeom prst="rect">
            <a:avLst/>
          </a:prstGeom>
          <a:noFill/>
          <a:ln/>
        </p:spPr>
        <p:txBody>
          <a:bodyPr wrap="square" lIns="0" tIns="0" rIns="0" bIns="0" rtlCol="0" anchor="ctr"/>
          <a:lstStyle/>
          <a:p>
            <a:pPr algn="l" indent="0" marL="0">
              <a:buNone/>
            </a:pPr>
            <a:r>
              <a:rPr lang="en-US" sz="3200" b="1" dirty="0">
                <a:solidFill>
                  <a:schemeClr val="tx2"/>
                </a:solidFill>
              </a:rPr>
              <a:t>From paper registers to one shared system</a:t>
            </a:r>
            <a:endParaRPr lang="en-US" sz="3200" dirty="0"/>
          </a:p>
        </p:txBody>
      </p:sp>
      <p:sp>
        <p:nvSpPr>
          <p:cNvPr id="3" name="A01-wipe-before"/>
          <p:cNvSpPr/>
          <p:nvPr/>
        </p:nvSpPr>
        <p:spPr>
          <a:xfrm>
            <a:off x="548640" y="1417320"/>
            <a:ext cx="5074920" cy="4572000"/>
          </a:xfrm>
          <a:prstGeom prst="roundRect">
            <a:avLst>
              <a:gd name="adj" fmla="val 2400"/>
            </a:avLst>
          </a:prstGeom>
          <a:solidFill>
            <a:srgbClr val="FFF7F7"/>
          </a:solidFill>
          <a:ln w="9525">
            <a:solidFill>
              <a:srgbClr val="DBEAF3"/>
            </a:solidFill>
            <a:prstDash val="solid"/>
          </a:ln>
          <a:effectLst>
            <a:outerShdw sx="100000" sy="100000" kx="0" ky="0" algn="bl" rotWithShape="0" blurRad="152400" dist="38100" dir="5400000">
              <a:srgbClr val="0A2540">
                <a:alpha val="18000"/>
              </a:srgbClr>
            </a:outerShdw>
          </a:effectLst>
        </p:spPr>
      </p:sp>
      <p:sp>
        <p:nvSpPr>
          <p:cNvPr id="4" name="A01-wipe-beforeh"/>
          <p:cNvSpPr txBox="1"/>
          <p:nvPr/>
        </p:nvSpPr>
        <p:spPr>
          <a:xfrm>
            <a:off x="914400" y="1691640"/>
            <a:ext cx="2743200" cy="320040"/>
          </a:xfrm>
          <a:prstGeom prst="rect">
            <a:avLst/>
          </a:prstGeom>
          <a:noFill/>
          <a:ln/>
        </p:spPr>
        <p:txBody>
          <a:bodyPr wrap="square" lIns="0" tIns="0" rIns="0" bIns="0" rtlCol="0" anchor="t"/>
          <a:lstStyle/>
          <a:p>
            <a:pPr indent="0" marL="0">
              <a:buNone/>
            </a:pPr>
            <a:r>
              <a:rPr lang="en-US" sz="1300" b="1" spc="300" kern="0" dirty="0">
                <a:solidFill>
                  <a:schemeClr val="accent6"/>
                </a:solidFill>
              </a:rPr>
              <a:t>BEFORE</a:t>
            </a:r>
            <a:endParaRPr lang="en-US" sz="1300" dirty="0"/>
          </a:p>
        </p:txBody>
      </p:sp>
      <p:sp>
        <p:nvSpPr>
          <p:cNvPr id="5" name="A01-wipe-bi0-bg"/>
          <p:cNvSpPr/>
          <p:nvPr/>
        </p:nvSpPr>
        <p:spPr>
          <a:xfrm>
            <a:off x="914400" y="2194560"/>
            <a:ext cx="566928" cy="566928"/>
          </a:xfrm>
          <a:prstGeom prst="ellipse">
            <a:avLst/>
          </a:prstGeom>
          <a:solidFill>
            <a:schemeClr val="accent6"/>
          </a:solidFill>
          <a:ln w="12700">
            <a:solidFill>
              <a:schemeClr val="accent6"/>
            </a:solidFill>
            <a:prstDash val="solid"/>
          </a:ln>
        </p:spPr>
      </p:sp>
      <p:pic>
        <p:nvPicPr>
          <p:cNvPr id="6" name="A01-wipe-bi0-ic" descr="preencoded.png">    </p:cNvPr>
          <p:cNvPicPr>
            <a:picLocks noChangeAspect="1"/>
          </p:cNvPicPr>
          <p:nvPr/>
        </p:nvPicPr>
        <p:blipFill>
          <a:blip r:embed="rId1"/>
          <a:stretch>
            <a:fillRect/>
          </a:stretch>
        </p:blipFill>
        <p:spPr>
          <a:xfrm>
            <a:off x="1056132" y="2336292"/>
            <a:ext cx="283464" cy="283464"/>
          </a:xfrm>
          <a:prstGeom prst="rect">
            <a:avLst/>
          </a:prstGeom>
        </p:spPr>
      </p:pic>
      <p:sp>
        <p:nvSpPr>
          <p:cNvPr id="7" name="A01-wipe-bt0"/>
          <p:cNvSpPr txBox="1"/>
          <p:nvPr/>
        </p:nvSpPr>
        <p:spPr>
          <a:xfrm>
            <a:off x="1691640" y="2176272"/>
            <a:ext cx="4114800" cy="685800"/>
          </a:xfrm>
          <a:prstGeom prst="rect">
            <a:avLst/>
          </a:prstGeom>
          <a:noFill/>
          <a:ln/>
        </p:spPr>
        <p:txBody>
          <a:bodyPr wrap="square" lIns="0" tIns="0" rIns="0" bIns="0" rtlCol="0" anchor="t"/>
          <a:lstStyle/>
          <a:p>
            <a:pPr indent="0" marL="0">
              <a:buNone/>
            </a:pPr>
            <a:r>
              <a:rPr lang="en-US" sz="1600" b="1" dirty="0">
                <a:solidFill>
                  <a:schemeClr val="tx1"/>
                </a:solidFill>
              </a:rPr>
              <a:t>Lost and duplicated orders</a:t>
            </a:r>
            <a:endParaRPr lang="en-US" sz="1400" dirty="0"/>
          </a:p>
          <a:p>
            <a:pPr indent="0" marL="0">
              <a:buNone/>
            </a:pPr>
            <a:r>
              <a:rPr lang="en-US" sz="1300" dirty="0">
                <a:solidFill>
                  <a:srgbClr val="475569"/>
                </a:solidFill>
              </a:rPr>
              <a:t>No order number every department can follow</a:t>
            </a:r>
            <a:endParaRPr lang="en-US" sz="1400" dirty="0"/>
          </a:p>
        </p:txBody>
      </p:sp>
      <p:sp>
        <p:nvSpPr>
          <p:cNvPr id="8" name="A01-wipe-bi1-bg"/>
          <p:cNvSpPr/>
          <p:nvPr/>
        </p:nvSpPr>
        <p:spPr>
          <a:xfrm>
            <a:off x="914400" y="3108960"/>
            <a:ext cx="566928" cy="566928"/>
          </a:xfrm>
          <a:prstGeom prst="ellipse">
            <a:avLst/>
          </a:prstGeom>
          <a:solidFill>
            <a:schemeClr val="accent6"/>
          </a:solidFill>
          <a:ln w="12700">
            <a:solidFill>
              <a:schemeClr val="accent6"/>
            </a:solidFill>
            <a:prstDash val="solid"/>
          </a:ln>
        </p:spPr>
      </p:sp>
      <p:pic>
        <p:nvPicPr>
          <p:cNvPr id="9" name="A01-wipe-bi1-ic" descr="preencoded.png">    </p:cNvPr>
          <p:cNvPicPr>
            <a:picLocks noChangeAspect="1"/>
          </p:cNvPicPr>
          <p:nvPr/>
        </p:nvPicPr>
        <p:blipFill>
          <a:blip r:embed="rId2"/>
          <a:stretch>
            <a:fillRect/>
          </a:stretch>
        </p:blipFill>
        <p:spPr>
          <a:xfrm>
            <a:off x="1056132" y="3250692"/>
            <a:ext cx="283464" cy="283464"/>
          </a:xfrm>
          <a:prstGeom prst="rect">
            <a:avLst/>
          </a:prstGeom>
        </p:spPr>
      </p:pic>
      <p:sp>
        <p:nvSpPr>
          <p:cNvPr id="10" name="A01-wipe-bt1"/>
          <p:cNvSpPr txBox="1"/>
          <p:nvPr/>
        </p:nvSpPr>
        <p:spPr>
          <a:xfrm>
            <a:off x="1691640" y="3090672"/>
            <a:ext cx="4114800" cy="685800"/>
          </a:xfrm>
          <a:prstGeom prst="rect">
            <a:avLst/>
          </a:prstGeom>
          <a:noFill/>
          <a:ln/>
        </p:spPr>
        <p:txBody>
          <a:bodyPr wrap="square" lIns="0" tIns="0" rIns="0" bIns="0" rtlCol="0" anchor="t"/>
          <a:lstStyle/>
          <a:p>
            <a:pPr indent="0" marL="0">
              <a:buNone/>
            </a:pPr>
            <a:r>
              <a:rPr lang="en-US" sz="1600" b="1" dirty="0">
                <a:solidFill>
                  <a:schemeClr val="tx1"/>
                </a:solidFill>
              </a:rPr>
              <a:t>Slow installation</a:t>
            </a:r>
            <a:endParaRPr lang="en-US" sz="1400" dirty="0"/>
          </a:p>
          <a:p>
            <a:pPr indent="0" marL="0">
              <a:buNone/>
            </a:pPr>
            <a:r>
              <a:rPr lang="en-US" sz="1300" dirty="0">
                <a:solidFill>
                  <a:srgbClr val="475569"/>
                </a:solidFill>
              </a:rPr>
              <a:t>Technical team waits for paperwork</a:t>
            </a:r>
            <a:endParaRPr lang="en-US" sz="1400" dirty="0"/>
          </a:p>
        </p:txBody>
      </p:sp>
      <p:sp>
        <p:nvSpPr>
          <p:cNvPr id="11" name="A01-wipe-bi2-bg"/>
          <p:cNvSpPr/>
          <p:nvPr/>
        </p:nvSpPr>
        <p:spPr>
          <a:xfrm>
            <a:off x="914400" y="4023360"/>
            <a:ext cx="566928" cy="566928"/>
          </a:xfrm>
          <a:prstGeom prst="ellipse">
            <a:avLst/>
          </a:prstGeom>
          <a:solidFill>
            <a:schemeClr val="accent6"/>
          </a:solidFill>
          <a:ln w="12700">
            <a:solidFill>
              <a:schemeClr val="accent6"/>
            </a:solidFill>
            <a:prstDash val="solid"/>
          </a:ln>
        </p:spPr>
      </p:sp>
      <p:pic>
        <p:nvPicPr>
          <p:cNvPr id="12" name="A01-wipe-bi2-ic" descr="preencoded.png">    </p:cNvPr>
          <p:cNvPicPr>
            <a:picLocks noChangeAspect="1"/>
          </p:cNvPicPr>
          <p:nvPr/>
        </p:nvPicPr>
        <p:blipFill>
          <a:blip r:embed="rId3"/>
          <a:stretch>
            <a:fillRect/>
          </a:stretch>
        </p:blipFill>
        <p:spPr>
          <a:xfrm>
            <a:off x="1056132" y="4165092"/>
            <a:ext cx="283464" cy="283464"/>
          </a:xfrm>
          <a:prstGeom prst="rect">
            <a:avLst/>
          </a:prstGeom>
        </p:spPr>
      </p:pic>
      <p:sp>
        <p:nvSpPr>
          <p:cNvPr id="13" name="A01-wipe-bt2"/>
          <p:cNvSpPr txBox="1"/>
          <p:nvPr/>
        </p:nvSpPr>
        <p:spPr>
          <a:xfrm>
            <a:off x="1691640" y="4005072"/>
            <a:ext cx="4114800" cy="685800"/>
          </a:xfrm>
          <a:prstGeom prst="rect">
            <a:avLst/>
          </a:prstGeom>
          <a:noFill/>
          <a:ln/>
        </p:spPr>
        <p:txBody>
          <a:bodyPr wrap="square" lIns="0" tIns="0" rIns="0" bIns="0" rtlCol="0" anchor="t"/>
          <a:lstStyle/>
          <a:p>
            <a:pPr indent="0" marL="0">
              <a:buNone/>
            </a:pPr>
            <a:r>
              <a:rPr lang="en-US" sz="1600" b="1" dirty="0">
                <a:solidFill>
                  <a:schemeClr val="tx1"/>
                </a:solidFill>
              </a:rPr>
              <a:t>Billing mistakes</a:t>
            </a:r>
            <a:endParaRPr lang="en-US" sz="1400" dirty="0"/>
          </a:p>
          <a:p>
            <a:pPr indent="0" marL="0">
              <a:buNone/>
            </a:pPr>
            <a:r>
              <a:rPr lang="en-US" sz="1300" dirty="0">
                <a:solidFill>
                  <a:srgbClr val="475569"/>
                </a:solidFill>
              </a:rPr>
              <a:t>Fees, discounts and 12.24 % tax done by hand</a:t>
            </a:r>
            <a:endParaRPr lang="en-US" sz="1400" dirty="0"/>
          </a:p>
        </p:txBody>
      </p:sp>
      <p:sp>
        <p:nvSpPr>
          <p:cNvPr id="14" name="A01-wipe-bi3-bg"/>
          <p:cNvSpPr/>
          <p:nvPr/>
        </p:nvSpPr>
        <p:spPr>
          <a:xfrm>
            <a:off x="914400" y="4937760"/>
            <a:ext cx="566928" cy="566928"/>
          </a:xfrm>
          <a:prstGeom prst="ellipse">
            <a:avLst/>
          </a:prstGeom>
          <a:solidFill>
            <a:schemeClr val="accent6"/>
          </a:solidFill>
          <a:ln w="12700">
            <a:solidFill>
              <a:schemeClr val="accent6"/>
            </a:solidFill>
            <a:prstDash val="solid"/>
          </a:ln>
        </p:spPr>
      </p:sp>
      <p:pic>
        <p:nvPicPr>
          <p:cNvPr id="15" name="A01-wipe-bi3-ic" descr="preencoded.png">    </p:cNvPr>
          <p:cNvPicPr>
            <a:picLocks noChangeAspect="1"/>
          </p:cNvPicPr>
          <p:nvPr/>
        </p:nvPicPr>
        <p:blipFill>
          <a:blip r:embed="rId4"/>
          <a:stretch>
            <a:fillRect/>
          </a:stretch>
        </p:blipFill>
        <p:spPr>
          <a:xfrm>
            <a:off x="1056132" y="5079492"/>
            <a:ext cx="283464" cy="283464"/>
          </a:xfrm>
          <a:prstGeom prst="rect">
            <a:avLst/>
          </a:prstGeom>
        </p:spPr>
      </p:pic>
      <p:sp>
        <p:nvSpPr>
          <p:cNvPr id="16" name="A01-wipe-bt3"/>
          <p:cNvSpPr txBox="1"/>
          <p:nvPr/>
        </p:nvSpPr>
        <p:spPr>
          <a:xfrm>
            <a:off x="1691640" y="4919472"/>
            <a:ext cx="4114800" cy="685800"/>
          </a:xfrm>
          <a:prstGeom prst="rect">
            <a:avLst/>
          </a:prstGeom>
          <a:noFill/>
          <a:ln/>
        </p:spPr>
        <p:txBody>
          <a:bodyPr wrap="square" lIns="0" tIns="0" rIns="0" bIns="0" rtlCol="0" anchor="t"/>
          <a:lstStyle/>
          <a:p>
            <a:pPr indent="0" marL="0">
              <a:buNone/>
            </a:pPr>
            <a:r>
              <a:rPr lang="en-US" sz="1600" b="1" dirty="0">
                <a:solidFill>
                  <a:schemeClr val="tx1"/>
                </a:solidFill>
              </a:rPr>
              <a:t>No view of dues</a:t>
            </a:r>
            <a:endParaRPr lang="en-US" sz="1400" dirty="0"/>
          </a:p>
          <a:p>
            <a:pPr indent="0" marL="0">
              <a:buNone/>
            </a:pPr>
            <a:r>
              <a:rPr lang="en-US" sz="1300" dirty="0">
                <a:solidFill>
                  <a:srgbClr val="475569"/>
                </a:solidFill>
              </a:rPr>
              <a:t>Shops cannot see what a customer owes</a:t>
            </a:r>
            <a:endParaRPr lang="en-US" sz="1400" dirty="0"/>
          </a:p>
        </p:txBody>
      </p:sp>
      <p:sp>
        <p:nvSpPr>
          <p:cNvPr id="17" name="A02-zoom-arrowbg"/>
          <p:cNvSpPr/>
          <p:nvPr/>
        </p:nvSpPr>
        <p:spPr>
          <a:xfrm>
            <a:off x="5733288" y="3319272"/>
            <a:ext cx="731520" cy="731520"/>
          </a:xfrm>
          <a:prstGeom prst="ellipse">
            <a:avLst/>
          </a:prstGeom>
          <a:solidFill>
            <a:schemeClr val="accent2"/>
          </a:solidFill>
          <a:ln w="38100">
            <a:solidFill>
              <a:srgbClr val="FFFFFF"/>
            </a:solidFill>
            <a:prstDash val="solid"/>
          </a:ln>
          <a:effectLst>
            <a:outerShdw sx="100000" sy="100000" kx="0" ky="0" algn="bl" rotWithShape="0" blurRad="152400" dist="38100" dir="5400000">
              <a:srgbClr val="0A2540">
                <a:alpha val="18000"/>
              </a:srgbClr>
            </a:outerShdw>
          </a:effectLst>
        </p:spPr>
      </p:sp>
      <p:pic>
        <p:nvPicPr>
          <p:cNvPr id="18" name="A02-zoom-arrow" descr="preencoded.png">    </p:cNvPr>
          <p:cNvPicPr>
            <a:picLocks noChangeAspect="1"/>
          </p:cNvPicPr>
          <p:nvPr/>
        </p:nvPicPr>
        <p:blipFill>
          <a:blip r:embed="rId5"/>
          <a:stretch>
            <a:fillRect/>
          </a:stretch>
        </p:blipFill>
        <p:spPr>
          <a:xfrm>
            <a:off x="5897880" y="3483864"/>
            <a:ext cx="402336" cy="402336"/>
          </a:xfrm>
          <a:prstGeom prst="rect">
            <a:avLst/>
          </a:prstGeom>
        </p:spPr>
      </p:pic>
      <p:sp>
        <p:nvSpPr>
          <p:cNvPr id="19" name="A03-wipe-after"/>
          <p:cNvSpPr/>
          <p:nvPr/>
        </p:nvSpPr>
        <p:spPr>
          <a:xfrm>
            <a:off x="6565392" y="1417320"/>
            <a:ext cx="5074920" cy="4572000"/>
          </a:xfrm>
          <a:prstGeom prst="roundRect">
            <a:avLst>
              <a:gd name="adj" fmla="val 2400"/>
            </a:avLst>
          </a:prstGeom>
          <a:solidFill>
            <a:srgbClr val="F0FDF7"/>
          </a:solidFill>
          <a:ln w="9525">
            <a:solidFill>
              <a:srgbClr val="DBEAF3"/>
            </a:solidFill>
            <a:prstDash val="solid"/>
          </a:ln>
          <a:effectLst>
            <a:outerShdw sx="100000" sy="100000" kx="0" ky="0" algn="bl" rotWithShape="0" blurRad="152400" dist="38100" dir="5400000">
              <a:srgbClr val="0A2540">
                <a:alpha val="18000"/>
              </a:srgbClr>
            </a:outerShdw>
          </a:effectLst>
        </p:spPr>
      </p:sp>
      <p:sp>
        <p:nvSpPr>
          <p:cNvPr id="20" name="A03-wipe-afterh"/>
          <p:cNvSpPr txBox="1"/>
          <p:nvPr/>
        </p:nvSpPr>
        <p:spPr>
          <a:xfrm>
            <a:off x="6931152" y="1691640"/>
            <a:ext cx="2743200" cy="320040"/>
          </a:xfrm>
          <a:prstGeom prst="rect">
            <a:avLst/>
          </a:prstGeom>
          <a:noFill/>
          <a:ln/>
        </p:spPr>
        <p:txBody>
          <a:bodyPr wrap="square" lIns="0" tIns="0" rIns="0" bIns="0" rtlCol="0" anchor="t"/>
          <a:lstStyle/>
          <a:p>
            <a:pPr indent="0" marL="0">
              <a:buNone/>
            </a:pPr>
            <a:r>
              <a:rPr lang="en-US" sz="1300" b="1" spc="300" kern="0" dirty="0">
                <a:solidFill>
                  <a:schemeClr val="accent2"/>
                </a:solidFill>
              </a:rPr>
              <a:t>WITH NEXUS</a:t>
            </a:r>
            <a:endParaRPr lang="en-US" sz="1300" dirty="0"/>
          </a:p>
        </p:txBody>
      </p:sp>
      <p:sp>
        <p:nvSpPr>
          <p:cNvPr id="21" name="A03-wipe-ai0-bg"/>
          <p:cNvSpPr/>
          <p:nvPr/>
        </p:nvSpPr>
        <p:spPr>
          <a:xfrm>
            <a:off x="6931152" y="2194560"/>
            <a:ext cx="566928" cy="566928"/>
          </a:xfrm>
          <a:prstGeom prst="ellipse">
            <a:avLst/>
          </a:prstGeom>
          <a:solidFill>
            <a:schemeClr val="accent2"/>
          </a:solidFill>
          <a:ln w="12700">
            <a:solidFill>
              <a:schemeClr val="accent2"/>
            </a:solidFill>
            <a:prstDash val="solid"/>
          </a:ln>
        </p:spPr>
      </p:sp>
      <p:pic>
        <p:nvPicPr>
          <p:cNvPr id="22" name="A03-wipe-ai0-ic" descr="preencoded.png">    </p:cNvPr>
          <p:cNvPicPr>
            <a:picLocks noChangeAspect="1"/>
          </p:cNvPicPr>
          <p:nvPr/>
        </p:nvPicPr>
        <p:blipFill>
          <a:blip r:embed="rId6"/>
          <a:stretch>
            <a:fillRect/>
          </a:stretch>
        </p:blipFill>
        <p:spPr>
          <a:xfrm>
            <a:off x="7072884" y="2336292"/>
            <a:ext cx="283464" cy="283464"/>
          </a:xfrm>
          <a:prstGeom prst="rect">
            <a:avLst/>
          </a:prstGeom>
        </p:spPr>
      </p:pic>
      <p:sp>
        <p:nvSpPr>
          <p:cNvPr id="23" name="A03-wipe-at0"/>
          <p:cNvSpPr txBox="1"/>
          <p:nvPr/>
        </p:nvSpPr>
        <p:spPr>
          <a:xfrm>
            <a:off x="7708392" y="2176272"/>
            <a:ext cx="3749040" cy="685800"/>
          </a:xfrm>
          <a:prstGeom prst="rect">
            <a:avLst/>
          </a:prstGeom>
          <a:noFill/>
          <a:ln/>
        </p:spPr>
        <p:txBody>
          <a:bodyPr wrap="square" lIns="0" tIns="0" rIns="0" bIns="0" rtlCol="0" anchor="t"/>
          <a:lstStyle/>
          <a:p>
            <a:pPr indent="0" marL="0">
              <a:buNone/>
            </a:pPr>
            <a:r>
              <a:rPr lang="en-US" sz="1600" b="1" dirty="0">
                <a:solidFill>
                  <a:schemeClr val="tx1"/>
                </a:solidFill>
              </a:rPr>
              <a:t>Automatic IDs</a:t>
            </a:r>
            <a:endParaRPr lang="en-US" sz="1400" dirty="0"/>
          </a:p>
          <a:p>
            <a:pPr indent="0" marL="0">
              <a:buNone/>
            </a:pPr>
            <a:r>
              <a:rPr lang="en-US" sz="1300" dirty="0">
                <a:solidFill>
                  <a:srgbClr val="475569"/>
                </a:solidFill>
              </a:rPr>
              <a:t>Order no. B0000000001 · account ID B001000000000001</a:t>
            </a:r>
            <a:endParaRPr lang="en-US" sz="1400" dirty="0"/>
          </a:p>
        </p:txBody>
      </p:sp>
      <p:sp>
        <p:nvSpPr>
          <p:cNvPr id="24" name="A03-wipe-ai1-bg"/>
          <p:cNvSpPr/>
          <p:nvPr/>
        </p:nvSpPr>
        <p:spPr>
          <a:xfrm>
            <a:off x="6931152" y="3108960"/>
            <a:ext cx="566928" cy="566928"/>
          </a:xfrm>
          <a:prstGeom prst="ellipse">
            <a:avLst/>
          </a:prstGeom>
          <a:solidFill>
            <a:schemeClr val="accent2"/>
          </a:solidFill>
          <a:ln w="12700">
            <a:solidFill>
              <a:schemeClr val="accent2"/>
            </a:solidFill>
            <a:prstDash val="solid"/>
          </a:ln>
        </p:spPr>
      </p:sp>
      <p:pic>
        <p:nvPicPr>
          <p:cNvPr id="25" name="A03-wipe-ai1-ic" descr="preencoded.png">    </p:cNvPr>
          <p:cNvPicPr>
            <a:picLocks noChangeAspect="1"/>
          </p:cNvPicPr>
          <p:nvPr/>
        </p:nvPicPr>
        <p:blipFill>
          <a:blip r:embed="rId7"/>
          <a:stretch>
            <a:fillRect/>
          </a:stretch>
        </p:blipFill>
        <p:spPr>
          <a:xfrm>
            <a:off x="7072884" y="3250692"/>
            <a:ext cx="283464" cy="283464"/>
          </a:xfrm>
          <a:prstGeom prst="rect">
            <a:avLst/>
          </a:prstGeom>
        </p:spPr>
      </p:pic>
      <p:sp>
        <p:nvSpPr>
          <p:cNvPr id="26" name="A03-wipe-at1"/>
          <p:cNvSpPr txBox="1"/>
          <p:nvPr/>
        </p:nvSpPr>
        <p:spPr>
          <a:xfrm>
            <a:off x="7708392" y="3090672"/>
            <a:ext cx="3749040" cy="685800"/>
          </a:xfrm>
          <a:prstGeom prst="rect">
            <a:avLst/>
          </a:prstGeom>
          <a:noFill/>
          <a:ln/>
        </p:spPr>
        <p:txBody>
          <a:bodyPr wrap="square" lIns="0" tIns="0" rIns="0" bIns="0" rtlCol="0" anchor="t"/>
          <a:lstStyle/>
          <a:p>
            <a:pPr indent="0" marL="0">
              <a:buNone/>
            </a:pPr>
            <a:r>
              <a:rPr lang="en-US" sz="1600" b="1" dirty="0">
                <a:solidFill>
                  <a:schemeClr val="tx1"/>
                </a:solidFill>
              </a:rPr>
              <a:t>Live queues</a:t>
            </a:r>
            <a:endParaRPr lang="en-US" sz="1400" dirty="0"/>
          </a:p>
          <a:p>
            <a:pPr indent="0" marL="0">
              <a:buNone/>
            </a:pPr>
            <a:r>
              <a:rPr lang="en-US" sz="1300" dirty="0">
                <a:solidFill>
                  <a:srgbClr val="475569"/>
                </a:solidFill>
              </a:rPr>
              <a:t>New orders appear on the Technical dashboard</a:t>
            </a:r>
            <a:endParaRPr lang="en-US" sz="1400" dirty="0"/>
          </a:p>
        </p:txBody>
      </p:sp>
      <p:sp>
        <p:nvSpPr>
          <p:cNvPr id="27" name="A03-wipe-ai2-bg"/>
          <p:cNvSpPr/>
          <p:nvPr/>
        </p:nvSpPr>
        <p:spPr>
          <a:xfrm>
            <a:off x="6931152" y="4023360"/>
            <a:ext cx="566928" cy="566928"/>
          </a:xfrm>
          <a:prstGeom prst="ellipse">
            <a:avLst/>
          </a:prstGeom>
          <a:solidFill>
            <a:schemeClr val="accent2"/>
          </a:solidFill>
          <a:ln w="12700">
            <a:solidFill>
              <a:schemeClr val="accent2"/>
            </a:solidFill>
            <a:prstDash val="solid"/>
          </a:ln>
        </p:spPr>
      </p:sp>
      <p:pic>
        <p:nvPicPr>
          <p:cNvPr id="28" name="A03-wipe-ai2-ic" descr="preencoded.png">    </p:cNvPr>
          <p:cNvPicPr>
            <a:picLocks noChangeAspect="1"/>
          </p:cNvPicPr>
          <p:nvPr/>
        </p:nvPicPr>
        <p:blipFill>
          <a:blip r:embed="rId8"/>
          <a:stretch>
            <a:fillRect/>
          </a:stretch>
        </p:blipFill>
        <p:spPr>
          <a:xfrm>
            <a:off x="7072884" y="4165092"/>
            <a:ext cx="283464" cy="283464"/>
          </a:xfrm>
          <a:prstGeom prst="rect">
            <a:avLst/>
          </a:prstGeom>
        </p:spPr>
      </p:pic>
      <p:sp>
        <p:nvSpPr>
          <p:cNvPr id="29" name="A03-wipe-at2"/>
          <p:cNvSpPr txBox="1"/>
          <p:nvPr/>
        </p:nvSpPr>
        <p:spPr>
          <a:xfrm>
            <a:off x="7708392" y="4005072"/>
            <a:ext cx="3749040" cy="685800"/>
          </a:xfrm>
          <a:prstGeom prst="rect">
            <a:avLst/>
          </a:prstGeom>
          <a:noFill/>
          <a:ln/>
        </p:spPr>
        <p:txBody>
          <a:bodyPr wrap="square" lIns="0" tIns="0" rIns="0" bIns="0" rtlCol="0" anchor="t"/>
          <a:lstStyle/>
          <a:p>
            <a:pPr indent="0" marL="0">
              <a:buNone/>
            </a:pPr>
            <a:r>
              <a:rPr lang="en-US" sz="1600" b="1" dirty="0">
                <a:solidFill>
                  <a:schemeClr val="tx1"/>
                </a:solidFill>
              </a:rPr>
              <a:t>System-calculated bills</a:t>
            </a:r>
            <a:endParaRPr lang="en-US" sz="1400" dirty="0"/>
          </a:p>
          <a:p>
            <a:pPr indent="0" marL="0">
              <a:buNone/>
            </a:pPr>
            <a:r>
              <a:rPr lang="en-US" sz="1300" dirty="0">
                <a:solidFill>
                  <a:srgbClr val="475569"/>
                </a:solidFill>
              </a:rPr>
              <a:t>Plan fee, calls, deposit, discount, tax</a:t>
            </a:r>
            <a:endParaRPr lang="en-US" sz="1400" dirty="0"/>
          </a:p>
        </p:txBody>
      </p:sp>
      <p:sp>
        <p:nvSpPr>
          <p:cNvPr id="30" name="A03-wipe-ai3-bg"/>
          <p:cNvSpPr/>
          <p:nvPr/>
        </p:nvSpPr>
        <p:spPr>
          <a:xfrm>
            <a:off x="6931152" y="4937760"/>
            <a:ext cx="566928" cy="566928"/>
          </a:xfrm>
          <a:prstGeom prst="ellipse">
            <a:avLst/>
          </a:prstGeom>
          <a:solidFill>
            <a:schemeClr val="accent2"/>
          </a:solidFill>
          <a:ln w="12700">
            <a:solidFill>
              <a:schemeClr val="accent2"/>
            </a:solidFill>
            <a:prstDash val="solid"/>
          </a:ln>
        </p:spPr>
      </p:sp>
      <p:pic>
        <p:nvPicPr>
          <p:cNvPr id="31" name="A03-wipe-ai3-ic" descr="preencoded.png">    </p:cNvPr>
          <p:cNvPicPr>
            <a:picLocks noChangeAspect="1"/>
          </p:cNvPicPr>
          <p:nvPr/>
        </p:nvPicPr>
        <p:blipFill>
          <a:blip r:embed="rId9"/>
          <a:stretch>
            <a:fillRect/>
          </a:stretch>
        </p:blipFill>
        <p:spPr>
          <a:xfrm>
            <a:off x="7072884" y="5079492"/>
            <a:ext cx="283464" cy="283464"/>
          </a:xfrm>
          <a:prstGeom prst="rect">
            <a:avLst/>
          </a:prstGeom>
        </p:spPr>
      </p:pic>
      <p:sp>
        <p:nvSpPr>
          <p:cNvPr id="32" name="A03-wipe-at3"/>
          <p:cNvSpPr txBox="1"/>
          <p:nvPr/>
        </p:nvSpPr>
        <p:spPr>
          <a:xfrm>
            <a:off x="7708392" y="4919472"/>
            <a:ext cx="3749040" cy="685800"/>
          </a:xfrm>
          <a:prstGeom prst="rect">
            <a:avLst/>
          </a:prstGeom>
          <a:noFill/>
          <a:ln/>
        </p:spPr>
        <p:txBody>
          <a:bodyPr wrap="square" lIns="0" tIns="0" rIns="0" bIns="0" rtlCol="0" anchor="t"/>
          <a:lstStyle/>
          <a:p>
            <a:pPr indent="0" marL="0">
              <a:buNone/>
            </a:pPr>
            <a:r>
              <a:rPr lang="en-US" sz="1600" b="1" dirty="0">
                <a:solidFill>
                  <a:schemeClr val="tx1"/>
                </a:solidFill>
              </a:rPr>
              <a:t>Role-based access</a:t>
            </a:r>
            <a:endParaRPr lang="en-US" sz="1400" dirty="0"/>
          </a:p>
          <a:p>
            <a:pPr indent="0" marL="0">
              <a:buNone/>
            </a:pPr>
            <a:r>
              <a:rPr lang="en-US" sz="1300" dirty="0">
                <a:solidFill>
                  <a:srgbClr val="475569"/>
                </a:solidFill>
              </a:rPr>
              <a:t>Each role sees only its own work</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98" fill="hold">
                      <p:stCondLst>
                        <p:cond delay="indefinite"/>
                        <p:cond evt="onBegin" delay="0">
                          <p:tn val="2"/>
                        </p:cond>
                      </p:stCondLst>
                      <p:childTnLst>
                        <p:par>
                          <p:cTn id="97" fill="hold">
                            <p:stCondLst>
                              <p:cond delay="0"/>
                            </p:stCondLst>
                            <p:childTnLst>
                              <p:par>
                                <p:cTn id="5" presetID="22" presetClass="entr" presetSubtype="8"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wipe(left)">
                                      <p:cBhvr>
                                        <p:cTn id="4" dur="600"/>
                                        <p:tgtEl>
                                          <p:spTgt spid="3"/>
                                        </p:tgtEl>
                                      </p:cBhvr>
                                    </p:animEffect>
                                  </p:childTnLst>
                                </p:cTn>
                              </p:par>
                              <p:par>
                                <p:cTn id="8" presetID="22" presetClass="entr" presetSubtype="8" fill="hold" grpId="0" nodeType="withEffect">
                                  <p:stCondLst>
                                    <p:cond delay="7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600"/>
                                        <p:tgtEl>
                                          <p:spTgt spid="4"/>
                                        </p:tgtEl>
                                      </p:cBhvr>
                                    </p:animEffect>
                                  </p:childTnLst>
                                </p:cTn>
                              </p:par>
                              <p:par>
                                <p:cTn id="11" presetID="22" presetClass="entr" presetSubtype="8" fill="hold" grpId="0" nodeType="withEffect">
                                  <p:stCondLst>
                                    <p:cond delay="14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600"/>
                                        <p:tgtEl>
                                          <p:spTgt spid="5"/>
                                        </p:tgtEl>
                                      </p:cBhvr>
                                    </p:animEffect>
                                  </p:childTnLst>
                                </p:cTn>
                              </p:par>
                              <p:par>
                                <p:cTn id="14" presetID="22" presetClass="entr" presetSubtype="8" fill="hold" grpId="0" nodeType="withEffect">
                                  <p:stCondLst>
                                    <p:cond delay="21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600"/>
                                        <p:tgtEl>
                                          <p:spTgt spid="6"/>
                                        </p:tgtEl>
                                      </p:cBhvr>
                                    </p:animEffect>
                                  </p:childTnLst>
                                </p:cTn>
                              </p:par>
                              <p:par>
                                <p:cTn id="17" presetID="22" presetClass="entr" presetSubtype="8" fill="hold" grpId="0" nodeType="withEffect">
                                  <p:stCondLst>
                                    <p:cond delay="28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600"/>
                                        <p:tgtEl>
                                          <p:spTgt spid="7"/>
                                        </p:tgtEl>
                                      </p:cBhvr>
                                    </p:animEffect>
                                  </p:childTnLst>
                                </p:cTn>
                              </p:par>
                              <p:par>
                                <p:cTn id="20" presetID="22" presetClass="entr" presetSubtype="8" fill="hold" grpId="0" nodeType="withEffect">
                                  <p:stCondLst>
                                    <p:cond delay="35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600"/>
                                        <p:tgtEl>
                                          <p:spTgt spid="8"/>
                                        </p:tgtEl>
                                      </p:cBhvr>
                                    </p:animEffect>
                                  </p:childTnLst>
                                </p:cTn>
                              </p:par>
                              <p:par>
                                <p:cTn id="23" presetID="22" presetClass="entr" presetSubtype="8" fill="hold" grpId="0" nodeType="withEffect">
                                  <p:stCondLst>
                                    <p:cond delay="42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600"/>
                                        <p:tgtEl>
                                          <p:spTgt spid="9"/>
                                        </p:tgtEl>
                                      </p:cBhvr>
                                    </p:animEffect>
                                  </p:childTnLst>
                                </p:cTn>
                              </p:par>
                              <p:par>
                                <p:cTn id="26" presetID="22" presetClass="entr" presetSubtype="8" fill="hold" grpId="0" nodeType="withEffect">
                                  <p:stCondLst>
                                    <p:cond delay="49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600"/>
                                        <p:tgtEl>
                                          <p:spTgt spid="10"/>
                                        </p:tgtEl>
                                      </p:cBhvr>
                                    </p:animEffect>
                                  </p:childTnLst>
                                </p:cTn>
                              </p:par>
                              <p:par>
                                <p:cTn id="29" presetID="22" presetClass="entr" presetSubtype="8" fill="hold" grpId="0" nodeType="withEffect">
                                  <p:stCondLst>
                                    <p:cond delay="56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600"/>
                                        <p:tgtEl>
                                          <p:spTgt spid="11"/>
                                        </p:tgtEl>
                                      </p:cBhvr>
                                    </p:animEffect>
                                  </p:childTnLst>
                                </p:cTn>
                              </p:par>
                              <p:par>
                                <p:cTn id="32" presetID="22" presetClass="entr" presetSubtype="8" fill="hold" grpId="0" nodeType="withEffect">
                                  <p:stCondLst>
                                    <p:cond delay="63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600"/>
                                        <p:tgtEl>
                                          <p:spTgt spid="12"/>
                                        </p:tgtEl>
                                      </p:cBhvr>
                                    </p:animEffect>
                                  </p:childTnLst>
                                </p:cTn>
                              </p:par>
                              <p:par>
                                <p:cTn id="35" presetID="22" presetClass="entr" presetSubtype="8" fill="hold" grpId="0" nodeType="withEffect">
                                  <p:stCondLst>
                                    <p:cond delay="700"/>
                                  </p:stCondLst>
                                  <p:childTnLst>
                                    <p:set>
                                      <p:cBhvr>
                                        <p:cTn id="33" dur="1" fill="hold">
                                          <p:stCondLst>
                                            <p:cond delay="0"/>
                                          </p:stCondLst>
                                        </p:cTn>
                                        <p:tgtEl>
                                          <p:spTgt spid="13"/>
                                        </p:tgtEl>
                                        <p:attrNameLst>
                                          <p:attrName>style.visibility</p:attrName>
                                        </p:attrNameLst>
                                      </p:cBhvr>
                                      <p:to>
                                        <p:strVal val="visible"/>
                                      </p:to>
                                    </p:set>
                                    <p:animEffect transition="in" filter="wipe(left)">
                                      <p:cBhvr>
                                        <p:cTn id="34" dur="600"/>
                                        <p:tgtEl>
                                          <p:spTgt spid="13"/>
                                        </p:tgtEl>
                                      </p:cBhvr>
                                    </p:animEffect>
                                  </p:childTnLst>
                                </p:cTn>
                              </p:par>
                              <p:par>
                                <p:cTn id="38" presetID="22" presetClass="entr" presetSubtype="8" fill="hold" grpId="0" nodeType="withEffect">
                                  <p:stCondLst>
                                    <p:cond delay="77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600"/>
                                        <p:tgtEl>
                                          <p:spTgt spid="14"/>
                                        </p:tgtEl>
                                      </p:cBhvr>
                                    </p:animEffect>
                                  </p:childTnLst>
                                </p:cTn>
                              </p:par>
                              <p:par>
                                <p:cTn id="41" presetID="22" presetClass="entr" presetSubtype="8" fill="hold" grpId="0" nodeType="withEffect">
                                  <p:stCondLst>
                                    <p:cond delay="840"/>
                                  </p:stCondLst>
                                  <p:childTnLst>
                                    <p:set>
                                      <p:cBhvr>
                                        <p:cTn id="39" dur="1" fill="hold">
                                          <p:stCondLst>
                                            <p:cond delay="0"/>
                                          </p:stCondLst>
                                        </p:cTn>
                                        <p:tgtEl>
                                          <p:spTgt spid="15"/>
                                        </p:tgtEl>
                                        <p:attrNameLst>
                                          <p:attrName>style.visibility</p:attrName>
                                        </p:attrNameLst>
                                      </p:cBhvr>
                                      <p:to>
                                        <p:strVal val="visible"/>
                                      </p:to>
                                    </p:set>
                                    <p:animEffect transition="in" filter="wipe(left)">
                                      <p:cBhvr>
                                        <p:cTn id="40" dur="600"/>
                                        <p:tgtEl>
                                          <p:spTgt spid="15"/>
                                        </p:tgtEl>
                                      </p:cBhvr>
                                    </p:animEffect>
                                  </p:childTnLst>
                                </p:cTn>
                              </p:par>
                              <p:par>
                                <p:cTn id="44" presetID="22" presetClass="entr" presetSubtype="8" fill="hold" grpId="0" nodeType="withEffect">
                                  <p:stCondLst>
                                    <p:cond delay="910"/>
                                  </p:stCondLst>
                                  <p:childTnLst>
                                    <p:set>
                                      <p:cBhvr>
                                        <p:cTn id="42" dur="1" fill="hold">
                                          <p:stCondLst>
                                            <p:cond delay="0"/>
                                          </p:stCondLst>
                                        </p:cTn>
                                        <p:tgtEl>
                                          <p:spTgt spid="16"/>
                                        </p:tgtEl>
                                        <p:attrNameLst>
                                          <p:attrName>style.visibility</p:attrName>
                                        </p:attrNameLst>
                                      </p:cBhvr>
                                      <p:to>
                                        <p:strVal val="visible"/>
                                      </p:to>
                                    </p:set>
                                    <p:animEffect transition="in" filter="wipe(left)">
                                      <p:cBhvr>
                                        <p:cTn id="43" dur="600"/>
                                        <p:tgtEl>
                                          <p:spTgt spid="16"/>
                                        </p:tgtEl>
                                      </p:cBhvr>
                                    </p:animEffect>
                                  </p:childTnLst>
                                </p:cTn>
                              </p:par>
                              <p:par>
                                <p:cTn id="49" presetID="53" presetClass="entr" presetSubtype="16" fill="hold" grpId="0" nodeType="withEffect">
                                  <p:stCondLst>
                                    <p:cond delay="360"/>
                                  </p:stCondLst>
                                  <p:childTnLst>
                                    <p:set>
                                      <p:cBhvr>
                                        <p:cTn id="45" dur="1" fill="hold">
                                          <p:stCondLst>
                                            <p:cond delay="0"/>
                                          </p:stCondLst>
                                        </p:cTn>
                                        <p:tgtEl>
                                          <p:spTgt spid="17"/>
                                        </p:tgtEl>
                                        <p:attrNameLst>
                                          <p:attrName>style.visibility</p:attrName>
                                        </p:attrNameLst>
                                      </p:cBhvr>
                                      <p:to>
                                        <p:strVal val="visible"/>
                                      </p:to>
                                    </p:set>
                                    <p:anim calcmode="lin" valueType="num">
                                      <p:cBhvr additive="base">
                                        <p:cTn id="46" dur="600" fill="hold"/>
                                        <p:tgtEl>
                                          <p:spTgt spid="17"/>
                                        </p:tgtEl>
                                        <p:attrNameLst>
                                          <p:attrName>ppt_w</p:attrName>
                                        </p:attrNameLst>
                                      </p:cBhvr>
                                      <p:tavLst>
                                        <p:tav tm="0">
                                          <p:val>
                                            <p:strVal val="0.7*#ppt_w"/>
                                          </p:val>
                                        </p:tav>
                                        <p:tav tm="100000">
                                          <p:val>
                                            <p:strVal val="#ppt_w"/>
                                          </p:val>
                                        </p:tav>
                                      </p:tavLst>
                                    </p:anim>
                                    <p:anim calcmode="lin" valueType="num">
                                      <p:cBhvr additive="base">
                                        <p:cTn id="47" dur="600" fill="hold"/>
                                        <p:tgtEl>
                                          <p:spTgt spid="17"/>
                                        </p:tgtEl>
                                        <p:attrNameLst>
                                          <p:attrName>ppt_h</p:attrName>
                                        </p:attrNameLst>
                                      </p:cBhvr>
                                      <p:tavLst>
                                        <p:tav tm="0">
                                          <p:val>
                                            <p:strVal val="0.7*#ppt_h"/>
                                          </p:val>
                                        </p:tav>
                                        <p:tav tm="100000">
                                          <p:val>
                                            <p:strVal val="#ppt_h"/>
                                          </p:val>
                                        </p:tav>
                                      </p:tavLst>
                                    </p:anim>
                                    <p:animEffect transition="in" filter="fade">
                                      <p:cBhvr>
                                        <p:cTn id="48" dur="600"/>
                                        <p:tgtEl>
                                          <p:spTgt spid="17"/>
                                        </p:tgtEl>
                                      </p:cBhvr>
                                    </p:animEffect>
                                  </p:childTnLst>
                                </p:cTn>
                              </p:par>
                              <p:par>
                                <p:cTn id="54" presetID="53" presetClass="entr" presetSubtype="16" fill="hold" grpId="0" nodeType="withEffect">
                                  <p:stCondLst>
                                    <p:cond delay="43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600" fill="hold"/>
                                        <p:tgtEl>
                                          <p:spTgt spid="18"/>
                                        </p:tgtEl>
                                        <p:attrNameLst>
                                          <p:attrName>ppt_w</p:attrName>
                                        </p:attrNameLst>
                                      </p:cBhvr>
                                      <p:tavLst>
                                        <p:tav tm="0">
                                          <p:val>
                                            <p:strVal val="0.7*#ppt_w"/>
                                          </p:val>
                                        </p:tav>
                                        <p:tav tm="100000">
                                          <p:val>
                                            <p:strVal val="#ppt_w"/>
                                          </p:val>
                                        </p:tav>
                                      </p:tavLst>
                                    </p:anim>
                                    <p:anim calcmode="lin" valueType="num">
                                      <p:cBhvr additive="base">
                                        <p:cTn id="52" dur="600" fill="hold"/>
                                        <p:tgtEl>
                                          <p:spTgt spid="18"/>
                                        </p:tgtEl>
                                        <p:attrNameLst>
                                          <p:attrName>ppt_h</p:attrName>
                                        </p:attrNameLst>
                                      </p:cBhvr>
                                      <p:tavLst>
                                        <p:tav tm="0">
                                          <p:val>
                                            <p:strVal val="0.7*#ppt_h"/>
                                          </p:val>
                                        </p:tav>
                                        <p:tav tm="100000">
                                          <p:val>
                                            <p:strVal val="#ppt_h"/>
                                          </p:val>
                                        </p:tav>
                                      </p:tavLst>
                                    </p:anim>
                                    <p:animEffect transition="in" filter="fade">
                                      <p:cBhvr>
                                        <p:cTn id="53" dur="600"/>
                                        <p:tgtEl>
                                          <p:spTgt spid="18"/>
                                        </p:tgtEl>
                                      </p:cBhvr>
                                    </p:animEffect>
                                  </p:childTnLst>
                                </p:cTn>
                              </p:par>
                              <p:par>
                                <p:cTn id="57" presetID="22" presetClass="entr" presetSubtype="8" fill="hold" grpId="0" nodeType="withEffect">
                                  <p:stCondLst>
                                    <p:cond delay="720"/>
                                  </p:stCondLst>
                                  <p:childTnLst>
                                    <p:set>
                                      <p:cBhvr>
                                        <p:cTn id="55" dur="1" fill="hold">
                                          <p:stCondLst>
                                            <p:cond delay="0"/>
                                          </p:stCondLst>
                                        </p:cTn>
                                        <p:tgtEl>
                                          <p:spTgt spid="19"/>
                                        </p:tgtEl>
                                        <p:attrNameLst>
                                          <p:attrName>style.visibility</p:attrName>
                                        </p:attrNameLst>
                                      </p:cBhvr>
                                      <p:to>
                                        <p:strVal val="visible"/>
                                      </p:to>
                                    </p:set>
                                    <p:animEffect transition="in" filter="wipe(left)">
                                      <p:cBhvr>
                                        <p:cTn id="56" dur="600"/>
                                        <p:tgtEl>
                                          <p:spTgt spid="19"/>
                                        </p:tgtEl>
                                      </p:cBhvr>
                                    </p:animEffect>
                                  </p:childTnLst>
                                </p:cTn>
                              </p:par>
                              <p:par>
                                <p:cTn id="60" presetID="22" presetClass="entr" presetSubtype="8" fill="hold" grpId="0" nodeType="withEffect">
                                  <p:stCondLst>
                                    <p:cond delay="790"/>
                                  </p:stCondLst>
                                  <p:childTnLst>
                                    <p:set>
                                      <p:cBhvr>
                                        <p:cTn id="58" dur="1" fill="hold">
                                          <p:stCondLst>
                                            <p:cond delay="0"/>
                                          </p:stCondLst>
                                        </p:cTn>
                                        <p:tgtEl>
                                          <p:spTgt spid="20"/>
                                        </p:tgtEl>
                                        <p:attrNameLst>
                                          <p:attrName>style.visibility</p:attrName>
                                        </p:attrNameLst>
                                      </p:cBhvr>
                                      <p:to>
                                        <p:strVal val="visible"/>
                                      </p:to>
                                    </p:set>
                                    <p:animEffect transition="in" filter="wipe(left)">
                                      <p:cBhvr>
                                        <p:cTn id="59" dur="600"/>
                                        <p:tgtEl>
                                          <p:spTgt spid="20"/>
                                        </p:tgtEl>
                                      </p:cBhvr>
                                    </p:animEffect>
                                  </p:childTnLst>
                                </p:cTn>
                              </p:par>
                              <p:par>
                                <p:cTn id="63" presetID="22" presetClass="entr" presetSubtype="8" fill="hold" grpId="0" nodeType="withEffect">
                                  <p:stCondLst>
                                    <p:cond delay="860"/>
                                  </p:stCondLst>
                                  <p:childTnLst>
                                    <p:set>
                                      <p:cBhvr>
                                        <p:cTn id="61" dur="1" fill="hold">
                                          <p:stCondLst>
                                            <p:cond delay="0"/>
                                          </p:stCondLst>
                                        </p:cTn>
                                        <p:tgtEl>
                                          <p:spTgt spid="21"/>
                                        </p:tgtEl>
                                        <p:attrNameLst>
                                          <p:attrName>style.visibility</p:attrName>
                                        </p:attrNameLst>
                                      </p:cBhvr>
                                      <p:to>
                                        <p:strVal val="visible"/>
                                      </p:to>
                                    </p:set>
                                    <p:animEffect transition="in" filter="wipe(left)">
                                      <p:cBhvr>
                                        <p:cTn id="62" dur="600"/>
                                        <p:tgtEl>
                                          <p:spTgt spid="21"/>
                                        </p:tgtEl>
                                      </p:cBhvr>
                                    </p:animEffect>
                                  </p:childTnLst>
                                </p:cTn>
                              </p:par>
                              <p:par>
                                <p:cTn id="66" presetID="22" presetClass="entr" presetSubtype="8" fill="hold" grpId="0" nodeType="withEffect">
                                  <p:stCondLst>
                                    <p:cond delay="930"/>
                                  </p:stCondLst>
                                  <p:childTnLst>
                                    <p:set>
                                      <p:cBhvr>
                                        <p:cTn id="64" dur="1" fill="hold">
                                          <p:stCondLst>
                                            <p:cond delay="0"/>
                                          </p:stCondLst>
                                        </p:cTn>
                                        <p:tgtEl>
                                          <p:spTgt spid="22"/>
                                        </p:tgtEl>
                                        <p:attrNameLst>
                                          <p:attrName>style.visibility</p:attrName>
                                        </p:attrNameLst>
                                      </p:cBhvr>
                                      <p:to>
                                        <p:strVal val="visible"/>
                                      </p:to>
                                    </p:set>
                                    <p:animEffect transition="in" filter="wipe(left)">
                                      <p:cBhvr>
                                        <p:cTn id="65" dur="600"/>
                                        <p:tgtEl>
                                          <p:spTgt spid="22"/>
                                        </p:tgtEl>
                                      </p:cBhvr>
                                    </p:animEffect>
                                  </p:childTnLst>
                                </p:cTn>
                              </p:par>
                              <p:par>
                                <p:cTn id="69" presetID="22" presetClass="entr" presetSubtype="8" fill="hold" grpId="0" nodeType="withEffect">
                                  <p:stCondLst>
                                    <p:cond delay="1000"/>
                                  </p:stCondLst>
                                  <p:childTnLst>
                                    <p:set>
                                      <p:cBhvr>
                                        <p:cTn id="67" dur="1" fill="hold">
                                          <p:stCondLst>
                                            <p:cond delay="0"/>
                                          </p:stCondLst>
                                        </p:cTn>
                                        <p:tgtEl>
                                          <p:spTgt spid="23"/>
                                        </p:tgtEl>
                                        <p:attrNameLst>
                                          <p:attrName>style.visibility</p:attrName>
                                        </p:attrNameLst>
                                      </p:cBhvr>
                                      <p:to>
                                        <p:strVal val="visible"/>
                                      </p:to>
                                    </p:set>
                                    <p:animEffect transition="in" filter="wipe(left)">
                                      <p:cBhvr>
                                        <p:cTn id="68" dur="600"/>
                                        <p:tgtEl>
                                          <p:spTgt spid="23"/>
                                        </p:tgtEl>
                                      </p:cBhvr>
                                    </p:animEffect>
                                  </p:childTnLst>
                                </p:cTn>
                              </p:par>
                              <p:par>
                                <p:cTn id="72" presetID="22" presetClass="entr" presetSubtype="8" fill="hold" grpId="0" nodeType="withEffect">
                                  <p:stCondLst>
                                    <p:cond delay="1070"/>
                                  </p:stCondLst>
                                  <p:childTnLst>
                                    <p:set>
                                      <p:cBhvr>
                                        <p:cTn id="70" dur="1" fill="hold">
                                          <p:stCondLst>
                                            <p:cond delay="0"/>
                                          </p:stCondLst>
                                        </p:cTn>
                                        <p:tgtEl>
                                          <p:spTgt spid="24"/>
                                        </p:tgtEl>
                                        <p:attrNameLst>
                                          <p:attrName>style.visibility</p:attrName>
                                        </p:attrNameLst>
                                      </p:cBhvr>
                                      <p:to>
                                        <p:strVal val="visible"/>
                                      </p:to>
                                    </p:set>
                                    <p:animEffect transition="in" filter="wipe(left)">
                                      <p:cBhvr>
                                        <p:cTn id="71" dur="600"/>
                                        <p:tgtEl>
                                          <p:spTgt spid="24"/>
                                        </p:tgtEl>
                                      </p:cBhvr>
                                    </p:animEffect>
                                  </p:childTnLst>
                                </p:cTn>
                              </p:par>
                              <p:par>
                                <p:cTn id="75" presetID="22" presetClass="entr" presetSubtype="8" fill="hold" grpId="0" nodeType="withEffect">
                                  <p:stCondLst>
                                    <p:cond delay="1140"/>
                                  </p:stCondLst>
                                  <p:childTnLst>
                                    <p:set>
                                      <p:cBhvr>
                                        <p:cTn id="73" dur="1" fill="hold">
                                          <p:stCondLst>
                                            <p:cond delay="0"/>
                                          </p:stCondLst>
                                        </p:cTn>
                                        <p:tgtEl>
                                          <p:spTgt spid="25"/>
                                        </p:tgtEl>
                                        <p:attrNameLst>
                                          <p:attrName>style.visibility</p:attrName>
                                        </p:attrNameLst>
                                      </p:cBhvr>
                                      <p:to>
                                        <p:strVal val="visible"/>
                                      </p:to>
                                    </p:set>
                                    <p:animEffect transition="in" filter="wipe(left)">
                                      <p:cBhvr>
                                        <p:cTn id="74" dur="600"/>
                                        <p:tgtEl>
                                          <p:spTgt spid="25"/>
                                        </p:tgtEl>
                                      </p:cBhvr>
                                    </p:animEffect>
                                  </p:childTnLst>
                                </p:cTn>
                              </p:par>
                              <p:par>
                                <p:cTn id="78" presetID="22" presetClass="entr" presetSubtype="8" fill="hold" grpId="0" nodeType="withEffect">
                                  <p:stCondLst>
                                    <p:cond delay="1210"/>
                                  </p:stCondLst>
                                  <p:childTnLst>
                                    <p:set>
                                      <p:cBhvr>
                                        <p:cTn id="76" dur="1" fill="hold">
                                          <p:stCondLst>
                                            <p:cond delay="0"/>
                                          </p:stCondLst>
                                        </p:cTn>
                                        <p:tgtEl>
                                          <p:spTgt spid="26"/>
                                        </p:tgtEl>
                                        <p:attrNameLst>
                                          <p:attrName>style.visibility</p:attrName>
                                        </p:attrNameLst>
                                      </p:cBhvr>
                                      <p:to>
                                        <p:strVal val="visible"/>
                                      </p:to>
                                    </p:set>
                                    <p:animEffect transition="in" filter="wipe(left)">
                                      <p:cBhvr>
                                        <p:cTn id="77" dur="600"/>
                                        <p:tgtEl>
                                          <p:spTgt spid="26"/>
                                        </p:tgtEl>
                                      </p:cBhvr>
                                    </p:animEffect>
                                  </p:childTnLst>
                                </p:cTn>
                              </p:par>
                              <p:par>
                                <p:cTn id="81" presetID="22" presetClass="entr" presetSubtype="8" fill="hold" grpId="0" nodeType="withEffect">
                                  <p:stCondLst>
                                    <p:cond delay="1280"/>
                                  </p:stCondLst>
                                  <p:childTnLst>
                                    <p:set>
                                      <p:cBhvr>
                                        <p:cTn id="79" dur="1" fill="hold">
                                          <p:stCondLst>
                                            <p:cond delay="0"/>
                                          </p:stCondLst>
                                        </p:cTn>
                                        <p:tgtEl>
                                          <p:spTgt spid="27"/>
                                        </p:tgtEl>
                                        <p:attrNameLst>
                                          <p:attrName>style.visibility</p:attrName>
                                        </p:attrNameLst>
                                      </p:cBhvr>
                                      <p:to>
                                        <p:strVal val="visible"/>
                                      </p:to>
                                    </p:set>
                                    <p:animEffect transition="in" filter="wipe(left)">
                                      <p:cBhvr>
                                        <p:cTn id="80" dur="600"/>
                                        <p:tgtEl>
                                          <p:spTgt spid="27"/>
                                        </p:tgtEl>
                                      </p:cBhvr>
                                    </p:animEffect>
                                  </p:childTnLst>
                                </p:cTn>
                              </p:par>
                              <p:par>
                                <p:cTn id="84" presetID="22" presetClass="entr" presetSubtype="8" fill="hold" grpId="0" nodeType="withEffect">
                                  <p:stCondLst>
                                    <p:cond delay="1350"/>
                                  </p:stCondLst>
                                  <p:childTnLst>
                                    <p:set>
                                      <p:cBhvr>
                                        <p:cTn id="82" dur="1" fill="hold">
                                          <p:stCondLst>
                                            <p:cond delay="0"/>
                                          </p:stCondLst>
                                        </p:cTn>
                                        <p:tgtEl>
                                          <p:spTgt spid="28"/>
                                        </p:tgtEl>
                                        <p:attrNameLst>
                                          <p:attrName>style.visibility</p:attrName>
                                        </p:attrNameLst>
                                      </p:cBhvr>
                                      <p:to>
                                        <p:strVal val="visible"/>
                                      </p:to>
                                    </p:set>
                                    <p:animEffect transition="in" filter="wipe(left)">
                                      <p:cBhvr>
                                        <p:cTn id="83" dur="600"/>
                                        <p:tgtEl>
                                          <p:spTgt spid="28"/>
                                        </p:tgtEl>
                                      </p:cBhvr>
                                    </p:animEffect>
                                  </p:childTnLst>
                                </p:cTn>
                              </p:par>
                              <p:par>
                                <p:cTn id="87" presetID="22" presetClass="entr" presetSubtype="8" fill="hold" grpId="0" nodeType="withEffect">
                                  <p:stCondLst>
                                    <p:cond delay="1420"/>
                                  </p:stCondLst>
                                  <p:childTnLst>
                                    <p:set>
                                      <p:cBhvr>
                                        <p:cTn id="85" dur="1" fill="hold">
                                          <p:stCondLst>
                                            <p:cond delay="0"/>
                                          </p:stCondLst>
                                        </p:cTn>
                                        <p:tgtEl>
                                          <p:spTgt spid="29"/>
                                        </p:tgtEl>
                                        <p:attrNameLst>
                                          <p:attrName>style.visibility</p:attrName>
                                        </p:attrNameLst>
                                      </p:cBhvr>
                                      <p:to>
                                        <p:strVal val="visible"/>
                                      </p:to>
                                    </p:set>
                                    <p:animEffect transition="in" filter="wipe(left)">
                                      <p:cBhvr>
                                        <p:cTn id="86" dur="600"/>
                                        <p:tgtEl>
                                          <p:spTgt spid="29"/>
                                        </p:tgtEl>
                                      </p:cBhvr>
                                    </p:animEffect>
                                  </p:childTnLst>
                                </p:cTn>
                              </p:par>
                              <p:par>
                                <p:cTn id="90" presetID="22" presetClass="entr" presetSubtype="8" fill="hold" grpId="0" nodeType="withEffect">
                                  <p:stCondLst>
                                    <p:cond delay="1490"/>
                                  </p:stCondLst>
                                  <p:childTnLst>
                                    <p:set>
                                      <p:cBhvr>
                                        <p:cTn id="88" dur="1" fill="hold">
                                          <p:stCondLst>
                                            <p:cond delay="0"/>
                                          </p:stCondLst>
                                        </p:cTn>
                                        <p:tgtEl>
                                          <p:spTgt spid="30"/>
                                        </p:tgtEl>
                                        <p:attrNameLst>
                                          <p:attrName>style.visibility</p:attrName>
                                        </p:attrNameLst>
                                      </p:cBhvr>
                                      <p:to>
                                        <p:strVal val="visible"/>
                                      </p:to>
                                    </p:set>
                                    <p:animEffect transition="in" filter="wipe(left)">
                                      <p:cBhvr>
                                        <p:cTn id="89" dur="600"/>
                                        <p:tgtEl>
                                          <p:spTgt spid="30"/>
                                        </p:tgtEl>
                                      </p:cBhvr>
                                    </p:animEffect>
                                  </p:childTnLst>
                                </p:cTn>
                              </p:par>
                              <p:par>
                                <p:cTn id="93" presetID="22" presetClass="entr" presetSubtype="8" fill="hold" grpId="0" nodeType="withEffect">
                                  <p:stCondLst>
                                    <p:cond delay="1560"/>
                                  </p:stCondLst>
                                  <p:childTnLst>
                                    <p:set>
                                      <p:cBhvr>
                                        <p:cTn id="91" dur="1" fill="hold">
                                          <p:stCondLst>
                                            <p:cond delay="0"/>
                                          </p:stCondLst>
                                        </p:cTn>
                                        <p:tgtEl>
                                          <p:spTgt spid="31"/>
                                        </p:tgtEl>
                                        <p:attrNameLst>
                                          <p:attrName>style.visibility</p:attrName>
                                        </p:attrNameLst>
                                      </p:cBhvr>
                                      <p:to>
                                        <p:strVal val="visible"/>
                                      </p:to>
                                    </p:set>
                                    <p:animEffect transition="in" filter="wipe(left)">
                                      <p:cBhvr>
                                        <p:cTn id="92" dur="600"/>
                                        <p:tgtEl>
                                          <p:spTgt spid="31"/>
                                        </p:tgtEl>
                                      </p:cBhvr>
                                    </p:animEffect>
                                  </p:childTnLst>
                                </p:cTn>
                              </p:par>
                              <p:par>
                                <p:cTn id="96" presetID="22" presetClass="entr" presetSubtype="8" fill="hold" grpId="0" nodeType="withEffect">
                                  <p:stCondLst>
                                    <p:cond delay="1630"/>
                                  </p:stCondLst>
                                  <p:childTnLst>
                                    <p:set>
                                      <p:cBhvr>
                                        <p:cTn id="94" dur="1" fill="hold">
                                          <p:stCondLst>
                                            <p:cond delay="0"/>
                                          </p:stCondLst>
                                        </p:cTn>
                                        <p:tgtEl>
                                          <p:spTgt spid="32"/>
                                        </p:tgtEl>
                                        <p:attrNameLst>
                                          <p:attrName>style.visibility</p:attrName>
                                        </p:attrNameLst>
                                      </p:cBhvr>
                                      <p:to>
                                        <p:strVal val="visible"/>
                                      </p:to>
                                    </p:set>
                                    <p:animEffect transition="in" filter="wipe(left)">
                                      <p:cBhvr>
                                        <p:cTn id="95" dur="6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10" grpId="0" animBg="1"/>
      <p:bldP spid="11" grpId="0" animBg="1"/>
      <p:bldP spid="13" grpId="0" animBg="1"/>
      <p:bldP spid="14" grpId="0" animBg="1"/>
      <p:bldP spid="16" grpId="0" animBg="1"/>
      <p:bldP spid="17" grpId="0" animBg="1"/>
      <p:bldP spid="19" grpId="0" animBg="1"/>
      <p:bldP spid="20" grpId="0" animBg="1"/>
      <p:bldP spid="21" grpId="0" animBg="1"/>
      <p:bldP spid="23" grpId="0" animBg="1"/>
      <p:bldP spid="24" grpId="0" animBg="1"/>
      <p:bldP spid="26" grpId="0" animBg="1"/>
      <p:bldP spid="27" grpId="0" animBg="1"/>
      <p:bldP spid="29" grpId="0" animBg="1"/>
      <p:bldP spid="30" grpId="0" animBg="1"/>
      <p:bldP spid="3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424160" cy="777240"/>
          </a:xfrm>
          <a:prstGeom prst="rect">
            <a:avLst/>
          </a:prstGeom>
          <a:noFill/>
          <a:ln/>
        </p:spPr>
        <p:txBody>
          <a:bodyPr wrap="square" lIns="0" tIns="0" rIns="0" bIns="0" rtlCol="0" anchor="ctr"/>
          <a:lstStyle/>
          <a:p>
            <a:pPr algn="l" indent="0" marL="0">
              <a:buNone/>
            </a:pPr>
            <a:r>
              <a:rPr lang="en-US" sz="3200" b="1" dirty="0">
                <a:solidFill>
                  <a:schemeClr val="tx2"/>
                </a:solidFill>
              </a:rPr>
              <a:t>Five roles, one secure login</a:t>
            </a:r>
            <a:endParaRPr lang="en-US" sz="3200" dirty="0"/>
          </a:p>
        </p:txBody>
      </p:sp>
      <p:sp>
        <p:nvSpPr>
          <p:cNvPr id="3" name="A01-rise-card0"/>
          <p:cNvSpPr/>
          <p:nvPr/>
        </p:nvSpPr>
        <p:spPr>
          <a:xfrm>
            <a:off x="548640" y="1691640"/>
            <a:ext cx="2011680" cy="4023360"/>
          </a:xfrm>
          <a:prstGeom prst="roundRect">
            <a:avLst>
              <a:gd name="adj" fmla="val 5455"/>
            </a:avLst>
          </a:prstGeom>
          <a:solidFill>
            <a:schemeClr val="bg1"/>
          </a:solidFill>
          <a:ln w="9525">
            <a:solidFill>
              <a:srgbClr val="DBEAF3"/>
            </a:solidFill>
            <a:prstDash val="solid"/>
          </a:ln>
          <a:effectLst>
            <a:outerShdw sx="100000" sy="100000" kx="0" ky="0" algn="bl" rotWithShape="0" blurRad="152400" dist="38100" dir="5400000">
              <a:srgbClr val="0A2540">
                <a:alpha val="18000"/>
              </a:srgbClr>
            </a:outerShdw>
          </a:effectLst>
        </p:spPr>
      </p:sp>
      <p:sp>
        <p:nvSpPr>
          <p:cNvPr id="4" name="A01-rise-ic0-bg"/>
          <p:cNvSpPr/>
          <p:nvPr/>
        </p:nvSpPr>
        <p:spPr>
          <a:xfrm>
            <a:off x="1188720" y="2103120"/>
            <a:ext cx="731520" cy="731520"/>
          </a:xfrm>
          <a:prstGeom prst="ellipse">
            <a:avLst/>
          </a:prstGeom>
          <a:solidFill>
            <a:schemeClr val="accent1"/>
          </a:solidFill>
          <a:ln w="12700">
            <a:solidFill>
              <a:schemeClr val="accent1"/>
            </a:solidFill>
            <a:prstDash val="solid"/>
          </a:ln>
        </p:spPr>
      </p:sp>
      <p:pic>
        <p:nvPicPr>
          <p:cNvPr id="5" name="A01-rise-ic0-ic" descr="preencoded.png">    </p:cNvPr>
          <p:cNvPicPr>
            <a:picLocks noChangeAspect="1"/>
          </p:cNvPicPr>
          <p:nvPr/>
        </p:nvPicPr>
        <p:blipFill>
          <a:blip r:embed="rId1"/>
          <a:stretch>
            <a:fillRect/>
          </a:stretch>
        </p:blipFill>
        <p:spPr>
          <a:xfrm>
            <a:off x="1371600" y="2286000"/>
            <a:ext cx="365760" cy="365760"/>
          </a:xfrm>
          <a:prstGeom prst="rect">
            <a:avLst/>
          </a:prstGeom>
        </p:spPr>
      </p:pic>
      <p:sp>
        <p:nvSpPr>
          <p:cNvPr id="6" name="A01-rise-t0"/>
          <p:cNvSpPr txBox="1"/>
          <p:nvPr/>
        </p:nvSpPr>
        <p:spPr>
          <a:xfrm>
            <a:off x="685800" y="3017520"/>
            <a:ext cx="1737360" cy="411480"/>
          </a:xfrm>
          <a:prstGeom prst="rect">
            <a:avLst/>
          </a:prstGeom>
          <a:noFill/>
          <a:ln/>
        </p:spPr>
        <p:txBody>
          <a:bodyPr wrap="square" lIns="0" tIns="0" rIns="0" bIns="0" rtlCol="0" anchor="t"/>
          <a:lstStyle/>
          <a:p>
            <a:pPr algn="ctr" indent="0" marL="0">
              <a:buNone/>
            </a:pPr>
            <a:r>
              <a:rPr lang="en-US" sz="1800" b="1" dirty="0">
                <a:solidFill>
                  <a:schemeClr val="tx2"/>
                </a:solidFill>
              </a:rPr>
              <a:t>Administrator</a:t>
            </a:r>
            <a:endParaRPr lang="en-US" sz="1800" dirty="0"/>
          </a:p>
        </p:txBody>
      </p:sp>
      <p:sp>
        <p:nvSpPr>
          <p:cNvPr id="7" name="A01-rise-l0"/>
          <p:cNvSpPr txBox="1"/>
          <p:nvPr/>
        </p:nvSpPr>
        <p:spPr>
          <a:xfrm>
            <a:off x="731520" y="3611880"/>
            <a:ext cx="1691640" cy="192024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334155"/>
                </a:solidFill>
              </a:rPr>
              <a:t>Cities, shops, employees</a:t>
            </a:r>
            <a:endParaRPr lang="en-US" sz="1400" dirty="0"/>
          </a:p>
          <a:p>
            <a:pPr marL="177800" indent="-177800">
              <a:spcAft>
                <a:spcPts val="800"/>
              </a:spcAft>
              <a:buSzPct val="100000"/>
              <a:buChar char="•"/>
            </a:pPr>
            <a:r>
              <a:rPr lang="en-US" sz="1400" dirty="0">
                <a:solidFill>
                  <a:srgbClr val="334155"/>
                </a:solidFill>
              </a:rPr>
              <a:t>Plans and discounts</a:t>
            </a:r>
            <a:endParaRPr lang="en-US" sz="1400" dirty="0"/>
          </a:p>
          <a:p>
            <a:pPr marL="177800" indent="-177800">
              <a:spcAft>
                <a:spcPts val="800"/>
              </a:spcAft>
              <a:buSzPct val="100000"/>
              <a:buChar char="•"/>
            </a:pPr>
            <a:r>
              <a:rPr lang="en-US" sz="1400" dirty="0">
                <a:solidFill>
                  <a:srgbClr val="334155"/>
                </a:solidFill>
              </a:rPr>
              <a:t>Stock, reports</a:t>
            </a:r>
            <a:endParaRPr lang="en-US" sz="1400" dirty="0"/>
          </a:p>
        </p:txBody>
      </p:sp>
      <p:sp>
        <p:nvSpPr>
          <p:cNvPr id="8" name="A02-rise-card1"/>
          <p:cNvSpPr/>
          <p:nvPr/>
        </p:nvSpPr>
        <p:spPr>
          <a:xfrm>
            <a:off x="2816352" y="1691640"/>
            <a:ext cx="2011680" cy="4023360"/>
          </a:xfrm>
          <a:prstGeom prst="roundRect">
            <a:avLst>
              <a:gd name="adj" fmla="val 5455"/>
            </a:avLst>
          </a:prstGeom>
          <a:solidFill>
            <a:schemeClr val="bg1"/>
          </a:solidFill>
          <a:ln w="9525">
            <a:solidFill>
              <a:srgbClr val="DBEAF3"/>
            </a:solidFill>
            <a:prstDash val="solid"/>
          </a:ln>
          <a:effectLst>
            <a:outerShdw sx="100000" sy="100000" kx="0" ky="0" algn="bl" rotWithShape="0" blurRad="152400" dist="38100" dir="5400000">
              <a:srgbClr val="0A2540">
                <a:alpha val="18000"/>
              </a:srgbClr>
            </a:outerShdw>
          </a:effectLst>
        </p:spPr>
      </p:sp>
      <p:sp>
        <p:nvSpPr>
          <p:cNvPr id="9" name="A02-rise-ic1-bg"/>
          <p:cNvSpPr/>
          <p:nvPr/>
        </p:nvSpPr>
        <p:spPr>
          <a:xfrm>
            <a:off x="3456432" y="2103120"/>
            <a:ext cx="731520" cy="731520"/>
          </a:xfrm>
          <a:prstGeom prst="ellipse">
            <a:avLst/>
          </a:prstGeom>
          <a:solidFill>
            <a:schemeClr val="accent3"/>
          </a:solidFill>
          <a:ln w="12700">
            <a:solidFill>
              <a:schemeClr val="accent3"/>
            </a:solidFill>
            <a:prstDash val="solid"/>
          </a:ln>
        </p:spPr>
      </p:sp>
      <p:pic>
        <p:nvPicPr>
          <p:cNvPr id="10" name="A02-rise-ic1-ic" descr="preencoded.png">    </p:cNvPr>
          <p:cNvPicPr>
            <a:picLocks noChangeAspect="1"/>
          </p:cNvPicPr>
          <p:nvPr/>
        </p:nvPicPr>
        <p:blipFill>
          <a:blip r:embed="rId2"/>
          <a:stretch>
            <a:fillRect/>
          </a:stretch>
        </p:blipFill>
        <p:spPr>
          <a:xfrm>
            <a:off x="3639312" y="2286000"/>
            <a:ext cx="365760" cy="365760"/>
          </a:xfrm>
          <a:prstGeom prst="rect">
            <a:avLst/>
          </a:prstGeom>
        </p:spPr>
      </p:pic>
      <p:sp>
        <p:nvSpPr>
          <p:cNvPr id="11" name="A02-rise-t1"/>
          <p:cNvSpPr txBox="1"/>
          <p:nvPr/>
        </p:nvSpPr>
        <p:spPr>
          <a:xfrm>
            <a:off x="2953512" y="3017520"/>
            <a:ext cx="1737360" cy="411480"/>
          </a:xfrm>
          <a:prstGeom prst="rect">
            <a:avLst/>
          </a:prstGeom>
          <a:noFill/>
          <a:ln/>
        </p:spPr>
        <p:txBody>
          <a:bodyPr wrap="square" lIns="0" tIns="0" rIns="0" bIns="0" rtlCol="0" anchor="t"/>
          <a:lstStyle/>
          <a:p>
            <a:pPr algn="ctr" indent="0" marL="0">
              <a:buNone/>
            </a:pPr>
            <a:r>
              <a:rPr lang="en-US" sz="1800" b="1" dirty="0">
                <a:solidFill>
                  <a:schemeClr val="tx2"/>
                </a:solidFill>
              </a:rPr>
              <a:t>Retail staff</a:t>
            </a:r>
            <a:endParaRPr lang="en-US" sz="1800" dirty="0"/>
          </a:p>
        </p:txBody>
      </p:sp>
      <p:sp>
        <p:nvSpPr>
          <p:cNvPr id="12" name="A02-rise-l1"/>
          <p:cNvSpPr txBox="1"/>
          <p:nvPr/>
        </p:nvSpPr>
        <p:spPr>
          <a:xfrm>
            <a:off x="2999232" y="3611880"/>
            <a:ext cx="1691640" cy="192024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334155"/>
                </a:solidFill>
              </a:rPr>
              <a:t>Walk-in customers</a:t>
            </a:r>
            <a:endParaRPr lang="en-US" sz="1400" dirty="0"/>
          </a:p>
          <a:p>
            <a:pPr marL="177800" indent="-177800">
              <a:spcAft>
                <a:spcPts val="800"/>
              </a:spcAft>
              <a:buSzPct val="100000"/>
              <a:buChar char="•"/>
            </a:pPr>
            <a:r>
              <a:rPr lang="en-US" sz="1400" dirty="0">
                <a:solidFill>
                  <a:srgbClr val="334155"/>
                </a:solidFill>
              </a:rPr>
              <a:t>Place orders</a:t>
            </a:r>
            <a:endParaRPr lang="en-US" sz="1400" dirty="0"/>
          </a:p>
          <a:p>
            <a:pPr marL="177800" indent="-177800">
              <a:spcAft>
                <a:spcPts val="800"/>
              </a:spcAft>
              <a:buSzPct val="100000"/>
              <a:buChar char="•"/>
            </a:pPr>
            <a:r>
              <a:rPr lang="en-US" sz="1400" dirty="0">
                <a:solidFill>
                  <a:srgbClr val="334155"/>
                </a:solidFill>
              </a:rPr>
              <a:t>Collect payments</a:t>
            </a:r>
            <a:endParaRPr lang="en-US" sz="1400" dirty="0"/>
          </a:p>
        </p:txBody>
      </p:sp>
      <p:sp>
        <p:nvSpPr>
          <p:cNvPr id="13" name="A03-rise-card2"/>
          <p:cNvSpPr/>
          <p:nvPr/>
        </p:nvSpPr>
        <p:spPr>
          <a:xfrm>
            <a:off x="5084064" y="1691640"/>
            <a:ext cx="2011680" cy="4023360"/>
          </a:xfrm>
          <a:prstGeom prst="roundRect">
            <a:avLst>
              <a:gd name="adj" fmla="val 5455"/>
            </a:avLst>
          </a:prstGeom>
          <a:solidFill>
            <a:schemeClr val="bg1"/>
          </a:solidFill>
          <a:ln w="9525">
            <a:solidFill>
              <a:srgbClr val="DBEAF3"/>
            </a:solidFill>
            <a:prstDash val="solid"/>
          </a:ln>
          <a:effectLst>
            <a:outerShdw sx="100000" sy="100000" kx="0" ky="0" algn="bl" rotWithShape="0" blurRad="152400" dist="38100" dir="5400000">
              <a:srgbClr val="0A2540">
                <a:alpha val="18000"/>
              </a:srgbClr>
            </a:outerShdw>
          </a:effectLst>
        </p:spPr>
      </p:sp>
      <p:sp>
        <p:nvSpPr>
          <p:cNvPr id="14" name="A03-rise-ic2-bg"/>
          <p:cNvSpPr/>
          <p:nvPr/>
        </p:nvSpPr>
        <p:spPr>
          <a:xfrm>
            <a:off x="5724144" y="2103120"/>
            <a:ext cx="731520" cy="731520"/>
          </a:xfrm>
          <a:prstGeom prst="ellipse">
            <a:avLst/>
          </a:prstGeom>
          <a:solidFill>
            <a:schemeClr val="accent5"/>
          </a:solidFill>
          <a:ln w="12700">
            <a:solidFill>
              <a:schemeClr val="accent5"/>
            </a:solidFill>
            <a:prstDash val="solid"/>
          </a:ln>
        </p:spPr>
      </p:sp>
      <p:pic>
        <p:nvPicPr>
          <p:cNvPr id="15" name="A03-rise-ic2-ic" descr="preencoded.png">    </p:cNvPr>
          <p:cNvPicPr>
            <a:picLocks noChangeAspect="1"/>
          </p:cNvPicPr>
          <p:nvPr/>
        </p:nvPicPr>
        <p:blipFill>
          <a:blip r:embed="rId3"/>
          <a:stretch>
            <a:fillRect/>
          </a:stretch>
        </p:blipFill>
        <p:spPr>
          <a:xfrm>
            <a:off x="5907024" y="2286000"/>
            <a:ext cx="365760" cy="365760"/>
          </a:xfrm>
          <a:prstGeom prst="rect">
            <a:avLst/>
          </a:prstGeom>
        </p:spPr>
      </p:pic>
      <p:sp>
        <p:nvSpPr>
          <p:cNvPr id="16" name="A03-rise-t2"/>
          <p:cNvSpPr txBox="1"/>
          <p:nvPr/>
        </p:nvSpPr>
        <p:spPr>
          <a:xfrm>
            <a:off x="5221224" y="3017520"/>
            <a:ext cx="1737360" cy="411480"/>
          </a:xfrm>
          <a:prstGeom prst="rect">
            <a:avLst/>
          </a:prstGeom>
          <a:noFill/>
          <a:ln/>
        </p:spPr>
        <p:txBody>
          <a:bodyPr wrap="square" lIns="0" tIns="0" rIns="0" bIns="0" rtlCol="0" anchor="t"/>
          <a:lstStyle/>
          <a:p>
            <a:pPr algn="ctr" indent="0" marL="0">
              <a:buNone/>
            </a:pPr>
            <a:r>
              <a:rPr lang="en-US" sz="1800" b="1" dirty="0">
                <a:solidFill>
                  <a:schemeClr val="tx2"/>
                </a:solidFill>
              </a:rPr>
              <a:t>Technical</a:t>
            </a:r>
            <a:endParaRPr lang="en-US" sz="1800" dirty="0"/>
          </a:p>
        </p:txBody>
      </p:sp>
      <p:sp>
        <p:nvSpPr>
          <p:cNvPr id="17" name="A03-rise-l2"/>
          <p:cNvSpPr txBox="1"/>
          <p:nvPr/>
        </p:nvSpPr>
        <p:spPr>
          <a:xfrm>
            <a:off x="5266944" y="3611880"/>
            <a:ext cx="1691640" cy="192024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334155"/>
                </a:solidFill>
              </a:rPr>
              <a:t>Feasibility checks</a:t>
            </a:r>
            <a:endParaRPr lang="en-US" sz="1400" dirty="0"/>
          </a:p>
          <a:p>
            <a:pPr marL="177800" indent="-177800">
              <a:spcAft>
                <a:spcPts val="800"/>
              </a:spcAft>
              <a:buSzPct val="100000"/>
              <a:buChar char="•"/>
            </a:pPr>
            <a:r>
              <a:rPr lang="en-US" sz="1400" dirty="0">
                <a:solidFill>
                  <a:srgbClr val="334155"/>
                </a:solidFill>
              </a:rPr>
              <a:t>Create connections</a:t>
            </a:r>
            <a:endParaRPr lang="en-US" sz="1400" dirty="0"/>
          </a:p>
          <a:p>
            <a:pPr marL="177800" indent="-177800">
              <a:spcAft>
                <a:spcPts val="800"/>
              </a:spcAft>
              <a:buSzPct val="100000"/>
              <a:buChar char="•"/>
            </a:pPr>
            <a:r>
              <a:rPr lang="en-US" sz="1400" dirty="0">
                <a:solidFill>
                  <a:srgbClr val="334155"/>
                </a:solidFill>
              </a:rPr>
              <a:t>Suspend overdue</a:t>
            </a:r>
            <a:endParaRPr lang="en-US" sz="1400" dirty="0"/>
          </a:p>
        </p:txBody>
      </p:sp>
      <p:sp>
        <p:nvSpPr>
          <p:cNvPr id="18" name="A04-rise-card3"/>
          <p:cNvSpPr/>
          <p:nvPr/>
        </p:nvSpPr>
        <p:spPr>
          <a:xfrm>
            <a:off x="7351776" y="1691640"/>
            <a:ext cx="2011680" cy="4023360"/>
          </a:xfrm>
          <a:prstGeom prst="roundRect">
            <a:avLst>
              <a:gd name="adj" fmla="val 5455"/>
            </a:avLst>
          </a:prstGeom>
          <a:solidFill>
            <a:schemeClr val="bg1"/>
          </a:solidFill>
          <a:ln w="9525">
            <a:solidFill>
              <a:srgbClr val="DBEAF3"/>
            </a:solidFill>
            <a:prstDash val="solid"/>
          </a:ln>
          <a:effectLst>
            <a:outerShdw sx="100000" sy="100000" kx="0" ky="0" algn="bl" rotWithShape="0" blurRad="152400" dist="38100" dir="5400000">
              <a:srgbClr val="0A2540">
                <a:alpha val="18000"/>
              </a:srgbClr>
            </a:outerShdw>
          </a:effectLst>
        </p:spPr>
      </p:sp>
      <p:sp>
        <p:nvSpPr>
          <p:cNvPr id="19" name="A04-rise-ic3-bg"/>
          <p:cNvSpPr/>
          <p:nvPr/>
        </p:nvSpPr>
        <p:spPr>
          <a:xfrm>
            <a:off x="7991856" y="2103120"/>
            <a:ext cx="731520" cy="731520"/>
          </a:xfrm>
          <a:prstGeom prst="ellipse">
            <a:avLst/>
          </a:prstGeom>
          <a:solidFill>
            <a:schemeClr val="accent4"/>
          </a:solidFill>
          <a:ln w="12700">
            <a:solidFill>
              <a:schemeClr val="accent4"/>
            </a:solidFill>
            <a:prstDash val="solid"/>
          </a:ln>
        </p:spPr>
      </p:sp>
      <p:pic>
        <p:nvPicPr>
          <p:cNvPr id="20" name="A04-rise-ic3-ic" descr="preencoded.png">    </p:cNvPr>
          <p:cNvPicPr>
            <a:picLocks noChangeAspect="1"/>
          </p:cNvPicPr>
          <p:nvPr/>
        </p:nvPicPr>
        <p:blipFill>
          <a:blip r:embed="rId4"/>
          <a:stretch>
            <a:fillRect/>
          </a:stretch>
        </p:blipFill>
        <p:spPr>
          <a:xfrm>
            <a:off x="8174736" y="2286000"/>
            <a:ext cx="365760" cy="365760"/>
          </a:xfrm>
          <a:prstGeom prst="rect">
            <a:avLst/>
          </a:prstGeom>
        </p:spPr>
      </p:pic>
      <p:sp>
        <p:nvSpPr>
          <p:cNvPr id="21" name="A04-rise-t3"/>
          <p:cNvSpPr txBox="1"/>
          <p:nvPr/>
        </p:nvSpPr>
        <p:spPr>
          <a:xfrm>
            <a:off x="7488936" y="3017520"/>
            <a:ext cx="1737360" cy="411480"/>
          </a:xfrm>
          <a:prstGeom prst="rect">
            <a:avLst/>
          </a:prstGeom>
          <a:noFill/>
          <a:ln/>
        </p:spPr>
        <p:txBody>
          <a:bodyPr wrap="square" lIns="0" tIns="0" rIns="0" bIns="0" rtlCol="0" anchor="t"/>
          <a:lstStyle/>
          <a:p>
            <a:pPr algn="ctr" indent="0" marL="0">
              <a:buNone/>
            </a:pPr>
            <a:r>
              <a:rPr lang="en-US" sz="1800" b="1" dirty="0">
                <a:solidFill>
                  <a:schemeClr val="tx2"/>
                </a:solidFill>
              </a:rPr>
              <a:t>Accounts</a:t>
            </a:r>
            <a:endParaRPr lang="en-US" sz="1800" dirty="0"/>
          </a:p>
        </p:txBody>
      </p:sp>
      <p:sp>
        <p:nvSpPr>
          <p:cNvPr id="22" name="A04-rise-l3"/>
          <p:cNvSpPr txBox="1"/>
          <p:nvPr/>
        </p:nvSpPr>
        <p:spPr>
          <a:xfrm>
            <a:off x="7534656" y="3611880"/>
            <a:ext cx="1691640" cy="192024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334155"/>
                </a:solidFill>
              </a:rPr>
              <a:t>Generate bills</a:t>
            </a:r>
            <a:endParaRPr lang="en-US" sz="1400" dirty="0"/>
          </a:p>
          <a:p>
            <a:pPr marL="177800" indent="-177800">
              <a:spcAft>
                <a:spcPts val="800"/>
              </a:spcAft>
              <a:buSzPct val="100000"/>
              <a:buChar char="•"/>
            </a:pPr>
            <a:r>
              <a:rPr lang="en-US" sz="1400" dirty="0">
                <a:solidFill>
                  <a:srgbClr val="334155"/>
                </a:solidFill>
              </a:rPr>
              <a:t>12.24 % service tax</a:t>
            </a:r>
            <a:endParaRPr lang="en-US" sz="1400" dirty="0"/>
          </a:p>
          <a:p>
            <a:pPr marL="177800" indent="-177800">
              <a:spcAft>
                <a:spcPts val="800"/>
              </a:spcAft>
              <a:buSzPct val="100000"/>
              <a:buChar char="•"/>
            </a:pPr>
            <a:r>
              <a:rPr lang="en-US" sz="1400" dirty="0">
                <a:solidFill>
                  <a:srgbClr val="334155"/>
                </a:solidFill>
              </a:rPr>
              <a:t>Record payments</a:t>
            </a:r>
            <a:endParaRPr lang="en-US" sz="1400" dirty="0"/>
          </a:p>
        </p:txBody>
      </p:sp>
      <p:sp>
        <p:nvSpPr>
          <p:cNvPr id="23" name="A05-rise-card4"/>
          <p:cNvSpPr/>
          <p:nvPr/>
        </p:nvSpPr>
        <p:spPr>
          <a:xfrm>
            <a:off x="9619488" y="1691640"/>
            <a:ext cx="2011680" cy="4023360"/>
          </a:xfrm>
          <a:prstGeom prst="roundRect">
            <a:avLst>
              <a:gd name="adj" fmla="val 5455"/>
            </a:avLst>
          </a:prstGeom>
          <a:solidFill>
            <a:schemeClr val="bg1"/>
          </a:solidFill>
          <a:ln w="9525">
            <a:solidFill>
              <a:srgbClr val="DBEAF3"/>
            </a:solidFill>
            <a:prstDash val="solid"/>
          </a:ln>
          <a:effectLst>
            <a:outerShdw sx="100000" sy="100000" kx="0" ky="0" algn="bl" rotWithShape="0" blurRad="152400" dist="38100" dir="5400000">
              <a:srgbClr val="0A2540">
                <a:alpha val="18000"/>
              </a:srgbClr>
            </a:outerShdw>
          </a:effectLst>
        </p:spPr>
      </p:sp>
      <p:sp>
        <p:nvSpPr>
          <p:cNvPr id="24" name="A05-rise-ic4-bg"/>
          <p:cNvSpPr/>
          <p:nvPr/>
        </p:nvSpPr>
        <p:spPr>
          <a:xfrm>
            <a:off x="10259568" y="2103120"/>
            <a:ext cx="731520" cy="731520"/>
          </a:xfrm>
          <a:prstGeom prst="ellipse">
            <a:avLst/>
          </a:prstGeom>
          <a:solidFill>
            <a:schemeClr val="accent2"/>
          </a:solidFill>
          <a:ln w="12700">
            <a:solidFill>
              <a:schemeClr val="accent2"/>
            </a:solidFill>
            <a:prstDash val="solid"/>
          </a:ln>
        </p:spPr>
      </p:sp>
      <p:pic>
        <p:nvPicPr>
          <p:cNvPr id="25" name="A05-rise-ic4-ic" descr="preencoded.png">    </p:cNvPr>
          <p:cNvPicPr>
            <a:picLocks noChangeAspect="1"/>
          </p:cNvPicPr>
          <p:nvPr/>
        </p:nvPicPr>
        <p:blipFill>
          <a:blip r:embed="rId5"/>
          <a:stretch>
            <a:fillRect/>
          </a:stretch>
        </p:blipFill>
        <p:spPr>
          <a:xfrm>
            <a:off x="10442448" y="2286000"/>
            <a:ext cx="365760" cy="365760"/>
          </a:xfrm>
          <a:prstGeom prst="rect">
            <a:avLst/>
          </a:prstGeom>
        </p:spPr>
      </p:pic>
      <p:sp>
        <p:nvSpPr>
          <p:cNvPr id="26" name="A05-rise-t4"/>
          <p:cNvSpPr txBox="1"/>
          <p:nvPr/>
        </p:nvSpPr>
        <p:spPr>
          <a:xfrm>
            <a:off x="9756648" y="3017520"/>
            <a:ext cx="1737360" cy="411480"/>
          </a:xfrm>
          <a:prstGeom prst="rect">
            <a:avLst/>
          </a:prstGeom>
          <a:noFill/>
          <a:ln/>
        </p:spPr>
        <p:txBody>
          <a:bodyPr wrap="square" lIns="0" tIns="0" rIns="0" bIns="0" rtlCol="0" anchor="t"/>
          <a:lstStyle/>
          <a:p>
            <a:pPr algn="ctr" indent="0" marL="0">
              <a:buNone/>
            </a:pPr>
            <a:r>
              <a:rPr lang="en-US" sz="1800" b="1" dirty="0">
                <a:solidFill>
                  <a:schemeClr val="tx2"/>
                </a:solidFill>
              </a:rPr>
              <a:t>Customer</a:t>
            </a:r>
            <a:endParaRPr lang="en-US" sz="1800" dirty="0"/>
          </a:p>
        </p:txBody>
      </p:sp>
      <p:sp>
        <p:nvSpPr>
          <p:cNvPr id="27" name="A05-rise-l4"/>
          <p:cNvSpPr txBox="1"/>
          <p:nvPr/>
        </p:nvSpPr>
        <p:spPr>
          <a:xfrm>
            <a:off x="9802368" y="3611880"/>
            <a:ext cx="1691640" cy="192024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334155"/>
                </a:solidFill>
              </a:rPr>
              <a:t>Order online</a:t>
            </a:r>
            <a:endParaRPr lang="en-US" sz="1400" dirty="0"/>
          </a:p>
          <a:p>
            <a:pPr marL="177800" indent="-177800">
              <a:spcAft>
                <a:spcPts val="800"/>
              </a:spcAft>
              <a:buSzPct val="100000"/>
              <a:buChar char="•"/>
            </a:pPr>
            <a:r>
              <a:rPr lang="en-US" sz="1400" dirty="0">
                <a:solidFill>
                  <a:srgbClr val="334155"/>
                </a:solidFill>
              </a:rPr>
              <a:t>Track &amp; see dues</a:t>
            </a:r>
            <a:endParaRPr lang="en-US" sz="1400" dirty="0"/>
          </a:p>
          <a:p>
            <a:pPr marL="177800" indent="-177800">
              <a:spcAft>
                <a:spcPts val="800"/>
              </a:spcAft>
              <a:buSzPct val="100000"/>
              <a:buChar char="•"/>
            </a:pPr>
            <a:r>
              <a:rPr lang="en-US" sz="1400" dirty="0">
                <a:solidFill>
                  <a:srgbClr val="334155"/>
                </a:solidFill>
              </a:rPr>
              <a:t>Documents, feedback</a:t>
            </a:r>
            <a:endParaRPr lang="en-US" sz="1400" dirty="0"/>
          </a:p>
        </p:txBody>
      </p:sp>
      <p:sp>
        <p:nvSpPr>
          <p:cNvPr id="28" name="A06-fade-note"/>
          <p:cNvSpPr txBox="1"/>
          <p:nvPr/>
        </p:nvSpPr>
        <p:spPr>
          <a:xfrm>
            <a:off x="548640" y="5897880"/>
            <a:ext cx="10972800" cy="320040"/>
          </a:xfrm>
          <a:prstGeom prst="rect">
            <a:avLst/>
          </a:prstGeom>
          <a:noFill/>
          <a:ln/>
        </p:spPr>
        <p:txBody>
          <a:bodyPr wrap="square" lIns="0" tIns="0" rIns="0" bIns="0" rtlCol="0" anchor="t"/>
          <a:lstStyle/>
          <a:p>
            <a:pPr indent="0" marL="0">
              <a:buNone/>
            </a:pPr>
            <a:r>
              <a:rPr lang="en-US" sz="1300" i="1" dirty="0">
                <a:solidFill>
                  <a:srgbClr val="475569"/>
                </a:solidFill>
              </a:rPr>
              <a:t>Visitors can also view plans and track an order or account ID without signing in.</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250">
        <p14:reveal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132" fill="hold">
                      <p:stCondLst>
                        <p:cond delay="indefinite"/>
                        <p:cond evt="onBegin" delay="0">
                          <p:tn val="2"/>
                        </p:cond>
                      </p:stCondLst>
                      <p:childTnLst>
                        <p:par>
                          <p:cTn id="131"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600"/>
                                        <p:tgtEl>
                                          <p:spTgt spid="3"/>
                                        </p:tgtEl>
                                      </p:cBhvr>
                                    </p:animEffect>
                                    <p:anim calcmode="lin" valueType="num">
                                      <p:cBhvr additive="base">
                                        <p:cTn id="5" dur="600" fill="hold"/>
                                        <p:tgtEl>
                                          <p:spTgt spid="3"/>
                                        </p:tgtEl>
                                        <p:attrNameLst>
                                          <p:attrName>ppt_x</p:attrName>
                                        </p:attrNameLst>
                                      </p:cBhvr>
                                      <p:tavLst>
                                        <p:tav tm="0">
                                          <p:val>
                                            <p:strVal val="#ppt_x"/>
                                          </p:val>
                                        </p:tav>
                                        <p:tav tm="100000">
                                          <p:val>
                                            <p:strVal val="#ppt_x"/>
                                          </p:val>
                                        </p:tav>
                                      </p:tavLst>
                                    </p:anim>
                                    <p:anim calcmode="lin" valueType="num">
                                      <p:cBhvr additive="base">
                                        <p:cTn id="6" dur="600" fill="hold"/>
                                        <p:tgtEl>
                                          <p:spTgt spid="3"/>
                                        </p:tgtEl>
                                        <p:attrNameLst>
                                          <p:attrName>ppt_y</p:attrName>
                                        </p:attrNameLst>
                                      </p:cBhvr>
                                      <p:tavLst>
                                        <p:tav tm="0">
                                          <p:val>
                                            <p:strVal val="#ppt_y+0.08"/>
                                          </p:val>
                                        </p:tav>
                                        <p:tav tm="100000">
                                          <p:val>
                                            <p:strVal val="#ppt_y"/>
                                          </p:val>
                                        </p:tav>
                                      </p:tavLst>
                                    </p:anim>
                                  </p:childTnLst>
                                </p:cTn>
                              </p:par>
                              <p:par>
                                <p:cTn id="12" presetID="42" presetClass="entr" presetSubtype="0" fill="hold" grpId="0" nodeType="withEffect">
                                  <p:stCondLst>
                                    <p:cond delay="7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anim calcmode="lin" valueType="num">
                                      <p:cBhvr additive="base">
                                        <p:cTn id="10" dur="600" fill="hold"/>
                                        <p:tgtEl>
                                          <p:spTgt spid="4"/>
                                        </p:tgtEl>
                                        <p:attrNameLst>
                                          <p:attrName>ppt_x</p:attrName>
                                        </p:attrNameLst>
                                      </p:cBhvr>
                                      <p:tavLst>
                                        <p:tav tm="0">
                                          <p:val>
                                            <p:strVal val="#ppt_x"/>
                                          </p:val>
                                        </p:tav>
                                        <p:tav tm="100000">
                                          <p:val>
                                            <p:strVal val="#ppt_x"/>
                                          </p:val>
                                        </p:tav>
                                      </p:tavLst>
                                    </p:anim>
                                    <p:anim calcmode="lin" valueType="num">
                                      <p:cBhvr additive="base">
                                        <p:cTn id="11" dur="600" fill="hold"/>
                                        <p:tgtEl>
                                          <p:spTgt spid="4"/>
                                        </p:tgtEl>
                                        <p:attrNameLst>
                                          <p:attrName>ppt_y</p:attrName>
                                        </p:attrNameLst>
                                      </p:cBhvr>
                                      <p:tavLst>
                                        <p:tav tm="0">
                                          <p:val>
                                            <p:strVal val="#ppt_y+0.08"/>
                                          </p:val>
                                        </p:tav>
                                        <p:tav tm="100000">
                                          <p:val>
                                            <p:strVal val="#ppt_y"/>
                                          </p:val>
                                        </p:tav>
                                      </p:tavLst>
                                    </p:anim>
                                  </p:childTnLst>
                                </p:cTn>
                              </p:par>
                              <p:par>
                                <p:cTn id="17" presetID="42" presetClass="entr" presetSubtype="0" fill="hold" grpId="0" nodeType="withEffect">
                                  <p:stCondLst>
                                    <p:cond delay="14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600"/>
                                        <p:tgtEl>
                                          <p:spTgt spid="5"/>
                                        </p:tgtEl>
                                      </p:cBhvr>
                                    </p:animEffect>
                                    <p:anim calcmode="lin" valueType="num">
                                      <p:cBhvr additive="base">
                                        <p:cTn id="15" dur="600" fill="hold"/>
                                        <p:tgtEl>
                                          <p:spTgt spid="5"/>
                                        </p:tgtEl>
                                        <p:attrNameLst>
                                          <p:attrName>ppt_x</p:attrName>
                                        </p:attrNameLst>
                                      </p:cBhvr>
                                      <p:tavLst>
                                        <p:tav tm="0">
                                          <p:val>
                                            <p:strVal val="#ppt_x"/>
                                          </p:val>
                                        </p:tav>
                                        <p:tav tm="100000">
                                          <p:val>
                                            <p:strVal val="#ppt_x"/>
                                          </p:val>
                                        </p:tav>
                                      </p:tavLst>
                                    </p:anim>
                                    <p:anim calcmode="lin" valueType="num">
                                      <p:cBhvr additive="base">
                                        <p:cTn id="16" dur="600" fill="hold"/>
                                        <p:tgtEl>
                                          <p:spTgt spid="5"/>
                                        </p:tgtEl>
                                        <p:attrNameLst>
                                          <p:attrName>ppt_y</p:attrName>
                                        </p:attrNameLst>
                                      </p:cBhvr>
                                      <p:tavLst>
                                        <p:tav tm="0">
                                          <p:val>
                                            <p:strVal val="#ppt_y+0.08"/>
                                          </p:val>
                                        </p:tav>
                                        <p:tav tm="100000">
                                          <p:val>
                                            <p:strVal val="#ppt_y"/>
                                          </p:val>
                                        </p:tav>
                                      </p:tavLst>
                                    </p:anim>
                                  </p:childTnLst>
                                </p:cTn>
                              </p:par>
                              <p:par>
                                <p:cTn id="22" presetID="42" presetClass="entr" presetSubtype="0" fill="hold" grpId="0" nodeType="withEffect">
                                  <p:stCondLst>
                                    <p:cond delay="21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600"/>
                                        <p:tgtEl>
                                          <p:spTgt spid="6"/>
                                        </p:tgtEl>
                                      </p:cBhvr>
                                    </p:animEffect>
                                    <p:anim calcmode="lin" valueType="num">
                                      <p:cBhvr additive="base">
                                        <p:cTn id="20" dur="600" fill="hold"/>
                                        <p:tgtEl>
                                          <p:spTgt spid="6"/>
                                        </p:tgtEl>
                                        <p:attrNameLst>
                                          <p:attrName>ppt_x</p:attrName>
                                        </p:attrNameLst>
                                      </p:cBhvr>
                                      <p:tavLst>
                                        <p:tav tm="0">
                                          <p:val>
                                            <p:strVal val="#ppt_x"/>
                                          </p:val>
                                        </p:tav>
                                        <p:tav tm="100000">
                                          <p:val>
                                            <p:strVal val="#ppt_x"/>
                                          </p:val>
                                        </p:tav>
                                      </p:tavLst>
                                    </p:anim>
                                    <p:anim calcmode="lin" valueType="num">
                                      <p:cBhvr additive="base">
                                        <p:cTn id="21" dur="600" fill="hold"/>
                                        <p:tgtEl>
                                          <p:spTgt spid="6"/>
                                        </p:tgtEl>
                                        <p:attrNameLst>
                                          <p:attrName>ppt_y</p:attrName>
                                        </p:attrNameLst>
                                      </p:cBhvr>
                                      <p:tavLst>
                                        <p:tav tm="0">
                                          <p:val>
                                            <p:strVal val="#ppt_y+0.08"/>
                                          </p:val>
                                        </p:tav>
                                        <p:tav tm="100000">
                                          <p:val>
                                            <p:strVal val="#ppt_y"/>
                                          </p:val>
                                        </p:tav>
                                      </p:tavLst>
                                    </p:anim>
                                  </p:childTnLst>
                                </p:cTn>
                              </p:par>
                              <p:par>
                                <p:cTn id="27" presetID="42" presetClass="entr" presetSubtype="0" fill="hold" grpId="0" nodeType="withEffect">
                                  <p:stCondLst>
                                    <p:cond delay="28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600"/>
                                        <p:tgtEl>
                                          <p:spTgt spid="7"/>
                                        </p:tgtEl>
                                      </p:cBhvr>
                                    </p:animEffect>
                                    <p:anim calcmode="lin" valueType="num">
                                      <p:cBhvr additive="base">
                                        <p:cTn id="25" dur="600" fill="hold"/>
                                        <p:tgtEl>
                                          <p:spTgt spid="7"/>
                                        </p:tgtEl>
                                        <p:attrNameLst>
                                          <p:attrName>ppt_x</p:attrName>
                                        </p:attrNameLst>
                                      </p:cBhvr>
                                      <p:tavLst>
                                        <p:tav tm="0">
                                          <p:val>
                                            <p:strVal val="#ppt_x"/>
                                          </p:val>
                                        </p:tav>
                                        <p:tav tm="100000">
                                          <p:val>
                                            <p:strVal val="#ppt_x"/>
                                          </p:val>
                                        </p:tav>
                                      </p:tavLst>
                                    </p:anim>
                                    <p:anim calcmode="lin" valueType="num">
                                      <p:cBhvr additive="base">
                                        <p:cTn id="26" dur="600" fill="hold"/>
                                        <p:tgtEl>
                                          <p:spTgt spid="7"/>
                                        </p:tgtEl>
                                        <p:attrNameLst>
                                          <p:attrName>ppt_y</p:attrName>
                                        </p:attrNameLst>
                                      </p:cBhvr>
                                      <p:tavLst>
                                        <p:tav tm="0">
                                          <p:val>
                                            <p:strVal val="#ppt_y+0.08"/>
                                          </p:val>
                                        </p:tav>
                                        <p:tav tm="100000">
                                          <p:val>
                                            <p:strVal val="#ppt_y"/>
                                          </p:val>
                                        </p:tav>
                                      </p:tavLst>
                                    </p:anim>
                                  </p:childTnLst>
                                </p:cTn>
                              </p:par>
                              <p:par>
                                <p:cTn id="32" presetID="42" presetClass="entr" presetSubtype="0" fill="hold" grpId="0" nodeType="withEffect">
                                  <p:stCondLst>
                                    <p:cond delay="36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600"/>
                                        <p:tgtEl>
                                          <p:spTgt spid="8"/>
                                        </p:tgtEl>
                                      </p:cBhvr>
                                    </p:animEffect>
                                    <p:anim calcmode="lin" valueType="num">
                                      <p:cBhvr additive="base">
                                        <p:cTn id="30" dur="600" fill="hold"/>
                                        <p:tgtEl>
                                          <p:spTgt spid="8"/>
                                        </p:tgtEl>
                                        <p:attrNameLst>
                                          <p:attrName>ppt_x</p:attrName>
                                        </p:attrNameLst>
                                      </p:cBhvr>
                                      <p:tavLst>
                                        <p:tav tm="0">
                                          <p:val>
                                            <p:strVal val="#ppt_x"/>
                                          </p:val>
                                        </p:tav>
                                        <p:tav tm="100000">
                                          <p:val>
                                            <p:strVal val="#ppt_x"/>
                                          </p:val>
                                        </p:tav>
                                      </p:tavLst>
                                    </p:anim>
                                    <p:anim calcmode="lin" valueType="num">
                                      <p:cBhvr additive="base">
                                        <p:cTn id="31" dur="600" fill="hold"/>
                                        <p:tgtEl>
                                          <p:spTgt spid="8"/>
                                        </p:tgtEl>
                                        <p:attrNameLst>
                                          <p:attrName>ppt_y</p:attrName>
                                        </p:attrNameLst>
                                      </p:cBhvr>
                                      <p:tavLst>
                                        <p:tav tm="0">
                                          <p:val>
                                            <p:strVal val="#ppt_y+0.08"/>
                                          </p:val>
                                        </p:tav>
                                        <p:tav tm="100000">
                                          <p:val>
                                            <p:strVal val="#ppt_y"/>
                                          </p:val>
                                        </p:tav>
                                      </p:tavLst>
                                    </p:anim>
                                  </p:childTnLst>
                                </p:cTn>
                              </p:par>
                              <p:par>
                                <p:cTn id="37" presetID="42" presetClass="entr" presetSubtype="0" fill="hold" grpId="0" nodeType="withEffect">
                                  <p:stCondLst>
                                    <p:cond delay="43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600"/>
                                        <p:tgtEl>
                                          <p:spTgt spid="9"/>
                                        </p:tgtEl>
                                      </p:cBhvr>
                                    </p:animEffect>
                                    <p:anim calcmode="lin" valueType="num">
                                      <p:cBhvr additive="base">
                                        <p:cTn id="35" dur="600" fill="hold"/>
                                        <p:tgtEl>
                                          <p:spTgt spid="9"/>
                                        </p:tgtEl>
                                        <p:attrNameLst>
                                          <p:attrName>ppt_x</p:attrName>
                                        </p:attrNameLst>
                                      </p:cBhvr>
                                      <p:tavLst>
                                        <p:tav tm="0">
                                          <p:val>
                                            <p:strVal val="#ppt_x"/>
                                          </p:val>
                                        </p:tav>
                                        <p:tav tm="100000">
                                          <p:val>
                                            <p:strVal val="#ppt_x"/>
                                          </p:val>
                                        </p:tav>
                                      </p:tavLst>
                                    </p:anim>
                                    <p:anim calcmode="lin" valueType="num">
                                      <p:cBhvr additive="base">
                                        <p:cTn id="36" dur="600" fill="hold"/>
                                        <p:tgtEl>
                                          <p:spTgt spid="9"/>
                                        </p:tgtEl>
                                        <p:attrNameLst>
                                          <p:attrName>ppt_y</p:attrName>
                                        </p:attrNameLst>
                                      </p:cBhvr>
                                      <p:tavLst>
                                        <p:tav tm="0">
                                          <p:val>
                                            <p:strVal val="#ppt_y+0.08"/>
                                          </p:val>
                                        </p:tav>
                                        <p:tav tm="100000">
                                          <p:val>
                                            <p:strVal val="#ppt_y"/>
                                          </p:val>
                                        </p:tav>
                                      </p:tavLst>
                                    </p:anim>
                                  </p:childTnLst>
                                </p:cTn>
                              </p:par>
                              <p:par>
                                <p:cTn id="42" presetID="42" presetClass="entr" presetSubtype="0" fill="hold" grpId="0" nodeType="withEffect">
                                  <p:stCondLst>
                                    <p:cond delay="50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600"/>
                                        <p:tgtEl>
                                          <p:spTgt spid="10"/>
                                        </p:tgtEl>
                                      </p:cBhvr>
                                    </p:animEffect>
                                    <p:anim calcmode="lin" valueType="num">
                                      <p:cBhvr additive="base">
                                        <p:cTn id="40" dur="600" fill="hold"/>
                                        <p:tgtEl>
                                          <p:spTgt spid="10"/>
                                        </p:tgtEl>
                                        <p:attrNameLst>
                                          <p:attrName>ppt_x</p:attrName>
                                        </p:attrNameLst>
                                      </p:cBhvr>
                                      <p:tavLst>
                                        <p:tav tm="0">
                                          <p:val>
                                            <p:strVal val="#ppt_x"/>
                                          </p:val>
                                        </p:tav>
                                        <p:tav tm="100000">
                                          <p:val>
                                            <p:strVal val="#ppt_x"/>
                                          </p:val>
                                        </p:tav>
                                      </p:tavLst>
                                    </p:anim>
                                    <p:anim calcmode="lin" valueType="num">
                                      <p:cBhvr additive="base">
                                        <p:cTn id="41" dur="600" fill="hold"/>
                                        <p:tgtEl>
                                          <p:spTgt spid="10"/>
                                        </p:tgtEl>
                                        <p:attrNameLst>
                                          <p:attrName>ppt_y</p:attrName>
                                        </p:attrNameLst>
                                      </p:cBhvr>
                                      <p:tavLst>
                                        <p:tav tm="0">
                                          <p:val>
                                            <p:strVal val="#ppt_y+0.08"/>
                                          </p:val>
                                        </p:tav>
                                        <p:tav tm="100000">
                                          <p:val>
                                            <p:strVal val="#ppt_y"/>
                                          </p:val>
                                        </p:tav>
                                      </p:tavLst>
                                    </p:anim>
                                  </p:childTnLst>
                                </p:cTn>
                              </p:par>
                              <p:par>
                                <p:cTn id="47" presetID="42" presetClass="entr" presetSubtype="0" fill="hold" grpId="0" nodeType="withEffect">
                                  <p:stCondLst>
                                    <p:cond delay="57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600"/>
                                        <p:tgtEl>
                                          <p:spTgt spid="11"/>
                                        </p:tgtEl>
                                      </p:cBhvr>
                                    </p:animEffect>
                                    <p:anim calcmode="lin" valueType="num">
                                      <p:cBhvr additive="base">
                                        <p:cTn id="45" dur="600" fill="hold"/>
                                        <p:tgtEl>
                                          <p:spTgt spid="11"/>
                                        </p:tgtEl>
                                        <p:attrNameLst>
                                          <p:attrName>ppt_x</p:attrName>
                                        </p:attrNameLst>
                                      </p:cBhvr>
                                      <p:tavLst>
                                        <p:tav tm="0">
                                          <p:val>
                                            <p:strVal val="#ppt_x"/>
                                          </p:val>
                                        </p:tav>
                                        <p:tav tm="100000">
                                          <p:val>
                                            <p:strVal val="#ppt_x"/>
                                          </p:val>
                                        </p:tav>
                                      </p:tavLst>
                                    </p:anim>
                                    <p:anim calcmode="lin" valueType="num">
                                      <p:cBhvr additive="base">
                                        <p:cTn id="46" dur="600" fill="hold"/>
                                        <p:tgtEl>
                                          <p:spTgt spid="11"/>
                                        </p:tgtEl>
                                        <p:attrNameLst>
                                          <p:attrName>ppt_y</p:attrName>
                                        </p:attrNameLst>
                                      </p:cBhvr>
                                      <p:tavLst>
                                        <p:tav tm="0">
                                          <p:val>
                                            <p:strVal val="#ppt_y+0.08"/>
                                          </p:val>
                                        </p:tav>
                                        <p:tav tm="100000">
                                          <p:val>
                                            <p:strVal val="#ppt_y"/>
                                          </p:val>
                                        </p:tav>
                                      </p:tavLst>
                                    </p:anim>
                                  </p:childTnLst>
                                </p:cTn>
                              </p:par>
                              <p:par>
                                <p:cTn id="52" presetID="42" presetClass="entr" presetSubtype="0" fill="hold" grpId="0" nodeType="withEffect">
                                  <p:stCondLst>
                                    <p:cond delay="64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600"/>
                                        <p:tgtEl>
                                          <p:spTgt spid="12"/>
                                        </p:tgtEl>
                                      </p:cBhvr>
                                    </p:animEffect>
                                    <p:anim calcmode="lin" valueType="num">
                                      <p:cBhvr additive="base">
                                        <p:cTn id="50" dur="600" fill="hold"/>
                                        <p:tgtEl>
                                          <p:spTgt spid="12"/>
                                        </p:tgtEl>
                                        <p:attrNameLst>
                                          <p:attrName>ppt_x</p:attrName>
                                        </p:attrNameLst>
                                      </p:cBhvr>
                                      <p:tavLst>
                                        <p:tav tm="0">
                                          <p:val>
                                            <p:strVal val="#ppt_x"/>
                                          </p:val>
                                        </p:tav>
                                        <p:tav tm="100000">
                                          <p:val>
                                            <p:strVal val="#ppt_x"/>
                                          </p:val>
                                        </p:tav>
                                      </p:tavLst>
                                    </p:anim>
                                    <p:anim calcmode="lin" valueType="num">
                                      <p:cBhvr additive="base">
                                        <p:cTn id="51" dur="600" fill="hold"/>
                                        <p:tgtEl>
                                          <p:spTgt spid="12"/>
                                        </p:tgtEl>
                                        <p:attrNameLst>
                                          <p:attrName>ppt_y</p:attrName>
                                        </p:attrNameLst>
                                      </p:cBhvr>
                                      <p:tavLst>
                                        <p:tav tm="0">
                                          <p:val>
                                            <p:strVal val="#ppt_y+0.08"/>
                                          </p:val>
                                        </p:tav>
                                        <p:tav tm="100000">
                                          <p:val>
                                            <p:strVal val="#ppt_y"/>
                                          </p:val>
                                        </p:tav>
                                      </p:tavLst>
                                    </p:anim>
                                  </p:childTnLst>
                                </p:cTn>
                              </p:par>
                              <p:par>
                                <p:cTn id="57" presetID="42" presetClass="entr" presetSubtype="0" fill="hold" grpId="0" nodeType="withEffect">
                                  <p:stCondLst>
                                    <p:cond delay="72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600"/>
                                        <p:tgtEl>
                                          <p:spTgt spid="13"/>
                                        </p:tgtEl>
                                      </p:cBhvr>
                                    </p:animEffect>
                                    <p:anim calcmode="lin" valueType="num">
                                      <p:cBhvr additive="base">
                                        <p:cTn id="55" dur="600" fill="hold"/>
                                        <p:tgtEl>
                                          <p:spTgt spid="13"/>
                                        </p:tgtEl>
                                        <p:attrNameLst>
                                          <p:attrName>ppt_x</p:attrName>
                                        </p:attrNameLst>
                                      </p:cBhvr>
                                      <p:tavLst>
                                        <p:tav tm="0">
                                          <p:val>
                                            <p:strVal val="#ppt_x"/>
                                          </p:val>
                                        </p:tav>
                                        <p:tav tm="100000">
                                          <p:val>
                                            <p:strVal val="#ppt_x"/>
                                          </p:val>
                                        </p:tav>
                                      </p:tavLst>
                                    </p:anim>
                                    <p:anim calcmode="lin" valueType="num">
                                      <p:cBhvr additive="base">
                                        <p:cTn id="56" dur="600" fill="hold"/>
                                        <p:tgtEl>
                                          <p:spTgt spid="13"/>
                                        </p:tgtEl>
                                        <p:attrNameLst>
                                          <p:attrName>ppt_y</p:attrName>
                                        </p:attrNameLst>
                                      </p:cBhvr>
                                      <p:tavLst>
                                        <p:tav tm="0">
                                          <p:val>
                                            <p:strVal val="#ppt_y+0.08"/>
                                          </p:val>
                                        </p:tav>
                                        <p:tav tm="100000">
                                          <p:val>
                                            <p:strVal val="#ppt_y"/>
                                          </p:val>
                                        </p:tav>
                                      </p:tavLst>
                                    </p:anim>
                                  </p:childTnLst>
                                </p:cTn>
                              </p:par>
                              <p:par>
                                <p:cTn id="62" presetID="42" presetClass="entr" presetSubtype="0" fill="hold" grpId="0" nodeType="withEffect">
                                  <p:stCondLst>
                                    <p:cond delay="79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600"/>
                                        <p:tgtEl>
                                          <p:spTgt spid="14"/>
                                        </p:tgtEl>
                                      </p:cBhvr>
                                    </p:animEffect>
                                    <p:anim calcmode="lin" valueType="num">
                                      <p:cBhvr additive="base">
                                        <p:cTn id="60" dur="600" fill="hold"/>
                                        <p:tgtEl>
                                          <p:spTgt spid="14"/>
                                        </p:tgtEl>
                                        <p:attrNameLst>
                                          <p:attrName>ppt_x</p:attrName>
                                        </p:attrNameLst>
                                      </p:cBhvr>
                                      <p:tavLst>
                                        <p:tav tm="0">
                                          <p:val>
                                            <p:strVal val="#ppt_x"/>
                                          </p:val>
                                        </p:tav>
                                        <p:tav tm="100000">
                                          <p:val>
                                            <p:strVal val="#ppt_x"/>
                                          </p:val>
                                        </p:tav>
                                      </p:tavLst>
                                    </p:anim>
                                    <p:anim calcmode="lin" valueType="num">
                                      <p:cBhvr additive="base">
                                        <p:cTn id="61" dur="600" fill="hold"/>
                                        <p:tgtEl>
                                          <p:spTgt spid="14"/>
                                        </p:tgtEl>
                                        <p:attrNameLst>
                                          <p:attrName>ppt_y</p:attrName>
                                        </p:attrNameLst>
                                      </p:cBhvr>
                                      <p:tavLst>
                                        <p:tav tm="0">
                                          <p:val>
                                            <p:strVal val="#ppt_y+0.08"/>
                                          </p:val>
                                        </p:tav>
                                        <p:tav tm="100000">
                                          <p:val>
                                            <p:strVal val="#ppt_y"/>
                                          </p:val>
                                        </p:tav>
                                      </p:tavLst>
                                    </p:anim>
                                  </p:childTnLst>
                                </p:cTn>
                              </p:par>
                              <p:par>
                                <p:cTn id="67" presetID="42" presetClass="entr" presetSubtype="0" fill="hold" grpId="0" nodeType="withEffect">
                                  <p:stCondLst>
                                    <p:cond delay="86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600"/>
                                        <p:tgtEl>
                                          <p:spTgt spid="15"/>
                                        </p:tgtEl>
                                      </p:cBhvr>
                                    </p:animEffect>
                                    <p:anim calcmode="lin" valueType="num">
                                      <p:cBhvr additive="base">
                                        <p:cTn id="65" dur="600" fill="hold"/>
                                        <p:tgtEl>
                                          <p:spTgt spid="15"/>
                                        </p:tgtEl>
                                        <p:attrNameLst>
                                          <p:attrName>ppt_x</p:attrName>
                                        </p:attrNameLst>
                                      </p:cBhvr>
                                      <p:tavLst>
                                        <p:tav tm="0">
                                          <p:val>
                                            <p:strVal val="#ppt_x"/>
                                          </p:val>
                                        </p:tav>
                                        <p:tav tm="100000">
                                          <p:val>
                                            <p:strVal val="#ppt_x"/>
                                          </p:val>
                                        </p:tav>
                                      </p:tavLst>
                                    </p:anim>
                                    <p:anim calcmode="lin" valueType="num">
                                      <p:cBhvr additive="base">
                                        <p:cTn id="66" dur="600" fill="hold"/>
                                        <p:tgtEl>
                                          <p:spTgt spid="15"/>
                                        </p:tgtEl>
                                        <p:attrNameLst>
                                          <p:attrName>ppt_y</p:attrName>
                                        </p:attrNameLst>
                                      </p:cBhvr>
                                      <p:tavLst>
                                        <p:tav tm="0">
                                          <p:val>
                                            <p:strVal val="#ppt_y+0.08"/>
                                          </p:val>
                                        </p:tav>
                                        <p:tav tm="100000">
                                          <p:val>
                                            <p:strVal val="#ppt_y"/>
                                          </p:val>
                                        </p:tav>
                                      </p:tavLst>
                                    </p:anim>
                                  </p:childTnLst>
                                </p:cTn>
                              </p:par>
                              <p:par>
                                <p:cTn id="72" presetID="42" presetClass="entr" presetSubtype="0" fill="hold" grpId="0" nodeType="withEffect">
                                  <p:stCondLst>
                                    <p:cond delay="93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600"/>
                                        <p:tgtEl>
                                          <p:spTgt spid="16"/>
                                        </p:tgtEl>
                                      </p:cBhvr>
                                    </p:animEffect>
                                    <p:anim calcmode="lin" valueType="num">
                                      <p:cBhvr additive="base">
                                        <p:cTn id="70" dur="600" fill="hold"/>
                                        <p:tgtEl>
                                          <p:spTgt spid="16"/>
                                        </p:tgtEl>
                                        <p:attrNameLst>
                                          <p:attrName>ppt_x</p:attrName>
                                        </p:attrNameLst>
                                      </p:cBhvr>
                                      <p:tavLst>
                                        <p:tav tm="0">
                                          <p:val>
                                            <p:strVal val="#ppt_x"/>
                                          </p:val>
                                        </p:tav>
                                        <p:tav tm="100000">
                                          <p:val>
                                            <p:strVal val="#ppt_x"/>
                                          </p:val>
                                        </p:tav>
                                      </p:tavLst>
                                    </p:anim>
                                    <p:anim calcmode="lin" valueType="num">
                                      <p:cBhvr additive="base">
                                        <p:cTn id="71" dur="600" fill="hold"/>
                                        <p:tgtEl>
                                          <p:spTgt spid="16"/>
                                        </p:tgtEl>
                                        <p:attrNameLst>
                                          <p:attrName>ppt_y</p:attrName>
                                        </p:attrNameLst>
                                      </p:cBhvr>
                                      <p:tavLst>
                                        <p:tav tm="0">
                                          <p:val>
                                            <p:strVal val="#ppt_y+0.08"/>
                                          </p:val>
                                        </p:tav>
                                        <p:tav tm="100000">
                                          <p:val>
                                            <p:strVal val="#ppt_y"/>
                                          </p:val>
                                        </p:tav>
                                      </p:tavLst>
                                    </p:anim>
                                  </p:childTnLst>
                                </p:cTn>
                              </p:par>
                              <p:par>
                                <p:cTn id="77" presetID="42" presetClass="entr" presetSubtype="0" fill="hold" grpId="0" nodeType="withEffect">
                                  <p:stCondLst>
                                    <p:cond delay="100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600"/>
                                        <p:tgtEl>
                                          <p:spTgt spid="17"/>
                                        </p:tgtEl>
                                      </p:cBhvr>
                                    </p:animEffect>
                                    <p:anim calcmode="lin" valueType="num">
                                      <p:cBhvr additive="base">
                                        <p:cTn id="75" dur="600" fill="hold"/>
                                        <p:tgtEl>
                                          <p:spTgt spid="17"/>
                                        </p:tgtEl>
                                        <p:attrNameLst>
                                          <p:attrName>ppt_x</p:attrName>
                                        </p:attrNameLst>
                                      </p:cBhvr>
                                      <p:tavLst>
                                        <p:tav tm="0">
                                          <p:val>
                                            <p:strVal val="#ppt_x"/>
                                          </p:val>
                                        </p:tav>
                                        <p:tav tm="100000">
                                          <p:val>
                                            <p:strVal val="#ppt_x"/>
                                          </p:val>
                                        </p:tav>
                                      </p:tavLst>
                                    </p:anim>
                                    <p:anim calcmode="lin" valueType="num">
                                      <p:cBhvr additive="base">
                                        <p:cTn id="76" dur="600" fill="hold"/>
                                        <p:tgtEl>
                                          <p:spTgt spid="17"/>
                                        </p:tgtEl>
                                        <p:attrNameLst>
                                          <p:attrName>ppt_y</p:attrName>
                                        </p:attrNameLst>
                                      </p:cBhvr>
                                      <p:tavLst>
                                        <p:tav tm="0">
                                          <p:val>
                                            <p:strVal val="#ppt_y+0.08"/>
                                          </p:val>
                                        </p:tav>
                                        <p:tav tm="100000">
                                          <p:val>
                                            <p:strVal val="#ppt_y"/>
                                          </p:val>
                                        </p:tav>
                                      </p:tavLst>
                                    </p:anim>
                                  </p:childTnLst>
                                </p:cTn>
                              </p:par>
                              <p:par>
                                <p:cTn id="82" presetID="42" presetClass="entr" presetSubtype="0" fill="hold" grpId="0" nodeType="withEffect">
                                  <p:stCondLst>
                                    <p:cond delay="108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600"/>
                                        <p:tgtEl>
                                          <p:spTgt spid="18"/>
                                        </p:tgtEl>
                                      </p:cBhvr>
                                    </p:animEffect>
                                    <p:anim calcmode="lin" valueType="num">
                                      <p:cBhvr additive="base">
                                        <p:cTn id="80" dur="600" fill="hold"/>
                                        <p:tgtEl>
                                          <p:spTgt spid="18"/>
                                        </p:tgtEl>
                                        <p:attrNameLst>
                                          <p:attrName>ppt_x</p:attrName>
                                        </p:attrNameLst>
                                      </p:cBhvr>
                                      <p:tavLst>
                                        <p:tav tm="0">
                                          <p:val>
                                            <p:strVal val="#ppt_x"/>
                                          </p:val>
                                        </p:tav>
                                        <p:tav tm="100000">
                                          <p:val>
                                            <p:strVal val="#ppt_x"/>
                                          </p:val>
                                        </p:tav>
                                      </p:tavLst>
                                    </p:anim>
                                    <p:anim calcmode="lin" valueType="num">
                                      <p:cBhvr additive="base">
                                        <p:cTn id="81" dur="600" fill="hold"/>
                                        <p:tgtEl>
                                          <p:spTgt spid="18"/>
                                        </p:tgtEl>
                                        <p:attrNameLst>
                                          <p:attrName>ppt_y</p:attrName>
                                        </p:attrNameLst>
                                      </p:cBhvr>
                                      <p:tavLst>
                                        <p:tav tm="0">
                                          <p:val>
                                            <p:strVal val="#ppt_y+0.08"/>
                                          </p:val>
                                        </p:tav>
                                        <p:tav tm="100000">
                                          <p:val>
                                            <p:strVal val="#ppt_y"/>
                                          </p:val>
                                        </p:tav>
                                      </p:tavLst>
                                    </p:anim>
                                  </p:childTnLst>
                                </p:cTn>
                              </p:par>
                              <p:par>
                                <p:cTn id="87" presetID="42" presetClass="entr" presetSubtype="0" fill="hold" grpId="0" nodeType="withEffect">
                                  <p:stCondLst>
                                    <p:cond delay="115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600"/>
                                        <p:tgtEl>
                                          <p:spTgt spid="19"/>
                                        </p:tgtEl>
                                      </p:cBhvr>
                                    </p:animEffect>
                                    <p:anim calcmode="lin" valueType="num">
                                      <p:cBhvr additive="base">
                                        <p:cTn id="85" dur="600" fill="hold"/>
                                        <p:tgtEl>
                                          <p:spTgt spid="19"/>
                                        </p:tgtEl>
                                        <p:attrNameLst>
                                          <p:attrName>ppt_x</p:attrName>
                                        </p:attrNameLst>
                                      </p:cBhvr>
                                      <p:tavLst>
                                        <p:tav tm="0">
                                          <p:val>
                                            <p:strVal val="#ppt_x"/>
                                          </p:val>
                                        </p:tav>
                                        <p:tav tm="100000">
                                          <p:val>
                                            <p:strVal val="#ppt_x"/>
                                          </p:val>
                                        </p:tav>
                                      </p:tavLst>
                                    </p:anim>
                                    <p:anim calcmode="lin" valueType="num">
                                      <p:cBhvr additive="base">
                                        <p:cTn id="86" dur="600" fill="hold"/>
                                        <p:tgtEl>
                                          <p:spTgt spid="19"/>
                                        </p:tgtEl>
                                        <p:attrNameLst>
                                          <p:attrName>ppt_y</p:attrName>
                                        </p:attrNameLst>
                                      </p:cBhvr>
                                      <p:tavLst>
                                        <p:tav tm="0">
                                          <p:val>
                                            <p:strVal val="#ppt_y+0.08"/>
                                          </p:val>
                                        </p:tav>
                                        <p:tav tm="100000">
                                          <p:val>
                                            <p:strVal val="#ppt_y"/>
                                          </p:val>
                                        </p:tav>
                                      </p:tavLst>
                                    </p:anim>
                                  </p:childTnLst>
                                </p:cTn>
                              </p:par>
                              <p:par>
                                <p:cTn id="92" presetID="42" presetClass="entr" presetSubtype="0" fill="hold" grpId="0" nodeType="withEffect">
                                  <p:stCondLst>
                                    <p:cond delay="1220"/>
                                  </p:stCondLst>
                                  <p:childTnLst>
                                    <p:set>
                                      <p:cBhvr>
                                        <p:cTn id="88" dur="1" fill="hold">
                                          <p:stCondLst>
                                            <p:cond delay="0"/>
                                          </p:stCondLst>
                                        </p:cTn>
                                        <p:tgtEl>
                                          <p:spTgt spid="20"/>
                                        </p:tgtEl>
                                        <p:attrNameLst>
                                          <p:attrName>style.visibility</p:attrName>
                                        </p:attrNameLst>
                                      </p:cBhvr>
                                      <p:to>
                                        <p:strVal val="visible"/>
                                      </p:to>
                                    </p:set>
                                    <p:animEffect transition="in" filter="fade">
                                      <p:cBhvr>
                                        <p:cTn id="89" dur="600"/>
                                        <p:tgtEl>
                                          <p:spTgt spid="20"/>
                                        </p:tgtEl>
                                      </p:cBhvr>
                                    </p:animEffect>
                                    <p:anim calcmode="lin" valueType="num">
                                      <p:cBhvr additive="base">
                                        <p:cTn id="90" dur="600" fill="hold"/>
                                        <p:tgtEl>
                                          <p:spTgt spid="20"/>
                                        </p:tgtEl>
                                        <p:attrNameLst>
                                          <p:attrName>ppt_x</p:attrName>
                                        </p:attrNameLst>
                                      </p:cBhvr>
                                      <p:tavLst>
                                        <p:tav tm="0">
                                          <p:val>
                                            <p:strVal val="#ppt_x"/>
                                          </p:val>
                                        </p:tav>
                                        <p:tav tm="100000">
                                          <p:val>
                                            <p:strVal val="#ppt_x"/>
                                          </p:val>
                                        </p:tav>
                                      </p:tavLst>
                                    </p:anim>
                                    <p:anim calcmode="lin" valueType="num">
                                      <p:cBhvr additive="base">
                                        <p:cTn id="91" dur="600" fill="hold"/>
                                        <p:tgtEl>
                                          <p:spTgt spid="20"/>
                                        </p:tgtEl>
                                        <p:attrNameLst>
                                          <p:attrName>ppt_y</p:attrName>
                                        </p:attrNameLst>
                                      </p:cBhvr>
                                      <p:tavLst>
                                        <p:tav tm="0">
                                          <p:val>
                                            <p:strVal val="#ppt_y+0.08"/>
                                          </p:val>
                                        </p:tav>
                                        <p:tav tm="100000">
                                          <p:val>
                                            <p:strVal val="#ppt_y"/>
                                          </p:val>
                                        </p:tav>
                                      </p:tavLst>
                                    </p:anim>
                                  </p:childTnLst>
                                </p:cTn>
                              </p:par>
                              <p:par>
                                <p:cTn id="97" presetID="42" presetClass="entr" presetSubtype="0" fill="hold" grpId="0" nodeType="withEffect">
                                  <p:stCondLst>
                                    <p:cond delay="129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600"/>
                                        <p:tgtEl>
                                          <p:spTgt spid="21"/>
                                        </p:tgtEl>
                                      </p:cBhvr>
                                    </p:animEffect>
                                    <p:anim calcmode="lin" valueType="num">
                                      <p:cBhvr additive="base">
                                        <p:cTn id="95" dur="600" fill="hold"/>
                                        <p:tgtEl>
                                          <p:spTgt spid="21"/>
                                        </p:tgtEl>
                                        <p:attrNameLst>
                                          <p:attrName>ppt_x</p:attrName>
                                        </p:attrNameLst>
                                      </p:cBhvr>
                                      <p:tavLst>
                                        <p:tav tm="0">
                                          <p:val>
                                            <p:strVal val="#ppt_x"/>
                                          </p:val>
                                        </p:tav>
                                        <p:tav tm="100000">
                                          <p:val>
                                            <p:strVal val="#ppt_x"/>
                                          </p:val>
                                        </p:tav>
                                      </p:tavLst>
                                    </p:anim>
                                    <p:anim calcmode="lin" valueType="num">
                                      <p:cBhvr additive="base">
                                        <p:cTn id="96" dur="600" fill="hold"/>
                                        <p:tgtEl>
                                          <p:spTgt spid="21"/>
                                        </p:tgtEl>
                                        <p:attrNameLst>
                                          <p:attrName>ppt_y</p:attrName>
                                        </p:attrNameLst>
                                      </p:cBhvr>
                                      <p:tavLst>
                                        <p:tav tm="0">
                                          <p:val>
                                            <p:strVal val="#ppt_y+0.08"/>
                                          </p:val>
                                        </p:tav>
                                        <p:tav tm="100000">
                                          <p:val>
                                            <p:strVal val="#ppt_y"/>
                                          </p:val>
                                        </p:tav>
                                      </p:tavLst>
                                    </p:anim>
                                  </p:childTnLst>
                                </p:cTn>
                              </p:par>
                              <p:par>
                                <p:cTn id="102" presetID="42" presetClass="entr" presetSubtype="0" fill="hold" grpId="0" nodeType="withEffect">
                                  <p:stCondLst>
                                    <p:cond delay="1360"/>
                                  </p:stCondLst>
                                  <p:childTnLst>
                                    <p:set>
                                      <p:cBhvr>
                                        <p:cTn id="98" dur="1" fill="hold">
                                          <p:stCondLst>
                                            <p:cond delay="0"/>
                                          </p:stCondLst>
                                        </p:cTn>
                                        <p:tgtEl>
                                          <p:spTgt spid="22"/>
                                        </p:tgtEl>
                                        <p:attrNameLst>
                                          <p:attrName>style.visibility</p:attrName>
                                        </p:attrNameLst>
                                      </p:cBhvr>
                                      <p:to>
                                        <p:strVal val="visible"/>
                                      </p:to>
                                    </p:set>
                                    <p:animEffect transition="in" filter="fade">
                                      <p:cBhvr>
                                        <p:cTn id="99" dur="600"/>
                                        <p:tgtEl>
                                          <p:spTgt spid="22"/>
                                        </p:tgtEl>
                                      </p:cBhvr>
                                    </p:animEffect>
                                    <p:anim calcmode="lin" valueType="num">
                                      <p:cBhvr additive="base">
                                        <p:cTn id="100" dur="600" fill="hold"/>
                                        <p:tgtEl>
                                          <p:spTgt spid="22"/>
                                        </p:tgtEl>
                                        <p:attrNameLst>
                                          <p:attrName>ppt_x</p:attrName>
                                        </p:attrNameLst>
                                      </p:cBhvr>
                                      <p:tavLst>
                                        <p:tav tm="0">
                                          <p:val>
                                            <p:strVal val="#ppt_x"/>
                                          </p:val>
                                        </p:tav>
                                        <p:tav tm="100000">
                                          <p:val>
                                            <p:strVal val="#ppt_x"/>
                                          </p:val>
                                        </p:tav>
                                      </p:tavLst>
                                    </p:anim>
                                    <p:anim calcmode="lin" valueType="num">
                                      <p:cBhvr additive="base">
                                        <p:cTn id="101" dur="600" fill="hold"/>
                                        <p:tgtEl>
                                          <p:spTgt spid="22"/>
                                        </p:tgtEl>
                                        <p:attrNameLst>
                                          <p:attrName>ppt_y</p:attrName>
                                        </p:attrNameLst>
                                      </p:cBhvr>
                                      <p:tavLst>
                                        <p:tav tm="0">
                                          <p:val>
                                            <p:strVal val="#ppt_y+0.08"/>
                                          </p:val>
                                        </p:tav>
                                        <p:tav tm="100000">
                                          <p:val>
                                            <p:strVal val="#ppt_y"/>
                                          </p:val>
                                        </p:tav>
                                      </p:tavLst>
                                    </p:anim>
                                  </p:childTnLst>
                                </p:cTn>
                              </p:par>
                              <p:par>
                                <p:cTn id="107" presetID="42" presetClass="entr" presetSubtype="0" fill="hold" grpId="0" nodeType="withEffect">
                                  <p:stCondLst>
                                    <p:cond delay="1440"/>
                                  </p:stCondLst>
                                  <p:childTnLst>
                                    <p:set>
                                      <p:cBhvr>
                                        <p:cTn id="103" dur="1" fill="hold">
                                          <p:stCondLst>
                                            <p:cond delay="0"/>
                                          </p:stCondLst>
                                        </p:cTn>
                                        <p:tgtEl>
                                          <p:spTgt spid="23"/>
                                        </p:tgtEl>
                                        <p:attrNameLst>
                                          <p:attrName>style.visibility</p:attrName>
                                        </p:attrNameLst>
                                      </p:cBhvr>
                                      <p:to>
                                        <p:strVal val="visible"/>
                                      </p:to>
                                    </p:set>
                                    <p:animEffect transition="in" filter="fade">
                                      <p:cBhvr>
                                        <p:cTn id="104" dur="600"/>
                                        <p:tgtEl>
                                          <p:spTgt spid="23"/>
                                        </p:tgtEl>
                                      </p:cBhvr>
                                    </p:animEffect>
                                    <p:anim calcmode="lin" valueType="num">
                                      <p:cBhvr additive="base">
                                        <p:cTn id="105" dur="600" fill="hold"/>
                                        <p:tgtEl>
                                          <p:spTgt spid="23"/>
                                        </p:tgtEl>
                                        <p:attrNameLst>
                                          <p:attrName>ppt_x</p:attrName>
                                        </p:attrNameLst>
                                      </p:cBhvr>
                                      <p:tavLst>
                                        <p:tav tm="0">
                                          <p:val>
                                            <p:strVal val="#ppt_x"/>
                                          </p:val>
                                        </p:tav>
                                        <p:tav tm="100000">
                                          <p:val>
                                            <p:strVal val="#ppt_x"/>
                                          </p:val>
                                        </p:tav>
                                      </p:tavLst>
                                    </p:anim>
                                    <p:anim calcmode="lin" valueType="num">
                                      <p:cBhvr additive="base">
                                        <p:cTn id="106" dur="600" fill="hold"/>
                                        <p:tgtEl>
                                          <p:spTgt spid="23"/>
                                        </p:tgtEl>
                                        <p:attrNameLst>
                                          <p:attrName>ppt_y</p:attrName>
                                        </p:attrNameLst>
                                      </p:cBhvr>
                                      <p:tavLst>
                                        <p:tav tm="0">
                                          <p:val>
                                            <p:strVal val="#ppt_y+0.08"/>
                                          </p:val>
                                        </p:tav>
                                        <p:tav tm="100000">
                                          <p:val>
                                            <p:strVal val="#ppt_y"/>
                                          </p:val>
                                        </p:tav>
                                      </p:tavLst>
                                    </p:anim>
                                  </p:childTnLst>
                                </p:cTn>
                              </p:par>
                              <p:par>
                                <p:cTn id="112" presetID="42" presetClass="entr" presetSubtype="0" fill="hold" grpId="0" nodeType="withEffect">
                                  <p:stCondLst>
                                    <p:cond delay="1510"/>
                                  </p:stCondLst>
                                  <p:childTnLst>
                                    <p:set>
                                      <p:cBhvr>
                                        <p:cTn id="108" dur="1" fill="hold">
                                          <p:stCondLst>
                                            <p:cond delay="0"/>
                                          </p:stCondLst>
                                        </p:cTn>
                                        <p:tgtEl>
                                          <p:spTgt spid="24"/>
                                        </p:tgtEl>
                                        <p:attrNameLst>
                                          <p:attrName>style.visibility</p:attrName>
                                        </p:attrNameLst>
                                      </p:cBhvr>
                                      <p:to>
                                        <p:strVal val="visible"/>
                                      </p:to>
                                    </p:set>
                                    <p:animEffect transition="in" filter="fade">
                                      <p:cBhvr>
                                        <p:cTn id="109" dur="600"/>
                                        <p:tgtEl>
                                          <p:spTgt spid="24"/>
                                        </p:tgtEl>
                                      </p:cBhvr>
                                    </p:animEffect>
                                    <p:anim calcmode="lin" valueType="num">
                                      <p:cBhvr additive="base">
                                        <p:cTn id="110" dur="600" fill="hold"/>
                                        <p:tgtEl>
                                          <p:spTgt spid="24"/>
                                        </p:tgtEl>
                                        <p:attrNameLst>
                                          <p:attrName>ppt_x</p:attrName>
                                        </p:attrNameLst>
                                      </p:cBhvr>
                                      <p:tavLst>
                                        <p:tav tm="0">
                                          <p:val>
                                            <p:strVal val="#ppt_x"/>
                                          </p:val>
                                        </p:tav>
                                        <p:tav tm="100000">
                                          <p:val>
                                            <p:strVal val="#ppt_x"/>
                                          </p:val>
                                        </p:tav>
                                      </p:tavLst>
                                    </p:anim>
                                    <p:anim calcmode="lin" valueType="num">
                                      <p:cBhvr additive="base">
                                        <p:cTn id="111" dur="600" fill="hold"/>
                                        <p:tgtEl>
                                          <p:spTgt spid="24"/>
                                        </p:tgtEl>
                                        <p:attrNameLst>
                                          <p:attrName>ppt_y</p:attrName>
                                        </p:attrNameLst>
                                      </p:cBhvr>
                                      <p:tavLst>
                                        <p:tav tm="0">
                                          <p:val>
                                            <p:strVal val="#ppt_y+0.08"/>
                                          </p:val>
                                        </p:tav>
                                        <p:tav tm="100000">
                                          <p:val>
                                            <p:strVal val="#ppt_y"/>
                                          </p:val>
                                        </p:tav>
                                      </p:tavLst>
                                    </p:anim>
                                  </p:childTnLst>
                                </p:cTn>
                              </p:par>
                              <p:par>
                                <p:cTn id="117" presetID="42" presetClass="entr" presetSubtype="0" fill="hold" grpId="0" nodeType="withEffect">
                                  <p:stCondLst>
                                    <p:cond delay="1580"/>
                                  </p:stCondLst>
                                  <p:childTnLst>
                                    <p:set>
                                      <p:cBhvr>
                                        <p:cTn id="113" dur="1" fill="hold">
                                          <p:stCondLst>
                                            <p:cond delay="0"/>
                                          </p:stCondLst>
                                        </p:cTn>
                                        <p:tgtEl>
                                          <p:spTgt spid="25"/>
                                        </p:tgtEl>
                                        <p:attrNameLst>
                                          <p:attrName>style.visibility</p:attrName>
                                        </p:attrNameLst>
                                      </p:cBhvr>
                                      <p:to>
                                        <p:strVal val="visible"/>
                                      </p:to>
                                    </p:set>
                                    <p:animEffect transition="in" filter="fade">
                                      <p:cBhvr>
                                        <p:cTn id="114" dur="600"/>
                                        <p:tgtEl>
                                          <p:spTgt spid="25"/>
                                        </p:tgtEl>
                                      </p:cBhvr>
                                    </p:animEffect>
                                    <p:anim calcmode="lin" valueType="num">
                                      <p:cBhvr additive="base">
                                        <p:cTn id="115" dur="600" fill="hold"/>
                                        <p:tgtEl>
                                          <p:spTgt spid="25"/>
                                        </p:tgtEl>
                                        <p:attrNameLst>
                                          <p:attrName>ppt_x</p:attrName>
                                        </p:attrNameLst>
                                      </p:cBhvr>
                                      <p:tavLst>
                                        <p:tav tm="0">
                                          <p:val>
                                            <p:strVal val="#ppt_x"/>
                                          </p:val>
                                        </p:tav>
                                        <p:tav tm="100000">
                                          <p:val>
                                            <p:strVal val="#ppt_x"/>
                                          </p:val>
                                        </p:tav>
                                      </p:tavLst>
                                    </p:anim>
                                    <p:anim calcmode="lin" valueType="num">
                                      <p:cBhvr additive="base">
                                        <p:cTn id="116" dur="600" fill="hold"/>
                                        <p:tgtEl>
                                          <p:spTgt spid="25"/>
                                        </p:tgtEl>
                                        <p:attrNameLst>
                                          <p:attrName>ppt_y</p:attrName>
                                        </p:attrNameLst>
                                      </p:cBhvr>
                                      <p:tavLst>
                                        <p:tav tm="0">
                                          <p:val>
                                            <p:strVal val="#ppt_y+0.08"/>
                                          </p:val>
                                        </p:tav>
                                        <p:tav tm="100000">
                                          <p:val>
                                            <p:strVal val="#ppt_y"/>
                                          </p:val>
                                        </p:tav>
                                      </p:tavLst>
                                    </p:anim>
                                  </p:childTnLst>
                                </p:cTn>
                              </p:par>
                              <p:par>
                                <p:cTn id="122" presetID="42" presetClass="entr" presetSubtype="0" fill="hold" grpId="0" nodeType="withEffect">
                                  <p:stCondLst>
                                    <p:cond delay="1650"/>
                                  </p:stCondLst>
                                  <p:childTnLst>
                                    <p:set>
                                      <p:cBhvr>
                                        <p:cTn id="118" dur="1" fill="hold">
                                          <p:stCondLst>
                                            <p:cond delay="0"/>
                                          </p:stCondLst>
                                        </p:cTn>
                                        <p:tgtEl>
                                          <p:spTgt spid="26"/>
                                        </p:tgtEl>
                                        <p:attrNameLst>
                                          <p:attrName>style.visibility</p:attrName>
                                        </p:attrNameLst>
                                      </p:cBhvr>
                                      <p:to>
                                        <p:strVal val="visible"/>
                                      </p:to>
                                    </p:set>
                                    <p:animEffect transition="in" filter="fade">
                                      <p:cBhvr>
                                        <p:cTn id="119" dur="600"/>
                                        <p:tgtEl>
                                          <p:spTgt spid="26"/>
                                        </p:tgtEl>
                                      </p:cBhvr>
                                    </p:animEffect>
                                    <p:anim calcmode="lin" valueType="num">
                                      <p:cBhvr additive="base">
                                        <p:cTn id="120" dur="600" fill="hold"/>
                                        <p:tgtEl>
                                          <p:spTgt spid="26"/>
                                        </p:tgtEl>
                                        <p:attrNameLst>
                                          <p:attrName>ppt_x</p:attrName>
                                        </p:attrNameLst>
                                      </p:cBhvr>
                                      <p:tavLst>
                                        <p:tav tm="0">
                                          <p:val>
                                            <p:strVal val="#ppt_x"/>
                                          </p:val>
                                        </p:tav>
                                        <p:tav tm="100000">
                                          <p:val>
                                            <p:strVal val="#ppt_x"/>
                                          </p:val>
                                        </p:tav>
                                      </p:tavLst>
                                    </p:anim>
                                    <p:anim calcmode="lin" valueType="num">
                                      <p:cBhvr additive="base">
                                        <p:cTn id="121" dur="600" fill="hold"/>
                                        <p:tgtEl>
                                          <p:spTgt spid="26"/>
                                        </p:tgtEl>
                                        <p:attrNameLst>
                                          <p:attrName>ppt_y</p:attrName>
                                        </p:attrNameLst>
                                      </p:cBhvr>
                                      <p:tavLst>
                                        <p:tav tm="0">
                                          <p:val>
                                            <p:strVal val="#ppt_y+0.08"/>
                                          </p:val>
                                        </p:tav>
                                        <p:tav tm="100000">
                                          <p:val>
                                            <p:strVal val="#ppt_y"/>
                                          </p:val>
                                        </p:tav>
                                      </p:tavLst>
                                    </p:anim>
                                  </p:childTnLst>
                                </p:cTn>
                              </p:par>
                              <p:par>
                                <p:cTn id="127" presetID="42" presetClass="entr" presetSubtype="0" fill="hold" grpId="0" nodeType="withEffect">
                                  <p:stCondLst>
                                    <p:cond delay="1720"/>
                                  </p:stCondLst>
                                  <p:childTnLst>
                                    <p:set>
                                      <p:cBhvr>
                                        <p:cTn id="123" dur="1" fill="hold">
                                          <p:stCondLst>
                                            <p:cond delay="0"/>
                                          </p:stCondLst>
                                        </p:cTn>
                                        <p:tgtEl>
                                          <p:spTgt spid="27"/>
                                        </p:tgtEl>
                                        <p:attrNameLst>
                                          <p:attrName>style.visibility</p:attrName>
                                        </p:attrNameLst>
                                      </p:cBhvr>
                                      <p:to>
                                        <p:strVal val="visible"/>
                                      </p:to>
                                    </p:set>
                                    <p:animEffect transition="in" filter="fade">
                                      <p:cBhvr>
                                        <p:cTn id="124" dur="600"/>
                                        <p:tgtEl>
                                          <p:spTgt spid="27"/>
                                        </p:tgtEl>
                                      </p:cBhvr>
                                    </p:animEffect>
                                    <p:anim calcmode="lin" valueType="num">
                                      <p:cBhvr additive="base">
                                        <p:cTn id="125" dur="600" fill="hold"/>
                                        <p:tgtEl>
                                          <p:spTgt spid="27"/>
                                        </p:tgtEl>
                                        <p:attrNameLst>
                                          <p:attrName>ppt_x</p:attrName>
                                        </p:attrNameLst>
                                      </p:cBhvr>
                                      <p:tavLst>
                                        <p:tav tm="0">
                                          <p:val>
                                            <p:strVal val="#ppt_x"/>
                                          </p:val>
                                        </p:tav>
                                        <p:tav tm="100000">
                                          <p:val>
                                            <p:strVal val="#ppt_x"/>
                                          </p:val>
                                        </p:tav>
                                      </p:tavLst>
                                    </p:anim>
                                    <p:anim calcmode="lin" valueType="num">
                                      <p:cBhvr additive="base">
                                        <p:cTn id="126" dur="600" fill="hold"/>
                                        <p:tgtEl>
                                          <p:spTgt spid="27"/>
                                        </p:tgtEl>
                                        <p:attrNameLst>
                                          <p:attrName>ppt_y</p:attrName>
                                        </p:attrNameLst>
                                      </p:cBhvr>
                                      <p:tavLst>
                                        <p:tav tm="0">
                                          <p:val>
                                            <p:strVal val="#ppt_y+0.08"/>
                                          </p:val>
                                        </p:tav>
                                        <p:tav tm="100000">
                                          <p:val>
                                            <p:strVal val="#ppt_y"/>
                                          </p:val>
                                        </p:tav>
                                      </p:tavLst>
                                    </p:anim>
                                  </p:childTnLst>
                                </p:cTn>
                              </p:par>
                              <p:par>
                                <p:cTn id="130" presetID="10" presetClass="entr" presetSubtype="0" fill="hold" grpId="0" nodeType="withEffect">
                                  <p:stCondLst>
                                    <p:cond delay="1800"/>
                                  </p:stCondLst>
                                  <p:childTnLst>
                                    <p:set>
                                      <p:cBhvr>
                                        <p:cTn id="128" dur="1" fill="hold">
                                          <p:stCondLst>
                                            <p:cond delay="0"/>
                                          </p:stCondLst>
                                        </p:cTn>
                                        <p:tgtEl>
                                          <p:spTgt spid="28"/>
                                        </p:tgtEl>
                                        <p:attrNameLst>
                                          <p:attrName>style.visibility</p:attrName>
                                        </p:attrNameLst>
                                      </p:cBhvr>
                                      <p:to>
                                        <p:strVal val="visible"/>
                                      </p:to>
                                    </p:set>
                                    <p:animEffect transition="in" filter="fade">
                                      <p:cBhvr>
                                        <p:cTn id="129" dur="7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424160" cy="777240"/>
          </a:xfrm>
          <a:prstGeom prst="rect">
            <a:avLst/>
          </a:prstGeom>
          <a:noFill/>
          <a:ln/>
        </p:spPr>
        <p:txBody>
          <a:bodyPr wrap="square" lIns="0" tIns="0" rIns="0" bIns="0" rtlCol="0" anchor="ctr"/>
          <a:lstStyle/>
          <a:p>
            <a:pPr algn="l" indent="0" marL="0">
              <a:buNone/>
            </a:pPr>
            <a:r>
              <a:rPr lang="en-US" sz="3200" b="1" dirty="0">
                <a:solidFill>
                  <a:schemeClr val="tx2"/>
                </a:solidFill>
              </a:rPr>
              <a:t>How an order becomes a paid bill</a:t>
            </a:r>
            <a:endParaRPr lang="en-US" sz="3200" dirty="0"/>
          </a:p>
        </p:txBody>
      </p:sp>
      <p:sp>
        <p:nvSpPr>
          <p:cNvPr id="3" name="A01-rise-sc0-bg"/>
          <p:cNvSpPr/>
          <p:nvPr/>
        </p:nvSpPr>
        <p:spPr>
          <a:xfrm>
            <a:off x="1078992" y="1828800"/>
            <a:ext cx="914400" cy="914400"/>
          </a:xfrm>
          <a:prstGeom prst="ellipse">
            <a:avLst/>
          </a:prstGeom>
          <a:solidFill>
            <a:schemeClr val="accent1"/>
          </a:solidFill>
          <a:ln w="12700">
            <a:solidFill>
              <a:schemeClr val="accent1"/>
            </a:solidFill>
            <a:prstDash val="solid"/>
          </a:ln>
        </p:spPr>
      </p:sp>
      <p:pic>
        <p:nvPicPr>
          <p:cNvPr id="4" name="A01-rise-sc0-ic" descr="preencoded.png">    </p:cNvPr>
          <p:cNvPicPr>
            <a:picLocks noChangeAspect="1"/>
          </p:cNvPicPr>
          <p:nvPr/>
        </p:nvPicPr>
        <p:blipFill>
          <a:blip r:embed="rId1"/>
          <a:stretch>
            <a:fillRect/>
          </a:stretch>
        </p:blipFill>
        <p:spPr>
          <a:xfrm>
            <a:off x="1307592" y="2057400"/>
            <a:ext cx="457200" cy="457200"/>
          </a:xfrm>
          <a:prstGeom prst="rect">
            <a:avLst/>
          </a:prstGeom>
        </p:spPr>
      </p:pic>
      <p:sp>
        <p:nvSpPr>
          <p:cNvPr id="5" name="A01-rise-n0"/>
          <p:cNvSpPr txBox="1"/>
          <p:nvPr/>
        </p:nvSpPr>
        <p:spPr>
          <a:xfrm>
            <a:off x="548640" y="2926080"/>
            <a:ext cx="1965960" cy="365760"/>
          </a:xfrm>
          <a:prstGeom prst="rect">
            <a:avLst/>
          </a:prstGeom>
          <a:noFill/>
          <a:ln/>
        </p:spPr>
        <p:txBody>
          <a:bodyPr wrap="square" lIns="0" tIns="0" rIns="0" bIns="0" rtlCol="0" anchor="t"/>
          <a:lstStyle/>
          <a:p>
            <a:pPr algn="ctr" indent="0" marL="0">
              <a:buNone/>
            </a:pPr>
            <a:r>
              <a:rPr lang="en-US" sz="1400" b="1" dirty="0">
                <a:solidFill>
                  <a:schemeClr val="accent3"/>
                </a:solidFill>
              </a:rPr>
              <a:t>01</a:t>
            </a:r>
            <a:endParaRPr lang="en-US" sz="1400" dirty="0"/>
          </a:p>
        </p:txBody>
      </p:sp>
      <p:sp>
        <p:nvSpPr>
          <p:cNvPr id="6" name="A01-rise-h0"/>
          <p:cNvSpPr txBox="1"/>
          <p:nvPr/>
        </p:nvSpPr>
        <p:spPr>
          <a:xfrm>
            <a:off x="548640" y="3291840"/>
            <a:ext cx="1965960" cy="411480"/>
          </a:xfrm>
          <a:prstGeom prst="rect">
            <a:avLst/>
          </a:prstGeom>
          <a:noFill/>
          <a:ln/>
        </p:spPr>
        <p:txBody>
          <a:bodyPr wrap="square" lIns="0" tIns="0" rIns="0" bIns="0" rtlCol="0" anchor="t"/>
          <a:lstStyle/>
          <a:p>
            <a:pPr algn="ctr" indent="0" marL="0">
              <a:buNone/>
            </a:pPr>
            <a:r>
              <a:rPr lang="en-US" sz="1900" b="1" dirty="0">
                <a:solidFill>
                  <a:schemeClr val="tx2"/>
                </a:solidFill>
              </a:rPr>
              <a:t>Order placed</a:t>
            </a:r>
            <a:endParaRPr lang="en-US" sz="1900" dirty="0"/>
          </a:p>
        </p:txBody>
      </p:sp>
      <p:sp>
        <p:nvSpPr>
          <p:cNvPr id="7" name="A01-rise-d0"/>
          <p:cNvSpPr txBox="1"/>
          <p:nvPr/>
        </p:nvSpPr>
        <p:spPr>
          <a:xfrm>
            <a:off x="594360" y="3749040"/>
            <a:ext cx="1874520" cy="731520"/>
          </a:xfrm>
          <a:prstGeom prst="rect">
            <a:avLst/>
          </a:prstGeom>
          <a:noFill/>
          <a:ln/>
        </p:spPr>
        <p:txBody>
          <a:bodyPr wrap="square" lIns="0" tIns="0" rIns="0" bIns="0" rtlCol="0" anchor="t"/>
          <a:lstStyle/>
          <a:p>
            <a:pPr algn="ctr" indent="0" marL="0">
              <a:buNone/>
            </a:pPr>
            <a:r>
              <a:rPr lang="en-US" sz="1300" dirty="0">
                <a:solidFill>
                  <a:srgbClr val="475569"/>
                </a:solidFill>
              </a:rPr>
              <a:t>Retail shop or customer online</a:t>
            </a:r>
            <a:endParaRPr lang="en-US" sz="1300" dirty="0"/>
          </a:p>
        </p:txBody>
      </p:sp>
      <p:sp>
        <p:nvSpPr>
          <p:cNvPr id="8" name="A01-rise-pill0"/>
          <p:cNvSpPr/>
          <p:nvPr/>
        </p:nvSpPr>
        <p:spPr>
          <a:xfrm>
            <a:off x="685800" y="4617720"/>
            <a:ext cx="1691640" cy="411480"/>
          </a:xfrm>
          <a:prstGeom prst="roundRect">
            <a:avLst>
              <a:gd name="adj" fmla="val 48889"/>
            </a:avLst>
          </a:prstGeom>
          <a:solidFill>
            <a:srgbClr val="E0F2FE"/>
          </a:solidFill>
          <a:ln w="9525">
            <a:solidFill>
              <a:srgbClr val="BAE6FD"/>
            </a:solidFill>
            <a:prstDash val="solid"/>
          </a:ln>
        </p:spPr>
      </p:sp>
      <p:sp>
        <p:nvSpPr>
          <p:cNvPr id="9" name="A01-rise-pt0"/>
          <p:cNvSpPr txBox="1"/>
          <p:nvPr/>
        </p:nvSpPr>
        <p:spPr>
          <a:xfrm>
            <a:off x="685800" y="4617720"/>
            <a:ext cx="1691640" cy="411480"/>
          </a:xfrm>
          <a:prstGeom prst="rect">
            <a:avLst/>
          </a:prstGeom>
          <a:noFill/>
          <a:ln/>
        </p:spPr>
        <p:txBody>
          <a:bodyPr wrap="square" lIns="0" tIns="0" rIns="0" bIns="0" rtlCol="0" anchor="ctr"/>
          <a:lstStyle/>
          <a:p>
            <a:pPr algn="ctr" indent="0" marL="0">
              <a:buNone/>
            </a:pPr>
            <a:r>
              <a:rPr lang="en-US" sz="1200" b="1" dirty="0">
                <a:solidFill>
                  <a:schemeClr val="accent1"/>
                </a:solidFill>
                <a:latin typeface="Courier New" pitchFamily="34" charset="0"/>
                <a:ea typeface="Courier New" pitchFamily="34" charset="-122"/>
                <a:cs typeface="Courier New" pitchFamily="34" charset="-120"/>
              </a:rPr>
              <a:t>B0000000001</a:t>
            </a:r>
            <a:endParaRPr lang="en-US" sz="1200" dirty="0"/>
          </a:p>
        </p:txBody>
      </p:sp>
      <p:pic>
        <p:nvPicPr>
          <p:cNvPr id="10" name="A01-rise-ch0" descr="preencoded.png">    </p:cNvPr>
          <p:cNvPicPr>
            <a:picLocks noChangeAspect="1"/>
          </p:cNvPicPr>
          <p:nvPr/>
        </p:nvPicPr>
        <p:blipFill>
          <a:blip r:embed="rId2"/>
          <a:stretch>
            <a:fillRect/>
          </a:stretch>
        </p:blipFill>
        <p:spPr>
          <a:xfrm>
            <a:off x="2532888" y="2103120"/>
            <a:ext cx="329184" cy="329184"/>
          </a:xfrm>
          <a:prstGeom prst="rect">
            <a:avLst/>
          </a:prstGeom>
        </p:spPr>
      </p:pic>
      <p:sp>
        <p:nvSpPr>
          <p:cNvPr id="11" name="A02-rise-sc1-bg"/>
          <p:cNvSpPr/>
          <p:nvPr/>
        </p:nvSpPr>
        <p:spPr>
          <a:xfrm>
            <a:off x="3401568" y="1828800"/>
            <a:ext cx="914400" cy="914400"/>
          </a:xfrm>
          <a:prstGeom prst="ellipse">
            <a:avLst/>
          </a:prstGeom>
          <a:solidFill>
            <a:schemeClr val="accent1"/>
          </a:solidFill>
          <a:ln w="12700">
            <a:solidFill>
              <a:schemeClr val="accent1"/>
            </a:solidFill>
            <a:prstDash val="solid"/>
          </a:ln>
        </p:spPr>
      </p:sp>
      <p:pic>
        <p:nvPicPr>
          <p:cNvPr id="12" name="A02-rise-sc1-ic" descr="preencoded.png">    </p:cNvPr>
          <p:cNvPicPr>
            <a:picLocks noChangeAspect="1"/>
          </p:cNvPicPr>
          <p:nvPr/>
        </p:nvPicPr>
        <p:blipFill>
          <a:blip r:embed="rId3"/>
          <a:stretch>
            <a:fillRect/>
          </a:stretch>
        </p:blipFill>
        <p:spPr>
          <a:xfrm>
            <a:off x="3630168" y="2057400"/>
            <a:ext cx="457200" cy="457200"/>
          </a:xfrm>
          <a:prstGeom prst="rect">
            <a:avLst/>
          </a:prstGeom>
        </p:spPr>
      </p:pic>
      <p:sp>
        <p:nvSpPr>
          <p:cNvPr id="13" name="A02-rise-n1"/>
          <p:cNvSpPr txBox="1"/>
          <p:nvPr/>
        </p:nvSpPr>
        <p:spPr>
          <a:xfrm>
            <a:off x="2871216" y="2926080"/>
            <a:ext cx="1965960" cy="365760"/>
          </a:xfrm>
          <a:prstGeom prst="rect">
            <a:avLst/>
          </a:prstGeom>
          <a:noFill/>
          <a:ln/>
        </p:spPr>
        <p:txBody>
          <a:bodyPr wrap="square" lIns="0" tIns="0" rIns="0" bIns="0" rtlCol="0" anchor="t"/>
          <a:lstStyle/>
          <a:p>
            <a:pPr algn="ctr" indent="0" marL="0">
              <a:buNone/>
            </a:pPr>
            <a:r>
              <a:rPr lang="en-US" sz="1400" b="1" dirty="0">
                <a:solidFill>
                  <a:schemeClr val="accent3"/>
                </a:solidFill>
              </a:rPr>
              <a:t>02</a:t>
            </a:r>
            <a:endParaRPr lang="en-US" sz="1400" dirty="0"/>
          </a:p>
        </p:txBody>
      </p:sp>
      <p:sp>
        <p:nvSpPr>
          <p:cNvPr id="14" name="A02-rise-h1"/>
          <p:cNvSpPr txBox="1"/>
          <p:nvPr/>
        </p:nvSpPr>
        <p:spPr>
          <a:xfrm>
            <a:off x="2871216" y="3291840"/>
            <a:ext cx="1965960" cy="411480"/>
          </a:xfrm>
          <a:prstGeom prst="rect">
            <a:avLst/>
          </a:prstGeom>
          <a:noFill/>
          <a:ln/>
        </p:spPr>
        <p:txBody>
          <a:bodyPr wrap="square" lIns="0" tIns="0" rIns="0" bIns="0" rtlCol="0" anchor="t"/>
          <a:lstStyle/>
          <a:p>
            <a:pPr algn="ctr" indent="0" marL="0">
              <a:buNone/>
            </a:pPr>
            <a:r>
              <a:rPr lang="en-US" sz="1900" b="1" dirty="0">
                <a:solidFill>
                  <a:schemeClr val="tx2"/>
                </a:solidFill>
              </a:rPr>
              <a:t>Feasibility</a:t>
            </a:r>
            <a:endParaRPr lang="en-US" sz="1900" dirty="0"/>
          </a:p>
        </p:txBody>
      </p:sp>
      <p:sp>
        <p:nvSpPr>
          <p:cNvPr id="15" name="A02-rise-d1"/>
          <p:cNvSpPr txBox="1"/>
          <p:nvPr/>
        </p:nvSpPr>
        <p:spPr>
          <a:xfrm>
            <a:off x="2916936" y="3749040"/>
            <a:ext cx="1874520" cy="731520"/>
          </a:xfrm>
          <a:prstGeom prst="rect">
            <a:avLst/>
          </a:prstGeom>
          <a:noFill/>
          <a:ln/>
        </p:spPr>
        <p:txBody>
          <a:bodyPr wrap="square" lIns="0" tIns="0" rIns="0" bIns="0" rtlCol="0" anchor="t"/>
          <a:lstStyle/>
          <a:p>
            <a:pPr algn="ctr" indent="0" marL="0">
              <a:buNone/>
            </a:pPr>
            <a:r>
              <a:rPr lang="en-US" sz="1300" dirty="0">
                <a:solidFill>
                  <a:srgbClr val="475569"/>
                </a:solidFill>
              </a:rPr>
              <a:t>Landline and / or internet check</a:t>
            </a:r>
            <a:endParaRPr lang="en-US" sz="1300" dirty="0"/>
          </a:p>
        </p:txBody>
      </p:sp>
      <p:sp>
        <p:nvSpPr>
          <p:cNvPr id="16" name="A02-rise-pill1"/>
          <p:cNvSpPr/>
          <p:nvPr/>
        </p:nvSpPr>
        <p:spPr>
          <a:xfrm>
            <a:off x="3008376" y="4617720"/>
            <a:ext cx="1691640" cy="411480"/>
          </a:xfrm>
          <a:prstGeom prst="roundRect">
            <a:avLst>
              <a:gd name="adj" fmla="val 48889"/>
            </a:avLst>
          </a:prstGeom>
          <a:solidFill>
            <a:srgbClr val="E0F2FE"/>
          </a:solidFill>
          <a:ln w="9525">
            <a:solidFill>
              <a:srgbClr val="BAE6FD"/>
            </a:solidFill>
            <a:prstDash val="solid"/>
          </a:ln>
        </p:spPr>
      </p:sp>
      <p:sp>
        <p:nvSpPr>
          <p:cNvPr id="17" name="A02-rise-pt1"/>
          <p:cNvSpPr txBox="1"/>
          <p:nvPr/>
        </p:nvSpPr>
        <p:spPr>
          <a:xfrm>
            <a:off x="3008376" y="4617720"/>
            <a:ext cx="1691640" cy="411480"/>
          </a:xfrm>
          <a:prstGeom prst="rect">
            <a:avLst/>
          </a:prstGeom>
          <a:noFill/>
          <a:ln/>
        </p:spPr>
        <p:txBody>
          <a:bodyPr wrap="square" lIns="0" tIns="0" rIns="0" bIns="0" rtlCol="0" anchor="ctr"/>
          <a:lstStyle/>
          <a:p>
            <a:pPr algn="ctr" indent="0" marL="0">
              <a:buNone/>
            </a:pPr>
            <a:r>
              <a:rPr lang="en-US" sz="1200" b="1" dirty="0">
                <a:solidFill>
                  <a:schemeClr val="accent1"/>
                </a:solidFill>
                <a:latin typeface="Courier New" pitchFamily="34" charset="0"/>
                <a:ea typeface="Courier New" pitchFamily="34" charset="-122"/>
                <a:cs typeface="Courier New" pitchFamily="34" charset="-120"/>
              </a:rPr>
              <a:t>Feasible</a:t>
            </a:r>
            <a:endParaRPr lang="en-US" sz="1200" dirty="0"/>
          </a:p>
        </p:txBody>
      </p:sp>
      <p:pic>
        <p:nvPicPr>
          <p:cNvPr id="18" name="A02-rise-ch1" descr="preencoded.png">    </p:cNvPr>
          <p:cNvPicPr>
            <a:picLocks noChangeAspect="1"/>
          </p:cNvPicPr>
          <p:nvPr/>
        </p:nvPicPr>
        <p:blipFill>
          <a:blip r:embed="rId4"/>
          <a:stretch>
            <a:fillRect/>
          </a:stretch>
        </p:blipFill>
        <p:spPr>
          <a:xfrm>
            <a:off x="4855464" y="2103120"/>
            <a:ext cx="329184" cy="329184"/>
          </a:xfrm>
          <a:prstGeom prst="rect">
            <a:avLst/>
          </a:prstGeom>
        </p:spPr>
      </p:pic>
      <p:sp>
        <p:nvSpPr>
          <p:cNvPr id="19" name="A03-rise-sc2-bg"/>
          <p:cNvSpPr/>
          <p:nvPr/>
        </p:nvSpPr>
        <p:spPr>
          <a:xfrm>
            <a:off x="5724144" y="1828800"/>
            <a:ext cx="914400" cy="914400"/>
          </a:xfrm>
          <a:prstGeom prst="ellipse">
            <a:avLst/>
          </a:prstGeom>
          <a:solidFill>
            <a:schemeClr val="accent1"/>
          </a:solidFill>
          <a:ln w="12700">
            <a:solidFill>
              <a:schemeClr val="accent1"/>
            </a:solidFill>
            <a:prstDash val="solid"/>
          </a:ln>
        </p:spPr>
      </p:sp>
      <p:pic>
        <p:nvPicPr>
          <p:cNvPr id="20" name="A03-rise-sc2-ic" descr="preencoded.png">    </p:cNvPr>
          <p:cNvPicPr>
            <a:picLocks noChangeAspect="1"/>
          </p:cNvPicPr>
          <p:nvPr/>
        </p:nvPicPr>
        <p:blipFill>
          <a:blip r:embed="rId5"/>
          <a:stretch>
            <a:fillRect/>
          </a:stretch>
        </p:blipFill>
        <p:spPr>
          <a:xfrm>
            <a:off x="5952744" y="2057400"/>
            <a:ext cx="457200" cy="457200"/>
          </a:xfrm>
          <a:prstGeom prst="rect">
            <a:avLst/>
          </a:prstGeom>
        </p:spPr>
      </p:pic>
      <p:sp>
        <p:nvSpPr>
          <p:cNvPr id="21" name="A03-rise-n2"/>
          <p:cNvSpPr txBox="1"/>
          <p:nvPr/>
        </p:nvSpPr>
        <p:spPr>
          <a:xfrm>
            <a:off x="5193792" y="2926080"/>
            <a:ext cx="1965960" cy="365760"/>
          </a:xfrm>
          <a:prstGeom prst="rect">
            <a:avLst/>
          </a:prstGeom>
          <a:noFill/>
          <a:ln/>
        </p:spPr>
        <p:txBody>
          <a:bodyPr wrap="square" lIns="0" tIns="0" rIns="0" bIns="0" rtlCol="0" anchor="t"/>
          <a:lstStyle/>
          <a:p>
            <a:pPr algn="ctr" indent="0" marL="0">
              <a:buNone/>
            </a:pPr>
            <a:r>
              <a:rPr lang="en-US" sz="1400" b="1" dirty="0">
                <a:solidFill>
                  <a:schemeClr val="accent3"/>
                </a:solidFill>
              </a:rPr>
              <a:t>03</a:t>
            </a:r>
            <a:endParaRPr lang="en-US" sz="1400" dirty="0"/>
          </a:p>
        </p:txBody>
      </p:sp>
      <p:sp>
        <p:nvSpPr>
          <p:cNvPr id="22" name="A03-rise-h2"/>
          <p:cNvSpPr txBox="1"/>
          <p:nvPr/>
        </p:nvSpPr>
        <p:spPr>
          <a:xfrm>
            <a:off x="5193792" y="3291840"/>
            <a:ext cx="1965960" cy="411480"/>
          </a:xfrm>
          <a:prstGeom prst="rect">
            <a:avLst/>
          </a:prstGeom>
          <a:noFill/>
          <a:ln/>
        </p:spPr>
        <p:txBody>
          <a:bodyPr wrap="square" lIns="0" tIns="0" rIns="0" bIns="0" rtlCol="0" anchor="t"/>
          <a:lstStyle/>
          <a:p>
            <a:pPr algn="ctr" indent="0" marL="0">
              <a:buNone/>
            </a:pPr>
            <a:r>
              <a:rPr lang="en-US" sz="1900" b="1" dirty="0">
                <a:solidFill>
                  <a:schemeClr val="tx2"/>
                </a:solidFill>
              </a:rPr>
              <a:t>Connection</a:t>
            </a:r>
            <a:endParaRPr lang="en-US" sz="1900" dirty="0"/>
          </a:p>
        </p:txBody>
      </p:sp>
      <p:sp>
        <p:nvSpPr>
          <p:cNvPr id="23" name="A03-rise-d2"/>
          <p:cNvSpPr txBox="1"/>
          <p:nvPr/>
        </p:nvSpPr>
        <p:spPr>
          <a:xfrm>
            <a:off x="5239512" y="3749040"/>
            <a:ext cx="1874520" cy="731520"/>
          </a:xfrm>
          <a:prstGeom prst="rect">
            <a:avLst/>
          </a:prstGeom>
          <a:noFill/>
          <a:ln/>
        </p:spPr>
        <p:txBody>
          <a:bodyPr wrap="square" lIns="0" tIns="0" rIns="0" bIns="0" rtlCol="0" anchor="t"/>
          <a:lstStyle/>
          <a:p>
            <a:pPr algn="ctr" indent="0" marL="0">
              <a:buNone/>
            </a:pPr>
            <a:r>
              <a:rPr lang="en-US" sz="1300" dirty="0">
                <a:solidFill>
                  <a:srgbClr val="475569"/>
                </a:solidFill>
              </a:rPr>
              <a:t>Account ID and equipment from stock</a:t>
            </a:r>
            <a:endParaRPr lang="en-US" sz="1300" dirty="0"/>
          </a:p>
        </p:txBody>
      </p:sp>
      <p:sp>
        <p:nvSpPr>
          <p:cNvPr id="24" name="A03-rise-pill2"/>
          <p:cNvSpPr/>
          <p:nvPr/>
        </p:nvSpPr>
        <p:spPr>
          <a:xfrm>
            <a:off x="5330952" y="4617720"/>
            <a:ext cx="1691640" cy="411480"/>
          </a:xfrm>
          <a:prstGeom prst="roundRect">
            <a:avLst>
              <a:gd name="adj" fmla="val 48889"/>
            </a:avLst>
          </a:prstGeom>
          <a:solidFill>
            <a:srgbClr val="E0F2FE"/>
          </a:solidFill>
          <a:ln w="9525">
            <a:solidFill>
              <a:srgbClr val="BAE6FD"/>
            </a:solidFill>
            <a:prstDash val="solid"/>
          </a:ln>
        </p:spPr>
      </p:sp>
      <p:sp>
        <p:nvSpPr>
          <p:cNvPr id="25" name="A03-rise-pt2"/>
          <p:cNvSpPr txBox="1"/>
          <p:nvPr/>
        </p:nvSpPr>
        <p:spPr>
          <a:xfrm>
            <a:off x="5330952" y="4617720"/>
            <a:ext cx="1691640" cy="411480"/>
          </a:xfrm>
          <a:prstGeom prst="rect">
            <a:avLst/>
          </a:prstGeom>
          <a:noFill/>
          <a:ln/>
        </p:spPr>
        <p:txBody>
          <a:bodyPr wrap="square" lIns="0" tIns="0" rIns="0" bIns="0" rtlCol="0" anchor="ctr"/>
          <a:lstStyle/>
          <a:p>
            <a:pPr algn="ctr" indent="0" marL="0">
              <a:buNone/>
            </a:pPr>
            <a:r>
              <a:rPr lang="en-US" sz="1200" b="1" dirty="0">
                <a:solidFill>
                  <a:schemeClr val="accent1"/>
                </a:solidFill>
                <a:latin typeface="Courier New" pitchFamily="34" charset="0"/>
                <a:ea typeface="Courier New" pitchFamily="34" charset="-122"/>
                <a:cs typeface="Courier New" pitchFamily="34" charset="-120"/>
              </a:rPr>
              <a:t>B001000000000001</a:t>
            </a:r>
            <a:endParaRPr lang="en-US" sz="1200" dirty="0"/>
          </a:p>
        </p:txBody>
      </p:sp>
      <p:pic>
        <p:nvPicPr>
          <p:cNvPr id="26" name="A03-rise-ch2" descr="preencoded.png">    </p:cNvPr>
          <p:cNvPicPr>
            <a:picLocks noChangeAspect="1"/>
          </p:cNvPicPr>
          <p:nvPr/>
        </p:nvPicPr>
        <p:blipFill>
          <a:blip r:embed="rId6"/>
          <a:stretch>
            <a:fillRect/>
          </a:stretch>
        </p:blipFill>
        <p:spPr>
          <a:xfrm>
            <a:off x="7178040" y="2103120"/>
            <a:ext cx="329184" cy="329184"/>
          </a:xfrm>
          <a:prstGeom prst="rect">
            <a:avLst/>
          </a:prstGeom>
        </p:spPr>
      </p:pic>
      <p:sp>
        <p:nvSpPr>
          <p:cNvPr id="27" name="A04-rise-sc3-bg"/>
          <p:cNvSpPr/>
          <p:nvPr/>
        </p:nvSpPr>
        <p:spPr>
          <a:xfrm>
            <a:off x="8046720" y="1828800"/>
            <a:ext cx="914400" cy="914400"/>
          </a:xfrm>
          <a:prstGeom prst="ellipse">
            <a:avLst/>
          </a:prstGeom>
          <a:solidFill>
            <a:schemeClr val="accent1"/>
          </a:solidFill>
          <a:ln w="12700">
            <a:solidFill>
              <a:schemeClr val="accent1"/>
            </a:solidFill>
            <a:prstDash val="solid"/>
          </a:ln>
        </p:spPr>
      </p:sp>
      <p:pic>
        <p:nvPicPr>
          <p:cNvPr id="28" name="A04-rise-sc3-ic" descr="preencoded.png">    </p:cNvPr>
          <p:cNvPicPr>
            <a:picLocks noChangeAspect="1"/>
          </p:cNvPicPr>
          <p:nvPr/>
        </p:nvPicPr>
        <p:blipFill>
          <a:blip r:embed="rId7"/>
          <a:stretch>
            <a:fillRect/>
          </a:stretch>
        </p:blipFill>
        <p:spPr>
          <a:xfrm>
            <a:off x="8275320" y="2057400"/>
            <a:ext cx="457200" cy="457200"/>
          </a:xfrm>
          <a:prstGeom prst="rect">
            <a:avLst/>
          </a:prstGeom>
        </p:spPr>
      </p:pic>
      <p:sp>
        <p:nvSpPr>
          <p:cNvPr id="29" name="A04-rise-n3"/>
          <p:cNvSpPr txBox="1"/>
          <p:nvPr/>
        </p:nvSpPr>
        <p:spPr>
          <a:xfrm>
            <a:off x="7516368" y="2926080"/>
            <a:ext cx="1965960" cy="365760"/>
          </a:xfrm>
          <a:prstGeom prst="rect">
            <a:avLst/>
          </a:prstGeom>
          <a:noFill/>
          <a:ln/>
        </p:spPr>
        <p:txBody>
          <a:bodyPr wrap="square" lIns="0" tIns="0" rIns="0" bIns="0" rtlCol="0" anchor="t"/>
          <a:lstStyle/>
          <a:p>
            <a:pPr algn="ctr" indent="0" marL="0">
              <a:buNone/>
            </a:pPr>
            <a:r>
              <a:rPr lang="en-US" sz="1400" b="1" dirty="0">
                <a:solidFill>
                  <a:schemeClr val="accent3"/>
                </a:solidFill>
              </a:rPr>
              <a:t>04</a:t>
            </a:r>
            <a:endParaRPr lang="en-US" sz="1400" dirty="0"/>
          </a:p>
        </p:txBody>
      </p:sp>
      <p:sp>
        <p:nvSpPr>
          <p:cNvPr id="30" name="A04-rise-h3"/>
          <p:cNvSpPr txBox="1"/>
          <p:nvPr/>
        </p:nvSpPr>
        <p:spPr>
          <a:xfrm>
            <a:off x="7516368" y="3291840"/>
            <a:ext cx="1965960" cy="411480"/>
          </a:xfrm>
          <a:prstGeom prst="rect">
            <a:avLst/>
          </a:prstGeom>
          <a:noFill/>
          <a:ln/>
        </p:spPr>
        <p:txBody>
          <a:bodyPr wrap="square" lIns="0" tIns="0" rIns="0" bIns="0" rtlCol="0" anchor="t"/>
          <a:lstStyle/>
          <a:p>
            <a:pPr algn="ctr" indent="0" marL="0">
              <a:buNone/>
            </a:pPr>
            <a:r>
              <a:rPr lang="en-US" sz="1900" b="1" dirty="0">
                <a:solidFill>
                  <a:schemeClr val="tx2"/>
                </a:solidFill>
              </a:rPr>
              <a:t>Bill</a:t>
            </a:r>
            <a:endParaRPr lang="en-US" sz="1900" dirty="0"/>
          </a:p>
        </p:txBody>
      </p:sp>
      <p:sp>
        <p:nvSpPr>
          <p:cNvPr id="31" name="A04-rise-d3"/>
          <p:cNvSpPr txBox="1"/>
          <p:nvPr/>
        </p:nvSpPr>
        <p:spPr>
          <a:xfrm>
            <a:off x="7562088" y="3749040"/>
            <a:ext cx="1874520" cy="731520"/>
          </a:xfrm>
          <a:prstGeom prst="rect">
            <a:avLst/>
          </a:prstGeom>
          <a:noFill/>
          <a:ln/>
        </p:spPr>
        <p:txBody>
          <a:bodyPr wrap="square" lIns="0" tIns="0" rIns="0" bIns="0" rtlCol="0" anchor="t"/>
          <a:lstStyle/>
          <a:p>
            <a:pPr algn="ctr" indent="0" marL="0">
              <a:buNone/>
            </a:pPr>
            <a:r>
              <a:rPr lang="en-US" sz="1300" dirty="0">
                <a:solidFill>
                  <a:srgbClr val="475569"/>
                </a:solidFill>
              </a:rPr>
              <a:t>Plan + calls + deposit - discount + 12.24 %</a:t>
            </a:r>
            <a:endParaRPr lang="en-US" sz="1300" dirty="0"/>
          </a:p>
        </p:txBody>
      </p:sp>
      <p:sp>
        <p:nvSpPr>
          <p:cNvPr id="32" name="A04-rise-pill3"/>
          <p:cNvSpPr/>
          <p:nvPr/>
        </p:nvSpPr>
        <p:spPr>
          <a:xfrm>
            <a:off x="7653528" y="4617720"/>
            <a:ext cx="1691640" cy="411480"/>
          </a:xfrm>
          <a:prstGeom prst="roundRect">
            <a:avLst>
              <a:gd name="adj" fmla="val 48889"/>
            </a:avLst>
          </a:prstGeom>
          <a:solidFill>
            <a:srgbClr val="E0F2FE"/>
          </a:solidFill>
          <a:ln w="9525">
            <a:solidFill>
              <a:srgbClr val="BAE6FD"/>
            </a:solidFill>
            <a:prstDash val="solid"/>
          </a:ln>
        </p:spPr>
      </p:sp>
      <p:sp>
        <p:nvSpPr>
          <p:cNvPr id="33" name="A04-rise-pt3"/>
          <p:cNvSpPr txBox="1"/>
          <p:nvPr/>
        </p:nvSpPr>
        <p:spPr>
          <a:xfrm>
            <a:off x="7653528" y="4617720"/>
            <a:ext cx="1691640" cy="411480"/>
          </a:xfrm>
          <a:prstGeom prst="rect">
            <a:avLst/>
          </a:prstGeom>
          <a:noFill/>
          <a:ln/>
        </p:spPr>
        <p:txBody>
          <a:bodyPr wrap="square" lIns="0" tIns="0" rIns="0" bIns="0" rtlCol="0" anchor="ctr"/>
          <a:lstStyle/>
          <a:p>
            <a:pPr algn="ctr" indent="0" marL="0">
              <a:buNone/>
            </a:pPr>
            <a:r>
              <a:rPr lang="en-US" sz="1200" b="1" dirty="0">
                <a:solidFill>
                  <a:schemeClr val="accent1"/>
                </a:solidFill>
                <a:latin typeface="Courier New" pitchFamily="34" charset="0"/>
                <a:ea typeface="Courier New" pitchFamily="34" charset="-122"/>
                <a:cs typeface="Courier New" pitchFamily="34" charset="-120"/>
              </a:rPr>
              <a:t>$757.62</a:t>
            </a:r>
            <a:endParaRPr lang="en-US" sz="1200" dirty="0"/>
          </a:p>
        </p:txBody>
      </p:sp>
      <p:pic>
        <p:nvPicPr>
          <p:cNvPr id="34" name="A04-rise-ch3" descr="preencoded.png">    </p:cNvPr>
          <p:cNvPicPr>
            <a:picLocks noChangeAspect="1"/>
          </p:cNvPicPr>
          <p:nvPr/>
        </p:nvPicPr>
        <p:blipFill>
          <a:blip r:embed="rId8"/>
          <a:stretch>
            <a:fillRect/>
          </a:stretch>
        </p:blipFill>
        <p:spPr>
          <a:xfrm>
            <a:off x="9500616" y="2103120"/>
            <a:ext cx="329184" cy="329184"/>
          </a:xfrm>
          <a:prstGeom prst="rect">
            <a:avLst/>
          </a:prstGeom>
        </p:spPr>
      </p:pic>
      <p:sp>
        <p:nvSpPr>
          <p:cNvPr id="35" name="A05-rise-sc4-bg"/>
          <p:cNvSpPr/>
          <p:nvPr/>
        </p:nvSpPr>
        <p:spPr>
          <a:xfrm>
            <a:off x="10369296" y="1828800"/>
            <a:ext cx="914400" cy="914400"/>
          </a:xfrm>
          <a:prstGeom prst="ellipse">
            <a:avLst/>
          </a:prstGeom>
          <a:solidFill>
            <a:schemeClr val="accent2"/>
          </a:solidFill>
          <a:ln w="12700">
            <a:solidFill>
              <a:schemeClr val="accent2"/>
            </a:solidFill>
            <a:prstDash val="solid"/>
          </a:ln>
        </p:spPr>
      </p:sp>
      <p:pic>
        <p:nvPicPr>
          <p:cNvPr id="36" name="A05-rise-sc4-ic" descr="preencoded.png">    </p:cNvPr>
          <p:cNvPicPr>
            <a:picLocks noChangeAspect="1"/>
          </p:cNvPicPr>
          <p:nvPr/>
        </p:nvPicPr>
        <p:blipFill>
          <a:blip r:embed="rId9"/>
          <a:stretch>
            <a:fillRect/>
          </a:stretch>
        </p:blipFill>
        <p:spPr>
          <a:xfrm>
            <a:off x="10597896" y="2057400"/>
            <a:ext cx="457200" cy="457200"/>
          </a:xfrm>
          <a:prstGeom prst="rect">
            <a:avLst/>
          </a:prstGeom>
        </p:spPr>
      </p:pic>
      <p:sp>
        <p:nvSpPr>
          <p:cNvPr id="37" name="A05-rise-n4"/>
          <p:cNvSpPr txBox="1"/>
          <p:nvPr/>
        </p:nvSpPr>
        <p:spPr>
          <a:xfrm>
            <a:off x="9838944" y="2926080"/>
            <a:ext cx="1965960" cy="365760"/>
          </a:xfrm>
          <a:prstGeom prst="rect">
            <a:avLst/>
          </a:prstGeom>
          <a:noFill/>
          <a:ln/>
        </p:spPr>
        <p:txBody>
          <a:bodyPr wrap="square" lIns="0" tIns="0" rIns="0" bIns="0" rtlCol="0" anchor="t"/>
          <a:lstStyle/>
          <a:p>
            <a:pPr algn="ctr" indent="0" marL="0">
              <a:buNone/>
            </a:pPr>
            <a:r>
              <a:rPr lang="en-US" sz="1400" b="1" dirty="0">
                <a:solidFill>
                  <a:schemeClr val="accent3"/>
                </a:solidFill>
              </a:rPr>
              <a:t>05</a:t>
            </a:r>
            <a:endParaRPr lang="en-US" sz="1400" dirty="0"/>
          </a:p>
        </p:txBody>
      </p:sp>
      <p:sp>
        <p:nvSpPr>
          <p:cNvPr id="38" name="A05-rise-h4"/>
          <p:cNvSpPr txBox="1"/>
          <p:nvPr/>
        </p:nvSpPr>
        <p:spPr>
          <a:xfrm>
            <a:off x="9838944" y="3291840"/>
            <a:ext cx="1965960" cy="411480"/>
          </a:xfrm>
          <a:prstGeom prst="rect">
            <a:avLst/>
          </a:prstGeom>
          <a:noFill/>
          <a:ln/>
        </p:spPr>
        <p:txBody>
          <a:bodyPr wrap="square" lIns="0" tIns="0" rIns="0" bIns="0" rtlCol="0" anchor="t"/>
          <a:lstStyle/>
          <a:p>
            <a:pPr algn="ctr" indent="0" marL="0">
              <a:buNone/>
            </a:pPr>
            <a:r>
              <a:rPr lang="en-US" sz="1900" b="1" dirty="0">
                <a:solidFill>
                  <a:schemeClr val="tx2"/>
                </a:solidFill>
              </a:rPr>
              <a:t>Payment</a:t>
            </a:r>
            <a:endParaRPr lang="en-US" sz="1900" dirty="0"/>
          </a:p>
        </p:txBody>
      </p:sp>
      <p:sp>
        <p:nvSpPr>
          <p:cNvPr id="39" name="A05-rise-d4"/>
          <p:cNvSpPr txBox="1"/>
          <p:nvPr/>
        </p:nvSpPr>
        <p:spPr>
          <a:xfrm>
            <a:off x="9884664" y="3749040"/>
            <a:ext cx="1874520" cy="731520"/>
          </a:xfrm>
          <a:prstGeom prst="rect">
            <a:avLst/>
          </a:prstGeom>
          <a:noFill/>
          <a:ln/>
        </p:spPr>
        <p:txBody>
          <a:bodyPr wrap="square" lIns="0" tIns="0" rIns="0" bIns="0" rtlCol="0" anchor="t"/>
          <a:lstStyle/>
          <a:p>
            <a:pPr algn="ctr" indent="0" marL="0">
              <a:buNone/>
            </a:pPr>
            <a:r>
              <a:rPr lang="en-US" sz="1300" dirty="0">
                <a:solidFill>
                  <a:srgbClr val="475569"/>
                </a:solidFill>
              </a:rPr>
              <a:t>At a shop or at Accounts</a:t>
            </a:r>
            <a:endParaRPr lang="en-US" sz="1300" dirty="0"/>
          </a:p>
        </p:txBody>
      </p:sp>
      <p:sp>
        <p:nvSpPr>
          <p:cNvPr id="40" name="A05-rise-pill4"/>
          <p:cNvSpPr/>
          <p:nvPr/>
        </p:nvSpPr>
        <p:spPr>
          <a:xfrm>
            <a:off x="9976104" y="4617720"/>
            <a:ext cx="1691640" cy="411480"/>
          </a:xfrm>
          <a:prstGeom prst="roundRect">
            <a:avLst>
              <a:gd name="adj" fmla="val 48889"/>
            </a:avLst>
          </a:prstGeom>
          <a:solidFill>
            <a:srgbClr val="E0F2FE"/>
          </a:solidFill>
          <a:ln w="9525">
            <a:solidFill>
              <a:srgbClr val="BAE6FD"/>
            </a:solidFill>
            <a:prstDash val="solid"/>
          </a:ln>
        </p:spPr>
      </p:sp>
      <p:sp>
        <p:nvSpPr>
          <p:cNvPr id="41" name="A05-rise-pt4"/>
          <p:cNvSpPr txBox="1"/>
          <p:nvPr/>
        </p:nvSpPr>
        <p:spPr>
          <a:xfrm>
            <a:off x="9976104" y="4617720"/>
            <a:ext cx="1691640" cy="411480"/>
          </a:xfrm>
          <a:prstGeom prst="rect">
            <a:avLst/>
          </a:prstGeom>
          <a:noFill/>
          <a:ln/>
        </p:spPr>
        <p:txBody>
          <a:bodyPr wrap="square" lIns="0" tIns="0" rIns="0" bIns="0" rtlCol="0" anchor="ctr"/>
          <a:lstStyle/>
          <a:p>
            <a:pPr algn="ctr" indent="0" marL="0">
              <a:buNone/>
            </a:pPr>
            <a:r>
              <a:rPr lang="en-US" sz="1200" b="1" dirty="0">
                <a:solidFill>
                  <a:schemeClr val="accent1"/>
                </a:solidFill>
                <a:latin typeface="Courier New" pitchFamily="34" charset="0"/>
                <a:ea typeface="Courier New" pitchFamily="34" charset="-122"/>
                <a:cs typeface="Courier New" pitchFamily="34" charset="-120"/>
              </a:rPr>
              <a:t>Paid</a:t>
            </a:r>
            <a:endParaRPr lang="en-US" sz="1200" dirty="0"/>
          </a:p>
        </p:txBody>
      </p:sp>
      <p:sp>
        <p:nvSpPr>
          <p:cNvPr id="42" name="A06-fade-od"/>
          <p:cNvSpPr txBox="1"/>
          <p:nvPr/>
        </p:nvSpPr>
        <p:spPr>
          <a:xfrm>
            <a:off x="548640" y="5532120"/>
            <a:ext cx="11064240" cy="548640"/>
          </a:xfrm>
          <a:prstGeom prst="rect">
            <a:avLst/>
          </a:prstGeom>
          <a:noFill/>
          <a:ln/>
        </p:spPr>
        <p:txBody>
          <a:bodyPr wrap="square" lIns="0" tIns="0" rIns="0" bIns="0" rtlCol="0" anchor="t"/>
          <a:lstStyle/>
          <a:p>
            <a:pPr indent="0" marL="0">
              <a:buNone/>
            </a:pPr>
            <a:r>
              <a:rPr lang="en-US" sz="1400" b="1" dirty="0">
                <a:solidFill>
                  <a:schemeClr val="accent4"/>
                </a:solidFill>
              </a:rPr>
              <a:t>Not paid by the due date?  The connection shows in Technical › Overdue, is set temporarily inactive, and is reactivated once all dues are paid.</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202" fill="hold">
                      <p:stCondLst>
                        <p:cond delay="indefinite"/>
                        <p:cond evt="onBegin" delay="0">
                          <p:tn val="2"/>
                        </p:cond>
                      </p:stCondLst>
                      <p:childTnLst>
                        <p:par>
                          <p:cTn id="201"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600"/>
                                        <p:tgtEl>
                                          <p:spTgt spid="3"/>
                                        </p:tgtEl>
                                      </p:cBhvr>
                                    </p:animEffect>
                                    <p:anim calcmode="lin" valueType="num">
                                      <p:cBhvr additive="base">
                                        <p:cTn id="5" dur="600" fill="hold"/>
                                        <p:tgtEl>
                                          <p:spTgt spid="3"/>
                                        </p:tgtEl>
                                        <p:attrNameLst>
                                          <p:attrName>ppt_x</p:attrName>
                                        </p:attrNameLst>
                                      </p:cBhvr>
                                      <p:tavLst>
                                        <p:tav tm="0">
                                          <p:val>
                                            <p:strVal val="#ppt_x"/>
                                          </p:val>
                                        </p:tav>
                                        <p:tav tm="100000">
                                          <p:val>
                                            <p:strVal val="#ppt_x"/>
                                          </p:val>
                                        </p:tav>
                                      </p:tavLst>
                                    </p:anim>
                                    <p:anim calcmode="lin" valueType="num">
                                      <p:cBhvr additive="base">
                                        <p:cTn id="6" dur="600" fill="hold"/>
                                        <p:tgtEl>
                                          <p:spTgt spid="3"/>
                                        </p:tgtEl>
                                        <p:attrNameLst>
                                          <p:attrName>ppt_y</p:attrName>
                                        </p:attrNameLst>
                                      </p:cBhvr>
                                      <p:tavLst>
                                        <p:tav tm="0">
                                          <p:val>
                                            <p:strVal val="#ppt_y+0.08"/>
                                          </p:val>
                                        </p:tav>
                                        <p:tav tm="100000">
                                          <p:val>
                                            <p:strVal val="#ppt_y"/>
                                          </p:val>
                                        </p:tav>
                                      </p:tavLst>
                                    </p:anim>
                                  </p:childTnLst>
                                </p:cTn>
                              </p:par>
                              <p:par>
                                <p:cTn id="12" presetID="42" presetClass="entr" presetSubtype="0" fill="hold" grpId="0" nodeType="withEffect">
                                  <p:stCondLst>
                                    <p:cond delay="7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anim calcmode="lin" valueType="num">
                                      <p:cBhvr additive="base">
                                        <p:cTn id="10" dur="600" fill="hold"/>
                                        <p:tgtEl>
                                          <p:spTgt spid="4"/>
                                        </p:tgtEl>
                                        <p:attrNameLst>
                                          <p:attrName>ppt_x</p:attrName>
                                        </p:attrNameLst>
                                      </p:cBhvr>
                                      <p:tavLst>
                                        <p:tav tm="0">
                                          <p:val>
                                            <p:strVal val="#ppt_x"/>
                                          </p:val>
                                        </p:tav>
                                        <p:tav tm="100000">
                                          <p:val>
                                            <p:strVal val="#ppt_x"/>
                                          </p:val>
                                        </p:tav>
                                      </p:tavLst>
                                    </p:anim>
                                    <p:anim calcmode="lin" valueType="num">
                                      <p:cBhvr additive="base">
                                        <p:cTn id="11" dur="600" fill="hold"/>
                                        <p:tgtEl>
                                          <p:spTgt spid="4"/>
                                        </p:tgtEl>
                                        <p:attrNameLst>
                                          <p:attrName>ppt_y</p:attrName>
                                        </p:attrNameLst>
                                      </p:cBhvr>
                                      <p:tavLst>
                                        <p:tav tm="0">
                                          <p:val>
                                            <p:strVal val="#ppt_y+0.08"/>
                                          </p:val>
                                        </p:tav>
                                        <p:tav tm="100000">
                                          <p:val>
                                            <p:strVal val="#ppt_y"/>
                                          </p:val>
                                        </p:tav>
                                      </p:tavLst>
                                    </p:anim>
                                  </p:childTnLst>
                                </p:cTn>
                              </p:par>
                              <p:par>
                                <p:cTn id="17" presetID="42" presetClass="entr" presetSubtype="0" fill="hold" grpId="0" nodeType="withEffect">
                                  <p:stCondLst>
                                    <p:cond delay="14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600"/>
                                        <p:tgtEl>
                                          <p:spTgt spid="5"/>
                                        </p:tgtEl>
                                      </p:cBhvr>
                                    </p:animEffect>
                                    <p:anim calcmode="lin" valueType="num">
                                      <p:cBhvr additive="base">
                                        <p:cTn id="15" dur="600" fill="hold"/>
                                        <p:tgtEl>
                                          <p:spTgt spid="5"/>
                                        </p:tgtEl>
                                        <p:attrNameLst>
                                          <p:attrName>ppt_x</p:attrName>
                                        </p:attrNameLst>
                                      </p:cBhvr>
                                      <p:tavLst>
                                        <p:tav tm="0">
                                          <p:val>
                                            <p:strVal val="#ppt_x"/>
                                          </p:val>
                                        </p:tav>
                                        <p:tav tm="100000">
                                          <p:val>
                                            <p:strVal val="#ppt_x"/>
                                          </p:val>
                                        </p:tav>
                                      </p:tavLst>
                                    </p:anim>
                                    <p:anim calcmode="lin" valueType="num">
                                      <p:cBhvr additive="base">
                                        <p:cTn id="16" dur="600" fill="hold"/>
                                        <p:tgtEl>
                                          <p:spTgt spid="5"/>
                                        </p:tgtEl>
                                        <p:attrNameLst>
                                          <p:attrName>ppt_y</p:attrName>
                                        </p:attrNameLst>
                                      </p:cBhvr>
                                      <p:tavLst>
                                        <p:tav tm="0">
                                          <p:val>
                                            <p:strVal val="#ppt_y+0.08"/>
                                          </p:val>
                                        </p:tav>
                                        <p:tav tm="100000">
                                          <p:val>
                                            <p:strVal val="#ppt_y"/>
                                          </p:val>
                                        </p:tav>
                                      </p:tavLst>
                                    </p:anim>
                                  </p:childTnLst>
                                </p:cTn>
                              </p:par>
                              <p:par>
                                <p:cTn id="22" presetID="42" presetClass="entr" presetSubtype="0" fill="hold" grpId="0" nodeType="withEffect">
                                  <p:stCondLst>
                                    <p:cond delay="21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600"/>
                                        <p:tgtEl>
                                          <p:spTgt spid="6"/>
                                        </p:tgtEl>
                                      </p:cBhvr>
                                    </p:animEffect>
                                    <p:anim calcmode="lin" valueType="num">
                                      <p:cBhvr additive="base">
                                        <p:cTn id="20" dur="600" fill="hold"/>
                                        <p:tgtEl>
                                          <p:spTgt spid="6"/>
                                        </p:tgtEl>
                                        <p:attrNameLst>
                                          <p:attrName>ppt_x</p:attrName>
                                        </p:attrNameLst>
                                      </p:cBhvr>
                                      <p:tavLst>
                                        <p:tav tm="0">
                                          <p:val>
                                            <p:strVal val="#ppt_x"/>
                                          </p:val>
                                        </p:tav>
                                        <p:tav tm="100000">
                                          <p:val>
                                            <p:strVal val="#ppt_x"/>
                                          </p:val>
                                        </p:tav>
                                      </p:tavLst>
                                    </p:anim>
                                    <p:anim calcmode="lin" valueType="num">
                                      <p:cBhvr additive="base">
                                        <p:cTn id="21" dur="600" fill="hold"/>
                                        <p:tgtEl>
                                          <p:spTgt spid="6"/>
                                        </p:tgtEl>
                                        <p:attrNameLst>
                                          <p:attrName>ppt_y</p:attrName>
                                        </p:attrNameLst>
                                      </p:cBhvr>
                                      <p:tavLst>
                                        <p:tav tm="0">
                                          <p:val>
                                            <p:strVal val="#ppt_y+0.08"/>
                                          </p:val>
                                        </p:tav>
                                        <p:tav tm="100000">
                                          <p:val>
                                            <p:strVal val="#ppt_y"/>
                                          </p:val>
                                        </p:tav>
                                      </p:tavLst>
                                    </p:anim>
                                  </p:childTnLst>
                                </p:cTn>
                              </p:par>
                              <p:par>
                                <p:cTn id="27" presetID="42" presetClass="entr" presetSubtype="0" fill="hold" grpId="0" nodeType="withEffect">
                                  <p:stCondLst>
                                    <p:cond delay="28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600"/>
                                        <p:tgtEl>
                                          <p:spTgt spid="7"/>
                                        </p:tgtEl>
                                      </p:cBhvr>
                                    </p:animEffect>
                                    <p:anim calcmode="lin" valueType="num">
                                      <p:cBhvr additive="base">
                                        <p:cTn id="25" dur="600" fill="hold"/>
                                        <p:tgtEl>
                                          <p:spTgt spid="7"/>
                                        </p:tgtEl>
                                        <p:attrNameLst>
                                          <p:attrName>ppt_x</p:attrName>
                                        </p:attrNameLst>
                                      </p:cBhvr>
                                      <p:tavLst>
                                        <p:tav tm="0">
                                          <p:val>
                                            <p:strVal val="#ppt_x"/>
                                          </p:val>
                                        </p:tav>
                                        <p:tav tm="100000">
                                          <p:val>
                                            <p:strVal val="#ppt_x"/>
                                          </p:val>
                                        </p:tav>
                                      </p:tavLst>
                                    </p:anim>
                                    <p:anim calcmode="lin" valueType="num">
                                      <p:cBhvr additive="base">
                                        <p:cTn id="26" dur="600" fill="hold"/>
                                        <p:tgtEl>
                                          <p:spTgt spid="7"/>
                                        </p:tgtEl>
                                        <p:attrNameLst>
                                          <p:attrName>ppt_y</p:attrName>
                                        </p:attrNameLst>
                                      </p:cBhvr>
                                      <p:tavLst>
                                        <p:tav tm="0">
                                          <p:val>
                                            <p:strVal val="#ppt_y+0.08"/>
                                          </p:val>
                                        </p:tav>
                                        <p:tav tm="100000">
                                          <p:val>
                                            <p:strVal val="#ppt_y"/>
                                          </p:val>
                                        </p:tav>
                                      </p:tavLst>
                                    </p:anim>
                                  </p:childTnLst>
                                </p:cTn>
                              </p:par>
                              <p:par>
                                <p:cTn id="32" presetID="42" presetClass="entr" presetSubtype="0" fill="hold" grpId="0" nodeType="withEffect">
                                  <p:stCondLst>
                                    <p:cond delay="35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600"/>
                                        <p:tgtEl>
                                          <p:spTgt spid="8"/>
                                        </p:tgtEl>
                                      </p:cBhvr>
                                    </p:animEffect>
                                    <p:anim calcmode="lin" valueType="num">
                                      <p:cBhvr additive="base">
                                        <p:cTn id="30" dur="600" fill="hold"/>
                                        <p:tgtEl>
                                          <p:spTgt spid="8"/>
                                        </p:tgtEl>
                                        <p:attrNameLst>
                                          <p:attrName>ppt_x</p:attrName>
                                        </p:attrNameLst>
                                      </p:cBhvr>
                                      <p:tavLst>
                                        <p:tav tm="0">
                                          <p:val>
                                            <p:strVal val="#ppt_x"/>
                                          </p:val>
                                        </p:tav>
                                        <p:tav tm="100000">
                                          <p:val>
                                            <p:strVal val="#ppt_x"/>
                                          </p:val>
                                        </p:tav>
                                      </p:tavLst>
                                    </p:anim>
                                    <p:anim calcmode="lin" valueType="num">
                                      <p:cBhvr additive="base">
                                        <p:cTn id="31" dur="600" fill="hold"/>
                                        <p:tgtEl>
                                          <p:spTgt spid="8"/>
                                        </p:tgtEl>
                                        <p:attrNameLst>
                                          <p:attrName>ppt_y</p:attrName>
                                        </p:attrNameLst>
                                      </p:cBhvr>
                                      <p:tavLst>
                                        <p:tav tm="0">
                                          <p:val>
                                            <p:strVal val="#ppt_y+0.08"/>
                                          </p:val>
                                        </p:tav>
                                        <p:tav tm="100000">
                                          <p:val>
                                            <p:strVal val="#ppt_y"/>
                                          </p:val>
                                        </p:tav>
                                      </p:tavLst>
                                    </p:anim>
                                  </p:childTnLst>
                                </p:cTn>
                              </p:par>
                              <p:par>
                                <p:cTn id="37" presetID="42" presetClass="entr" presetSubtype="0" fill="hold" grpId="0" nodeType="withEffect">
                                  <p:stCondLst>
                                    <p:cond delay="42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600"/>
                                        <p:tgtEl>
                                          <p:spTgt spid="9"/>
                                        </p:tgtEl>
                                      </p:cBhvr>
                                    </p:animEffect>
                                    <p:anim calcmode="lin" valueType="num">
                                      <p:cBhvr additive="base">
                                        <p:cTn id="35" dur="600" fill="hold"/>
                                        <p:tgtEl>
                                          <p:spTgt spid="9"/>
                                        </p:tgtEl>
                                        <p:attrNameLst>
                                          <p:attrName>ppt_x</p:attrName>
                                        </p:attrNameLst>
                                      </p:cBhvr>
                                      <p:tavLst>
                                        <p:tav tm="0">
                                          <p:val>
                                            <p:strVal val="#ppt_x"/>
                                          </p:val>
                                        </p:tav>
                                        <p:tav tm="100000">
                                          <p:val>
                                            <p:strVal val="#ppt_x"/>
                                          </p:val>
                                        </p:tav>
                                      </p:tavLst>
                                    </p:anim>
                                    <p:anim calcmode="lin" valueType="num">
                                      <p:cBhvr additive="base">
                                        <p:cTn id="36" dur="600" fill="hold"/>
                                        <p:tgtEl>
                                          <p:spTgt spid="9"/>
                                        </p:tgtEl>
                                        <p:attrNameLst>
                                          <p:attrName>ppt_y</p:attrName>
                                        </p:attrNameLst>
                                      </p:cBhvr>
                                      <p:tavLst>
                                        <p:tav tm="0">
                                          <p:val>
                                            <p:strVal val="#ppt_y+0.08"/>
                                          </p:val>
                                        </p:tav>
                                        <p:tav tm="100000">
                                          <p:val>
                                            <p:strVal val="#ppt_y"/>
                                          </p:val>
                                        </p:tav>
                                      </p:tavLst>
                                    </p:anim>
                                  </p:childTnLst>
                                </p:cTn>
                              </p:par>
                              <p:par>
                                <p:cTn id="42" presetID="42" presetClass="entr" presetSubtype="0" fill="hold" grpId="0" nodeType="withEffect">
                                  <p:stCondLst>
                                    <p:cond delay="49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600"/>
                                        <p:tgtEl>
                                          <p:spTgt spid="10"/>
                                        </p:tgtEl>
                                      </p:cBhvr>
                                    </p:animEffect>
                                    <p:anim calcmode="lin" valueType="num">
                                      <p:cBhvr additive="base">
                                        <p:cTn id="40" dur="600" fill="hold"/>
                                        <p:tgtEl>
                                          <p:spTgt spid="10"/>
                                        </p:tgtEl>
                                        <p:attrNameLst>
                                          <p:attrName>ppt_x</p:attrName>
                                        </p:attrNameLst>
                                      </p:cBhvr>
                                      <p:tavLst>
                                        <p:tav tm="0">
                                          <p:val>
                                            <p:strVal val="#ppt_x"/>
                                          </p:val>
                                        </p:tav>
                                        <p:tav tm="100000">
                                          <p:val>
                                            <p:strVal val="#ppt_x"/>
                                          </p:val>
                                        </p:tav>
                                      </p:tavLst>
                                    </p:anim>
                                    <p:anim calcmode="lin" valueType="num">
                                      <p:cBhvr additive="base">
                                        <p:cTn id="41" dur="600" fill="hold"/>
                                        <p:tgtEl>
                                          <p:spTgt spid="10"/>
                                        </p:tgtEl>
                                        <p:attrNameLst>
                                          <p:attrName>ppt_y</p:attrName>
                                        </p:attrNameLst>
                                      </p:cBhvr>
                                      <p:tavLst>
                                        <p:tav tm="0">
                                          <p:val>
                                            <p:strVal val="#ppt_y+0.08"/>
                                          </p:val>
                                        </p:tav>
                                        <p:tav tm="100000">
                                          <p:val>
                                            <p:strVal val="#ppt_y"/>
                                          </p:val>
                                        </p:tav>
                                      </p:tavLst>
                                    </p:anim>
                                  </p:childTnLst>
                                </p:cTn>
                              </p:par>
                              <p:par>
                                <p:cTn id="47" presetID="42" presetClass="entr" presetSubtype="0" fill="hold" grpId="0" nodeType="withEffect">
                                  <p:stCondLst>
                                    <p:cond delay="36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600"/>
                                        <p:tgtEl>
                                          <p:spTgt spid="11"/>
                                        </p:tgtEl>
                                      </p:cBhvr>
                                    </p:animEffect>
                                    <p:anim calcmode="lin" valueType="num">
                                      <p:cBhvr additive="base">
                                        <p:cTn id="45" dur="600" fill="hold"/>
                                        <p:tgtEl>
                                          <p:spTgt spid="11"/>
                                        </p:tgtEl>
                                        <p:attrNameLst>
                                          <p:attrName>ppt_x</p:attrName>
                                        </p:attrNameLst>
                                      </p:cBhvr>
                                      <p:tavLst>
                                        <p:tav tm="0">
                                          <p:val>
                                            <p:strVal val="#ppt_x"/>
                                          </p:val>
                                        </p:tav>
                                        <p:tav tm="100000">
                                          <p:val>
                                            <p:strVal val="#ppt_x"/>
                                          </p:val>
                                        </p:tav>
                                      </p:tavLst>
                                    </p:anim>
                                    <p:anim calcmode="lin" valueType="num">
                                      <p:cBhvr additive="base">
                                        <p:cTn id="46" dur="600" fill="hold"/>
                                        <p:tgtEl>
                                          <p:spTgt spid="11"/>
                                        </p:tgtEl>
                                        <p:attrNameLst>
                                          <p:attrName>ppt_y</p:attrName>
                                        </p:attrNameLst>
                                      </p:cBhvr>
                                      <p:tavLst>
                                        <p:tav tm="0">
                                          <p:val>
                                            <p:strVal val="#ppt_y+0.08"/>
                                          </p:val>
                                        </p:tav>
                                        <p:tav tm="100000">
                                          <p:val>
                                            <p:strVal val="#ppt_y"/>
                                          </p:val>
                                        </p:tav>
                                      </p:tavLst>
                                    </p:anim>
                                  </p:childTnLst>
                                </p:cTn>
                              </p:par>
                              <p:par>
                                <p:cTn id="52" presetID="42" presetClass="entr" presetSubtype="0" fill="hold" grpId="0" nodeType="withEffect">
                                  <p:stCondLst>
                                    <p:cond delay="43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600"/>
                                        <p:tgtEl>
                                          <p:spTgt spid="12"/>
                                        </p:tgtEl>
                                      </p:cBhvr>
                                    </p:animEffect>
                                    <p:anim calcmode="lin" valueType="num">
                                      <p:cBhvr additive="base">
                                        <p:cTn id="50" dur="600" fill="hold"/>
                                        <p:tgtEl>
                                          <p:spTgt spid="12"/>
                                        </p:tgtEl>
                                        <p:attrNameLst>
                                          <p:attrName>ppt_x</p:attrName>
                                        </p:attrNameLst>
                                      </p:cBhvr>
                                      <p:tavLst>
                                        <p:tav tm="0">
                                          <p:val>
                                            <p:strVal val="#ppt_x"/>
                                          </p:val>
                                        </p:tav>
                                        <p:tav tm="100000">
                                          <p:val>
                                            <p:strVal val="#ppt_x"/>
                                          </p:val>
                                        </p:tav>
                                      </p:tavLst>
                                    </p:anim>
                                    <p:anim calcmode="lin" valueType="num">
                                      <p:cBhvr additive="base">
                                        <p:cTn id="51" dur="600" fill="hold"/>
                                        <p:tgtEl>
                                          <p:spTgt spid="12"/>
                                        </p:tgtEl>
                                        <p:attrNameLst>
                                          <p:attrName>ppt_y</p:attrName>
                                        </p:attrNameLst>
                                      </p:cBhvr>
                                      <p:tavLst>
                                        <p:tav tm="0">
                                          <p:val>
                                            <p:strVal val="#ppt_y+0.08"/>
                                          </p:val>
                                        </p:tav>
                                        <p:tav tm="100000">
                                          <p:val>
                                            <p:strVal val="#ppt_y"/>
                                          </p:val>
                                        </p:tav>
                                      </p:tavLst>
                                    </p:anim>
                                  </p:childTnLst>
                                </p:cTn>
                              </p:par>
                              <p:par>
                                <p:cTn id="57" presetID="42" presetClass="entr" presetSubtype="0" fill="hold" grpId="0" nodeType="withEffect">
                                  <p:stCondLst>
                                    <p:cond delay="50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600"/>
                                        <p:tgtEl>
                                          <p:spTgt spid="13"/>
                                        </p:tgtEl>
                                      </p:cBhvr>
                                    </p:animEffect>
                                    <p:anim calcmode="lin" valueType="num">
                                      <p:cBhvr additive="base">
                                        <p:cTn id="55" dur="600" fill="hold"/>
                                        <p:tgtEl>
                                          <p:spTgt spid="13"/>
                                        </p:tgtEl>
                                        <p:attrNameLst>
                                          <p:attrName>ppt_x</p:attrName>
                                        </p:attrNameLst>
                                      </p:cBhvr>
                                      <p:tavLst>
                                        <p:tav tm="0">
                                          <p:val>
                                            <p:strVal val="#ppt_x"/>
                                          </p:val>
                                        </p:tav>
                                        <p:tav tm="100000">
                                          <p:val>
                                            <p:strVal val="#ppt_x"/>
                                          </p:val>
                                        </p:tav>
                                      </p:tavLst>
                                    </p:anim>
                                    <p:anim calcmode="lin" valueType="num">
                                      <p:cBhvr additive="base">
                                        <p:cTn id="56" dur="600" fill="hold"/>
                                        <p:tgtEl>
                                          <p:spTgt spid="13"/>
                                        </p:tgtEl>
                                        <p:attrNameLst>
                                          <p:attrName>ppt_y</p:attrName>
                                        </p:attrNameLst>
                                      </p:cBhvr>
                                      <p:tavLst>
                                        <p:tav tm="0">
                                          <p:val>
                                            <p:strVal val="#ppt_y+0.08"/>
                                          </p:val>
                                        </p:tav>
                                        <p:tav tm="100000">
                                          <p:val>
                                            <p:strVal val="#ppt_y"/>
                                          </p:val>
                                        </p:tav>
                                      </p:tavLst>
                                    </p:anim>
                                  </p:childTnLst>
                                </p:cTn>
                              </p:par>
                              <p:par>
                                <p:cTn id="62" presetID="42" presetClass="entr" presetSubtype="0" fill="hold" grpId="0" nodeType="withEffect">
                                  <p:stCondLst>
                                    <p:cond delay="57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600"/>
                                        <p:tgtEl>
                                          <p:spTgt spid="14"/>
                                        </p:tgtEl>
                                      </p:cBhvr>
                                    </p:animEffect>
                                    <p:anim calcmode="lin" valueType="num">
                                      <p:cBhvr additive="base">
                                        <p:cTn id="60" dur="600" fill="hold"/>
                                        <p:tgtEl>
                                          <p:spTgt spid="14"/>
                                        </p:tgtEl>
                                        <p:attrNameLst>
                                          <p:attrName>ppt_x</p:attrName>
                                        </p:attrNameLst>
                                      </p:cBhvr>
                                      <p:tavLst>
                                        <p:tav tm="0">
                                          <p:val>
                                            <p:strVal val="#ppt_x"/>
                                          </p:val>
                                        </p:tav>
                                        <p:tav tm="100000">
                                          <p:val>
                                            <p:strVal val="#ppt_x"/>
                                          </p:val>
                                        </p:tav>
                                      </p:tavLst>
                                    </p:anim>
                                    <p:anim calcmode="lin" valueType="num">
                                      <p:cBhvr additive="base">
                                        <p:cTn id="61" dur="600" fill="hold"/>
                                        <p:tgtEl>
                                          <p:spTgt spid="14"/>
                                        </p:tgtEl>
                                        <p:attrNameLst>
                                          <p:attrName>ppt_y</p:attrName>
                                        </p:attrNameLst>
                                      </p:cBhvr>
                                      <p:tavLst>
                                        <p:tav tm="0">
                                          <p:val>
                                            <p:strVal val="#ppt_y+0.08"/>
                                          </p:val>
                                        </p:tav>
                                        <p:tav tm="100000">
                                          <p:val>
                                            <p:strVal val="#ppt_y"/>
                                          </p:val>
                                        </p:tav>
                                      </p:tavLst>
                                    </p:anim>
                                  </p:childTnLst>
                                </p:cTn>
                              </p:par>
                              <p:par>
                                <p:cTn id="67" presetID="42" presetClass="entr" presetSubtype="0" fill="hold" grpId="0" nodeType="withEffect">
                                  <p:stCondLst>
                                    <p:cond delay="64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600"/>
                                        <p:tgtEl>
                                          <p:spTgt spid="15"/>
                                        </p:tgtEl>
                                      </p:cBhvr>
                                    </p:animEffect>
                                    <p:anim calcmode="lin" valueType="num">
                                      <p:cBhvr additive="base">
                                        <p:cTn id="65" dur="600" fill="hold"/>
                                        <p:tgtEl>
                                          <p:spTgt spid="15"/>
                                        </p:tgtEl>
                                        <p:attrNameLst>
                                          <p:attrName>ppt_x</p:attrName>
                                        </p:attrNameLst>
                                      </p:cBhvr>
                                      <p:tavLst>
                                        <p:tav tm="0">
                                          <p:val>
                                            <p:strVal val="#ppt_x"/>
                                          </p:val>
                                        </p:tav>
                                        <p:tav tm="100000">
                                          <p:val>
                                            <p:strVal val="#ppt_x"/>
                                          </p:val>
                                        </p:tav>
                                      </p:tavLst>
                                    </p:anim>
                                    <p:anim calcmode="lin" valueType="num">
                                      <p:cBhvr additive="base">
                                        <p:cTn id="66" dur="600" fill="hold"/>
                                        <p:tgtEl>
                                          <p:spTgt spid="15"/>
                                        </p:tgtEl>
                                        <p:attrNameLst>
                                          <p:attrName>ppt_y</p:attrName>
                                        </p:attrNameLst>
                                      </p:cBhvr>
                                      <p:tavLst>
                                        <p:tav tm="0">
                                          <p:val>
                                            <p:strVal val="#ppt_y+0.08"/>
                                          </p:val>
                                        </p:tav>
                                        <p:tav tm="100000">
                                          <p:val>
                                            <p:strVal val="#ppt_y"/>
                                          </p:val>
                                        </p:tav>
                                      </p:tavLst>
                                    </p:anim>
                                  </p:childTnLst>
                                </p:cTn>
                              </p:par>
                              <p:par>
                                <p:cTn id="72" presetID="42" presetClass="entr" presetSubtype="0" fill="hold" grpId="0" nodeType="withEffect">
                                  <p:stCondLst>
                                    <p:cond delay="71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600"/>
                                        <p:tgtEl>
                                          <p:spTgt spid="16"/>
                                        </p:tgtEl>
                                      </p:cBhvr>
                                    </p:animEffect>
                                    <p:anim calcmode="lin" valueType="num">
                                      <p:cBhvr additive="base">
                                        <p:cTn id="70" dur="600" fill="hold"/>
                                        <p:tgtEl>
                                          <p:spTgt spid="16"/>
                                        </p:tgtEl>
                                        <p:attrNameLst>
                                          <p:attrName>ppt_x</p:attrName>
                                        </p:attrNameLst>
                                      </p:cBhvr>
                                      <p:tavLst>
                                        <p:tav tm="0">
                                          <p:val>
                                            <p:strVal val="#ppt_x"/>
                                          </p:val>
                                        </p:tav>
                                        <p:tav tm="100000">
                                          <p:val>
                                            <p:strVal val="#ppt_x"/>
                                          </p:val>
                                        </p:tav>
                                      </p:tavLst>
                                    </p:anim>
                                    <p:anim calcmode="lin" valueType="num">
                                      <p:cBhvr additive="base">
                                        <p:cTn id="71" dur="600" fill="hold"/>
                                        <p:tgtEl>
                                          <p:spTgt spid="16"/>
                                        </p:tgtEl>
                                        <p:attrNameLst>
                                          <p:attrName>ppt_y</p:attrName>
                                        </p:attrNameLst>
                                      </p:cBhvr>
                                      <p:tavLst>
                                        <p:tav tm="0">
                                          <p:val>
                                            <p:strVal val="#ppt_y+0.08"/>
                                          </p:val>
                                        </p:tav>
                                        <p:tav tm="100000">
                                          <p:val>
                                            <p:strVal val="#ppt_y"/>
                                          </p:val>
                                        </p:tav>
                                      </p:tavLst>
                                    </p:anim>
                                  </p:childTnLst>
                                </p:cTn>
                              </p:par>
                              <p:par>
                                <p:cTn id="77" presetID="42" presetClass="entr" presetSubtype="0" fill="hold" grpId="0" nodeType="withEffect">
                                  <p:stCondLst>
                                    <p:cond delay="78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600"/>
                                        <p:tgtEl>
                                          <p:spTgt spid="17"/>
                                        </p:tgtEl>
                                      </p:cBhvr>
                                    </p:animEffect>
                                    <p:anim calcmode="lin" valueType="num">
                                      <p:cBhvr additive="base">
                                        <p:cTn id="75" dur="600" fill="hold"/>
                                        <p:tgtEl>
                                          <p:spTgt spid="17"/>
                                        </p:tgtEl>
                                        <p:attrNameLst>
                                          <p:attrName>ppt_x</p:attrName>
                                        </p:attrNameLst>
                                      </p:cBhvr>
                                      <p:tavLst>
                                        <p:tav tm="0">
                                          <p:val>
                                            <p:strVal val="#ppt_x"/>
                                          </p:val>
                                        </p:tav>
                                        <p:tav tm="100000">
                                          <p:val>
                                            <p:strVal val="#ppt_x"/>
                                          </p:val>
                                        </p:tav>
                                      </p:tavLst>
                                    </p:anim>
                                    <p:anim calcmode="lin" valueType="num">
                                      <p:cBhvr additive="base">
                                        <p:cTn id="76" dur="600" fill="hold"/>
                                        <p:tgtEl>
                                          <p:spTgt spid="17"/>
                                        </p:tgtEl>
                                        <p:attrNameLst>
                                          <p:attrName>ppt_y</p:attrName>
                                        </p:attrNameLst>
                                      </p:cBhvr>
                                      <p:tavLst>
                                        <p:tav tm="0">
                                          <p:val>
                                            <p:strVal val="#ppt_y+0.08"/>
                                          </p:val>
                                        </p:tav>
                                        <p:tav tm="100000">
                                          <p:val>
                                            <p:strVal val="#ppt_y"/>
                                          </p:val>
                                        </p:tav>
                                      </p:tavLst>
                                    </p:anim>
                                  </p:childTnLst>
                                </p:cTn>
                              </p:par>
                              <p:par>
                                <p:cTn id="82" presetID="42" presetClass="entr" presetSubtype="0" fill="hold" grpId="0" nodeType="withEffect">
                                  <p:stCondLst>
                                    <p:cond delay="85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600"/>
                                        <p:tgtEl>
                                          <p:spTgt spid="18"/>
                                        </p:tgtEl>
                                      </p:cBhvr>
                                    </p:animEffect>
                                    <p:anim calcmode="lin" valueType="num">
                                      <p:cBhvr additive="base">
                                        <p:cTn id="80" dur="600" fill="hold"/>
                                        <p:tgtEl>
                                          <p:spTgt spid="18"/>
                                        </p:tgtEl>
                                        <p:attrNameLst>
                                          <p:attrName>ppt_x</p:attrName>
                                        </p:attrNameLst>
                                      </p:cBhvr>
                                      <p:tavLst>
                                        <p:tav tm="0">
                                          <p:val>
                                            <p:strVal val="#ppt_x"/>
                                          </p:val>
                                        </p:tav>
                                        <p:tav tm="100000">
                                          <p:val>
                                            <p:strVal val="#ppt_x"/>
                                          </p:val>
                                        </p:tav>
                                      </p:tavLst>
                                    </p:anim>
                                    <p:anim calcmode="lin" valueType="num">
                                      <p:cBhvr additive="base">
                                        <p:cTn id="81" dur="600" fill="hold"/>
                                        <p:tgtEl>
                                          <p:spTgt spid="18"/>
                                        </p:tgtEl>
                                        <p:attrNameLst>
                                          <p:attrName>ppt_y</p:attrName>
                                        </p:attrNameLst>
                                      </p:cBhvr>
                                      <p:tavLst>
                                        <p:tav tm="0">
                                          <p:val>
                                            <p:strVal val="#ppt_y+0.08"/>
                                          </p:val>
                                        </p:tav>
                                        <p:tav tm="100000">
                                          <p:val>
                                            <p:strVal val="#ppt_y"/>
                                          </p:val>
                                        </p:tav>
                                      </p:tavLst>
                                    </p:anim>
                                  </p:childTnLst>
                                </p:cTn>
                              </p:par>
                              <p:par>
                                <p:cTn id="87" presetID="42" presetClass="entr" presetSubtype="0" fill="hold" grpId="0" nodeType="withEffect">
                                  <p:stCondLst>
                                    <p:cond delay="72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600"/>
                                        <p:tgtEl>
                                          <p:spTgt spid="19"/>
                                        </p:tgtEl>
                                      </p:cBhvr>
                                    </p:animEffect>
                                    <p:anim calcmode="lin" valueType="num">
                                      <p:cBhvr additive="base">
                                        <p:cTn id="85" dur="600" fill="hold"/>
                                        <p:tgtEl>
                                          <p:spTgt spid="19"/>
                                        </p:tgtEl>
                                        <p:attrNameLst>
                                          <p:attrName>ppt_x</p:attrName>
                                        </p:attrNameLst>
                                      </p:cBhvr>
                                      <p:tavLst>
                                        <p:tav tm="0">
                                          <p:val>
                                            <p:strVal val="#ppt_x"/>
                                          </p:val>
                                        </p:tav>
                                        <p:tav tm="100000">
                                          <p:val>
                                            <p:strVal val="#ppt_x"/>
                                          </p:val>
                                        </p:tav>
                                      </p:tavLst>
                                    </p:anim>
                                    <p:anim calcmode="lin" valueType="num">
                                      <p:cBhvr additive="base">
                                        <p:cTn id="86" dur="600" fill="hold"/>
                                        <p:tgtEl>
                                          <p:spTgt spid="19"/>
                                        </p:tgtEl>
                                        <p:attrNameLst>
                                          <p:attrName>ppt_y</p:attrName>
                                        </p:attrNameLst>
                                      </p:cBhvr>
                                      <p:tavLst>
                                        <p:tav tm="0">
                                          <p:val>
                                            <p:strVal val="#ppt_y+0.08"/>
                                          </p:val>
                                        </p:tav>
                                        <p:tav tm="100000">
                                          <p:val>
                                            <p:strVal val="#ppt_y"/>
                                          </p:val>
                                        </p:tav>
                                      </p:tavLst>
                                    </p:anim>
                                  </p:childTnLst>
                                </p:cTn>
                              </p:par>
                              <p:par>
                                <p:cTn id="92" presetID="42" presetClass="entr" presetSubtype="0" fill="hold" grpId="0" nodeType="withEffect">
                                  <p:stCondLst>
                                    <p:cond delay="790"/>
                                  </p:stCondLst>
                                  <p:childTnLst>
                                    <p:set>
                                      <p:cBhvr>
                                        <p:cTn id="88" dur="1" fill="hold">
                                          <p:stCondLst>
                                            <p:cond delay="0"/>
                                          </p:stCondLst>
                                        </p:cTn>
                                        <p:tgtEl>
                                          <p:spTgt spid="20"/>
                                        </p:tgtEl>
                                        <p:attrNameLst>
                                          <p:attrName>style.visibility</p:attrName>
                                        </p:attrNameLst>
                                      </p:cBhvr>
                                      <p:to>
                                        <p:strVal val="visible"/>
                                      </p:to>
                                    </p:set>
                                    <p:animEffect transition="in" filter="fade">
                                      <p:cBhvr>
                                        <p:cTn id="89" dur="600"/>
                                        <p:tgtEl>
                                          <p:spTgt spid="20"/>
                                        </p:tgtEl>
                                      </p:cBhvr>
                                    </p:animEffect>
                                    <p:anim calcmode="lin" valueType="num">
                                      <p:cBhvr additive="base">
                                        <p:cTn id="90" dur="600" fill="hold"/>
                                        <p:tgtEl>
                                          <p:spTgt spid="20"/>
                                        </p:tgtEl>
                                        <p:attrNameLst>
                                          <p:attrName>ppt_x</p:attrName>
                                        </p:attrNameLst>
                                      </p:cBhvr>
                                      <p:tavLst>
                                        <p:tav tm="0">
                                          <p:val>
                                            <p:strVal val="#ppt_x"/>
                                          </p:val>
                                        </p:tav>
                                        <p:tav tm="100000">
                                          <p:val>
                                            <p:strVal val="#ppt_x"/>
                                          </p:val>
                                        </p:tav>
                                      </p:tavLst>
                                    </p:anim>
                                    <p:anim calcmode="lin" valueType="num">
                                      <p:cBhvr additive="base">
                                        <p:cTn id="91" dur="600" fill="hold"/>
                                        <p:tgtEl>
                                          <p:spTgt spid="20"/>
                                        </p:tgtEl>
                                        <p:attrNameLst>
                                          <p:attrName>ppt_y</p:attrName>
                                        </p:attrNameLst>
                                      </p:cBhvr>
                                      <p:tavLst>
                                        <p:tav tm="0">
                                          <p:val>
                                            <p:strVal val="#ppt_y+0.08"/>
                                          </p:val>
                                        </p:tav>
                                        <p:tav tm="100000">
                                          <p:val>
                                            <p:strVal val="#ppt_y"/>
                                          </p:val>
                                        </p:tav>
                                      </p:tavLst>
                                    </p:anim>
                                  </p:childTnLst>
                                </p:cTn>
                              </p:par>
                              <p:par>
                                <p:cTn id="97" presetID="42" presetClass="entr" presetSubtype="0" fill="hold" grpId="0" nodeType="withEffect">
                                  <p:stCondLst>
                                    <p:cond delay="86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600"/>
                                        <p:tgtEl>
                                          <p:spTgt spid="21"/>
                                        </p:tgtEl>
                                      </p:cBhvr>
                                    </p:animEffect>
                                    <p:anim calcmode="lin" valueType="num">
                                      <p:cBhvr additive="base">
                                        <p:cTn id="95" dur="600" fill="hold"/>
                                        <p:tgtEl>
                                          <p:spTgt spid="21"/>
                                        </p:tgtEl>
                                        <p:attrNameLst>
                                          <p:attrName>ppt_x</p:attrName>
                                        </p:attrNameLst>
                                      </p:cBhvr>
                                      <p:tavLst>
                                        <p:tav tm="0">
                                          <p:val>
                                            <p:strVal val="#ppt_x"/>
                                          </p:val>
                                        </p:tav>
                                        <p:tav tm="100000">
                                          <p:val>
                                            <p:strVal val="#ppt_x"/>
                                          </p:val>
                                        </p:tav>
                                      </p:tavLst>
                                    </p:anim>
                                    <p:anim calcmode="lin" valueType="num">
                                      <p:cBhvr additive="base">
                                        <p:cTn id="96" dur="600" fill="hold"/>
                                        <p:tgtEl>
                                          <p:spTgt spid="21"/>
                                        </p:tgtEl>
                                        <p:attrNameLst>
                                          <p:attrName>ppt_y</p:attrName>
                                        </p:attrNameLst>
                                      </p:cBhvr>
                                      <p:tavLst>
                                        <p:tav tm="0">
                                          <p:val>
                                            <p:strVal val="#ppt_y+0.08"/>
                                          </p:val>
                                        </p:tav>
                                        <p:tav tm="100000">
                                          <p:val>
                                            <p:strVal val="#ppt_y"/>
                                          </p:val>
                                        </p:tav>
                                      </p:tavLst>
                                    </p:anim>
                                  </p:childTnLst>
                                </p:cTn>
                              </p:par>
                              <p:par>
                                <p:cTn id="102" presetID="42" presetClass="entr" presetSubtype="0" fill="hold" grpId="0" nodeType="withEffect">
                                  <p:stCondLst>
                                    <p:cond delay="930"/>
                                  </p:stCondLst>
                                  <p:childTnLst>
                                    <p:set>
                                      <p:cBhvr>
                                        <p:cTn id="98" dur="1" fill="hold">
                                          <p:stCondLst>
                                            <p:cond delay="0"/>
                                          </p:stCondLst>
                                        </p:cTn>
                                        <p:tgtEl>
                                          <p:spTgt spid="22"/>
                                        </p:tgtEl>
                                        <p:attrNameLst>
                                          <p:attrName>style.visibility</p:attrName>
                                        </p:attrNameLst>
                                      </p:cBhvr>
                                      <p:to>
                                        <p:strVal val="visible"/>
                                      </p:to>
                                    </p:set>
                                    <p:animEffect transition="in" filter="fade">
                                      <p:cBhvr>
                                        <p:cTn id="99" dur="600"/>
                                        <p:tgtEl>
                                          <p:spTgt spid="22"/>
                                        </p:tgtEl>
                                      </p:cBhvr>
                                    </p:animEffect>
                                    <p:anim calcmode="lin" valueType="num">
                                      <p:cBhvr additive="base">
                                        <p:cTn id="100" dur="600" fill="hold"/>
                                        <p:tgtEl>
                                          <p:spTgt spid="22"/>
                                        </p:tgtEl>
                                        <p:attrNameLst>
                                          <p:attrName>ppt_x</p:attrName>
                                        </p:attrNameLst>
                                      </p:cBhvr>
                                      <p:tavLst>
                                        <p:tav tm="0">
                                          <p:val>
                                            <p:strVal val="#ppt_x"/>
                                          </p:val>
                                        </p:tav>
                                        <p:tav tm="100000">
                                          <p:val>
                                            <p:strVal val="#ppt_x"/>
                                          </p:val>
                                        </p:tav>
                                      </p:tavLst>
                                    </p:anim>
                                    <p:anim calcmode="lin" valueType="num">
                                      <p:cBhvr additive="base">
                                        <p:cTn id="101" dur="600" fill="hold"/>
                                        <p:tgtEl>
                                          <p:spTgt spid="22"/>
                                        </p:tgtEl>
                                        <p:attrNameLst>
                                          <p:attrName>ppt_y</p:attrName>
                                        </p:attrNameLst>
                                      </p:cBhvr>
                                      <p:tavLst>
                                        <p:tav tm="0">
                                          <p:val>
                                            <p:strVal val="#ppt_y+0.08"/>
                                          </p:val>
                                        </p:tav>
                                        <p:tav tm="100000">
                                          <p:val>
                                            <p:strVal val="#ppt_y"/>
                                          </p:val>
                                        </p:tav>
                                      </p:tavLst>
                                    </p:anim>
                                  </p:childTnLst>
                                </p:cTn>
                              </p:par>
                              <p:par>
                                <p:cTn id="107" presetID="42" presetClass="entr" presetSubtype="0" fill="hold" grpId="0" nodeType="withEffect">
                                  <p:stCondLst>
                                    <p:cond delay="1000"/>
                                  </p:stCondLst>
                                  <p:childTnLst>
                                    <p:set>
                                      <p:cBhvr>
                                        <p:cTn id="103" dur="1" fill="hold">
                                          <p:stCondLst>
                                            <p:cond delay="0"/>
                                          </p:stCondLst>
                                        </p:cTn>
                                        <p:tgtEl>
                                          <p:spTgt spid="23"/>
                                        </p:tgtEl>
                                        <p:attrNameLst>
                                          <p:attrName>style.visibility</p:attrName>
                                        </p:attrNameLst>
                                      </p:cBhvr>
                                      <p:to>
                                        <p:strVal val="visible"/>
                                      </p:to>
                                    </p:set>
                                    <p:animEffect transition="in" filter="fade">
                                      <p:cBhvr>
                                        <p:cTn id="104" dur="600"/>
                                        <p:tgtEl>
                                          <p:spTgt spid="23"/>
                                        </p:tgtEl>
                                      </p:cBhvr>
                                    </p:animEffect>
                                    <p:anim calcmode="lin" valueType="num">
                                      <p:cBhvr additive="base">
                                        <p:cTn id="105" dur="600" fill="hold"/>
                                        <p:tgtEl>
                                          <p:spTgt spid="23"/>
                                        </p:tgtEl>
                                        <p:attrNameLst>
                                          <p:attrName>ppt_x</p:attrName>
                                        </p:attrNameLst>
                                      </p:cBhvr>
                                      <p:tavLst>
                                        <p:tav tm="0">
                                          <p:val>
                                            <p:strVal val="#ppt_x"/>
                                          </p:val>
                                        </p:tav>
                                        <p:tav tm="100000">
                                          <p:val>
                                            <p:strVal val="#ppt_x"/>
                                          </p:val>
                                        </p:tav>
                                      </p:tavLst>
                                    </p:anim>
                                    <p:anim calcmode="lin" valueType="num">
                                      <p:cBhvr additive="base">
                                        <p:cTn id="106" dur="600" fill="hold"/>
                                        <p:tgtEl>
                                          <p:spTgt spid="23"/>
                                        </p:tgtEl>
                                        <p:attrNameLst>
                                          <p:attrName>ppt_y</p:attrName>
                                        </p:attrNameLst>
                                      </p:cBhvr>
                                      <p:tavLst>
                                        <p:tav tm="0">
                                          <p:val>
                                            <p:strVal val="#ppt_y+0.08"/>
                                          </p:val>
                                        </p:tav>
                                        <p:tav tm="100000">
                                          <p:val>
                                            <p:strVal val="#ppt_y"/>
                                          </p:val>
                                        </p:tav>
                                      </p:tavLst>
                                    </p:anim>
                                  </p:childTnLst>
                                </p:cTn>
                              </p:par>
                              <p:par>
                                <p:cTn id="112" presetID="42" presetClass="entr" presetSubtype="0" fill="hold" grpId="0" nodeType="withEffect">
                                  <p:stCondLst>
                                    <p:cond delay="1070"/>
                                  </p:stCondLst>
                                  <p:childTnLst>
                                    <p:set>
                                      <p:cBhvr>
                                        <p:cTn id="108" dur="1" fill="hold">
                                          <p:stCondLst>
                                            <p:cond delay="0"/>
                                          </p:stCondLst>
                                        </p:cTn>
                                        <p:tgtEl>
                                          <p:spTgt spid="24"/>
                                        </p:tgtEl>
                                        <p:attrNameLst>
                                          <p:attrName>style.visibility</p:attrName>
                                        </p:attrNameLst>
                                      </p:cBhvr>
                                      <p:to>
                                        <p:strVal val="visible"/>
                                      </p:to>
                                    </p:set>
                                    <p:animEffect transition="in" filter="fade">
                                      <p:cBhvr>
                                        <p:cTn id="109" dur="600"/>
                                        <p:tgtEl>
                                          <p:spTgt spid="24"/>
                                        </p:tgtEl>
                                      </p:cBhvr>
                                    </p:animEffect>
                                    <p:anim calcmode="lin" valueType="num">
                                      <p:cBhvr additive="base">
                                        <p:cTn id="110" dur="600" fill="hold"/>
                                        <p:tgtEl>
                                          <p:spTgt spid="24"/>
                                        </p:tgtEl>
                                        <p:attrNameLst>
                                          <p:attrName>ppt_x</p:attrName>
                                        </p:attrNameLst>
                                      </p:cBhvr>
                                      <p:tavLst>
                                        <p:tav tm="0">
                                          <p:val>
                                            <p:strVal val="#ppt_x"/>
                                          </p:val>
                                        </p:tav>
                                        <p:tav tm="100000">
                                          <p:val>
                                            <p:strVal val="#ppt_x"/>
                                          </p:val>
                                        </p:tav>
                                      </p:tavLst>
                                    </p:anim>
                                    <p:anim calcmode="lin" valueType="num">
                                      <p:cBhvr additive="base">
                                        <p:cTn id="111" dur="600" fill="hold"/>
                                        <p:tgtEl>
                                          <p:spTgt spid="24"/>
                                        </p:tgtEl>
                                        <p:attrNameLst>
                                          <p:attrName>ppt_y</p:attrName>
                                        </p:attrNameLst>
                                      </p:cBhvr>
                                      <p:tavLst>
                                        <p:tav tm="0">
                                          <p:val>
                                            <p:strVal val="#ppt_y+0.08"/>
                                          </p:val>
                                        </p:tav>
                                        <p:tav tm="100000">
                                          <p:val>
                                            <p:strVal val="#ppt_y"/>
                                          </p:val>
                                        </p:tav>
                                      </p:tavLst>
                                    </p:anim>
                                  </p:childTnLst>
                                </p:cTn>
                              </p:par>
                              <p:par>
                                <p:cTn id="117" presetID="42" presetClass="entr" presetSubtype="0" fill="hold" grpId="0" nodeType="withEffect">
                                  <p:stCondLst>
                                    <p:cond delay="1140"/>
                                  </p:stCondLst>
                                  <p:childTnLst>
                                    <p:set>
                                      <p:cBhvr>
                                        <p:cTn id="113" dur="1" fill="hold">
                                          <p:stCondLst>
                                            <p:cond delay="0"/>
                                          </p:stCondLst>
                                        </p:cTn>
                                        <p:tgtEl>
                                          <p:spTgt spid="25"/>
                                        </p:tgtEl>
                                        <p:attrNameLst>
                                          <p:attrName>style.visibility</p:attrName>
                                        </p:attrNameLst>
                                      </p:cBhvr>
                                      <p:to>
                                        <p:strVal val="visible"/>
                                      </p:to>
                                    </p:set>
                                    <p:animEffect transition="in" filter="fade">
                                      <p:cBhvr>
                                        <p:cTn id="114" dur="600"/>
                                        <p:tgtEl>
                                          <p:spTgt spid="25"/>
                                        </p:tgtEl>
                                      </p:cBhvr>
                                    </p:animEffect>
                                    <p:anim calcmode="lin" valueType="num">
                                      <p:cBhvr additive="base">
                                        <p:cTn id="115" dur="600" fill="hold"/>
                                        <p:tgtEl>
                                          <p:spTgt spid="25"/>
                                        </p:tgtEl>
                                        <p:attrNameLst>
                                          <p:attrName>ppt_x</p:attrName>
                                        </p:attrNameLst>
                                      </p:cBhvr>
                                      <p:tavLst>
                                        <p:tav tm="0">
                                          <p:val>
                                            <p:strVal val="#ppt_x"/>
                                          </p:val>
                                        </p:tav>
                                        <p:tav tm="100000">
                                          <p:val>
                                            <p:strVal val="#ppt_x"/>
                                          </p:val>
                                        </p:tav>
                                      </p:tavLst>
                                    </p:anim>
                                    <p:anim calcmode="lin" valueType="num">
                                      <p:cBhvr additive="base">
                                        <p:cTn id="116" dur="600" fill="hold"/>
                                        <p:tgtEl>
                                          <p:spTgt spid="25"/>
                                        </p:tgtEl>
                                        <p:attrNameLst>
                                          <p:attrName>ppt_y</p:attrName>
                                        </p:attrNameLst>
                                      </p:cBhvr>
                                      <p:tavLst>
                                        <p:tav tm="0">
                                          <p:val>
                                            <p:strVal val="#ppt_y+0.08"/>
                                          </p:val>
                                        </p:tav>
                                        <p:tav tm="100000">
                                          <p:val>
                                            <p:strVal val="#ppt_y"/>
                                          </p:val>
                                        </p:tav>
                                      </p:tavLst>
                                    </p:anim>
                                  </p:childTnLst>
                                </p:cTn>
                              </p:par>
                              <p:par>
                                <p:cTn id="122" presetID="42" presetClass="entr" presetSubtype="0" fill="hold" grpId="0" nodeType="withEffect">
                                  <p:stCondLst>
                                    <p:cond delay="1210"/>
                                  </p:stCondLst>
                                  <p:childTnLst>
                                    <p:set>
                                      <p:cBhvr>
                                        <p:cTn id="118" dur="1" fill="hold">
                                          <p:stCondLst>
                                            <p:cond delay="0"/>
                                          </p:stCondLst>
                                        </p:cTn>
                                        <p:tgtEl>
                                          <p:spTgt spid="26"/>
                                        </p:tgtEl>
                                        <p:attrNameLst>
                                          <p:attrName>style.visibility</p:attrName>
                                        </p:attrNameLst>
                                      </p:cBhvr>
                                      <p:to>
                                        <p:strVal val="visible"/>
                                      </p:to>
                                    </p:set>
                                    <p:animEffect transition="in" filter="fade">
                                      <p:cBhvr>
                                        <p:cTn id="119" dur="600"/>
                                        <p:tgtEl>
                                          <p:spTgt spid="26"/>
                                        </p:tgtEl>
                                      </p:cBhvr>
                                    </p:animEffect>
                                    <p:anim calcmode="lin" valueType="num">
                                      <p:cBhvr additive="base">
                                        <p:cTn id="120" dur="600" fill="hold"/>
                                        <p:tgtEl>
                                          <p:spTgt spid="26"/>
                                        </p:tgtEl>
                                        <p:attrNameLst>
                                          <p:attrName>ppt_x</p:attrName>
                                        </p:attrNameLst>
                                      </p:cBhvr>
                                      <p:tavLst>
                                        <p:tav tm="0">
                                          <p:val>
                                            <p:strVal val="#ppt_x"/>
                                          </p:val>
                                        </p:tav>
                                        <p:tav tm="100000">
                                          <p:val>
                                            <p:strVal val="#ppt_x"/>
                                          </p:val>
                                        </p:tav>
                                      </p:tavLst>
                                    </p:anim>
                                    <p:anim calcmode="lin" valueType="num">
                                      <p:cBhvr additive="base">
                                        <p:cTn id="121" dur="600" fill="hold"/>
                                        <p:tgtEl>
                                          <p:spTgt spid="26"/>
                                        </p:tgtEl>
                                        <p:attrNameLst>
                                          <p:attrName>ppt_y</p:attrName>
                                        </p:attrNameLst>
                                      </p:cBhvr>
                                      <p:tavLst>
                                        <p:tav tm="0">
                                          <p:val>
                                            <p:strVal val="#ppt_y+0.08"/>
                                          </p:val>
                                        </p:tav>
                                        <p:tav tm="100000">
                                          <p:val>
                                            <p:strVal val="#ppt_y"/>
                                          </p:val>
                                        </p:tav>
                                      </p:tavLst>
                                    </p:anim>
                                  </p:childTnLst>
                                </p:cTn>
                              </p:par>
                              <p:par>
                                <p:cTn id="127" presetID="42" presetClass="entr" presetSubtype="0" fill="hold" grpId="0" nodeType="withEffect">
                                  <p:stCondLst>
                                    <p:cond delay="1080"/>
                                  </p:stCondLst>
                                  <p:childTnLst>
                                    <p:set>
                                      <p:cBhvr>
                                        <p:cTn id="123" dur="1" fill="hold">
                                          <p:stCondLst>
                                            <p:cond delay="0"/>
                                          </p:stCondLst>
                                        </p:cTn>
                                        <p:tgtEl>
                                          <p:spTgt spid="27"/>
                                        </p:tgtEl>
                                        <p:attrNameLst>
                                          <p:attrName>style.visibility</p:attrName>
                                        </p:attrNameLst>
                                      </p:cBhvr>
                                      <p:to>
                                        <p:strVal val="visible"/>
                                      </p:to>
                                    </p:set>
                                    <p:animEffect transition="in" filter="fade">
                                      <p:cBhvr>
                                        <p:cTn id="124" dur="600"/>
                                        <p:tgtEl>
                                          <p:spTgt spid="27"/>
                                        </p:tgtEl>
                                      </p:cBhvr>
                                    </p:animEffect>
                                    <p:anim calcmode="lin" valueType="num">
                                      <p:cBhvr additive="base">
                                        <p:cTn id="125" dur="600" fill="hold"/>
                                        <p:tgtEl>
                                          <p:spTgt spid="27"/>
                                        </p:tgtEl>
                                        <p:attrNameLst>
                                          <p:attrName>ppt_x</p:attrName>
                                        </p:attrNameLst>
                                      </p:cBhvr>
                                      <p:tavLst>
                                        <p:tav tm="0">
                                          <p:val>
                                            <p:strVal val="#ppt_x"/>
                                          </p:val>
                                        </p:tav>
                                        <p:tav tm="100000">
                                          <p:val>
                                            <p:strVal val="#ppt_x"/>
                                          </p:val>
                                        </p:tav>
                                      </p:tavLst>
                                    </p:anim>
                                    <p:anim calcmode="lin" valueType="num">
                                      <p:cBhvr additive="base">
                                        <p:cTn id="126" dur="600" fill="hold"/>
                                        <p:tgtEl>
                                          <p:spTgt spid="27"/>
                                        </p:tgtEl>
                                        <p:attrNameLst>
                                          <p:attrName>ppt_y</p:attrName>
                                        </p:attrNameLst>
                                      </p:cBhvr>
                                      <p:tavLst>
                                        <p:tav tm="0">
                                          <p:val>
                                            <p:strVal val="#ppt_y+0.08"/>
                                          </p:val>
                                        </p:tav>
                                        <p:tav tm="100000">
                                          <p:val>
                                            <p:strVal val="#ppt_y"/>
                                          </p:val>
                                        </p:tav>
                                      </p:tavLst>
                                    </p:anim>
                                  </p:childTnLst>
                                </p:cTn>
                              </p:par>
                              <p:par>
                                <p:cTn id="132" presetID="42" presetClass="entr" presetSubtype="0" fill="hold" grpId="0" nodeType="withEffect">
                                  <p:stCondLst>
                                    <p:cond delay="1150"/>
                                  </p:stCondLst>
                                  <p:childTnLst>
                                    <p:set>
                                      <p:cBhvr>
                                        <p:cTn id="128" dur="1" fill="hold">
                                          <p:stCondLst>
                                            <p:cond delay="0"/>
                                          </p:stCondLst>
                                        </p:cTn>
                                        <p:tgtEl>
                                          <p:spTgt spid="28"/>
                                        </p:tgtEl>
                                        <p:attrNameLst>
                                          <p:attrName>style.visibility</p:attrName>
                                        </p:attrNameLst>
                                      </p:cBhvr>
                                      <p:to>
                                        <p:strVal val="visible"/>
                                      </p:to>
                                    </p:set>
                                    <p:animEffect transition="in" filter="fade">
                                      <p:cBhvr>
                                        <p:cTn id="129" dur="600"/>
                                        <p:tgtEl>
                                          <p:spTgt spid="28"/>
                                        </p:tgtEl>
                                      </p:cBhvr>
                                    </p:animEffect>
                                    <p:anim calcmode="lin" valueType="num">
                                      <p:cBhvr additive="base">
                                        <p:cTn id="130" dur="600" fill="hold"/>
                                        <p:tgtEl>
                                          <p:spTgt spid="28"/>
                                        </p:tgtEl>
                                        <p:attrNameLst>
                                          <p:attrName>ppt_x</p:attrName>
                                        </p:attrNameLst>
                                      </p:cBhvr>
                                      <p:tavLst>
                                        <p:tav tm="0">
                                          <p:val>
                                            <p:strVal val="#ppt_x"/>
                                          </p:val>
                                        </p:tav>
                                        <p:tav tm="100000">
                                          <p:val>
                                            <p:strVal val="#ppt_x"/>
                                          </p:val>
                                        </p:tav>
                                      </p:tavLst>
                                    </p:anim>
                                    <p:anim calcmode="lin" valueType="num">
                                      <p:cBhvr additive="base">
                                        <p:cTn id="131" dur="600" fill="hold"/>
                                        <p:tgtEl>
                                          <p:spTgt spid="28"/>
                                        </p:tgtEl>
                                        <p:attrNameLst>
                                          <p:attrName>ppt_y</p:attrName>
                                        </p:attrNameLst>
                                      </p:cBhvr>
                                      <p:tavLst>
                                        <p:tav tm="0">
                                          <p:val>
                                            <p:strVal val="#ppt_y+0.08"/>
                                          </p:val>
                                        </p:tav>
                                        <p:tav tm="100000">
                                          <p:val>
                                            <p:strVal val="#ppt_y"/>
                                          </p:val>
                                        </p:tav>
                                      </p:tavLst>
                                    </p:anim>
                                  </p:childTnLst>
                                </p:cTn>
                              </p:par>
                              <p:par>
                                <p:cTn id="137" presetID="42" presetClass="entr" presetSubtype="0" fill="hold" grpId="0" nodeType="withEffect">
                                  <p:stCondLst>
                                    <p:cond delay="1220"/>
                                  </p:stCondLst>
                                  <p:childTnLst>
                                    <p:set>
                                      <p:cBhvr>
                                        <p:cTn id="133" dur="1" fill="hold">
                                          <p:stCondLst>
                                            <p:cond delay="0"/>
                                          </p:stCondLst>
                                        </p:cTn>
                                        <p:tgtEl>
                                          <p:spTgt spid="29"/>
                                        </p:tgtEl>
                                        <p:attrNameLst>
                                          <p:attrName>style.visibility</p:attrName>
                                        </p:attrNameLst>
                                      </p:cBhvr>
                                      <p:to>
                                        <p:strVal val="visible"/>
                                      </p:to>
                                    </p:set>
                                    <p:animEffect transition="in" filter="fade">
                                      <p:cBhvr>
                                        <p:cTn id="134" dur="600"/>
                                        <p:tgtEl>
                                          <p:spTgt spid="29"/>
                                        </p:tgtEl>
                                      </p:cBhvr>
                                    </p:animEffect>
                                    <p:anim calcmode="lin" valueType="num">
                                      <p:cBhvr additive="base">
                                        <p:cTn id="135" dur="600" fill="hold"/>
                                        <p:tgtEl>
                                          <p:spTgt spid="29"/>
                                        </p:tgtEl>
                                        <p:attrNameLst>
                                          <p:attrName>ppt_x</p:attrName>
                                        </p:attrNameLst>
                                      </p:cBhvr>
                                      <p:tavLst>
                                        <p:tav tm="0">
                                          <p:val>
                                            <p:strVal val="#ppt_x"/>
                                          </p:val>
                                        </p:tav>
                                        <p:tav tm="100000">
                                          <p:val>
                                            <p:strVal val="#ppt_x"/>
                                          </p:val>
                                        </p:tav>
                                      </p:tavLst>
                                    </p:anim>
                                    <p:anim calcmode="lin" valueType="num">
                                      <p:cBhvr additive="base">
                                        <p:cTn id="136" dur="600" fill="hold"/>
                                        <p:tgtEl>
                                          <p:spTgt spid="29"/>
                                        </p:tgtEl>
                                        <p:attrNameLst>
                                          <p:attrName>ppt_y</p:attrName>
                                        </p:attrNameLst>
                                      </p:cBhvr>
                                      <p:tavLst>
                                        <p:tav tm="0">
                                          <p:val>
                                            <p:strVal val="#ppt_y+0.08"/>
                                          </p:val>
                                        </p:tav>
                                        <p:tav tm="100000">
                                          <p:val>
                                            <p:strVal val="#ppt_y"/>
                                          </p:val>
                                        </p:tav>
                                      </p:tavLst>
                                    </p:anim>
                                  </p:childTnLst>
                                </p:cTn>
                              </p:par>
                              <p:par>
                                <p:cTn id="142" presetID="42" presetClass="entr" presetSubtype="0" fill="hold" grpId="0" nodeType="withEffect">
                                  <p:stCondLst>
                                    <p:cond delay="1290"/>
                                  </p:stCondLst>
                                  <p:childTnLst>
                                    <p:set>
                                      <p:cBhvr>
                                        <p:cTn id="138" dur="1" fill="hold">
                                          <p:stCondLst>
                                            <p:cond delay="0"/>
                                          </p:stCondLst>
                                        </p:cTn>
                                        <p:tgtEl>
                                          <p:spTgt spid="30"/>
                                        </p:tgtEl>
                                        <p:attrNameLst>
                                          <p:attrName>style.visibility</p:attrName>
                                        </p:attrNameLst>
                                      </p:cBhvr>
                                      <p:to>
                                        <p:strVal val="visible"/>
                                      </p:to>
                                    </p:set>
                                    <p:animEffect transition="in" filter="fade">
                                      <p:cBhvr>
                                        <p:cTn id="139" dur="600"/>
                                        <p:tgtEl>
                                          <p:spTgt spid="30"/>
                                        </p:tgtEl>
                                      </p:cBhvr>
                                    </p:animEffect>
                                    <p:anim calcmode="lin" valueType="num">
                                      <p:cBhvr additive="base">
                                        <p:cTn id="140" dur="600" fill="hold"/>
                                        <p:tgtEl>
                                          <p:spTgt spid="30"/>
                                        </p:tgtEl>
                                        <p:attrNameLst>
                                          <p:attrName>ppt_x</p:attrName>
                                        </p:attrNameLst>
                                      </p:cBhvr>
                                      <p:tavLst>
                                        <p:tav tm="0">
                                          <p:val>
                                            <p:strVal val="#ppt_x"/>
                                          </p:val>
                                        </p:tav>
                                        <p:tav tm="100000">
                                          <p:val>
                                            <p:strVal val="#ppt_x"/>
                                          </p:val>
                                        </p:tav>
                                      </p:tavLst>
                                    </p:anim>
                                    <p:anim calcmode="lin" valueType="num">
                                      <p:cBhvr additive="base">
                                        <p:cTn id="141" dur="600" fill="hold"/>
                                        <p:tgtEl>
                                          <p:spTgt spid="30"/>
                                        </p:tgtEl>
                                        <p:attrNameLst>
                                          <p:attrName>ppt_y</p:attrName>
                                        </p:attrNameLst>
                                      </p:cBhvr>
                                      <p:tavLst>
                                        <p:tav tm="0">
                                          <p:val>
                                            <p:strVal val="#ppt_y+0.08"/>
                                          </p:val>
                                        </p:tav>
                                        <p:tav tm="100000">
                                          <p:val>
                                            <p:strVal val="#ppt_y"/>
                                          </p:val>
                                        </p:tav>
                                      </p:tavLst>
                                    </p:anim>
                                  </p:childTnLst>
                                </p:cTn>
                              </p:par>
                              <p:par>
                                <p:cTn id="147" presetID="42" presetClass="entr" presetSubtype="0" fill="hold" grpId="0" nodeType="withEffect">
                                  <p:stCondLst>
                                    <p:cond delay="1360"/>
                                  </p:stCondLst>
                                  <p:childTnLst>
                                    <p:set>
                                      <p:cBhvr>
                                        <p:cTn id="143" dur="1" fill="hold">
                                          <p:stCondLst>
                                            <p:cond delay="0"/>
                                          </p:stCondLst>
                                        </p:cTn>
                                        <p:tgtEl>
                                          <p:spTgt spid="31"/>
                                        </p:tgtEl>
                                        <p:attrNameLst>
                                          <p:attrName>style.visibility</p:attrName>
                                        </p:attrNameLst>
                                      </p:cBhvr>
                                      <p:to>
                                        <p:strVal val="visible"/>
                                      </p:to>
                                    </p:set>
                                    <p:animEffect transition="in" filter="fade">
                                      <p:cBhvr>
                                        <p:cTn id="144" dur="600"/>
                                        <p:tgtEl>
                                          <p:spTgt spid="31"/>
                                        </p:tgtEl>
                                      </p:cBhvr>
                                    </p:animEffect>
                                    <p:anim calcmode="lin" valueType="num">
                                      <p:cBhvr additive="base">
                                        <p:cTn id="145" dur="600" fill="hold"/>
                                        <p:tgtEl>
                                          <p:spTgt spid="31"/>
                                        </p:tgtEl>
                                        <p:attrNameLst>
                                          <p:attrName>ppt_x</p:attrName>
                                        </p:attrNameLst>
                                      </p:cBhvr>
                                      <p:tavLst>
                                        <p:tav tm="0">
                                          <p:val>
                                            <p:strVal val="#ppt_x"/>
                                          </p:val>
                                        </p:tav>
                                        <p:tav tm="100000">
                                          <p:val>
                                            <p:strVal val="#ppt_x"/>
                                          </p:val>
                                        </p:tav>
                                      </p:tavLst>
                                    </p:anim>
                                    <p:anim calcmode="lin" valueType="num">
                                      <p:cBhvr additive="base">
                                        <p:cTn id="146" dur="600" fill="hold"/>
                                        <p:tgtEl>
                                          <p:spTgt spid="31"/>
                                        </p:tgtEl>
                                        <p:attrNameLst>
                                          <p:attrName>ppt_y</p:attrName>
                                        </p:attrNameLst>
                                      </p:cBhvr>
                                      <p:tavLst>
                                        <p:tav tm="0">
                                          <p:val>
                                            <p:strVal val="#ppt_y+0.08"/>
                                          </p:val>
                                        </p:tav>
                                        <p:tav tm="100000">
                                          <p:val>
                                            <p:strVal val="#ppt_y"/>
                                          </p:val>
                                        </p:tav>
                                      </p:tavLst>
                                    </p:anim>
                                  </p:childTnLst>
                                </p:cTn>
                              </p:par>
                              <p:par>
                                <p:cTn id="152" presetID="42" presetClass="entr" presetSubtype="0" fill="hold" grpId="0" nodeType="withEffect">
                                  <p:stCondLst>
                                    <p:cond delay="1430"/>
                                  </p:stCondLst>
                                  <p:childTnLst>
                                    <p:set>
                                      <p:cBhvr>
                                        <p:cTn id="148" dur="1" fill="hold">
                                          <p:stCondLst>
                                            <p:cond delay="0"/>
                                          </p:stCondLst>
                                        </p:cTn>
                                        <p:tgtEl>
                                          <p:spTgt spid="32"/>
                                        </p:tgtEl>
                                        <p:attrNameLst>
                                          <p:attrName>style.visibility</p:attrName>
                                        </p:attrNameLst>
                                      </p:cBhvr>
                                      <p:to>
                                        <p:strVal val="visible"/>
                                      </p:to>
                                    </p:set>
                                    <p:animEffect transition="in" filter="fade">
                                      <p:cBhvr>
                                        <p:cTn id="149" dur="600"/>
                                        <p:tgtEl>
                                          <p:spTgt spid="32"/>
                                        </p:tgtEl>
                                      </p:cBhvr>
                                    </p:animEffect>
                                    <p:anim calcmode="lin" valueType="num">
                                      <p:cBhvr additive="base">
                                        <p:cTn id="150" dur="600" fill="hold"/>
                                        <p:tgtEl>
                                          <p:spTgt spid="32"/>
                                        </p:tgtEl>
                                        <p:attrNameLst>
                                          <p:attrName>ppt_x</p:attrName>
                                        </p:attrNameLst>
                                      </p:cBhvr>
                                      <p:tavLst>
                                        <p:tav tm="0">
                                          <p:val>
                                            <p:strVal val="#ppt_x"/>
                                          </p:val>
                                        </p:tav>
                                        <p:tav tm="100000">
                                          <p:val>
                                            <p:strVal val="#ppt_x"/>
                                          </p:val>
                                        </p:tav>
                                      </p:tavLst>
                                    </p:anim>
                                    <p:anim calcmode="lin" valueType="num">
                                      <p:cBhvr additive="base">
                                        <p:cTn id="151" dur="600" fill="hold"/>
                                        <p:tgtEl>
                                          <p:spTgt spid="32"/>
                                        </p:tgtEl>
                                        <p:attrNameLst>
                                          <p:attrName>ppt_y</p:attrName>
                                        </p:attrNameLst>
                                      </p:cBhvr>
                                      <p:tavLst>
                                        <p:tav tm="0">
                                          <p:val>
                                            <p:strVal val="#ppt_y+0.08"/>
                                          </p:val>
                                        </p:tav>
                                        <p:tav tm="100000">
                                          <p:val>
                                            <p:strVal val="#ppt_y"/>
                                          </p:val>
                                        </p:tav>
                                      </p:tavLst>
                                    </p:anim>
                                  </p:childTnLst>
                                </p:cTn>
                              </p:par>
                              <p:par>
                                <p:cTn id="157" presetID="42" presetClass="entr" presetSubtype="0" fill="hold" grpId="0" nodeType="withEffect">
                                  <p:stCondLst>
                                    <p:cond delay="1500"/>
                                  </p:stCondLst>
                                  <p:childTnLst>
                                    <p:set>
                                      <p:cBhvr>
                                        <p:cTn id="153" dur="1" fill="hold">
                                          <p:stCondLst>
                                            <p:cond delay="0"/>
                                          </p:stCondLst>
                                        </p:cTn>
                                        <p:tgtEl>
                                          <p:spTgt spid="33"/>
                                        </p:tgtEl>
                                        <p:attrNameLst>
                                          <p:attrName>style.visibility</p:attrName>
                                        </p:attrNameLst>
                                      </p:cBhvr>
                                      <p:to>
                                        <p:strVal val="visible"/>
                                      </p:to>
                                    </p:set>
                                    <p:animEffect transition="in" filter="fade">
                                      <p:cBhvr>
                                        <p:cTn id="154" dur="600"/>
                                        <p:tgtEl>
                                          <p:spTgt spid="33"/>
                                        </p:tgtEl>
                                      </p:cBhvr>
                                    </p:animEffect>
                                    <p:anim calcmode="lin" valueType="num">
                                      <p:cBhvr additive="base">
                                        <p:cTn id="155" dur="600" fill="hold"/>
                                        <p:tgtEl>
                                          <p:spTgt spid="33"/>
                                        </p:tgtEl>
                                        <p:attrNameLst>
                                          <p:attrName>ppt_x</p:attrName>
                                        </p:attrNameLst>
                                      </p:cBhvr>
                                      <p:tavLst>
                                        <p:tav tm="0">
                                          <p:val>
                                            <p:strVal val="#ppt_x"/>
                                          </p:val>
                                        </p:tav>
                                        <p:tav tm="100000">
                                          <p:val>
                                            <p:strVal val="#ppt_x"/>
                                          </p:val>
                                        </p:tav>
                                      </p:tavLst>
                                    </p:anim>
                                    <p:anim calcmode="lin" valueType="num">
                                      <p:cBhvr additive="base">
                                        <p:cTn id="156" dur="600" fill="hold"/>
                                        <p:tgtEl>
                                          <p:spTgt spid="33"/>
                                        </p:tgtEl>
                                        <p:attrNameLst>
                                          <p:attrName>ppt_y</p:attrName>
                                        </p:attrNameLst>
                                      </p:cBhvr>
                                      <p:tavLst>
                                        <p:tav tm="0">
                                          <p:val>
                                            <p:strVal val="#ppt_y+0.08"/>
                                          </p:val>
                                        </p:tav>
                                        <p:tav tm="100000">
                                          <p:val>
                                            <p:strVal val="#ppt_y"/>
                                          </p:val>
                                        </p:tav>
                                      </p:tavLst>
                                    </p:anim>
                                  </p:childTnLst>
                                </p:cTn>
                              </p:par>
                              <p:par>
                                <p:cTn id="162" presetID="42" presetClass="entr" presetSubtype="0" fill="hold" grpId="0" nodeType="withEffect">
                                  <p:stCondLst>
                                    <p:cond delay="1570"/>
                                  </p:stCondLst>
                                  <p:childTnLst>
                                    <p:set>
                                      <p:cBhvr>
                                        <p:cTn id="158" dur="1" fill="hold">
                                          <p:stCondLst>
                                            <p:cond delay="0"/>
                                          </p:stCondLst>
                                        </p:cTn>
                                        <p:tgtEl>
                                          <p:spTgt spid="34"/>
                                        </p:tgtEl>
                                        <p:attrNameLst>
                                          <p:attrName>style.visibility</p:attrName>
                                        </p:attrNameLst>
                                      </p:cBhvr>
                                      <p:to>
                                        <p:strVal val="visible"/>
                                      </p:to>
                                    </p:set>
                                    <p:animEffect transition="in" filter="fade">
                                      <p:cBhvr>
                                        <p:cTn id="159" dur="600"/>
                                        <p:tgtEl>
                                          <p:spTgt spid="34"/>
                                        </p:tgtEl>
                                      </p:cBhvr>
                                    </p:animEffect>
                                    <p:anim calcmode="lin" valueType="num">
                                      <p:cBhvr additive="base">
                                        <p:cTn id="160" dur="600" fill="hold"/>
                                        <p:tgtEl>
                                          <p:spTgt spid="34"/>
                                        </p:tgtEl>
                                        <p:attrNameLst>
                                          <p:attrName>ppt_x</p:attrName>
                                        </p:attrNameLst>
                                      </p:cBhvr>
                                      <p:tavLst>
                                        <p:tav tm="0">
                                          <p:val>
                                            <p:strVal val="#ppt_x"/>
                                          </p:val>
                                        </p:tav>
                                        <p:tav tm="100000">
                                          <p:val>
                                            <p:strVal val="#ppt_x"/>
                                          </p:val>
                                        </p:tav>
                                      </p:tavLst>
                                    </p:anim>
                                    <p:anim calcmode="lin" valueType="num">
                                      <p:cBhvr additive="base">
                                        <p:cTn id="161" dur="600" fill="hold"/>
                                        <p:tgtEl>
                                          <p:spTgt spid="34"/>
                                        </p:tgtEl>
                                        <p:attrNameLst>
                                          <p:attrName>ppt_y</p:attrName>
                                        </p:attrNameLst>
                                      </p:cBhvr>
                                      <p:tavLst>
                                        <p:tav tm="0">
                                          <p:val>
                                            <p:strVal val="#ppt_y+0.08"/>
                                          </p:val>
                                        </p:tav>
                                        <p:tav tm="100000">
                                          <p:val>
                                            <p:strVal val="#ppt_y"/>
                                          </p:val>
                                        </p:tav>
                                      </p:tavLst>
                                    </p:anim>
                                  </p:childTnLst>
                                </p:cTn>
                              </p:par>
                              <p:par>
                                <p:cTn id="167" presetID="42" presetClass="entr" presetSubtype="0" fill="hold" grpId="0" nodeType="withEffect">
                                  <p:stCondLst>
                                    <p:cond delay="1440"/>
                                  </p:stCondLst>
                                  <p:childTnLst>
                                    <p:set>
                                      <p:cBhvr>
                                        <p:cTn id="163" dur="1" fill="hold">
                                          <p:stCondLst>
                                            <p:cond delay="0"/>
                                          </p:stCondLst>
                                        </p:cTn>
                                        <p:tgtEl>
                                          <p:spTgt spid="35"/>
                                        </p:tgtEl>
                                        <p:attrNameLst>
                                          <p:attrName>style.visibility</p:attrName>
                                        </p:attrNameLst>
                                      </p:cBhvr>
                                      <p:to>
                                        <p:strVal val="visible"/>
                                      </p:to>
                                    </p:set>
                                    <p:animEffect transition="in" filter="fade">
                                      <p:cBhvr>
                                        <p:cTn id="164" dur="600"/>
                                        <p:tgtEl>
                                          <p:spTgt spid="35"/>
                                        </p:tgtEl>
                                      </p:cBhvr>
                                    </p:animEffect>
                                    <p:anim calcmode="lin" valueType="num">
                                      <p:cBhvr additive="base">
                                        <p:cTn id="165" dur="600" fill="hold"/>
                                        <p:tgtEl>
                                          <p:spTgt spid="35"/>
                                        </p:tgtEl>
                                        <p:attrNameLst>
                                          <p:attrName>ppt_x</p:attrName>
                                        </p:attrNameLst>
                                      </p:cBhvr>
                                      <p:tavLst>
                                        <p:tav tm="0">
                                          <p:val>
                                            <p:strVal val="#ppt_x"/>
                                          </p:val>
                                        </p:tav>
                                        <p:tav tm="100000">
                                          <p:val>
                                            <p:strVal val="#ppt_x"/>
                                          </p:val>
                                        </p:tav>
                                      </p:tavLst>
                                    </p:anim>
                                    <p:anim calcmode="lin" valueType="num">
                                      <p:cBhvr additive="base">
                                        <p:cTn id="166" dur="600" fill="hold"/>
                                        <p:tgtEl>
                                          <p:spTgt spid="35"/>
                                        </p:tgtEl>
                                        <p:attrNameLst>
                                          <p:attrName>ppt_y</p:attrName>
                                        </p:attrNameLst>
                                      </p:cBhvr>
                                      <p:tavLst>
                                        <p:tav tm="0">
                                          <p:val>
                                            <p:strVal val="#ppt_y+0.08"/>
                                          </p:val>
                                        </p:tav>
                                        <p:tav tm="100000">
                                          <p:val>
                                            <p:strVal val="#ppt_y"/>
                                          </p:val>
                                        </p:tav>
                                      </p:tavLst>
                                    </p:anim>
                                  </p:childTnLst>
                                </p:cTn>
                              </p:par>
                              <p:par>
                                <p:cTn id="172" presetID="42" presetClass="entr" presetSubtype="0" fill="hold" grpId="0" nodeType="withEffect">
                                  <p:stCondLst>
                                    <p:cond delay="1510"/>
                                  </p:stCondLst>
                                  <p:childTnLst>
                                    <p:set>
                                      <p:cBhvr>
                                        <p:cTn id="168" dur="1" fill="hold">
                                          <p:stCondLst>
                                            <p:cond delay="0"/>
                                          </p:stCondLst>
                                        </p:cTn>
                                        <p:tgtEl>
                                          <p:spTgt spid="36"/>
                                        </p:tgtEl>
                                        <p:attrNameLst>
                                          <p:attrName>style.visibility</p:attrName>
                                        </p:attrNameLst>
                                      </p:cBhvr>
                                      <p:to>
                                        <p:strVal val="visible"/>
                                      </p:to>
                                    </p:set>
                                    <p:animEffect transition="in" filter="fade">
                                      <p:cBhvr>
                                        <p:cTn id="169" dur="600"/>
                                        <p:tgtEl>
                                          <p:spTgt spid="36"/>
                                        </p:tgtEl>
                                      </p:cBhvr>
                                    </p:animEffect>
                                    <p:anim calcmode="lin" valueType="num">
                                      <p:cBhvr additive="base">
                                        <p:cTn id="170" dur="600" fill="hold"/>
                                        <p:tgtEl>
                                          <p:spTgt spid="36"/>
                                        </p:tgtEl>
                                        <p:attrNameLst>
                                          <p:attrName>ppt_x</p:attrName>
                                        </p:attrNameLst>
                                      </p:cBhvr>
                                      <p:tavLst>
                                        <p:tav tm="0">
                                          <p:val>
                                            <p:strVal val="#ppt_x"/>
                                          </p:val>
                                        </p:tav>
                                        <p:tav tm="100000">
                                          <p:val>
                                            <p:strVal val="#ppt_x"/>
                                          </p:val>
                                        </p:tav>
                                      </p:tavLst>
                                    </p:anim>
                                    <p:anim calcmode="lin" valueType="num">
                                      <p:cBhvr additive="base">
                                        <p:cTn id="171" dur="600" fill="hold"/>
                                        <p:tgtEl>
                                          <p:spTgt spid="36"/>
                                        </p:tgtEl>
                                        <p:attrNameLst>
                                          <p:attrName>ppt_y</p:attrName>
                                        </p:attrNameLst>
                                      </p:cBhvr>
                                      <p:tavLst>
                                        <p:tav tm="0">
                                          <p:val>
                                            <p:strVal val="#ppt_y+0.08"/>
                                          </p:val>
                                        </p:tav>
                                        <p:tav tm="100000">
                                          <p:val>
                                            <p:strVal val="#ppt_y"/>
                                          </p:val>
                                        </p:tav>
                                      </p:tavLst>
                                    </p:anim>
                                  </p:childTnLst>
                                </p:cTn>
                              </p:par>
                              <p:par>
                                <p:cTn id="177" presetID="42" presetClass="entr" presetSubtype="0" fill="hold" grpId="0" nodeType="withEffect">
                                  <p:stCondLst>
                                    <p:cond delay="1580"/>
                                  </p:stCondLst>
                                  <p:childTnLst>
                                    <p:set>
                                      <p:cBhvr>
                                        <p:cTn id="173" dur="1" fill="hold">
                                          <p:stCondLst>
                                            <p:cond delay="0"/>
                                          </p:stCondLst>
                                        </p:cTn>
                                        <p:tgtEl>
                                          <p:spTgt spid="37"/>
                                        </p:tgtEl>
                                        <p:attrNameLst>
                                          <p:attrName>style.visibility</p:attrName>
                                        </p:attrNameLst>
                                      </p:cBhvr>
                                      <p:to>
                                        <p:strVal val="visible"/>
                                      </p:to>
                                    </p:set>
                                    <p:animEffect transition="in" filter="fade">
                                      <p:cBhvr>
                                        <p:cTn id="174" dur="600"/>
                                        <p:tgtEl>
                                          <p:spTgt spid="37"/>
                                        </p:tgtEl>
                                      </p:cBhvr>
                                    </p:animEffect>
                                    <p:anim calcmode="lin" valueType="num">
                                      <p:cBhvr additive="base">
                                        <p:cTn id="175" dur="600" fill="hold"/>
                                        <p:tgtEl>
                                          <p:spTgt spid="37"/>
                                        </p:tgtEl>
                                        <p:attrNameLst>
                                          <p:attrName>ppt_x</p:attrName>
                                        </p:attrNameLst>
                                      </p:cBhvr>
                                      <p:tavLst>
                                        <p:tav tm="0">
                                          <p:val>
                                            <p:strVal val="#ppt_x"/>
                                          </p:val>
                                        </p:tav>
                                        <p:tav tm="100000">
                                          <p:val>
                                            <p:strVal val="#ppt_x"/>
                                          </p:val>
                                        </p:tav>
                                      </p:tavLst>
                                    </p:anim>
                                    <p:anim calcmode="lin" valueType="num">
                                      <p:cBhvr additive="base">
                                        <p:cTn id="176" dur="600" fill="hold"/>
                                        <p:tgtEl>
                                          <p:spTgt spid="37"/>
                                        </p:tgtEl>
                                        <p:attrNameLst>
                                          <p:attrName>ppt_y</p:attrName>
                                        </p:attrNameLst>
                                      </p:cBhvr>
                                      <p:tavLst>
                                        <p:tav tm="0">
                                          <p:val>
                                            <p:strVal val="#ppt_y+0.08"/>
                                          </p:val>
                                        </p:tav>
                                        <p:tav tm="100000">
                                          <p:val>
                                            <p:strVal val="#ppt_y"/>
                                          </p:val>
                                        </p:tav>
                                      </p:tavLst>
                                    </p:anim>
                                  </p:childTnLst>
                                </p:cTn>
                              </p:par>
                              <p:par>
                                <p:cTn id="182" presetID="42" presetClass="entr" presetSubtype="0" fill="hold" grpId="0" nodeType="withEffect">
                                  <p:stCondLst>
                                    <p:cond delay="1650"/>
                                  </p:stCondLst>
                                  <p:childTnLst>
                                    <p:set>
                                      <p:cBhvr>
                                        <p:cTn id="178" dur="1" fill="hold">
                                          <p:stCondLst>
                                            <p:cond delay="0"/>
                                          </p:stCondLst>
                                        </p:cTn>
                                        <p:tgtEl>
                                          <p:spTgt spid="38"/>
                                        </p:tgtEl>
                                        <p:attrNameLst>
                                          <p:attrName>style.visibility</p:attrName>
                                        </p:attrNameLst>
                                      </p:cBhvr>
                                      <p:to>
                                        <p:strVal val="visible"/>
                                      </p:to>
                                    </p:set>
                                    <p:animEffect transition="in" filter="fade">
                                      <p:cBhvr>
                                        <p:cTn id="179" dur="600"/>
                                        <p:tgtEl>
                                          <p:spTgt spid="38"/>
                                        </p:tgtEl>
                                      </p:cBhvr>
                                    </p:animEffect>
                                    <p:anim calcmode="lin" valueType="num">
                                      <p:cBhvr additive="base">
                                        <p:cTn id="180" dur="600" fill="hold"/>
                                        <p:tgtEl>
                                          <p:spTgt spid="38"/>
                                        </p:tgtEl>
                                        <p:attrNameLst>
                                          <p:attrName>ppt_x</p:attrName>
                                        </p:attrNameLst>
                                      </p:cBhvr>
                                      <p:tavLst>
                                        <p:tav tm="0">
                                          <p:val>
                                            <p:strVal val="#ppt_x"/>
                                          </p:val>
                                        </p:tav>
                                        <p:tav tm="100000">
                                          <p:val>
                                            <p:strVal val="#ppt_x"/>
                                          </p:val>
                                        </p:tav>
                                      </p:tavLst>
                                    </p:anim>
                                    <p:anim calcmode="lin" valueType="num">
                                      <p:cBhvr additive="base">
                                        <p:cTn id="181" dur="600" fill="hold"/>
                                        <p:tgtEl>
                                          <p:spTgt spid="38"/>
                                        </p:tgtEl>
                                        <p:attrNameLst>
                                          <p:attrName>ppt_y</p:attrName>
                                        </p:attrNameLst>
                                      </p:cBhvr>
                                      <p:tavLst>
                                        <p:tav tm="0">
                                          <p:val>
                                            <p:strVal val="#ppt_y+0.08"/>
                                          </p:val>
                                        </p:tav>
                                        <p:tav tm="100000">
                                          <p:val>
                                            <p:strVal val="#ppt_y"/>
                                          </p:val>
                                        </p:tav>
                                      </p:tavLst>
                                    </p:anim>
                                  </p:childTnLst>
                                </p:cTn>
                              </p:par>
                              <p:par>
                                <p:cTn id="187" presetID="42" presetClass="entr" presetSubtype="0" fill="hold" grpId="0" nodeType="withEffect">
                                  <p:stCondLst>
                                    <p:cond delay="1720"/>
                                  </p:stCondLst>
                                  <p:childTnLst>
                                    <p:set>
                                      <p:cBhvr>
                                        <p:cTn id="183" dur="1" fill="hold">
                                          <p:stCondLst>
                                            <p:cond delay="0"/>
                                          </p:stCondLst>
                                        </p:cTn>
                                        <p:tgtEl>
                                          <p:spTgt spid="39"/>
                                        </p:tgtEl>
                                        <p:attrNameLst>
                                          <p:attrName>style.visibility</p:attrName>
                                        </p:attrNameLst>
                                      </p:cBhvr>
                                      <p:to>
                                        <p:strVal val="visible"/>
                                      </p:to>
                                    </p:set>
                                    <p:animEffect transition="in" filter="fade">
                                      <p:cBhvr>
                                        <p:cTn id="184" dur="600"/>
                                        <p:tgtEl>
                                          <p:spTgt spid="39"/>
                                        </p:tgtEl>
                                      </p:cBhvr>
                                    </p:animEffect>
                                    <p:anim calcmode="lin" valueType="num">
                                      <p:cBhvr additive="base">
                                        <p:cTn id="185" dur="600" fill="hold"/>
                                        <p:tgtEl>
                                          <p:spTgt spid="39"/>
                                        </p:tgtEl>
                                        <p:attrNameLst>
                                          <p:attrName>ppt_x</p:attrName>
                                        </p:attrNameLst>
                                      </p:cBhvr>
                                      <p:tavLst>
                                        <p:tav tm="0">
                                          <p:val>
                                            <p:strVal val="#ppt_x"/>
                                          </p:val>
                                        </p:tav>
                                        <p:tav tm="100000">
                                          <p:val>
                                            <p:strVal val="#ppt_x"/>
                                          </p:val>
                                        </p:tav>
                                      </p:tavLst>
                                    </p:anim>
                                    <p:anim calcmode="lin" valueType="num">
                                      <p:cBhvr additive="base">
                                        <p:cTn id="186" dur="600" fill="hold"/>
                                        <p:tgtEl>
                                          <p:spTgt spid="39"/>
                                        </p:tgtEl>
                                        <p:attrNameLst>
                                          <p:attrName>ppt_y</p:attrName>
                                        </p:attrNameLst>
                                      </p:cBhvr>
                                      <p:tavLst>
                                        <p:tav tm="0">
                                          <p:val>
                                            <p:strVal val="#ppt_y+0.08"/>
                                          </p:val>
                                        </p:tav>
                                        <p:tav tm="100000">
                                          <p:val>
                                            <p:strVal val="#ppt_y"/>
                                          </p:val>
                                        </p:tav>
                                      </p:tavLst>
                                    </p:anim>
                                  </p:childTnLst>
                                </p:cTn>
                              </p:par>
                              <p:par>
                                <p:cTn id="192" presetID="42" presetClass="entr" presetSubtype="0" fill="hold" grpId="0" nodeType="withEffect">
                                  <p:stCondLst>
                                    <p:cond delay="1790"/>
                                  </p:stCondLst>
                                  <p:childTnLst>
                                    <p:set>
                                      <p:cBhvr>
                                        <p:cTn id="188" dur="1" fill="hold">
                                          <p:stCondLst>
                                            <p:cond delay="0"/>
                                          </p:stCondLst>
                                        </p:cTn>
                                        <p:tgtEl>
                                          <p:spTgt spid="40"/>
                                        </p:tgtEl>
                                        <p:attrNameLst>
                                          <p:attrName>style.visibility</p:attrName>
                                        </p:attrNameLst>
                                      </p:cBhvr>
                                      <p:to>
                                        <p:strVal val="visible"/>
                                      </p:to>
                                    </p:set>
                                    <p:animEffect transition="in" filter="fade">
                                      <p:cBhvr>
                                        <p:cTn id="189" dur="600"/>
                                        <p:tgtEl>
                                          <p:spTgt spid="40"/>
                                        </p:tgtEl>
                                      </p:cBhvr>
                                    </p:animEffect>
                                    <p:anim calcmode="lin" valueType="num">
                                      <p:cBhvr additive="base">
                                        <p:cTn id="190" dur="600" fill="hold"/>
                                        <p:tgtEl>
                                          <p:spTgt spid="40"/>
                                        </p:tgtEl>
                                        <p:attrNameLst>
                                          <p:attrName>ppt_x</p:attrName>
                                        </p:attrNameLst>
                                      </p:cBhvr>
                                      <p:tavLst>
                                        <p:tav tm="0">
                                          <p:val>
                                            <p:strVal val="#ppt_x"/>
                                          </p:val>
                                        </p:tav>
                                        <p:tav tm="100000">
                                          <p:val>
                                            <p:strVal val="#ppt_x"/>
                                          </p:val>
                                        </p:tav>
                                      </p:tavLst>
                                    </p:anim>
                                    <p:anim calcmode="lin" valueType="num">
                                      <p:cBhvr additive="base">
                                        <p:cTn id="191" dur="600" fill="hold"/>
                                        <p:tgtEl>
                                          <p:spTgt spid="40"/>
                                        </p:tgtEl>
                                        <p:attrNameLst>
                                          <p:attrName>ppt_y</p:attrName>
                                        </p:attrNameLst>
                                      </p:cBhvr>
                                      <p:tavLst>
                                        <p:tav tm="0">
                                          <p:val>
                                            <p:strVal val="#ppt_y+0.08"/>
                                          </p:val>
                                        </p:tav>
                                        <p:tav tm="100000">
                                          <p:val>
                                            <p:strVal val="#ppt_y"/>
                                          </p:val>
                                        </p:tav>
                                      </p:tavLst>
                                    </p:anim>
                                  </p:childTnLst>
                                </p:cTn>
                              </p:par>
                              <p:par>
                                <p:cTn id="197" presetID="42" presetClass="entr" presetSubtype="0" fill="hold" grpId="0" nodeType="withEffect">
                                  <p:stCondLst>
                                    <p:cond delay="1860"/>
                                  </p:stCondLst>
                                  <p:childTnLst>
                                    <p:set>
                                      <p:cBhvr>
                                        <p:cTn id="193" dur="1" fill="hold">
                                          <p:stCondLst>
                                            <p:cond delay="0"/>
                                          </p:stCondLst>
                                        </p:cTn>
                                        <p:tgtEl>
                                          <p:spTgt spid="41"/>
                                        </p:tgtEl>
                                        <p:attrNameLst>
                                          <p:attrName>style.visibility</p:attrName>
                                        </p:attrNameLst>
                                      </p:cBhvr>
                                      <p:to>
                                        <p:strVal val="visible"/>
                                      </p:to>
                                    </p:set>
                                    <p:animEffect transition="in" filter="fade">
                                      <p:cBhvr>
                                        <p:cTn id="194" dur="600"/>
                                        <p:tgtEl>
                                          <p:spTgt spid="41"/>
                                        </p:tgtEl>
                                      </p:cBhvr>
                                    </p:animEffect>
                                    <p:anim calcmode="lin" valueType="num">
                                      <p:cBhvr additive="base">
                                        <p:cTn id="195" dur="600" fill="hold"/>
                                        <p:tgtEl>
                                          <p:spTgt spid="41"/>
                                        </p:tgtEl>
                                        <p:attrNameLst>
                                          <p:attrName>ppt_x</p:attrName>
                                        </p:attrNameLst>
                                      </p:cBhvr>
                                      <p:tavLst>
                                        <p:tav tm="0">
                                          <p:val>
                                            <p:strVal val="#ppt_x"/>
                                          </p:val>
                                        </p:tav>
                                        <p:tav tm="100000">
                                          <p:val>
                                            <p:strVal val="#ppt_x"/>
                                          </p:val>
                                        </p:tav>
                                      </p:tavLst>
                                    </p:anim>
                                    <p:anim calcmode="lin" valueType="num">
                                      <p:cBhvr additive="base">
                                        <p:cTn id="196" dur="600" fill="hold"/>
                                        <p:tgtEl>
                                          <p:spTgt spid="41"/>
                                        </p:tgtEl>
                                        <p:attrNameLst>
                                          <p:attrName>ppt_y</p:attrName>
                                        </p:attrNameLst>
                                      </p:cBhvr>
                                      <p:tavLst>
                                        <p:tav tm="0">
                                          <p:val>
                                            <p:strVal val="#ppt_y+0.08"/>
                                          </p:val>
                                        </p:tav>
                                        <p:tav tm="100000">
                                          <p:val>
                                            <p:strVal val="#ppt_y"/>
                                          </p:val>
                                        </p:tav>
                                      </p:tavLst>
                                    </p:anim>
                                  </p:childTnLst>
                                </p:cTn>
                              </p:par>
                              <p:par>
                                <p:cTn id="200" presetID="10" presetClass="entr" presetSubtype="0" fill="hold" grpId="0" nodeType="withEffect">
                                  <p:stCondLst>
                                    <p:cond delay="1800"/>
                                  </p:stCondLst>
                                  <p:childTnLst>
                                    <p:set>
                                      <p:cBhvr>
                                        <p:cTn id="198" dur="1" fill="hold">
                                          <p:stCondLst>
                                            <p:cond delay="0"/>
                                          </p:stCondLst>
                                        </p:cTn>
                                        <p:tgtEl>
                                          <p:spTgt spid="42"/>
                                        </p:tgtEl>
                                        <p:attrNameLst>
                                          <p:attrName>style.visibility</p:attrName>
                                        </p:attrNameLst>
                                      </p:cBhvr>
                                      <p:to>
                                        <p:strVal val="visible"/>
                                      </p:to>
                                    </p:set>
                                    <p:animEffect transition="in" filter="fade">
                                      <p:cBhvr>
                                        <p:cTn id="199" dur="7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P spid="11" grpId="0" animBg="1"/>
      <p:bldP spid="13" grpId="0" animBg="1"/>
      <p:bldP spid="14" grpId="0" animBg="1"/>
      <p:bldP spid="15" grpId="0" animBg="1"/>
      <p:bldP spid="16" grpId="0" animBg="1"/>
      <p:bldP spid="17" grpId="0" animBg="1"/>
      <p:bldP spid="19" grpId="0" animBg="1"/>
      <p:bldP spid="21" grpId="0" animBg="1"/>
      <p:bldP spid="22" grpId="0" animBg="1"/>
      <p:bldP spid="23" grpId="0" animBg="1"/>
      <p:bldP spid="24" grpId="0" animBg="1"/>
      <p:bldP spid="25" grpId="0" animBg="1"/>
      <p:bldP spid="27" grpId="0" animBg="1"/>
      <p:bldP spid="29" grpId="0" animBg="1"/>
      <p:bldP spid="30" grpId="0" animBg="1"/>
      <p:bldP spid="31" grpId="0" animBg="1"/>
      <p:bldP spid="32" grpId="0" animBg="1"/>
      <p:bldP spid="33" grpId="0" animBg="1"/>
      <p:bldP spid="35" grpId="0" animBg="1"/>
      <p:bldP spid="37" grpId="0" animBg="1"/>
      <p:bldP spid="38" grpId="0" animBg="1"/>
      <p:bldP spid="39" grpId="0" animBg="1"/>
      <p:bldP spid="40" grpId="0" animBg="1"/>
      <p:bldP spid="41" grpId="0" animBg="1"/>
      <p:bldP spid="4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424160" cy="777240"/>
          </a:xfrm>
          <a:prstGeom prst="rect">
            <a:avLst/>
          </a:prstGeom>
          <a:noFill/>
          <a:ln/>
        </p:spPr>
        <p:txBody>
          <a:bodyPr wrap="square" lIns="0" tIns="0" rIns="0" bIns="0" rtlCol="0" anchor="ctr"/>
          <a:lstStyle/>
          <a:p>
            <a:pPr algn="l" indent="0" marL="0">
              <a:buNone/>
            </a:pPr>
            <a:r>
              <a:rPr lang="en-US" sz="3200" b="1" dirty="0">
                <a:solidFill>
                  <a:schemeClr val="tx2"/>
                </a:solidFill>
              </a:rPr>
              <a:t>Three-layer architecture</a:t>
            </a:r>
            <a:endParaRPr lang="en-US" sz="3200" dirty="0"/>
          </a:p>
        </p:txBody>
      </p:sp>
      <p:pic>
        <p:nvPicPr>
          <p:cNvPr id="3" name="A01-fade-arch" descr="/tmp/claude-0/-home-user-e-project/14373db0-086f-59d2-a972-520da66c003b/scratchpad/docs/diagrams/architecture.png">    </p:cNvPr>
          <p:cNvPicPr>
            <a:picLocks noChangeAspect="1"/>
          </p:cNvPicPr>
          <p:nvPr/>
        </p:nvPicPr>
        <p:blipFill>
          <a:blip r:embed="rId1"/>
          <a:stretch>
            <a:fillRect/>
          </a:stretch>
        </p:blipFill>
        <p:spPr>
          <a:xfrm>
            <a:off x="548640" y="1371600"/>
            <a:ext cx="7132320" cy="4178278"/>
          </a:xfrm>
          <a:prstGeom prst="rect">
            <a:avLst/>
          </a:prstGeom>
        </p:spPr>
      </p:pic>
      <p:sp>
        <p:nvSpPr>
          <p:cNvPr id="4" name="A02-rise-lc0"/>
          <p:cNvSpPr/>
          <p:nvPr/>
        </p:nvSpPr>
        <p:spPr>
          <a:xfrm>
            <a:off x="8001000" y="1600200"/>
            <a:ext cx="3639312" cy="1234440"/>
          </a:xfrm>
          <a:prstGeom prst="roundRect">
            <a:avLst>
              <a:gd name="adj" fmla="val 8889"/>
            </a:avLst>
          </a:prstGeom>
          <a:solidFill>
            <a:schemeClr val="bg1"/>
          </a:solidFill>
          <a:ln w="9525">
            <a:solidFill>
              <a:srgbClr val="DBEAF3"/>
            </a:solidFill>
            <a:prstDash val="solid"/>
          </a:ln>
          <a:effectLst>
            <a:outerShdw sx="100000" sy="100000" kx="0" ky="0" algn="bl" rotWithShape="0" blurRad="152400" dist="38100" dir="5400000">
              <a:srgbClr val="0A2540">
                <a:alpha val="18000"/>
              </a:srgbClr>
            </a:outerShdw>
          </a:effectLst>
        </p:spPr>
      </p:sp>
      <p:sp>
        <p:nvSpPr>
          <p:cNvPr id="5" name="A02-rise-lo0"/>
          <p:cNvSpPr/>
          <p:nvPr/>
        </p:nvSpPr>
        <p:spPr>
          <a:xfrm>
            <a:off x="8211312" y="1984248"/>
            <a:ext cx="457200" cy="457200"/>
          </a:xfrm>
          <a:prstGeom prst="ellipse">
            <a:avLst/>
          </a:prstGeom>
          <a:solidFill>
            <a:schemeClr val="accent1"/>
          </a:solidFill>
          <a:ln w="12700">
            <a:solidFill>
              <a:schemeClr val="accent1"/>
            </a:solidFill>
            <a:prstDash val="solid"/>
          </a:ln>
        </p:spPr>
      </p:sp>
      <p:sp>
        <p:nvSpPr>
          <p:cNvPr id="6" name="A02-rise-ln0"/>
          <p:cNvSpPr txBox="1"/>
          <p:nvPr/>
        </p:nvSpPr>
        <p:spPr>
          <a:xfrm>
            <a:off x="8211312" y="19842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A02-rise-lt0"/>
          <p:cNvSpPr txBox="1"/>
          <p:nvPr/>
        </p:nvSpPr>
        <p:spPr>
          <a:xfrm>
            <a:off x="8823960" y="1783080"/>
            <a:ext cx="2697480" cy="914400"/>
          </a:xfrm>
          <a:prstGeom prst="rect">
            <a:avLst/>
          </a:prstGeom>
          <a:noFill/>
          <a:ln/>
        </p:spPr>
        <p:txBody>
          <a:bodyPr wrap="square" lIns="0" tIns="0" rIns="0" bIns="0" rtlCol="0" anchor="t"/>
          <a:lstStyle/>
          <a:p>
            <a:pPr indent="0" marL="0">
              <a:buNone/>
            </a:pPr>
            <a:r>
              <a:rPr lang="en-US" sz="1700" b="1" dirty="0">
                <a:solidFill>
                  <a:schemeClr val="tx2"/>
                </a:solidFill>
              </a:rPr>
              <a:t>Presentation</a:t>
            </a:r>
            <a:endParaRPr lang="en-US" sz="1400" dirty="0"/>
          </a:p>
          <a:p>
            <a:pPr indent="0" marL="0">
              <a:buNone/>
            </a:pPr>
            <a:r>
              <a:rPr lang="en-US" sz="1300" dirty="0">
                <a:solidFill>
                  <a:srgbClr val="475569"/>
                </a:solidFill>
              </a:rPr>
              <a:t>Areas per role, Razor views, sidebar shell, dashboards</a:t>
            </a:r>
            <a:endParaRPr lang="en-US" sz="1400" dirty="0"/>
          </a:p>
        </p:txBody>
      </p:sp>
      <p:sp>
        <p:nvSpPr>
          <p:cNvPr id="8" name="A03-rise-lc1"/>
          <p:cNvSpPr/>
          <p:nvPr/>
        </p:nvSpPr>
        <p:spPr>
          <a:xfrm>
            <a:off x="8001000" y="3063240"/>
            <a:ext cx="3639312" cy="1234440"/>
          </a:xfrm>
          <a:prstGeom prst="roundRect">
            <a:avLst>
              <a:gd name="adj" fmla="val 8889"/>
            </a:avLst>
          </a:prstGeom>
          <a:solidFill>
            <a:schemeClr val="bg1"/>
          </a:solidFill>
          <a:ln w="9525">
            <a:solidFill>
              <a:srgbClr val="DBEAF3"/>
            </a:solidFill>
            <a:prstDash val="solid"/>
          </a:ln>
          <a:effectLst>
            <a:outerShdw sx="100000" sy="100000" kx="0" ky="0" algn="bl" rotWithShape="0" blurRad="152400" dist="38100" dir="5400000">
              <a:srgbClr val="0A2540">
                <a:alpha val="18000"/>
              </a:srgbClr>
            </a:outerShdw>
          </a:effectLst>
        </p:spPr>
      </p:sp>
      <p:sp>
        <p:nvSpPr>
          <p:cNvPr id="9" name="A03-rise-lo1"/>
          <p:cNvSpPr/>
          <p:nvPr/>
        </p:nvSpPr>
        <p:spPr>
          <a:xfrm>
            <a:off x="8211312" y="3447288"/>
            <a:ext cx="457200" cy="457200"/>
          </a:xfrm>
          <a:prstGeom prst="ellipse">
            <a:avLst/>
          </a:prstGeom>
          <a:solidFill>
            <a:schemeClr val="accent2"/>
          </a:solidFill>
          <a:ln w="12700">
            <a:solidFill>
              <a:schemeClr val="accent2"/>
            </a:solidFill>
            <a:prstDash val="solid"/>
          </a:ln>
        </p:spPr>
      </p:sp>
      <p:sp>
        <p:nvSpPr>
          <p:cNvPr id="10" name="A03-rise-ln1"/>
          <p:cNvSpPr txBox="1"/>
          <p:nvPr/>
        </p:nvSpPr>
        <p:spPr>
          <a:xfrm>
            <a:off x="8211312" y="344728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A03-rise-lt1"/>
          <p:cNvSpPr txBox="1"/>
          <p:nvPr/>
        </p:nvSpPr>
        <p:spPr>
          <a:xfrm>
            <a:off x="8823960" y="3246120"/>
            <a:ext cx="2697480" cy="914400"/>
          </a:xfrm>
          <a:prstGeom prst="rect">
            <a:avLst/>
          </a:prstGeom>
          <a:noFill/>
          <a:ln/>
        </p:spPr>
        <p:txBody>
          <a:bodyPr wrap="square" lIns="0" tIns="0" rIns="0" bIns="0" rtlCol="0" anchor="t"/>
          <a:lstStyle/>
          <a:p>
            <a:pPr indent="0" marL="0">
              <a:buNone/>
            </a:pPr>
            <a:r>
              <a:rPr lang="en-US" sz="1700" b="1" dirty="0">
                <a:solidFill>
                  <a:schemeClr val="tx2"/>
                </a:solidFill>
              </a:rPr>
              <a:t>Business</a:t>
            </a:r>
            <a:endParaRPr lang="en-US" sz="1400" dirty="0"/>
          </a:p>
          <a:p>
            <a:pPr indent="0" marL="0">
              <a:buNone/>
            </a:pPr>
            <a:r>
              <a:rPr lang="en-US" sz="1300" dirty="0">
                <a:solidFill>
                  <a:srgbClr val="475569"/>
                </a:solidFill>
              </a:rPr>
              <a:t>Order, provisioning, billing, dashboard services</a:t>
            </a:r>
            <a:endParaRPr lang="en-US" sz="1400" dirty="0"/>
          </a:p>
        </p:txBody>
      </p:sp>
      <p:sp>
        <p:nvSpPr>
          <p:cNvPr id="12" name="A04-rise-lc2"/>
          <p:cNvSpPr/>
          <p:nvPr/>
        </p:nvSpPr>
        <p:spPr>
          <a:xfrm>
            <a:off x="8001000" y="4526280"/>
            <a:ext cx="3639312" cy="1234440"/>
          </a:xfrm>
          <a:prstGeom prst="roundRect">
            <a:avLst>
              <a:gd name="adj" fmla="val 8889"/>
            </a:avLst>
          </a:prstGeom>
          <a:solidFill>
            <a:schemeClr val="bg1"/>
          </a:solidFill>
          <a:ln w="9525">
            <a:solidFill>
              <a:srgbClr val="DBEAF3"/>
            </a:solidFill>
            <a:prstDash val="solid"/>
          </a:ln>
          <a:effectLst>
            <a:outerShdw sx="100000" sy="100000" kx="0" ky="0" algn="bl" rotWithShape="0" blurRad="152400" dist="38100" dir="5400000">
              <a:srgbClr val="0A2540">
                <a:alpha val="18000"/>
              </a:srgbClr>
            </a:outerShdw>
          </a:effectLst>
        </p:spPr>
      </p:sp>
      <p:sp>
        <p:nvSpPr>
          <p:cNvPr id="13" name="A04-rise-lo2"/>
          <p:cNvSpPr/>
          <p:nvPr/>
        </p:nvSpPr>
        <p:spPr>
          <a:xfrm>
            <a:off x="8211312" y="4910328"/>
            <a:ext cx="457200" cy="457200"/>
          </a:xfrm>
          <a:prstGeom prst="ellipse">
            <a:avLst/>
          </a:prstGeom>
          <a:solidFill>
            <a:schemeClr val="accent5"/>
          </a:solidFill>
          <a:ln w="12700">
            <a:solidFill>
              <a:schemeClr val="accent5"/>
            </a:solidFill>
            <a:prstDash val="solid"/>
          </a:ln>
        </p:spPr>
      </p:sp>
      <p:sp>
        <p:nvSpPr>
          <p:cNvPr id="14" name="A04-rise-ln2"/>
          <p:cNvSpPr txBox="1"/>
          <p:nvPr/>
        </p:nvSpPr>
        <p:spPr>
          <a:xfrm>
            <a:off x="8211312" y="491032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A04-rise-lt2"/>
          <p:cNvSpPr txBox="1"/>
          <p:nvPr/>
        </p:nvSpPr>
        <p:spPr>
          <a:xfrm>
            <a:off x="8823960" y="4709160"/>
            <a:ext cx="2697480" cy="914400"/>
          </a:xfrm>
          <a:prstGeom prst="rect">
            <a:avLst/>
          </a:prstGeom>
          <a:noFill/>
          <a:ln/>
        </p:spPr>
        <p:txBody>
          <a:bodyPr wrap="square" lIns="0" tIns="0" rIns="0" bIns="0" rtlCol="0" anchor="t"/>
          <a:lstStyle/>
          <a:p>
            <a:pPr indent="0" marL="0">
              <a:buNone/>
            </a:pPr>
            <a:r>
              <a:rPr lang="en-US" sz="1700" b="1" dirty="0">
                <a:solidFill>
                  <a:schemeClr val="tx2"/>
                </a:solidFill>
              </a:rPr>
              <a:t>Data</a:t>
            </a:r>
            <a:endParaRPr lang="en-US" sz="1400" dirty="0"/>
          </a:p>
          <a:p>
            <a:pPr indent="0" marL="0">
              <a:buNone/>
            </a:pPr>
            <a:r>
              <a:rPr lang="en-US" sz="1300" dirty="0">
                <a:solidFill>
                  <a:srgbClr val="475569"/>
                </a:solidFill>
              </a:rPr>
              <a:t>Entity Framework Core 8 and SQL Server</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250">
        <p14:gallery dir="l"/>
      </p:transition>
    </mc:Choice>
    <mc:Fallback>
      <p:transition spd="slow">
        <p:push dir="l"/>
      </p:transition>
    </mc:Fallback>
  </mc:AlternateContent>
  <p:timing>
    <p:tnLst>
      <p:par>
        <p:cTn id="1" dur="indefinite" restart="never" nodeType="tmRoot">
          <p:childTnLst>
            <p:seq concurrent="1" nextAc="seek">
              <p:cTn id="2" dur="indefinite" nodeType="mainSeq">
                <p:childTnLst>
                  <p:par>
                    <p:cTn id="67" fill="hold">
                      <p:stCondLst>
                        <p:cond delay="indefinite"/>
                        <p:cond evt="onBegin" delay="0">
                          <p:tn val="2"/>
                        </p:cond>
                      </p:stCondLst>
                      <p:childTnLst>
                        <p:par>
                          <p:cTn id="66" fill="hold">
                            <p:stCondLst>
                              <p:cond delay="0"/>
                            </p:stCondLst>
                            <p:childTnLst>
                              <p:par>
                                <p:cTn id="5" presetID="10"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childTnLst>
                                </p:cTn>
                              </p:par>
                              <p:par>
                                <p:cTn id="10" presetID="42" presetClass="entr" presetSubtype="0" fill="hold" grpId="0" nodeType="withEffect">
                                  <p:stCondLst>
                                    <p:cond delay="36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additive="base">
                                        <p:cTn id="8" dur="600" fill="hold"/>
                                        <p:tgtEl>
                                          <p:spTgt spid="4"/>
                                        </p:tgtEl>
                                        <p:attrNameLst>
                                          <p:attrName>ppt_x</p:attrName>
                                        </p:attrNameLst>
                                      </p:cBhvr>
                                      <p:tavLst>
                                        <p:tav tm="0">
                                          <p:val>
                                            <p:strVal val="#ppt_x"/>
                                          </p:val>
                                        </p:tav>
                                        <p:tav tm="100000">
                                          <p:val>
                                            <p:strVal val="#ppt_x"/>
                                          </p:val>
                                        </p:tav>
                                      </p:tavLst>
                                    </p:anim>
                                    <p:anim calcmode="lin" valueType="num">
                                      <p:cBhvr additive="base">
                                        <p:cTn id="9" dur="600" fill="hold"/>
                                        <p:tgtEl>
                                          <p:spTgt spid="4"/>
                                        </p:tgtEl>
                                        <p:attrNameLst>
                                          <p:attrName>ppt_y</p:attrName>
                                        </p:attrNameLst>
                                      </p:cBhvr>
                                      <p:tavLst>
                                        <p:tav tm="0">
                                          <p:val>
                                            <p:strVal val="#ppt_y+0.08"/>
                                          </p:val>
                                        </p:tav>
                                        <p:tav tm="100000">
                                          <p:val>
                                            <p:strVal val="#ppt_y"/>
                                          </p:val>
                                        </p:tav>
                                      </p:tavLst>
                                    </p:anim>
                                  </p:childTnLst>
                                </p:cTn>
                              </p:par>
                              <p:par>
                                <p:cTn id="15" presetID="42" presetClass="entr" presetSubtype="0" fill="hold" grpId="0" nodeType="withEffect">
                                  <p:stCondLst>
                                    <p:cond delay="43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anim calcmode="lin" valueType="num">
                                      <p:cBhvr additive="base">
                                        <p:cTn id="13" dur="600" fill="hold"/>
                                        <p:tgtEl>
                                          <p:spTgt spid="5"/>
                                        </p:tgtEl>
                                        <p:attrNameLst>
                                          <p:attrName>ppt_x</p:attrName>
                                        </p:attrNameLst>
                                      </p:cBhvr>
                                      <p:tavLst>
                                        <p:tav tm="0">
                                          <p:val>
                                            <p:strVal val="#ppt_x"/>
                                          </p:val>
                                        </p:tav>
                                        <p:tav tm="100000">
                                          <p:val>
                                            <p:strVal val="#ppt_x"/>
                                          </p:val>
                                        </p:tav>
                                      </p:tavLst>
                                    </p:anim>
                                    <p:anim calcmode="lin" valueType="num">
                                      <p:cBhvr additive="base">
                                        <p:cTn id="14" dur="600" fill="hold"/>
                                        <p:tgtEl>
                                          <p:spTgt spid="5"/>
                                        </p:tgtEl>
                                        <p:attrNameLst>
                                          <p:attrName>ppt_y</p:attrName>
                                        </p:attrNameLst>
                                      </p:cBhvr>
                                      <p:tavLst>
                                        <p:tav tm="0">
                                          <p:val>
                                            <p:strVal val="#ppt_y+0.08"/>
                                          </p:val>
                                        </p:tav>
                                        <p:tav tm="100000">
                                          <p:val>
                                            <p:strVal val="#ppt_y"/>
                                          </p:val>
                                        </p:tav>
                                      </p:tavLst>
                                    </p:anim>
                                  </p:childTnLst>
                                </p:cTn>
                              </p:par>
                              <p:par>
                                <p:cTn id="20" presetID="42" presetClass="entr" presetSubtype="0" fill="hold" grpId="0" nodeType="withEffect">
                                  <p:stCondLst>
                                    <p:cond delay="50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600"/>
                                        <p:tgtEl>
                                          <p:spTgt spid="6"/>
                                        </p:tgtEl>
                                      </p:cBhvr>
                                    </p:animEffect>
                                    <p:anim calcmode="lin" valueType="num">
                                      <p:cBhvr additive="base">
                                        <p:cTn id="18" dur="600" fill="hold"/>
                                        <p:tgtEl>
                                          <p:spTgt spid="6"/>
                                        </p:tgtEl>
                                        <p:attrNameLst>
                                          <p:attrName>ppt_x</p:attrName>
                                        </p:attrNameLst>
                                      </p:cBhvr>
                                      <p:tavLst>
                                        <p:tav tm="0">
                                          <p:val>
                                            <p:strVal val="#ppt_x"/>
                                          </p:val>
                                        </p:tav>
                                        <p:tav tm="100000">
                                          <p:val>
                                            <p:strVal val="#ppt_x"/>
                                          </p:val>
                                        </p:tav>
                                      </p:tavLst>
                                    </p:anim>
                                    <p:anim calcmode="lin" valueType="num">
                                      <p:cBhvr additive="base">
                                        <p:cTn id="19" dur="600" fill="hold"/>
                                        <p:tgtEl>
                                          <p:spTgt spid="6"/>
                                        </p:tgtEl>
                                        <p:attrNameLst>
                                          <p:attrName>ppt_y</p:attrName>
                                        </p:attrNameLst>
                                      </p:cBhvr>
                                      <p:tavLst>
                                        <p:tav tm="0">
                                          <p:val>
                                            <p:strVal val="#ppt_y+0.08"/>
                                          </p:val>
                                        </p:tav>
                                        <p:tav tm="100000">
                                          <p:val>
                                            <p:strVal val="#ppt_y"/>
                                          </p:val>
                                        </p:tav>
                                      </p:tavLst>
                                    </p:anim>
                                  </p:childTnLst>
                                </p:cTn>
                              </p:par>
                              <p:par>
                                <p:cTn id="25" presetID="42" presetClass="entr" presetSubtype="0" fill="hold" grpId="0" nodeType="withEffect">
                                  <p:stCondLst>
                                    <p:cond delay="57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600"/>
                                        <p:tgtEl>
                                          <p:spTgt spid="7"/>
                                        </p:tgtEl>
                                      </p:cBhvr>
                                    </p:animEffect>
                                    <p:anim calcmode="lin" valueType="num">
                                      <p:cBhvr additive="base">
                                        <p:cTn id="23" dur="600" fill="hold"/>
                                        <p:tgtEl>
                                          <p:spTgt spid="7"/>
                                        </p:tgtEl>
                                        <p:attrNameLst>
                                          <p:attrName>ppt_x</p:attrName>
                                        </p:attrNameLst>
                                      </p:cBhvr>
                                      <p:tavLst>
                                        <p:tav tm="0">
                                          <p:val>
                                            <p:strVal val="#ppt_x"/>
                                          </p:val>
                                        </p:tav>
                                        <p:tav tm="100000">
                                          <p:val>
                                            <p:strVal val="#ppt_x"/>
                                          </p:val>
                                        </p:tav>
                                      </p:tavLst>
                                    </p:anim>
                                    <p:anim calcmode="lin" valueType="num">
                                      <p:cBhvr additive="base">
                                        <p:cTn id="24" dur="600" fill="hold"/>
                                        <p:tgtEl>
                                          <p:spTgt spid="7"/>
                                        </p:tgtEl>
                                        <p:attrNameLst>
                                          <p:attrName>ppt_y</p:attrName>
                                        </p:attrNameLst>
                                      </p:cBhvr>
                                      <p:tavLst>
                                        <p:tav tm="0">
                                          <p:val>
                                            <p:strVal val="#ppt_y+0.08"/>
                                          </p:val>
                                        </p:tav>
                                        <p:tav tm="100000">
                                          <p:val>
                                            <p:strVal val="#ppt_y"/>
                                          </p:val>
                                        </p:tav>
                                      </p:tavLst>
                                    </p:anim>
                                  </p:childTnLst>
                                </p:cTn>
                              </p:par>
                              <p:par>
                                <p:cTn id="30" presetID="42" presetClass="entr" presetSubtype="0" fill="hold" grpId="0" nodeType="withEffect">
                                  <p:stCondLst>
                                    <p:cond delay="72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600"/>
                                        <p:tgtEl>
                                          <p:spTgt spid="8"/>
                                        </p:tgtEl>
                                      </p:cBhvr>
                                    </p:animEffect>
                                    <p:anim calcmode="lin" valueType="num">
                                      <p:cBhvr additive="base">
                                        <p:cTn id="28" dur="600" fill="hold"/>
                                        <p:tgtEl>
                                          <p:spTgt spid="8"/>
                                        </p:tgtEl>
                                        <p:attrNameLst>
                                          <p:attrName>ppt_x</p:attrName>
                                        </p:attrNameLst>
                                      </p:cBhvr>
                                      <p:tavLst>
                                        <p:tav tm="0">
                                          <p:val>
                                            <p:strVal val="#ppt_x"/>
                                          </p:val>
                                        </p:tav>
                                        <p:tav tm="100000">
                                          <p:val>
                                            <p:strVal val="#ppt_x"/>
                                          </p:val>
                                        </p:tav>
                                      </p:tavLst>
                                    </p:anim>
                                    <p:anim calcmode="lin" valueType="num">
                                      <p:cBhvr additive="base">
                                        <p:cTn id="29" dur="600" fill="hold"/>
                                        <p:tgtEl>
                                          <p:spTgt spid="8"/>
                                        </p:tgtEl>
                                        <p:attrNameLst>
                                          <p:attrName>ppt_y</p:attrName>
                                        </p:attrNameLst>
                                      </p:cBhvr>
                                      <p:tavLst>
                                        <p:tav tm="0">
                                          <p:val>
                                            <p:strVal val="#ppt_y+0.08"/>
                                          </p:val>
                                        </p:tav>
                                        <p:tav tm="100000">
                                          <p:val>
                                            <p:strVal val="#ppt_y"/>
                                          </p:val>
                                        </p:tav>
                                      </p:tavLst>
                                    </p:anim>
                                  </p:childTnLst>
                                </p:cTn>
                              </p:par>
                              <p:par>
                                <p:cTn id="35" presetID="42" presetClass="entr" presetSubtype="0" fill="hold" grpId="0" nodeType="withEffect">
                                  <p:stCondLst>
                                    <p:cond delay="79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600"/>
                                        <p:tgtEl>
                                          <p:spTgt spid="9"/>
                                        </p:tgtEl>
                                      </p:cBhvr>
                                    </p:animEffect>
                                    <p:anim calcmode="lin" valueType="num">
                                      <p:cBhvr additive="base">
                                        <p:cTn id="33" dur="600" fill="hold"/>
                                        <p:tgtEl>
                                          <p:spTgt spid="9"/>
                                        </p:tgtEl>
                                        <p:attrNameLst>
                                          <p:attrName>ppt_x</p:attrName>
                                        </p:attrNameLst>
                                      </p:cBhvr>
                                      <p:tavLst>
                                        <p:tav tm="0">
                                          <p:val>
                                            <p:strVal val="#ppt_x"/>
                                          </p:val>
                                        </p:tav>
                                        <p:tav tm="100000">
                                          <p:val>
                                            <p:strVal val="#ppt_x"/>
                                          </p:val>
                                        </p:tav>
                                      </p:tavLst>
                                    </p:anim>
                                    <p:anim calcmode="lin" valueType="num">
                                      <p:cBhvr additive="base">
                                        <p:cTn id="34" dur="600" fill="hold"/>
                                        <p:tgtEl>
                                          <p:spTgt spid="9"/>
                                        </p:tgtEl>
                                        <p:attrNameLst>
                                          <p:attrName>ppt_y</p:attrName>
                                        </p:attrNameLst>
                                      </p:cBhvr>
                                      <p:tavLst>
                                        <p:tav tm="0">
                                          <p:val>
                                            <p:strVal val="#ppt_y+0.08"/>
                                          </p:val>
                                        </p:tav>
                                        <p:tav tm="100000">
                                          <p:val>
                                            <p:strVal val="#ppt_y"/>
                                          </p:val>
                                        </p:tav>
                                      </p:tavLst>
                                    </p:anim>
                                  </p:childTnLst>
                                </p:cTn>
                              </p:par>
                              <p:par>
                                <p:cTn id="40" presetID="42" presetClass="entr" presetSubtype="0" fill="hold" grpId="0" nodeType="withEffect">
                                  <p:stCondLst>
                                    <p:cond delay="86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600"/>
                                        <p:tgtEl>
                                          <p:spTgt spid="10"/>
                                        </p:tgtEl>
                                      </p:cBhvr>
                                    </p:animEffect>
                                    <p:anim calcmode="lin" valueType="num">
                                      <p:cBhvr additive="base">
                                        <p:cTn id="38" dur="600" fill="hold"/>
                                        <p:tgtEl>
                                          <p:spTgt spid="10"/>
                                        </p:tgtEl>
                                        <p:attrNameLst>
                                          <p:attrName>ppt_x</p:attrName>
                                        </p:attrNameLst>
                                      </p:cBhvr>
                                      <p:tavLst>
                                        <p:tav tm="0">
                                          <p:val>
                                            <p:strVal val="#ppt_x"/>
                                          </p:val>
                                        </p:tav>
                                        <p:tav tm="100000">
                                          <p:val>
                                            <p:strVal val="#ppt_x"/>
                                          </p:val>
                                        </p:tav>
                                      </p:tavLst>
                                    </p:anim>
                                    <p:anim calcmode="lin" valueType="num">
                                      <p:cBhvr additive="base">
                                        <p:cTn id="39" dur="600" fill="hold"/>
                                        <p:tgtEl>
                                          <p:spTgt spid="10"/>
                                        </p:tgtEl>
                                        <p:attrNameLst>
                                          <p:attrName>ppt_y</p:attrName>
                                        </p:attrNameLst>
                                      </p:cBhvr>
                                      <p:tavLst>
                                        <p:tav tm="0">
                                          <p:val>
                                            <p:strVal val="#ppt_y+0.08"/>
                                          </p:val>
                                        </p:tav>
                                        <p:tav tm="100000">
                                          <p:val>
                                            <p:strVal val="#ppt_y"/>
                                          </p:val>
                                        </p:tav>
                                      </p:tavLst>
                                    </p:anim>
                                  </p:childTnLst>
                                </p:cTn>
                              </p:par>
                              <p:par>
                                <p:cTn id="45" presetID="42" presetClass="entr" presetSubtype="0" fill="hold" grpId="0" nodeType="withEffect">
                                  <p:stCondLst>
                                    <p:cond delay="93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600"/>
                                        <p:tgtEl>
                                          <p:spTgt spid="11"/>
                                        </p:tgtEl>
                                      </p:cBhvr>
                                    </p:animEffect>
                                    <p:anim calcmode="lin" valueType="num">
                                      <p:cBhvr additive="base">
                                        <p:cTn id="43" dur="600" fill="hold"/>
                                        <p:tgtEl>
                                          <p:spTgt spid="11"/>
                                        </p:tgtEl>
                                        <p:attrNameLst>
                                          <p:attrName>ppt_x</p:attrName>
                                        </p:attrNameLst>
                                      </p:cBhvr>
                                      <p:tavLst>
                                        <p:tav tm="0">
                                          <p:val>
                                            <p:strVal val="#ppt_x"/>
                                          </p:val>
                                        </p:tav>
                                        <p:tav tm="100000">
                                          <p:val>
                                            <p:strVal val="#ppt_x"/>
                                          </p:val>
                                        </p:tav>
                                      </p:tavLst>
                                    </p:anim>
                                    <p:anim calcmode="lin" valueType="num">
                                      <p:cBhvr additive="base">
                                        <p:cTn id="44" dur="600" fill="hold"/>
                                        <p:tgtEl>
                                          <p:spTgt spid="11"/>
                                        </p:tgtEl>
                                        <p:attrNameLst>
                                          <p:attrName>ppt_y</p:attrName>
                                        </p:attrNameLst>
                                      </p:cBhvr>
                                      <p:tavLst>
                                        <p:tav tm="0">
                                          <p:val>
                                            <p:strVal val="#ppt_y+0.08"/>
                                          </p:val>
                                        </p:tav>
                                        <p:tav tm="100000">
                                          <p:val>
                                            <p:strVal val="#ppt_y"/>
                                          </p:val>
                                        </p:tav>
                                      </p:tavLst>
                                    </p:anim>
                                  </p:childTnLst>
                                </p:cTn>
                              </p:par>
                              <p:par>
                                <p:cTn id="50" presetID="42" presetClass="entr" presetSubtype="0" fill="hold" grpId="0" nodeType="withEffect">
                                  <p:stCondLst>
                                    <p:cond delay="108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600"/>
                                        <p:tgtEl>
                                          <p:spTgt spid="12"/>
                                        </p:tgtEl>
                                      </p:cBhvr>
                                    </p:animEffect>
                                    <p:anim calcmode="lin" valueType="num">
                                      <p:cBhvr additive="base">
                                        <p:cTn id="48" dur="600" fill="hold"/>
                                        <p:tgtEl>
                                          <p:spTgt spid="12"/>
                                        </p:tgtEl>
                                        <p:attrNameLst>
                                          <p:attrName>ppt_x</p:attrName>
                                        </p:attrNameLst>
                                      </p:cBhvr>
                                      <p:tavLst>
                                        <p:tav tm="0">
                                          <p:val>
                                            <p:strVal val="#ppt_x"/>
                                          </p:val>
                                        </p:tav>
                                        <p:tav tm="100000">
                                          <p:val>
                                            <p:strVal val="#ppt_x"/>
                                          </p:val>
                                        </p:tav>
                                      </p:tavLst>
                                    </p:anim>
                                    <p:anim calcmode="lin" valueType="num">
                                      <p:cBhvr additive="base">
                                        <p:cTn id="49" dur="600" fill="hold"/>
                                        <p:tgtEl>
                                          <p:spTgt spid="12"/>
                                        </p:tgtEl>
                                        <p:attrNameLst>
                                          <p:attrName>ppt_y</p:attrName>
                                        </p:attrNameLst>
                                      </p:cBhvr>
                                      <p:tavLst>
                                        <p:tav tm="0">
                                          <p:val>
                                            <p:strVal val="#ppt_y+0.08"/>
                                          </p:val>
                                        </p:tav>
                                        <p:tav tm="100000">
                                          <p:val>
                                            <p:strVal val="#ppt_y"/>
                                          </p:val>
                                        </p:tav>
                                      </p:tavLst>
                                    </p:anim>
                                  </p:childTnLst>
                                </p:cTn>
                              </p:par>
                              <p:par>
                                <p:cTn id="55" presetID="42" presetClass="entr" presetSubtype="0" fill="hold" grpId="0" nodeType="withEffect">
                                  <p:stCondLst>
                                    <p:cond delay="115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600"/>
                                        <p:tgtEl>
                                          <p:spTgt spid="13"/>
                                        </p:tgtEl>
                                      </p:cBhvr>
                                    </p:animEffect>
                                    <p:anim calcmode="lin" valueType="num">
                                      <p:cBhvr additive="base">
                                        <p:cTn id="53" dur="600" fill="hold"/>
                                        <p:tgtEl>
                                          <p:spTgt spid="13"/>
                                        </p:tgtEl>
                                        <p:attrNameLst>
                                          <p:attrName>ppt_x</p:attrName>
                                        </p:attrNameLst>
                                      </p:cBhvr>
                                      <p:tavLst>
                                        <p:tav tm="0">
                                          <p:val>
                                            <p:strVal val="#ppt_x"/>
                                          </p:val>
                                        </p:tav>
                                        <p:tav tm="100000">
                                          <p:val>
                                            <p:strVal val="#ppt_x"/>
                                          </p:val>
                                        </p:tav>
                                      </p:tavLst>
                                    </p:anim>
                                    <p:anim calcmode="lin" valueType="num">
                                      <p:cBhvr additive="base">
                                        <p:cTn id="54" dur="600" fill="hold"/>
                                        <p:tgtEl>
                                          <p:spTgt spid="13"/>
                                        </p:tgtEl>
                                        <p:attrNameLst>
                                          <p:attrName>ppt_y</p:attrName>
                                        </p:attrNameLst>
                                      </p:cBhvr>
                                      <p:tavLst>
                                        <p:tav tm="0">
                                          <p:val>
                                            <p:strVal val="#ppt_y+0.08"/>
                                          </p:val>
                                        </p:tav>
                                        <p:tav tm="100000">
                                          <p:val>
                                            <p:strVal val="#ppt_y"/>
                                          </p:val>
                                        </p:tav>
                                      </p:tavLst>
                                    </p:anim>
                                  </p:childTnLst>
                                </p:cTn>
                              </p:par>
                              <p:par>
                                <p:cTn id="60" presetID="42" presetClass="entr" presetSubtype="0" fill="hold" grpId="0" nodeType="withEffect">
                                  <p:stCondLst>
                                    <p:cond delay="122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600"/>
                                        <p:tgtEl>
                                          <p:spTgt spid="14"/>
                                        </p:tgtEl>
                                      </p:cBhvr>
                                    </p:animEffect>
                                    <p:anim calcmode="lin" valueType="num">
                                      <p:cBhvr additive="base">
                                        <p:cTn id="58" dur="600" fill="hold"/>
                                        <p:tgtEl>
                                          <p:spTgt spid="14"/>
                                        </p:tgtEl>
                                        <p:attrNameLst>
                                          <p:attrName>ppt_x</p:attrName>
                                        </p:attrNameLst>
                                      </p:cBhvr>
                                      <p:tavLst>
                                        <p:tav tm="0">
                                          <p:val>
                                            <p:strVal val="#ppt_x"/>
                                          </p:val>
                                        </p:tav>
                                        <p:tav tm="100000">
                                          <p:val>
                                            <p:strVal val="#ppt_x"/>
                                          </p:val>
                                        </p:tav>
                                      </p:tavLst>
                                    </p:anim>
                                    <p:anim calcmode="lin" valueType="num">
                                      <p:cBhvr additive="base">
                                        <p:cTn id="59" dur="600" fill="hold"/>
                                        <p:tgtEl>
                                          <p:spTgt spid="14"/>
                                        </p:tgtEl>
                                        <p:attrNameLst>
                                          <p:attrName>ppt_y</p:attrName>
                                        </p:attrNameLst>
                                      </p:cBhvr>
                                      <p:tavLst>
                                        <p:tav tm="0">
                                          <p:val>
                                            <p:strVal val="#ppt_y+0.08"/>
                                          </p:val>
                                        </p:tav>
                                        <p:tav tm="100000">
                                          <p:val>
                                            <p:strVal val="#ppt_y"/>
                                          </p:val>
                                        </p:tav>
                                      </p:tavLst>
                                    </p:anim>
                                  </p:childTnLst>
                                </p:cTn>
                              </p:par>
                              <p:par>
                                <p:cTn id="65" presetID="42" presetClass="entr" presetSubtype="0" fill="hold" grpId="0" nodeType="withEffect">
                                  <p:stCondLst>
                                    <p:cond delay="129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600"/>
                                        <p:tgtEl>
                                          <p:spTgt spid="15"/>
                                        </p:tgtEl>
                                      </p:cBhvr>
                                    </p:animEffect>
                                    <p:anim calcmode="lin" valueType="num">
                                      <p:cBhvr additive="base">
                                        <p:cTn id="63" dur="600" fill="hold"/>
                                        <p:tgtEl>
                                          <p:spTgt spid="15"/>
                                        </p:tgtEl>
                                        <p:attrNameLst>
                                          <p:attrName>ppt_x</p:attrName>
                                        </p:attrNameLst>
                                      </p:cBhvr>
                                      <p:tavLst>
                                        <p:tav tm="0">
                                          <p:val>
                                            <p:strVal val="#ppt_x"/>
                                          </p:val>
                                        </p:tav>
                                        <p:tav tm="100000">
                                          <p:val>
                                            <p:strVal val="#ppt_x"/>
                                          </p:val>
                                        </p:tav>
                                      </p:tavLst>
                                    </p:anim>
                                    <p:anim calcmode="lin" valueType="num">
                                      <p:cBhvr additive="base">
                                        <p:cTn id="64" dur="600" fill="hold"/>
                                        <p:tgtEl>
                                          <p:spTgt spid="15"/>
                                        </p:tgtEl>
                                        <p:attrNameLst>
                                          <p:attrName>ppt_y</p:attrName>
                                        </p:attrNameLst>
                                      </p:cBhvr>
                                      <p:tavLst>
                                        <p:tav tm="0">
                                          <p:val>
                                            <p:strVal val="#ppt_y+0.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424160" cy="777240"/>
          </a:xfrm>
          <a:prstGeom prst="rect">
            <a:avLst/>
          </a:prstGeom>
          <a:noFill/>
          <a:ln/>
        </p:spPr>
        <p:txBody>
          <a:bodyPr wrap="square" lIns="0" tIns="0" rIns="0" bIns="0" rtlCol="0" anchor="ctr"/>
          <a:lstStyle/>
          <a:p>
            <a:pPr algn="l" indent="0" marL="0">
              <a:buNone/>
            </a:pPr>
            <a:r>
              <a:rPr lang="en-US" sz="3200" b="1" dirty="0">
                <a:solidFill>
                  <a:schemeClr val="tx2"/>
                </a:solidFill>
              </a:rPr>
              <a:t>Database: 19 related tables</a:t>
            </a:r>
            <a:endParaRPr lang="en-US" sz="3200" dirty="0"/>
          </a:p>
        </p:txBody>
      </p:sp>
      <p:pic>
        <p:nvPicPr>
          <p:cNvPr id="3" name="A01-fade-erd" descr="/tmp/claude-0/-home-user-e-project/14373db0-086f-59d2-a972-520da66c003b/scratchpad/docs/diagrams/erd.png">    </p:cNvPr>
          <p:cNvPicPr>
            <a:picLocks noChangeAspect="1"/>
          </p:cNvPicPr>
          <p:nvPr/>
        </p:nvPicPr>
        <p:blipFill>
          <a:blip r:embed="rId1"/>
          <a:stretch>
            <a:fillRect/>
          </a:stretch>
        </p:blipFill>
        <p:spPr>
          <a:xfrm>
            <a:off x="548640" y="1280160"/>
            <a:ext cx="5952881" cy="5074920"/>
          </a:xfrm>
          <a:prstGeom prst="rect">
            <a:avLst/>
          </a:prstGeom>
        </p:spPr>
      </p:pic>
      <p:sp>
        <p:nvSpPr>
          <p:cNvPr id="4" name="A02-rise-sn0"/>
          <p:cNvSpPr txBox="1"/>
          <p:nvPr/>
        </p:nvSpPr>
        <p:spPr>
          <a:xfrm>
            <a:off x="6995160" y="1417320"/>
            <a:ext cx="1920240" cy="868680"/>
          </a:xfrm>
          <a:prstGeom prst="rect">
            <a:avLst/>
          </a:prstGeom>
          <a:noFill/>
          <a:ln/>
        </p:spPr>
        <p:txBody>
          <a:bodyPr wrap="square" lIns="0" tIns="0" rIns="0" bIns="0" rtlCol="0" anchor="ctr"/>
          <a:lstStyle/>
          <a:p>
            <a:pPr indent="0" marL="0">
              <a:buNone/>
            </a:pPr>
            <a:r>
              <a:rPr lang="en-US" sz="4800" b="1" dirty="0">
                <a:solidFill>
                  <a:schemeClr val="accent1"/>
                </a:solidFill>
              </a:rPr>
              <a:t>19</a:t>
            </a:r>
            <a:endParaRPr lang="en-US" sz="4800" dirty="0"/>
          </a:p>
        </p:txBody>
      </p:sp>
      <p:sp>
        <p:nvSpPr>
          <p:cNvPr id="5" name="A02-rise-sl0"/>
          <p:cNvSpPr txBox="1"/>
          <p:nvPr/>
        </p:nvSpPr>
        <p:spPr>
          <a:xfrm>
            <a:off x="8961120" y="1545336"/>
            <a:ext cx="2697480" cy="640080"/>
          </a:xfrm>
          <a:prstGeom prst="rect">
            <a:avLst/>
          </a:prstGeom>
          <a:noFill/>
          <a:ln/>
        </p:spPr>
        <p:txBody>
          <a:bodyPr wrap="square" lIns="0" tIns="0" rIns="0" bIns="0" rtlCol="0" anchor="ctr"/>
          <a:lstStyle/>
          <a:p>
            <a:pPr indent="0" marL="0">
              <a:buNone/>
            </a:pPr>
            <a:r>
              <a:rPr lang="en-US" sz="1500" dirty="0">
                <a:solidFill>
                  <a:srgbClr val="334155"/>
                </a:solidFill>
              </a:rPr>
              <a:t>tables with primary and foreign keys</a:t>
            </a:r>
            <a:endParaRPr lang="en-US" sz="1500" dirty="0"/>
          </a:p>
        </p:txBody>
      </p:sp>
      <p:sp>
        <p:nvSpPr>
          <p:cNvPr id="6" name="A03-rise-sn1"/>
          <p:cNvSpPr txBox="1"/>
          <p:nvPr/>
        </p:nvSpPr>
        <p:spPr>
          <a:xfrm>
            <a:off x="6995160" y="2624328"/>
            <a:ext cx="1920240" cy="868680"/>
          </a:xfrm>
          <a:prstGeom prst="rect">
            <a:avLst/>
          </a:prstGeom>
          <a:noFill/>
          <a:ln/>
        </p:spPr>
        <p:txBody>
          <a:bodyPr wrap="square" lIns="0" tIns="0" rIns="0" bIns="0" rtlCol="0" anchor="ctr"/>
          <a:lstStyle/>
          <a:p>
            <a:pPr indent="0" marL="0">
              <a:buNone/>
            </a:pPr>
            <a:r>
              <a:rPr lang="en-US" sz="4800" b="1" dirty="0">
                <a:solidFill>
                  <a:schemeClr val="accent2"/>
                </a:solidFill>
              </a:rPr>
              <a:t>47</a:t>
            </a:r>
            <a:endParaRPr lang="en-US" sz="4800" dirty="0"/>
          </a:p>
        </p:txBody>
      </p:sp>
      <p:sp>
        <p:nvSpPr>
          <p:cNvPr id="7" name="A03-rise-sl1"/>
          <p:cNvSpPr txBox="1"/>
          <p:nvPr/>
        </p:nvSpPr>
        <p:spPr>
          <a:xfrm>
            <a:off x="8961120" y="2752344"/>
            <a:ext cx="2697480" cy="640080"/>
          </a:xfrm>
          <a:prstGeom prst="rect">
            <a:avLst/>
          </a:prstGeom>
          <a:noFill/>
          <a:ln/>
        </p:spPr>
        <p:txBody>
          <a:bodyPr wrap="square" lIns="0" tIns="0" rIns="0" bIns="0" rtlCol="0" anchor="ctr"/>
          <a:lstStyle/>
          <a:p>
            <a:pPr indent="0" marL="0">
              <a:buNone/>
            </a:pPr>
            <a:r>
              <a:rPr lang="en-US" sz="1500" dirty="0">
                <a:solidFill>
                  <a:srgbClr val="334155"/>
                </a:solidFill>
              </a:rPr>
              <a:t>CHECK constraints guarding formats and amounts</a:t>
            </a:r>
            <a:endParaRPr lang="en-US" sz="1500" dirty="0"/>
          </a:p>
        </p:txBody>
      </p:sp>
      <p:sp>
        <p:nvSpPr>
          <p:cNvPr id="8" name="A04-rise-sn2"/>
          <p:cNvSpPr txBox="1"/>
          <p:nvPr/>
        </p:nvSpPr>
        <p:spPr>
          <a:xfrm>
            <a:off x="6995160" y="3831336"/>
            <a:ext cx="1920240" cy="868680"/>
          </a:xfrm>
          <a:prstGeom prst="rect">
            <a:avLst/>
          </a:prstGeom>
          <a:noFill/>
          <a:ln/>
        </p:spPr>
        <p:txBody>
          <a:bodyPr wrap="square" lIns="0" tIns="0" rIns="0" bIns="0" rtlCol="0" anchor="ctr"/>
          <a:lstStyle/>
          <a:p>
            <a:pPr indent="0" marL="0">
              <a:buNone/>
            </a:pPr>
            <a:r>
              <a:rPr lang="en-US" sz="4800" b="1" dirty="0">
                <a:solidFill>
                  <a:schemeClr val="accent1"/>
                </a:solidFill>
              </a:rPr>
              <a:t>5</a:t>
            </a:r>
            <a:endParaRPr lang="en-US" sz="4800" dirty="0"/>
          </a:p>
        </p:txBody>
      </p:sp>
      <p:sp>
        <p:nvSpPr>
          <p:cNvPr id="9" name="A04-rise-sl2"/>
          <p:cNvSpPr txBox="1"/>
          <p:nvPr/>
        </p:nvSpPr>
        <p:spPr>
          <a:xfrm>
            <a:off x="8961120" y="3959352"/>
            <a:ext cx="2697480" cy="640080"/>
          </a:xfrm>
          <a:prstGeom prst="rect">
            <a:avLst/>
          </a:prstGeom>
          <a:noFill/>
          <a:ln/>
        </p:spPr>
        <p:txBody>
          <a:bodyPr wrap="square" lIns="0" tIns="0" rIns="0" bIns="0" rtlCol="0" anchor="ctr"/>
          <a:lstStyle/>
          <a:p>
            <a:pPr indent="0" marL="0">
              <a:buNone/>
            </a:pPr>
            <a:r>
              <a:rPr lang="en-US" sz="1500" dirty="0">
                <a:solidFill>
                  <a:srgbClr val="334155"/>
                </a:solidFill>
              </a:rPr>
              <a:t>code-first EF Core migrations</a:t>
            </a:r>
            <a:endParaRPr lang="en-US" sz="1500" dirty="0"/>
          </a:p>
        </p:txBody>
      </p:sp>
      <p:sp>
        <p:nvSpPr>
          <p:cNvPr id="10" name="A05-rise-sn3"/>
          <p:cNvSpPr txBox="1"/>
          <p:nvPr/>
        </p:nvSpPr>
        <p:spPr>
          <a:xfrm>
            <a:off x="6995160" y="5038344"/>
            <a:ext cx="1920240" cy="868680"/>
          </a:xfrm>
          <a:prstGeom prst="rect">
            <a:avLst/>
          </a:prstGeom>
          <a:noFill/>
          <a:ln/>
        </p:spPr>
        <p:txBody>
          <a:bodyPr wrap="square" lIns="0" tIns="0" rIns="0" bIns="0" rtlCol="0" anchor="ctr"/>
          <a:lstStyle/>
          <a:p>
            <a:pPr indent="0" marL="0">
              <a:buNone/>
            </a:pPr>
            <a:r>
              <a:rPr lang="en-US" sz="4800" b="1" dirty="0">
                <a:solidFill>
                  <a:schemeClr val="accent2"/>
                </a:solidFill>
              </a:rPr>
              <a:t>18 · 4</a:t>
            </a:r>
            <a:endParaRPr lang="en-US" sz="4800" dirty="0"/>
          </a:p>
        </p:txBody>
      </p:sp>
      <p:sp>
        <p:nvSpPr>
          <p:cNvPr id="11" name="A05-rise-sl3"/>
          <p:cNvSpPr txBox="1"/>
          <p:nvPr/>
        </p:nvSpPr>
        <p:spPr>
          <a:xfrm>
            <a:off x="8961120" y="5166360"/>
            <a:ext cx="2697480" cy="640080"/>
          </a:xfrm>
          <a:prstGeom prst="rect">
            <a:avLst/>
          </a:prstGeom>
          <a:noFill/>
          <a:ln/>
        </p:spPr>
        <p:txBody>
          <a:bodyPr wrap="square" lIns="0" tIns="0" rIns="0" bIns="0" rtlCol="0" anchor="ctr"/>
          <a:lstStyle/>
          <a:p>
            <a:pPr indent="0" marL="0">
              <a:buNone/>
            </a:pPr>
            <a:r>
              <a:rPr lang="en-US" sz="1500" dirty="0">
                <a:solidFill>
                  <a:srgbClr val="334155"/>
                </a:solidFill>
              </a:rPr>
              <a:t>plans and discount bands seeded</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transition spd="med">
    <p:cover dir="l"/>
  </p:transition>
  <p:timing>
    <p:tnLst>
      <p:par>
        <p:cTn id="1" dur="indefinite" restart="never" nodeType="tmRoot">
          <p:childTnLst>
            <p:seq concurrent="1" nextAc="seek">
              <p:cTn id="2" dur="indefinite" nodeType="mainSeq">
                <p:childTnLst>
                  <p:par>
                    <p:cTn id="47" fill="hold">
                      <p:stCondLst>
                        <p:cond delay="indefinite"/>
                        <p:cond evt="onBegin" delay="0">
                          <p:tn val="2"/>
                        </p:cond>
                      </p:stCondLst>
                      <p:childTnLst>
                        <p:par>
                          <p:cTn id="46" fill="hold">
                            <p:stCondLst>
                              <p:cond delay="0"/>
                            </p:stCondLst>
                            <p:childTnLst>
                              <p:par>
                                <p:cTn id="5" presetID="10"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childTnLst>
                                </p:cTn>
                              </p:par>
                              <p:par>
                                <p:cTn id="10" presetID="42" presetClass="entr" presetSubtype="0" fill="hold" grpId="0" nodeType="withEffect">
                                  <p:stCondLst>
                                    <p:cond delay="36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additive="base">
                                        <p:cTn id="8" dur="600" fill="hold"/>
                                        <p:tgtEl>
                                          <p:spTgt spid="4"/>
                                        </p:tgtEl>
                                        <p:attrNameLst>
                                          <p:attrName>ppt_x</p:attrName>
                                        </p:attrNameLst>
                                      </p:cBhvr>
                                      <p:tavLst>
                                        <p:tav tm="0">
                                          <p:val>
                                            <p:strVal val="#ppt_x"/>
                                          </p:val>
                                        </p:tav>
                                        <p:tav tm="100000">
                                          <p:val>
                                            <p:strVal val="#ppt_x"/>
                                          </p:val>
                                        </p:tav>
                                      </p:tavLst>
                                    </p:anim>
                                    <p:anim calcmode="lin" valueType="num">
                                      <p:cBhvr additive="base">
                                        <p:cTn id="9" dur="600" fill="hold"/>
                                        <p:tgtEl>
                                          <p:spTgt spid="4"/>
                                        </p:tgtEl>
                                        <p:attrNameLst>
                                          <p:attrName>ppt_y</p:attrName>
                                        </p:attrNameLst>
                                      </p:cBhvr>
                                      <p:tavLst>
                                        <p:tav tm="0">
                                          <p:val>
                                            <p:strVal val="#ppt_y+0.08"/>
                                          </p:val>
                                        </p:tav>
                                        <p:tav tm="100000">
                                          <p:val>
                                            <p:strVal val="#ppt_y"/>
                                          </p:val>
                                        </p:tav>
                                      </p:tavLst>
                                    </p:anim>
                                  </p:childTnLst>
                                </p:cTn>
                              </p:par>
                              <p:par>
                                <p:cTn id="15" presetID="42" presetClass="entr" presetSubtype="0" fill="hold" grpId="0" nodeType="withEffect">
                                  <p:stCondLst>
                                    <p:cond delay="43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anim calcmode="lin" valueType="num">
                                      <p:cBhvr additive="base">
                                        <p:cTn id="13" dur="600" fill="hold"/>
                                        <p:tgtEl>
                                          <p:spTgt spid="5"/>
                                        </p:tgtEl>
                                        <p:attrNameLst>
                                          <p:attrName>ppt_x</p:attrName>
                                        </p:attrNameLst>
                                      </p:cBhvr>
                                      <p:tavLst>
                                        <p:tav tm="0">
                                          <p:val>
                                            <p:strVal val="#ppt_x"/>
                                          </p:val>
                                        </p:tav>
                                        <p:tav tm="100000">
                                          <p:val>
                                            <p:strVal val="#ppt_x"/>
                                          </p:val>
                                        </p:tav>
                                      </p:tavLst>
                                    </p:anim>
                                    <p:anim calcmode="lin" valueType="num">
                                      <p:cBhvr additive="base">
                                        <p:cTn id="14" dur="600" fill="hold"/>
                                        <p:tgtEl>
                                          <p:spTgt spid="5"/>
                                        </p:tgtEl>
                                        <p:attrNameLst>
                                          <p:attrName>ppt_y</p:attrName>
                                        </p:attrNameLst>
                                      </p:cBhvr>
                                      <p:tavLst>
                                        <p:tav tm="0">
                                          <p:val>
                                            <p:strVal val="#ppt_y+0.08"/>
                                          </p:val>
                                        </p:tav>
                                        <p:tav tm="100000">
                                          <p:val>
                                            <p:strVal val="#ppt_y"/>
                                          </p:val>
                                        </p:tav>
                                      </p:tavLst>
                                    </p:anim>
                                  </p:childTnLst>
                                </p:cTn>
                              </p:par>
                              <p:par>
                                <p:cTn id="20" presetID="42" presetClass="entr" presetSubtype="0" fill="hold" grpId="0" nodeType="withEffect">
                                  <p:stCondLst>
                                    <p:cond delay="72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600"/>
                                        <p:tgtEl>
                                          <p:spTgt spid="6"/>
                                        </p:tgtEl>
                                      </p:cBhvr>
                                    </p:animEffect>
                                    <p:anim calcmode="lin" valueType="num">
                                      <p:cBhvr additive="base">
                                        <p:cTn id="18" dur="600" fill="hold"/>
                                        <p:tgtEl>
                                          <p:spTgt spid="6"/>
                                        </p:tgtEl>
                                        <p:attrNameLst>
                                          <p:attrName>ppt_x</p:attrName>
                                        </p:attrNameLst>
                                      </p:cBhvr>
                                      <p:tavLst>
                                        <p:tav tm="0">
                                          <p:val>
                                            <p:strVal val="#ppt_x"/>
                                          </p:val>
                                        </p:tav>
                                        <p:tav tm="100000">
                                          <p:val>
                                            <p:strVal val="#ppt_x"/>
                                          </p:val>
                                        </p:tav>
                                      </p:tavLst>
                                    </p:anim>
                                    <p:anim calcmode="lin" valueType="num">
                                      <p:cBhvr additive="base">
                                        <p:cTn id="19" dur="600" fill="hold"/>
                                        <p:tgtEl>
                                          <p:spTgt spid="6"/>
                                        </p:tgtEl>
                                        <p:attrNameLst>
                                          <p:attrName>ppt_y</p:attrName>
                                        </p:attrNameLst>
                                      </p:cBhvr>
                                      <p:tavLst>
                                        <p:tav tm="0">
                                          <p:val>
                                            <p:strVal val="#ppt_y+0.08"/>
                                          </p:val>
                                        </p:tav>
                                        <p:tav tm="100000">
                                          <p:val>
                                            <p:strVal val="#ppt_y"/>
                                          </p:val>
                                        </p:tav>
                                      </p:tavLst>
                                    </p:anim>
                                  </p:childTnLst>
                                </p:cTn>
                              </p:par>
                              <p:par>
                                <p:cTn id="25" presetID="42" presetClass="entr" presetSubtype="0" fill="hold" grpId="0" nodeType="withEffect">
                                  <p:stCondLst>
                                    <p:cond delay="79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600"/>
                                        <p:tgtEl>
                                          <p:spTgt spid="7"/>
                                        </p:tgtEl>
                                      </p:cBhvr>
                                    </p:animEffect>
                                    <p:anim calcmode="lin" valueType="num">
                                      <p:cBhvr additive="base">
                                        <p:cTn id="23" dur="600" fill="hold"/>
                                        <p:tgtEl>
                                          <p:spTgt spid="7"/>
                                        </p:tgtEl>
                                        <p:attrNameLst>
                                          <p:attrName>ppt_x</p:attrName>
                                        </p:attrNameLst>
                                      </p:cBhvr>
                                      <p:tavLst>
                                        <p:tav tm="0">
                                          <p:val>
                                            <p:strVal val="#ppt_x"/>
                                          </p:val>
                                        </p:tav>
                                        <p:tav tm="100000">
                                          <p:val>
                                            <p:strVal val="#ppt_x"/>
                                          </p:val>
                                        </p:tav>
                                      </p:tavLst>
                                    </p:anim>
                                    <p:anim calcmode="lin" valueType="num">
                                      <p:cBhvr additive="base">
                                        <p:cTn id="24" dur="600" fill="hold"/>
                                        <p:tgtEl>
                                          <p:spTgt spid="7"/>
                                        </p:tgtEl>
                                        <p:attrNameLst>
                                          <p:attrName>ppt_y</p:attrName>
                                        </p:attrNameLst>
                                      </p:cBhvr>
                                      <p:tavLst>
                                        <p:tav tm="0">
                                          <p:val>
                                            <p:strVal val="#ppt_y+0.08"/>
                                          </p:val>
                                        </p:tav>
                                        <p:tav tm="100000">
                                          <p:val>
                                            <p:strVal val="#ppt_y"/>
                                          </p:val>
                                        </p:tav>
                                      </p:tavLst>
                                    </p:anim>
                                  </p:childTnLst>
                                </p:cTn>
                              </p:par>
                              <p:par>
                                <p:cTn id="30" presetID="42" presetClass="entr" presetSubtype="0" fill="hold" grpId="0" nodeType="withEffect">
                                  <p:stCondLst>
                                    <p:cond delay="108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600"/>
                                        <p:tgtEl>
                                          <p:spTgt spid="8"/>
                                        </p:tgtEl>
                                      </p:cBhvr>
                                    </p:animEffect>
                                    <p:anim calcmode="lin" valueType="num">
                                      <p:cBhvr additive="base">
                                        <p:cTn id="28" dur="600" fill="hold"/>
                                        <p:tgtEl>
                                          <p:spTgt spid="8"/>
                                        </p:tgtEl>
                                        <p:attrNameLst>
                                          <p:attrName>ppt_x</p:attrName>
                                        </p:attrNameLst>
                                      </p:cBhvr>
                                      <p:tavLst>
                                        <p:tav tm="0">
                                          <p:val>
                                            <p:strVal val="#ppt_x"/>
                                          </p:val>
                                        </p:tav>
                                        <p:tav tm="100000">
                                          <p:val>
                                            <p:strVal val="#ppt_x"/>
                                          </p:val>
                                        </p:tav>
                                      </p:tavLst>
                                    </p:anim>
                                    <p:anim calcmode="lin" valueType="num">
                                      <p:cBhvr additive="base">
                                        <p:cTn id="29" dur="600" fill="hold"/>
                                        <p:tgtEl>
                                          <p:spTgt spid="8"/>
                                        </p:tgtEl>
                                        <p:attrNameLst>
                                          <p:attrName>ppt_y</p:attrName>
                                        </p:attrNameLst>
                                      </p:cBhvr>
                                      <p:tavLst>
                                        <p:tav tm="0">
                                          <p:val>
                                            <p:strVal val="#ppt_y+0.08"/>
                                          </p:val>
                                        </p:tav>
                                        <p:tav tm="100000">
                                          <p:val>
                                            <p:strVal val="#ppt_y"/>
                                          </p:val>
                                        </p:tav>
                                      </p:tavLst>
                                    </p:anim>
                                  </p:childTnLst>
                                </p:cTn>
                              </p:par>
                              <p:par>
                                <p:cTn id="35" presetID="42" presetClass="entr" presetSubtype="0" fill="hold" grpId="0" nodeType="withEffect">
                                  <p:stCondLst>
                                    <p:cond delay="115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600"/>
                                        <p:tgtEl>
                                          <p:spTgt spid="9"/>
                                        </p:tgtEl>
                                      </p:cBhvr>
                                    </p:animEffect>
                                    <p:anim calcmode="lin" valueType="num">
                                      <p:cBhvr additive="base">
                                        <p:cTn id="33" dur="600" fill="hold"/>
                                        <p:tgtEl>
                                          <p:spTgt spid="9"/>
                                        </p:tgtEl>
                                        <p:attrNameLst>
                                          <p:attrName>ppt_x</p:attrName>
                                        </p:attrNameLst>
                                      </p:cBhvr>
                                      <p:tavLst>
                                        <p:tav tm="0">
                                          <p:val>
                                            <p:strVal val="#ppt_x"/>
                                          </p:val>
                                        </p:tav>
                                        <p:tav tm="100000">
                                          <p:val>
                                            <p:strVal val="#ppt_x"/>
                                          </p:val>
                                        </p:tav>
                                      </p:tavLst>
                                    </p:anim>
                                    <p:anim calcmode="lin" valueType="num">
                                      <p:cBhvr additive="base">
                                        <p:cTn id="34" dur="600" fill="hold"/>
                                        <p:tgtEl>
                                          <p:spTgt spid="9"/>
                                        </p:tgtEl>
                                        <p:attrNameLst>
                                          <p:attrName>ppt_y</p:attrName>
                                        </p:attrNameLst>
                                      </p:cBhvr>
                                      <p:tavLst>
                                        <p:tav tm="0">
                                          <p:val>
                                            <p:strVal val="#ppt_y+0.08"/>
                                          </p:val>
                                        </p:tav>
                                        <p:tav tm="100000">
                                          <p:val>
                                            <p:strVal val="#ppt_y"/>
                                          </p:val>
                                        </p:tav>
                                      </p:tavLst>
                                    </p:anim>
                                  </p:childTnLst>
                                </p:cTn>
                              </p:par>
                              <p:par>
                                <p:cTn id="40" presetID="42" presetClass="entr" presetSubtype="0" fill="hold" grpId="0" nodeType="withEffect">
                                  <p:stCondLst>
                                    <p:cond delay="144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600"/>
                                        <p:tgtEl>
                                          <p:spTgt spid="10"/>
                                        </p:tgtEl>
                                      </p:cBhvr>
                                    </p:animEffect>
                                    <p:anim calcmode="lin" valueType="num">
                                      <p:cBhvr additive="base">
                                        <p:cTn id="38" dur="600" fill="hold"/>
                                        <p:tgtEl>
                                          <p:spTgt spid="10"/>
                                        </p:tgtEl>
                                        <p:attrNameLst>
                                          <p:attrName>ppt_x</p:attrName>
                                        </p:attrNameLst>
                                      </p:cBhvr>
                                      <p:tavLst>
                                        <p:tav tm="0">
                                          <p:val>
                                            <p:strVal val="#ppt_x"/>
                                          </p:val>
                                        </p:tav>
                                        <p:tav tm="100000">
                                          <p:val>
                                            <p:strVal val="#ppt_x"/>
                                          </p:val>
                                        </p:tav>
                                      </p:tavLst>
                                    </p:anim>
                                    <p:anim calcmode="lin" valueType="num">
                                      <p:cBhvr additive="base">
                                        <p:cTn id="39" dur="600" fill="hold"/>
                                        <p:tgtEl>
                                          <p:spTgt spid="10"/>
                                        </p:tgtEl>
                                        <p:attrNameLst>
                                          <p:attrName>ppt_y</p:attrName>
                                        </p:attrNameLst>
                                      </p:cBhvr>
                                      <p:tavLst>
                                        <p:tav tm="0">
                                          <p:val>
                                            <p:strVal val="#ppt_y+0.08"/>
                                          </p:val>
                                        </p:tav>
                                        <p:tav tm="100000">
                                          <p:val>
                                            <p:strVal val="#ppt_y"/>
                                          </p:val>
                                        </p:tav>
                                      </p:tavLst>
                                    </p:anim>
                                  </p:childTnLst>
                                </p:cTn>
                              </p:par>
                              <p:par>
                                <p:cTn id="45" presetID="42" presetClass="entr" presetSubtype="0" fill="hold" grpId="0" nodeType="withEffect">
                                  <p:stCondLst>
                                    <p:cond delay="151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600"/>
                                        <p:tgtEl>
                                          <p:spTgt spid="11"/>
                                        </p:tgtEl>
                                      </p:cBhvr>
                                    </p:animEffect>
                                    <p:anim calcmode="lin" valueType="num">
                                      <p:cBhvr additive="base">
                                        <p:cTn id="43" dur="600" fill="hold"/>
                                        <p:tgtEl>
                                          <p:spTgt spid="11"/>
                                        </p:tgtEl>
                                        <p:attrNameLst>
                                          <p:attrName>ppt_x</p:attrName>
                                        </p:attrNameLst>
                                      </p:cBhvr>
                                      <p:tavLst>
                                        <p:tav tm="0">
                                          <p:val>
                                            <p:strVal val="#ppt_x"/>
                                          </p:val>
                                        </p:tav>
                                        <p:tav tm="100000">
                                          <p:val>
                                            <p:strVal val="#ppt_x"/>
                                          </p:val>
                                        </p:tav>
                                      </p:tavLst>
                                    </p:anim>
                                    <p:anim calcmode="lin" valueType="num">
                                      <p:cBhvr additive="base">
                                        <p:cTn id="44" dur="600" fill="hold"/>
                                        <p:tgtEl>
                                          <p:spTgt spid="11"/>
                                        </p:tgtEl>
                                        <p:attrNameLst>
                                          <p:attrName>ppt_y</p:attrName>
                                        </p:attrNameLst>
                                      </p:cBhvr>
                                      <p:tavLst>
                                        <p:tav tm="0">
                                          <p:val>
                                            <p:strVal val="#ppt_y+0.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424160" cy="777240"/>
          </a:xfrm>
          <a:prstGeom prst="rect">
            <a:avLst/>
          </a:prstGeom>
          <a:noFill/>
          <a:ln/>
        </p:spPr>
        <p:txBody>
          <a:bodyPr wrap="square" lIns="0" tIns="0" rIns="0" bIns="0" rtlCol="0" anchor="ctr"/>
          <a:lstStyle/>
          <a:p>
            <a:pPr algn="l" indent="0" marL="0">
              <a:buNone/>
            </a:pPr>
            <a:r>
              <a:rPr lang="en-US" sz="3200" b="1" dirty="0">
                <a:solidFill>
                  <a:schemeClr val="tx2"/>
                </a:solidFill>
              </a:rPr>
              <a:t>Business rules built into the system</a:t>
            </a:r>
            <a:endParaRPr lang="en-US" sz="3200" dirty="0"/>
          </a:p>
        </p:txBody>
      </p:sp>
      <p:sp>
        <p:nvSpPr>
          <p:cNvPr id="3" name="A01-zoom-rc0"/>
          <p:cNvSpPr/>
          <p:nvPr/>
        </p:nvSpPr>
        <p:spPr>
          <a:xfrm>
            <a:off x="548640" y="1463040"/>
            <a:ext cx="5422392" cy="2103120"/>
          </a:xfrm>
          <a:prstGeom prst="roundRect">
            <a:avLst>
              <a:gd name="adj" fmla="val 5217"/>
            </a:avLst>
          </a:prstGeom>
          <a:solidFill>
            <a:schemeClr val="bg1"/>
          </a:solidFill>
          <a:ln w="9525">
            <a:solidFill>
              <a:srgbClr val="DBEAF3"/>
            </a:solidFill>
            <a:prstDash val="solid"/>
          </a:ln>
          <a:effectLst>
            <a:outerShdw sx="100000" sy="100000" kx="0" ky="0" algn="bl" rotWithShape="0" blurRad="152400" dist="38100" dir="5400000">
              <a:srgbClr val="0A2540">
                <a:alpha val="18000"/>
              </a:srgbClr>
            </a:outerShdw>
          </a:effectLst>
        </p:spPr>
      </p:sp>
      <p:sp>
        <p:nvSpPr>
          <p:cNvPr id="4" name="A01-zoom-rv0"/>
          <p:cNvSpPr txBox="1"/>
          <p:nvPr/>
        </p:nvSpPr>
        <p:spPr>
          <a:xfrm>
            <a:off x="914400" y="1737360"/>
            <a:ext cx="4754880" cy="868680"/>
          </a:xfrm>
          <a:prstGeom prst="rect">
            <a:avLst/>
          </a:prstGeom>
          <a:noFill/>
          <a:ln/>
        </p:spPr>
        <p:txBody>
          <a:bodyPr wrap="square" lIns="0" tIns="0" rIns="0" bIns="0" rtlCol="0" anchor="t"/>
          <a:lstStyle/>
          <a:p>
            <a:pPr indent="0" marL="0">
              <a:buNone/>
            </a:pPr>
            <a:r>
              <a:rPr lang="en-US" sz="4800" b="1" dirty="0">
                <a:solidFill>
                  <a:schemeClr val="accent1"/>
                </a:solidFill>
              </a:rPr>
              <a:t>12.24 %</a:t>
            </a:r>
            <a:endParaRPr lang="en-US" sz="4800" dirty="0"/>
          </a:p>
        </p:txBody>
      </p:sp>
      <p:sp>
        <p:nvSpPr>
          <p:cNvPr id="5" name="A01-zoom-rl0"/>
          <p:cNvSpPr txBox="1"/>
          <p:nvPr/>
        </p:nvSpPr>
        <p:spPr>
          <a:xfrm>
            <a:off x="914400" y="2651760"/>
            <a:ext cx="4754880" cy="777240"/>
          </a:xfrm>
          <a:prstGeom prst="rect">
            <a:avLst/>
          </a:prstGeom>
          <a:noFill/>
          <a:ln/>
        </p:spPr>
        <p:txBody>
          <a:bodyPr wrap="square" lIns="0" tIns="0" rIns="0" bIns="0" rtlCol="0" anchor="t"/>
          <a:lstStyle/>
          <a:p>
            <a:pPr indent="0" marL="0">
              <a:buNone/>
            </a:pPr>
            <a:r>
              <a:rPr lang="en-US" sz="1700" b="1" dirty="0">
                <a:solidFill>
                  <a:schemeClr val="tx2"/>
                </a:solidFill>
              </a:rPr>
              <a:t>Service tax</a:t>
            </a:r>
            <a:endParaRPr lang="en-US" sz="1400" dirty="0"/>
          </a:p>
          <a:p>
            <a:pPr indent="0" marL="0">
              <a:buNone/>
            </a:pPr>
            <a:r>
              <a:rPr lang="en-US" sz="1400" dirty="0">
                <a:solidFill>
                  <a:srgbClr val="475569"/>
                </a:solidFill>
              </a:rPr>
              <a:t>on the whole bill</a:t>
            </a:r>
            <a:endParaRPr lang="en-US" sz="1400" dirty="0"/>
          </a:p>
        </p:txBody>
      </p:sp>
      <p:sp>
        <p:nvSpPr>
          <p:cNvPr id="6" name="A02-zoom-rc1"/>
          <p:cNvSpPr/>
          <p:nvPr/>
        </p:nvSpPr>
        <p:spPr>
          <a:xfrm>
            <a:off x="6199632" y="1463040"/>
            <a:ext cx="5422392" cy="2103120"/>
          </a:xfrm>
          <a:prstGeom prst="roundRect">
            <a:avLst>
              <a:gd name="adj" fmla="val 5217"/>
            </a:avLst>
          </a:prstGeom>
          <a:solidFill>
            <a:schemeClr val="bg1"/>
          </a:solidFill>
          <a:ln w="9525">
            <a:solidFill>
              <a:srgbClr val="DBEAF3"/>
            </a:solidFill>
            <a:prstDash val="solid"/>
          </a:ln>
          <a:effectLst>
            <a:outerShdw sx="100000" sy="100000" kx="0" ky="0" algn="bl" rotWithShape="0" blurRad="152400" dist="38100" dir="5400000">
              <a:srgbClr val="0A2540">
                <a:alpha val="18000"/>
              </a:srgbClr>
            </a:outerShdw>
          </a:effectLst>
        </p:spPr>
      </p:sp>
      <p:sp>
        <p:nvSpPr>
          <p:cNvPr id="7" name="A02-zoom-rv1"/>
          <p:cNvSpPr txBox="1"/>
          <p:nvPr/>
        </p:nvSpPr>
        <p:spPr>
          <a:xfrm>
            <a:off x="6565392" y="1737360"/>
            <a:ext cx="4754880" cy="868680"/>
          </a:xfrm>
          <a:prstGeom prst="rect">
            <a:avLst/>
          </a:prstGeom>
          <a:noFill/>
          <a:ln/>
        </p:spPr>
        <p:txBody>
          <a:bodyPr wrap="square" lIns="0" tIns="0" rIns="0" bIns="0" rtlCol="0" anchor="t"/>
          <a:lstStyle/>
          <a:p>
            <a:pPr indent="0" marL="0">
              <a:buNone/>
            </a:pPr>
            <a:r>
              <a:rPr lang="en-US" sz="4800" b="1" dirty="0">
                <a:solidFill>
                  <a:schemeClr val="accent2"/>
                </a:solidFill>
              </a:rPr>
              <a:t>25-100 %</a:t>
            </a:r>
            <a:endParaRPr lang="en-US" sz="4800" dirty="0"/>
          </a:p>
        </p:txBody>
      </p:sp>
      <p:sp>
        <p:nvSpPr>
          <p:cNvPr id="8" name="A02-zoom-rl1"/>
          <p:cNvSpPr txBox="1"/>
          <p:nvPr/>
        </p:nvSpPr>
        <p:spPr>
          <a:xfrm>
            <a:off x="6565392" y="2651760"/>
            <a:ext cx="4754880" cy="777240"/>
          </a:xfrm>
          <a:prstGeom prst="rect">
            <a:avLst/>
          </a:prstGeom>
          <a:noFill/>
          <a:ln/>
        </p:spPr>
        <p:txBody>
          <a:bodyPr wrap="square" lIns="0" tIns="0" rIns="0" bIns="0" rtlCol="0" anchor="t"/>
          <a:lstStyle/>
          <a:p>
            <a:pPr indent="0" marL="0">
              <a:buNone/>
            </a:pPr>
            <a:r>
              <a:rPr lang="en-US" sz="1700" b="1" dirty="0">
                <a:solidFill>
                  <a:schemeClr val="tx2"/>
                </a:solidFill>
              </a:rPr>
              <a:t>Bulk discount</a:t>
            </a:r>
            <a:endParaRPr lang="en-US" sz="1400" dirty="0"/>
          </a:p>
          <a:p>
            <a:pPr indent="0" marL="0">
              <a:buNone/>
            </a:pPr>
            <a:r>
              <a:rPr lang="en-US" sz="1400" dirty="0">
                <a:solidFill>
                  <a:srgbClr val="475569"/>
                </a:solidFill>
              </a:rPr>
              <a:t>10-14: 25 % · 15-24: 50 % · 25-49: 75 % · 50+: 100 %</a:t>
            </a:r>
            <a:endParaRPr lang="en-US" sz="1400" dirty="0"/>
          </a:p>
        </p:txBody>
      </p:sp>
      <p:sp>
        <p:nvSpPr>
          <p:cNvPr id="9" name="A03-zoom-rc2"/>
          <p:cNvSpPr/>
          <p:nvPr/>
        </p:nvSpPr>
        <p:spPr>
          <a:xfrm>
            <a:off x="548640" y="3840480"/>
            <a:ext cx="5422392" cy="2103120"/>
          </a:xfrm>
          <a:prstGeom prst="roundRect">
            <a:avLst>
              <a:gd name="adj" fmla="val 5217"/>
            </a:avLst>
          </a:prstGeom>
          <a:solidFill>
            <a:schemeClr val="bg1"/>
          </a:solidFill>
          <a:ln w="9525">
            <a:solidFill>
              <a:srgbClr val="DBEAF3"/>
            </a:solidFill>
            <a:prstDash val="solid"/>
          </a:ln>
          <a:effectLst>
            <a:outerShdw sx="100000" sy="100000" kx="0" ky="0" algn="bl" rotWithShape="0" blurRad="152400" dist="38100" dir="5400000">
              <a:srgbClr val="0A2540">
                <a:alpha val="18000"/>
              </a:srgbClr>
            </a:outerShdw>
          </a:effectLst>
        </p:spPr>
      </p:sp>
      <p:sp>
        <p:nvSpPr>
          <p:cNvPr id="10" name="A03-zoom-rv2"/>
          <p:cNvSpPr txBox="1"/>
          <p:nvPr/>
        </p:nvSpPr>
        <p:spPr>
          <a:xfrm>
            <a:off x="914400" y="4114800"/>
            <a:ext cx="4754880" cy="868680"/>
          </a:xfrm>
          <a:prstGeom prst="rect">
            <a:avLst/>
          </a:prstGeom>
          <a:noFill/>
          <a:ln/>
        </p:spPr>
        <p:txBody>
          <a:bodyPr wrap="square" lIns="0" tIns="0" rIns="0" bIns="0" rtlCol="0" anchor="t"/>
          <a:lstStyle/>
          <a:p>
            <a:pPr indent="0" marL="0">
              <a:buNone/>
            </a:pPr>
            <a:r>
              <a:rPr lang="en-US" sz="4800" b="1" dirty="0">
                <a:solidFill>
                  <a:schemeClr val="accent5"/>
                </a:solidFill>
              </a:rPr>
              <a:t>$250-$500</a:t>
            </a:r>
            <a:endParaRPr lang="en-US" sz="4800" dirty="0"/>
          </a:p>
        </p:txBody>
      </p:sp>
      <p:sp>
        <p:nvSpPr>
          <p:cNvPr id="11" name="A03-zoom-rl2"/>
          <p:cNvSpPr txBox="1"/>
          <p:nvPr/>
        </p:nvSpPr>
        <p:spPr>
          <a:xfrm>
            <a:off x="914400" y="5029200"/>
            <a:ext cx="4754880" cy="777240"/>
          </a:xfrm>
          <a:prstGeom prst="rect">
            <a:avLst/>
          </a:prstGeom>
          <a:noFill/>
          <a:ln/>
        </p:spPr>
        <p:txBody>
          <a:bodyPr wrap="square" lIns="0" tIns="0" rIns="0" bIns="0" rtlCol="0" anchor="t"/>
          <a:lstStyle/>
          <a:p>
            <a:pPr indent="0" marL="0">
              <a:buNone/>
            </a:pPr>
            <a:r>
              <a:rPr lang="en-US" sz="1700" b="1" dirty="0">
                <a:solidFill>
                  <a:schemeClr val="tx2"/>
                </a:solidFill>
              </a:rPr>
              <a:t>Security deposit</a:t>
            </a:r>
            <a:endParaRPr lang="en-US" sz="1400" dirty="0"/>
          </a:p>
          <a:p>
            <a:pPr indent="0" marL="0">
              <a:buNone/>
            </a:pPr>
            <a:r>
              <a:rPr lang="en-US" sz="1400" dirty="0">
                <a:solidFill>
                  <a:srgbClr val="475569"/>
                </a:solidFill>
              </a:rPr>
              <a:t>Landline $250 · Dial-Up $325 · Broadband $500</a:t>
            </a:r>
            <a:endParaRPr lang="en-US" sz="1400" dirty="0"/>
          </a:p>
        </p:txBody>
      </p:sp>
      <p:sp>
        <p:nvSpPr>
          <p:cNvPr id="12" name="A04-zoom-rc3"/>
          <p:cNvSpPr/>
          <p:nvPr/>
        </p:nvSpPr>
        <p:spPr>
          <a:xfrm>
            <a:off x="6199632" y="3840480"/>
            <a:ext cx="5422392" cy="2103120"/>
          </a:xfrm>
          <a:prstGeom prst="roundRect">
            <a:avLst>
              <a:gd name="adj" fmla="val 5217"/>
            </a:avLst>
          </a:prstGeom>
          <a:solidFill>
            <a:schemeClr val="bg1"/>
          </a:solidFill>
          <a:ln w="9525">
            <a:solidFill>
              <a:srgbClr val="DBEAF3"/>
            </a:solidFill>
            <a:prstDash val="solid"/>
          </a:ln>
          <a:effectLst>
            <a:outerShdw sx="100000" sy="100000" kx="0" ky="0" algn="bl" rotWithShape="0" blurRad="152400" dist="38100" dir="5400000">
              <a:srgbClr val="0A2540">
                <a:alpha val="18000"/>
              </a:srgbClr>
            </a:outerShdw>
          </a:effectLst>
        </p:spPr>
      </p:sp>
      <p:sp>
        <p:nvSpPr>
          <p:cNvPr id="13" name="A04-zoom-rv3"/>
          <p:cNvSpPr txBox="1"/>
          <p:nvPr/>
        </p:nvSpPr>
        <p:spPr>
          <a:xfrm>
            <a:off x="6565392" y="4114800"/>
            <a:ext cx="4754880" cy="868680"/>
          </a:xfrm>
          <a:prstGeom prst="rect">
            <a:avLst/>
          </a:prstGeom>
          <a:noFill/>
          <a:ln/>
        </p:spPr>
        <p:txBody>
          <a:bodyPr wrap="square" lIns="0" tIns="0" rIns="0" bIns="0" rtlCol="0" anchor="t"/>
          <a:lstStyle/>
          <a:p>
            <a:pPr indent="0" marL="0">
              <a:buNone/>
            </a:pPr>
            <a:r>
              <a:rPr lang="en-US" sz="4800" b="1" dirty="0">
                <a:solidFill>
                  <a:schemeClr val="accent4"/>
                </a:solidFill>
              </a:rPr>
              <a:t>11 / 16</a:t>
            </a:r>
            <a:endParaRPr lang="en-US" sz="4800" dirty="0"/>
          </a:p>
        </p:txBody>
      </p:sp>
      <p:sp>
        <p:nvSpPr>
          <p:cNvPr id="14" name="A04-zoom-rl3"/>
          <p:cNvSpPr txBox="1"/>
          <p:nvPr/>
        </p:nvSpPr>
        <p:spPr>
          <a:xfrm>
            <a:off x="6565392" y="5029200"/>
            <a:ext cx="4754880" cy="777240"/>
          </a:xfrm>
          <a:prstGeom prst="rect">
            <a:avLst/>
          </a:prstGeom>
          <a:noFill/>
          <a:ln/>
        </p:spPr>
        <p:txBody>
          <a:bodyPr wrap="square" lIns="0" tIns="0" rIns="0" bIns="0" rtlCol="0" anchor="t"/>
          <a:lstStyle/>
          <a:p>
            <a:pPr indent="0" marL="0">
              <a:buNone/>
            </a:pPr>
            <a:r>
              <a:rPr lang="en-US" sz="1700" b="1" dirty="0">
                <a:solidFill>
                  <a:schemeClr val="tx2"/>
                </a:solidFill>
              </a:rPr>
              <a:t>Characters</a:t>
            </a:r>
            <a:endParaRPr lang="en-US" sz="1400" dirty="0"/>
          </a:p>
          <a:p>
            <a:pPr indent="0" marL="0">
              <a:buNone/>
            </a:pPr>
            <a:r>
              <a:rPr lang="en-US" sz="1400" dirty="0">
                <a:solidFill>
                  <a:srgbClr val="475569"/>
                </a:solidFill>
              </a:rPr>
              <a:t>order number / account ID, generated by the server</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64" fill="hold">
                      <p:stCondLst>
                        <p:cond delay="indefinite"/>
                        <p:cond evt="onBegin" delay="0">
                          <p:tn val="2"/>
                        </p:cond>
                      </p:stCondLst>
                      <p:childTnLst>
                        <p:par>
                          <p:cTn id="63"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 calcmode="lin" valueType="num">
                                      <p:cBhvr additive="base">
                                        <p:cTn id="4" dur="600" fill="hold"/>
                                        <p:tgtEl>
                                          <p:spTgt spid="3"/>
                                        </p:tgtEl>
                                        <p:attrNameLst>
                                          <p:attrName>ppt_w</p:attrName>
                                        </p:attrNameLst>
                                      </p:cBhvr>
                                      <p:tavLst>
                                        <p:tav tm="0">
                                          <p:val>
                                            <p:strVal val="0.7*#ppt_w"/>
                                          </p:val>
                                        </p:tav>
                                        <p:tav tm="100000">
                                          <p:val>
                                            <p:strVal val="#ppt_w"/>
                                          </p:val>
                                        </p:tav>
                                      </p:tavLst>
                                    </p:anim>
                                    <p:anim calcmode="lin" valueType="num">
                                      <p:cBhvr additive="base">
                                        <p:cTn id="5" dur="600" fill="hold"/>
                                        <p:tgtEl>
                                          <p:spTgt spid="3"/>
                                        </p:tgtEl>
                                        <p:attrNameLst>
                                          <p:attrName>ppt_h</p:attrName>
                                        </p:attrNameLst>
                                      </p:cBhvr>
                                      <p:tavLst>
                                        <p:tav tm="0">
                                          <p:val>
                                            <p:strVal val="0.7*#ppt_h"/>
                                          </p:val>
                                        </p:tav>
                                        <p:tav tm="100000">
                                          <p:val>
                                            <p:strVal val="#ppt_h"/>
                                          </p:val>
                                        </p:tav>
                                      </p:tavLst>
                                    </p:anim>
                                    <p:animEffect transition="in" filter="fade">
                                      <p:cBhvr>
                                        <p:cTn id="6" dur="600"/>
                                        <p:tgtEl>
                                          <p:spTgt spid="3"/>
                                        </p:tgtEl>
                                      </p:cBhvr>
                                    </p:animEffect>
                                  </p:childTnLst>
                                </p:cTn>
                              </p:par>
                              <p:par>
                                <p:cTn id="12" presetID="53" presetClass="entr" presetSubtype="16" fill="hold" grpId="0" nodeType="withEffect">
                                  <p:stCondLst>
                                    <p:cond delay="70"/>
                                  </p:stCondLst>
                                  <p:childTnLst>
                                    <p:set>
                                      <p:cBhvr>
                                        <p:cTn id="8" dur="1" fill="hold">
                                          <p:stCondLst>
                                            <p:cond delay="0"/>
                                          </p:stCondLst>
                                        </p:cTn>
                                        <p:tgtEl>
                                          <p:spTgt spid="4"/>
                                        </p:tgtEl>
                                        <p:attrNameLst>
                                          <p:attrName>style.visibility</p:attrName>
                                        </p:attrNameLst>
                                      </p:cBhvr>
                                      <p:to>
                                        <p:strVal val="visible"/>
                                      </p:to>
                                    </p:set>
                                    <p:anim calcmode="lin" valueType="num">
                                      <p:cBhvr additive="base">
                                        <p:cTn id="9" dur="600" fill="hold"/>
                                        <p:tgtEl>
                                          <p:spTgt spid="4"/>
                                        </p:tgtEl>
                                        <p:attrNameLst>
                                          <p:attrName>ppt_w</p:attrName>
                                        </p:attrNameLst>
                                      </p:cBhvr>
                                      <p:tavLst>
                                        <p:tav tm="0">
                                          <p:val>
                                            <p:strVal val="0.7*#ppt_w"/>
                                          </p:val>
                                        </p:tav>
                                        <p:tav tm="100000">
                                          <p:val>
                                            <p:strVal val="#ppt_w"/>
                                          </p:val>
                                        </p:tav>
                                      </p:tavLst>
                                    </p:anim>
                                    <p:anim calcmode="lin" valueType="num">
                                      <p:cBhvr additive="base">
                                        <p:cTn id="10" dur="600" fill="hold"/>
                                        <p:tgtEl>
                                          <p:spTgt spid="4"/>
                                        </p:tgtEl>
                                        <p:attrNameLst>
                                          <p:attrName>ppt_h</p:attrName>
                                        </p:attrNameLst>
                                      </p:cBhvr>
                                      <p:tavLst>
                                        <p:tav tm="0">
                                          <p:val>
                                            <p:strVal val="0.7*#ppt_h"/>
                                          </p:val>
                                        </p:tav>
                                        <p:tav tm="100000">
                                          <p:val>
                                            <p:strVal val="#ppt_h"/>
                                          </p:val>
                                        </p:tav>
                                      </p:tavLst>
                                    </p:anim>
                                    <p:animEffect transition="in" filter="fade">
                                      <p:cBhvr>
                                        <p:cTn id="11" dur="600"/>
                                        <p:tgtEl>
                                          <p:spTgt spid="4"/>
                                        </p:tgtEl>
                                      </p:cBhvr>
                                    </p:animEffect>
                                  </p:childTnLst>
                                </p:cTn>
                              </p:par>
                              <p:par>
                                <p:cTn id="17" presetID="53" presetClass="entr" presetSubtype="16" fill="hold" grpId="0" nodeType="withEffect">
                                  <p:stCondLst>
                                    <p:cond delay="14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600" fill="hold"/>
                                        <p:tgtEl>
                                          <p:spTgt spid="5"/>
                                        </p:tgtEl>
                                        <p:attrNameLst>
                                          <p:attrName>ppt_w</p:attrName>
                                        </p:attrNameLst>
                                      </p:cBhvr>
                                      <p:tavLst>
                                        <p:tav tm="0">
                                          <p:val>
                                            <p:strVal val="0.7*#ppt_w"/>
                                          </p:val>
                                        </p:tav>
                                        <p:tav tm="100000">
                                          <p:val>
                                            <p:strVal val="#ppt_w"/>
                                          </p:val>
                                        </p:tav>
                                      </p:tavLst>
                                    </p:anim>
                                    <p:anim calcmode="lin" valueType="num">
                                      <p:cBhvr additive="base">
                                        <p:cTn id="15" dur="600" fill="hold"/>
                                        <p:tgtEl>
                                          <p:spTgt spid="5"/>
                                        </p:tgtEl>
                                        <p:attrNameLst>
                                          <p:attrName>ppt_h</p:attrName>
                                        </p:attrNameLst>
                                      </p:cBhvr>
                                      <p:tavLst>
                                        <p:tav tm="0">
                                          <p:val>
                                            <p:strVal val="0.7*#ppt_h"/>
                                          </p:val>
                                        </p:tav>
                                        <p:tav tm="100000">
                                          <p:val>
                                            <p:strVal val="#ppt_h"/>
                                          </p:val>
                                        </p:tav>
                                      </p:tavLst>
                                    </p:anim>
                                    <p:animEffect transition="in" filter="fade">
                                      <p:cBhvr>
                                        <p:cTn id="16" dur="600"/>
                                        <p:tgtEl>
                                          <p:spTgt spid="5"/>
                                        </p:tgtEl>
                                      </p:cBhvr>
                                    </p:animEffect>
                                  </p:childTnLst>
                                </p:cTn>
                              </p:par>
                              <p:par>
                                <p:cTn id="22" presetID="53" presetClass="entr" presetSubtype="16" fill="hold" grpId="0" nodeType="withEffect">
                                  <p:stCondLst>
                                    <p:cond delay="36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600" fill="hold"/>
                                        <p:tgtEl>
                                          <p:spTgt spid="6"/>
                                        </p:tgtEl>
                                        <p:attrNameLst>
                                          <p:attrName>ppt_w</p:attrName>
                                        </p:attrNameLst>
                                      </p:cBhvr>
                                      <p:tavLst>
                                        <p:tav tm="0">
                                          <p:val>
                                            <p:strVal val="0.7*#ppt_w"/>
                                          </p:val>
                                        </p:tav>
                                        <p:tav tm="100000">
                                          <p:val>
                                            <p:strVal val="#ppt_w"/>
                                          </p:val>
                                        </p:tav>
                                      </p:tavLst>
                                    </p:anim>
                                    <p:anim calcmode="lin" valueType="num">
                                      <p:cBhvr additive="base">
                                        <p:cTn id="20" dur="600" fill="hold"/>
                                        <p:tgtEl>
                                          <p:spTgt spid="6"/>
                                        </p:tgtEl>
                                        <p:attrNameLst>
                                          <p:attrName>ppt_h</p:attrName>
                                        </p:attrNameLst>
                                      </p:cBhvr>
                                      <p:tavLst>
                                        <p:tav tm="0">
                                          <p:val>
                                            <p:strVal val="0.7*#ppt_h"/>
                                          </p:val>
                                        </p:tav>
                                        <p:tav tm="100000">
                                          <p:val>
                                            <p:strVal val="#ppt_h"/>
                                          </p:val>
                                        </p:tav>
                                      </p:tavLst>
                                    </p:anim>
                                    <p:animEffect transition="in" filter="fade">
                                      <p:cBhvr>
                                        <p:cTn id="21" dur="600"/>
                                        <p:tgtEl>
                                          <p:spTgt spid="6"/>
                                        </p:tgtEl>
                                      </p:cBhvr>
                                    </p:animEffect>
                                  </p:childTnLst>
                                </p:cTn>
                              </p:par>
                              <p:par>
                                <p:cTn id="27" presetID="53" presetClass="entr" presetSubtype="16" fill="hold" grpId="0" nodeType="withEffect">
                                  <p:stCondLst>
                                    <p:cond delay="43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600" fill="hold"/>
                                        <p:tgtEl>
                                          <p:spTgt spid="7"/>
                                        </p:tgtEl>
                                        <p:attrNameLst>
                                          <p:attrName>ppt_w</p:attrName>
                                        </p:attrNameLst>
                                      </p:cBhvr>
                                      <p:tavLst>
                                        <p:tav tm="0">
                                          <p:val>
                                            <p:strVal val="0.7*#ppt_w"/>
                                          </p:val>
                                        </p:tav>
                                        <p:tav tm="100000">
                                          <p:val>
                                            <p:strVal val="#ppt_w"/>
                                          </p:val>
                                        </p:tav>
                                      </p:tavLst>
                                    </p:anim>
                                    <p:anim calcmode="lin" valueType="num">
                                      <p:cBhvr additive="base">
                                        <p:cTn id="25" dur="600" fill="hold"/>
                                        <p:tgtEl>
                                          <p:spTgt spid="7"/>
                                        </p:tgtEl>
                                        <p:attrNameLst>
                                          <p:attrName>ppt_h</p:attrName>
                                        </p:attrNameLst>
                                      </p:cBhvr>
                                      <p:tavLst>
                                        <p:tav tm="0">
                                          <p:val>
                                            <p:strVal val="0.7*#ppt_h"/>
                                          </p:val>
                                        </p:tav>
                                        <p:tav tm="100000">
                                          <p:val>
                                            <p:strVal val="#ppt_h"/>
                                          </p:val>
                                        </p:tav>
                                      </p:tavLst>
                                    </p:anim>
                                    <p:animEffect transition="in" filter="fade">
                                      <p:cBhvr>
                                        <p:cTn id="26" dur="600"/>
                                        <p:tgtEl>
                                          <p:spTgt spid="7"/>
                                        </p:tgtEl>
                                      </p:cBhvr>
                                    </p:animEffect>
                                  </p:childTnLst>
                                </p:cTn>
                              </p:par>
                              <p:par>
                                <p:cTn id="32" presetID="53" presetClass="entr" presetSubtype="16" fill="hold" grpId="0" nodeType="withEffect">
                                  <p:stCondLst>
                                    <p:cond delay="50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600" fill="hold"/>
                                        <p:tgtEl>
                                          <p:spTgt spid="8"/>
                                        </p:tgtEl>
                                        <p:attrNameLst>
                                          <p:attrName>ppt_w</p:attrName>
                                        </p:attrNameLst>
                                      </p:cBhvr>
                                      <p:tavLst>
                                        <p:tav tm="0">
                                          <p:val>
                                            <p:strVal val="0.7*#ppt_w"/>
                                          </p:val>
                                        </p:tav>
                                        <p:tav tm="100000">
                                          <p:val>
                                            <p:strVal val="#ppt_w"/>
                                          </p:val>
                                        </p:tav>
                                      </p:tavLst>
                                    </p:anim>
                                    <p:anim calcmode="lin" valueType="num">
                                      <p:cBhvr additive="base">
                                        <p:cTn id="30" dur="600" fill="hold"/>
                                        <p:tgtEl>
                                          <p:spTgt spid="8"/>
                                        </p:tgtEl>
                                        <p:attrNameLst>
                                          <p:attrName>ppt_h</p:attrName>
                                        </p:attrNameLst>
                                      </p:cBhvr>
                                      <p:tavLst>
                                        <p:tav tm="0">
                                          <p:val>
                                            <p:strVal val="0.7*#ppt_h"/>
                                          </p:val>
                                        </p:tav>
                                        <p:tav tm="100000">
                                          <p:val>
                                            <p:strVal val="#ppt_h"/>
                                          </p:val>
                                        </p:tav>
                                      </p:tavLst>
                                    </p:anim>
                                    <p:animEffect transition="in" filter="fade">
                                      <p:cBhvr>
                                        <p:cTn id="31" dur="600"/>
                                        <p:tgtEl>
                                          <p:spTgt spid="8"/>
                                        </p:tgtEl>
                                      </p:cBhvr>
                                    </p:animEffect>
                                  </p:childTnLst>
                                </p:cTn>
                              </p:par>
                              <p:par>
                                <p:cTn id="37" presetID="53" presetClass="entr" presetSubtype="16" fill="hold" grpId="0" nodeType="withEffect">
                                  <p:stCondLst>
                                    <p:cond delay="72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600" fill="hold"/>
                                        <p:tgtEl>
                                          <p:spTgt spid="9"/>
                                        </p:tgtEl>
                                        <p:attrNameLst>
                                          <p:attrName>ppt_w</p:attrName>
                                        </p:attrNameLst>
                                      </p:cBhvr>
                                      <p:tavLst>
                                        <p:tav tm="0">
                                          <p:val>
                                            <p:strVal val="0.7*#ppt_w"/>
                                          </p:val>
                                        </p:tav>
                                        <p:tav tm="100000">
                                          <p:val>
                                            <p:strVal val="#ppt_w"/>
                                          </p:val>
                                        </p:tav>
                                      </p:tavLst>
                                    </p:anim>
                                    <p:anim calcmode="lin" valueType="num">
                                      <p:cBhvr additive="base">
                                        <p:cTn id="35" dur="600" fill="hold"/>
                                        <p:tgtEl>
                                          <p:spTgt spid="9"/>
                                        </p:tgtEl>
                                        <p:attrNameLst>
                                          <p:attrName>ppt_h</p:attrName>
                                        </p:attrNameLst>
                                      </p:cBhvr>
                                      <p:tavLst>
                                        <p:tav tm="0">
                                          <p:val>
                                            <p:strVal val="0.7*#ppt_h"/>
                                          </p:val>
                                        </p:tav>
                                        <p:tav tm="100000">
                                          <p:val>
                                            <p:strVal val="#ppt_h"/>
                                          </p:val>
                                        </p:tav>
                                      </p:tavLst>
                                    </p:anim>
                                    <p:animEffect transition="in" filter="fade">
                                      <p:cBhvr>
                                        <p:cTn id="36" dur="600"/>
                                        <p:tgtEl>
                                          <p:spTgt spid="9"/>
                                        </p:tgtEl>
                                      </p:cBhvr>
                                    </p:animEffect>
                                  </p:childTnLst>
                                </p:cTn>
                              </p:par>
                              <p:par>
                                <p:cTn id="42" presetID="53" presetClass="entr" presetSubtype="16" fill="hold" grpId="0" nodeType="withEffect">
                                  <p:stCondLst>
                                    <p:cond delay="79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600" fill="hold"/>
                                        <p:tgtEl>
                                          <p:spTgt spid="10"/>
                                        </p:tgtEl>
                                        <p:attrNameLst>
                                          <p:attrName>ppt_w</p:attrName>
                                        </p:attrNameLst>
                                      </p:cBhvr>
                                      <p:tavLst>
                                        <p:tav tm="0">
                                          <p:val>
                                            <p:strVal val="0.7*#ppt_w"/>
                                          </p:val>
                                        </p:tav>
                                        <p:tav tm="100000">
                                          <p:val>
                                            <p:strVal val="#ppt_w"/>
                                          </p:val>
                                        </p:tav>
                                      </p:tavLst>
                                    </p:anim>
                                    <p:anim calcmode="lin" valueType="num">
                                      <p:cBhvr additive="base">
                                        <p:cTn id="40" dur="600" fill="hold"/>
                                        <p:tgtEl>
                                          <p:spTgt spid="10"/>
                                        </p:tgtEl>
                                        <p:attrNameLst>
                                          <p:attrName>ppt_h</p:attrName>
                                        </p:attrNameLst>
                                      </p:cBhvr>
                                      <p:tavLst>
                                        <p:tav tm="0">
                                          <p:val>
                                            <p:strVal val="0.7*#ppt_h"/>
                                          </p:val>
                                        </p:tav>
                                        <p:tav tm="100000">
                                          <p:val>
                                            <p:strVal val="#ppt_h"/>
                                          </p:val>
                                        </p:tav>
                                      </p:tavLst>
                                    </p:anim>
                                    <p:animEffect transition="in" filter="fade">
                                      <p:cBhvr>
                                        <p:cTn id="41" dur="600"/>
                                        <p:tgtEl>
                                          <p:spTgt spid="10"/>
                                        </p:tgtEl>
                                      </p:cBhvr>
                                    </p:animEffect>
                                  </p:childTnLst>
                                </p:cTn>
                              </p:par>
                              <p:par>
                                <p:cTn id="47" presetID="53" presetClass="entr" presetSubtype="16" fill="hold" grpId="0" nodeType="withEffect">
                                  <p:stCondLst>
                                    <p:cond delay="86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600" fill="hold"/>
                                        <p:tgtEl>
                                          <p:spTgt spid="11"/>
                                        </p:tgtEl>
                                        <p:attrNameLst>
                                          <p:attrName>ppt_w</p:attrName>
                                        </p:attrNameLst>
                                      </p:cBhvr>
                                      <p:tavLst>
                                        <p:tav tm="0">
                                          <p:val>
                                            <p:strVal val="0.7*#ppt_w"/>
                                          </p:val>
                                        </p:tav>
                                        <p:tav tm="100000">
                                          <p:val>
                                            <p:strVal val="#ppt_w"/>
                                          </p:val>
                                        </p:tav>
                                      </p:tavLst>
                                    </p:anim>
                                    <p:anim calcmode="lin" valueType="num">
                                      <p:cBhvr additive="base">
                                        <p:cTn id="45" dur="600" fill="hold"/>
                                        <p:tgtEl>
                                          <p:spTgt spid="11"/>
                                        </p:tgtEl>
                                        <p:attrNameLst>
                                          <p:attrName>ppt_h</p:attrName>
                                        </p:attrNameLst>
                                      </p:cBhvr>
                                      <p:tavLst>
                                        <p:tav tm="0">
                                          <p:val>
                                            <p:strVal val="0.7*#ppt_h"/>
                                          </p:val>
                                        </p:tav>
                                        <p:tav tm="100000">
                                          <p:val>
                                            <p:strVal val="#ppt_h"/>
                                          </p:val>
                                        </p:tav>
                                      </p:tavLst>
                                    </p:anim>
                                    <p:animEffect transition="in" filter="fade">
                                      <p:cBhvr>
                                        <p:cTn id="46" dur="600"/>
                                        <p:tgtEl>
                                          <p:spTgt spid="11"/>
                                        </p:tgtEl>
                                      </p:cBhvr>
                                    </p:animEffect>
                                  </p:childTnLst>
                                </p:cTn>
                              </p:par>
                              <p:par>
                                <p:cTn id="52" presetID="53" presetClass="entr" presetSubtype="16" fill="hold" grpId="0" nodeType="withEffect">
                                  <p:stCondLst>
                                    <p:cond delay="108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600" fill="hold"/>
                                        <p:tgtEl>
                                          <p:spTgt spid="12"/>
                                        </p:tgtEl>
                                        <p:attrNameLst>
                                          <p:attrName>ppt_w</p:attrName>
                                        </p:attrNameLst>
                                      </p:cBhvr>
                                      <p:tavLst>
                                        <p:tav tm="0">
                                          <p:val>
                                            <p:strVal val="0.7*#ppt_w"/>
                                          </p:val>
                                        </p:tav>
                                        <p:tav tm="100000">
                                          <p:val>
                                            <p:strVal val="#ppt_w"/>
                                          </p:val>
                                        </p:tav>
                                      </p:tavLst>
                                    </p:anim>
                                    <p:anim calcmode="lin" valueType="num">
                                      <p:cBhvr additive="base">
                                        <p:cTn id="50" dur="600" fill="hold"/>
                                        <p:tgtEl>
                                          <p:spTgt spid="12"/>
                                        </p:tgtEl>
                                        <p:attrNameLst>
                                          <p:attrName>ppt_h</p:attrName>
                                        </p:attrNameLst>
                                      </p:cBhvr>
                                      <p:tavLst>
                                        <p:tav tm="0">
                                          <p:val>
                                            <p:strVal val="0.7*#ppt_h"/>
                                          </p:val>
                                        </p:tav>
                                        <p:tav tm="100000">
                                          <p:val>
                                            <p:strVal val="#ppt_h"/>
                                          </p:val>
                                        </p:tav>
                                      </p:tavLst>
                                    </p:anim>
                                    <p:animEffect transition="in" filter="fade">
                                      <p:cBhvr>
                                        <p:cTn id="51" dur="600"/>
                                        <p:tgtEl>
                                          <p:spTgt spid="12"/>
                                        </p:tgtEl>
                                      </p:cBhvr>
                                    </p:animEffect>
                                  </p:childTnLst>
                                </p:cTn>
                              </p:par>
                              <p:par>
                                <p:cTn id="57" presetID="53" presetClass="entr" presetSubtype="16" fill="hold" grpId="0" nodeType="withEffect">
                                  <p:stCondLst>
                                    <p:cond delay="1150"/>
                                  </p:stCondLst>
                                  <p:childTnLst>
                                    <p:set>
                                      <p:cBhvr>
                                        <p:cTn id="53" dur="1" fill="hold">
                                          <p:stCondLst>
                                            <p:cond delay="0"/>
                                          </p:stCondLst>
                                        </p:cTn>
                                        <p:tgtEl>
                                          <p:spTgt spid="13"/>
                                        </p:tgtEl>
                                        <p:attrNameLst>
                                          <p:attrName>style.visibility</p:attrName>
                                        </p:attrNameLst>
                                      </p:cBhvr>
                                      <p:to>
                                        <p:strVal val="visible"/>
                                      </p:to>
                                    </p:set>
                                    <p:anim calcmode="lin" valueType="num">
                                      <p:cBhvr additive="base">
                                        <p:cTn id="54" dur="600" fill="hold"/>
                                        <p:tgtEl>
                                          <p:spTgt spid="13"/>
                                        </p:tgtEl>
                                        <p:attrNameLst>
                                          <p:attrName>ppt_w</p:attrName>
                                        </p:attrNameLst>
                                      </p:cBhvr>
                                      <p:tavLst>
                                        <p:tav tm="0">
                                          <p:val>
                                            <p:strVal val="0.7*#ppt_w"/>
                                          </p:val>
                                        </p:tav>
                                        <p:tav tm="100000">
                                          <p:val>
                                            <p:strVal val="#ppt_w"/>
                                          </p:val>
                                        </p:tav>
                                      </p:tavLst>
                                    </p:anim>
                                    <p:anim calcmode="lin" valueType="num">
                                      <p:cBhvr additive="base">
                                        <p:cTn id="55" dur="600" fill="hold"/>
                                        <p:tgtEl>
                                          <p:spTgt spid="13"/>
                                        </p:tgtEl>
                                        <p:attrNameLst>
                                          <p:attrName>ppt_h</p:attrName>
                                        </p:attrNameLst>
                                      </p:cBhvr>
                                      <p:tavLst>
                                        <p:tav tm="0">
                                          <p:val>
                                            <p:strVal val="0.7*#ppt_h"/>
                                          </p:val>
                                        </p:tav>
                                        <p:tav tm="100000">
                                          <p:val>
                                            <p:strVal val="#ppt_h"/>
                                          </p:val>
                                        </p:tav>
                                      </p:tavLst>
                                    </p:anim>
                                    <p:animEffect transition="in" filter="fade">
                                      <p:cBhvr>
                                        <p:cTn id="56" dur="600"/>
                                        <p:tgtEl>
                                          <p:spTgt spid="13"/>
                                        </p:tgtEl>
                                      </p:cBhvr>
                                    </p:animEffect>
                                  </p:childTnLst>
                                </p:cTn>
                              </p:par>
                              <p:par>
                                <p:cTn id="62" presetID="53" presetClass="entr" presetSubtype="16" fill="hold" grpId="0" nodeType="withEffect">
                                  <p:stCondLst>
                                    <p:cond delay="1220"/>
                                  </p:stCondLst>
                                  <p:childTnLst>
                                    <p:set>
                                      <p:cBhvr>
                                        <p:cTn id="58" dur="1" fill="hold">
                                          <p:stCondLst>
                                            <p:cond delay="0"/>
                                          </p:stCondLst>
                                        </p:cTn>
                                        <p:tgtEl>
                                          <p:spTgt spid="14"/>
                                        </p:tgtEl>
                                        <p:attrNameLst>
                                          <p:attrName>style.visibility</p:attrName>
                                        </p:attrNameLst>
                                      </p:cBhvr>
                                      <p:to>
                                        <p:strVal val="visible"/>
                                      </p:to>
                                    </p:set>
                                    <p:anim calcmode="lin" valueType="num">
                                      <p:cBhvr additive="base">
                                        <p:cTn id="59" dur="600" fill="hold"/>
                                        <p:tgtEl>
                                          <p:spTgt spid="14"/>
                                        </p:tgtEl>
                                        <p:attrNameLst>
                                          <p:attrName>ppt_w</p:attrName>
                                        </p:attrNameLst>
                                      </p:cBhvr>
                                      <p:tavLst>
                                        <p:tav tm="0">
                                          <p:val>
                                            <p:strVal val="0.7*#ppt_w"/>
                                          </p:val>
                                        </p:tav>
                                        <p:tav tm="100000">
                                          <p:val>
                                            <p:strVal val="#ppt_w"/>
                                          </p:val>
                                        </p:tav>
                                      </p:tavLst>
                                    </p:anim>
                                    <p:anim calcmode="lin" valueType="num">
                                      <p:cBhvr additive="base">
                                        <p:cTn id="60" dur="600" fill="hold"/>
                                        <p:tgtEl>
                                          <p:spTgt spid="14"/>
                                        </p:tgtEl>
                                        <p:attrNameLst>
                                          <p:attrName>ppt_h</p:attrName>
                                        </p:attrNameLst>
                                      </p:cBhvr>
                                      <p:tavLst>
                                        <p:tav tm="0">
                                          <p:val>
                                            <p:strVal val="0.7*#ppt_h"/>
                                          </p:val>
                                        </p:tav>
                                        <p:tav tm="100000">
                                          <p:val>
                                            <p:strVal val="#ppt_h"/>
                                          </p:val>
                                        </p:tav>
                                      </p:tavLst>
                                    </p:anim>
                                    <p:animEffect transition="in" filter="fade">
                                      <p:cBhvr>
                                        <p:cTn id="61" dur="6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A01-fade-kick"/>
          <p:cNvSpPr txBox="1"/>
          <p:nvPr/>
        </p:nvSpPr>
        <p:spPr>
          <a:xfrm>
            <a:off x="548640" y="2148840"/>
            <a:ext cx="3657600" cy="365760"/>
          </a:xfrm>
          <a:prstGeom prst="rect">
            <a:avLst/>
          </a:prstGeom>
          <a:noFill/>
          <a:ln/>
        </p:spPr>
        <p:txBody>
          <a:bodyPr wrap="square" lIns="0" tIns="0" rIns="0" bIns="0" rtlCol="0" anchor="t"/>
          <a:lstStyle/>
          <a:p>
            <a:pPr indent="0" marL="0">
              <a:buNone/>
            </a:pPr>
            <a:r>
              <a:rPr lang="en-US" sz="1400" b="1" spc="400" kern="0" dirty="0">
                <a:solidFill>
                  <a:srgbClr val="34D399"/>
                </a:solidFill>
              </a:rPr>
              <a:t>VERSION 2</a:t>
            </a:r>
            <a:endParaRPr lang="en-US" sz="1400" dirty="0"/>
          </a:p>
        </p:txBody>
      </p:sp>
      <p:sp>
        <p:nvSpPr>
          <p:cNvPr id="3" name="Text 0"/>
          <p:cNvSpPr/>
          <p:nvPr>
            <p:ph idx="100" type="title" hasCustomPrompt="1"/>
          </p:nvPr>
        </p:nvSpPr>
        <p:spPr>
          <a:xfrm>
            <a:off x="548640" y="2606040"/>
            <a:ext cx="6583680" cy="1645920"/>
          </a:xfrm>
          <a:prstGeom prst="rect">
            <a:avLst/>
          </a:prstGeom>
          <a:noFill/>
          <a:ln/>
        </p:spPr>
        <p:txBody>
          <a:bodyPr wrap="square" lIns="0" tIns="0" rIns="0" bIns="0" rtlCol="0" anchor="t"/>
          <a:lstStyle/>
          <a:p>
            <a:pPr algn="l" indent="0" marL="0">
              <a:buNone/>
            </a:pPr>
            <a:r>
              <a:rPr lang="en-US" sz="4800" b="1" dirty="0">
                <a:solidFill>
                  <a:schemeClr val="bg1"/>
                </a:solidFill>
              </a:rPr>
              <a:t>A modern work application</a:t>
            </a:r>
            <a:endParaRPr lang="en-US" sz="4800" dirty="0"/>
          </a:p>
        </p:txBody>
      </p:sp>
      <p:sp>
        <p:nvSpPr>
          <p:cNvPr id="4" name="Text 0"/>
          <p:cNvSpPr/>
          <p:nvPr>
            <p:ph idx="101" type="body" hasCustomPrompt="1"/>
          </p:nvPr>
        </p:nvSpPr>
        <p:spPr>
          <a:xfrm>
            <a:off x="548640" y="4434840"/>
            <a:ext cx="4206240" cy="1280160"/>
          </a:xfrm>
          <a:prstGeom prst="rect">
            <a:avLst/>
          </a:prstGeom>
          <a:noFill/>
          <a:ln/>
        </p:spPr>
        <p:txBody>
          <a:bodyPr wrap="square" lIns="0" tIns="0" rIns="0" bIns="0" rtlCol="0" anchor="t"/>
          <a:lstStyle/>
          <a:p>
            <a:pPr algn="l" indent="0" marL="0">
              <a:buNone/>
            </a:pPr>
            <a:r>
              <a:rPr lang="en-US" sz="1800" dirty="0">
                <a:solidFill>
                  <a:schemeClr val="bg2"/>
                </a:solidFill>
              </a:rPr>
              <a:t>Sidebar shell, live dashboards, cut-overlay transitions and confirm overlays.</a:t>
            </a:r>
            <a:endParaRPr lang="en-US" sz="1800" dirty="0"/>
          </a:p>
        </p:txBody>
      </p:sp>
    </p:spTree>
  </p:cSld>
  <p:clrMapOvr>
    <a:masterClrMapping/>
  </p:clrMapOvr>
  <p:transition spd="fast">
    <p:cut thruBlk="1"/>
  </p:transition>
  <p:timing>
    <p:tnLst>
      <p:par>
        <p:cTn id="1" dur="indefinite" restart="never" nodeType="tmRoot">
          <p:childTnLst>
            <p:seq concurrent="1" nextAc="seek">
              <p:cTn id="2" dur="indefinite" nodeType="mainSeq">
                <p:childTnLst>
                  <p:par>
                    <p:cTn id="7" fill="hold">
                      <p:stCondLst>
                        <p:cond delay="indefinite"/>
                        <p:cond evt="onBegin" delay="0">
                          <p:tn val="2"/>
                        </p:cond>
                      </p:stCondLst>
                      <p:childTnLst>
                        <p:par>
                          <p:cTn id="6" fill="hold">
                            <p:stCondLst>
                              <p:cond delay="0"/>
                            </p:stCondLst>
                            <p:childTnLst>
                              <p:par>
                                <p:cTn id="5" presetID="10" presetClass="entr" presetSubtype="0"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Effect transition="in" filter="fade">
                                      <p:cBhvr>
                                        <p:cTn id="4"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424160" cy="777240"/>
          </a:xfrm>
          <a:prstGeom prst="rect">
            <a:avLst/>
          </a:prstGeom>
          <a:noFill/>
          <a:ln/>
        </p:spPr>
        <p:txBody>
          <a:bodyPr wrap="square" lIns="0" tIns="0" rIns="0" bIns="0" rtlCol="0" anchor="ctr"/>
          <a:lstStyle/>
          <a:p>
            <a:pPr algn="l" indent="0" marL="0">
              <a:buNone/>
            </a:pPr>
            <a:r>
              <a:rPr lang="en-US" sz="3200" b="1" dirty="0">
                <a:solidFill>
                  <a:schemeClr val="tx2"/>
                </a:solidFill>
              </a:rPr>
              <a:t>A dashboard for every role</a:t>
            </a:r>
            <a:endParaRPr lang="en-US" sz="3200" dirty="0"/>
          </a:p>
        </p:txBody>
      </p:sp>
      <p:pic>
        <p:nvPicPr>
          <p:cNvPr id="3" name="A01-zoom-dash" descr="/tmp/claude-0/-home-user-e-project/14373db0-086f-59d2-a972-520da66c003b/scratchpad/docs/shots-jpg/10-admin-dashboard.jpg">    </p:cNvPr>
          <p:cNvPicPr>
            <a:picLocks noChangeAspect="1"/>
          </p:cNvPicPr>
          <p:nvPr/>
        </p:nvPicPr>
        <p:blipFill>
          <a:blip r:embed="rId1"/>
          <a:stretch>
            <a:fillRect/>
          </a:stretch>
        </p:blipFill>
        <p:spPr>
          <a:xfrm>
            <a:off x="548640" y="1371600"/>
            <a:ext cx="6949440" cy="4343400"/>
          </a:xfrm>
          <a:prstGeom prst="rect">
            <a:avLst/>
          </a:prstGeom>
          <a:effectLst>
            <a:outerShdw sx="100000" sy="100000" kx="0" ky="0" algn="bl" rotWithShape="0" blurRad="152400" dist="38100" dir="5400000">
              <a:srgbClr val="0A2540">
                <a:alpha val="18000"/>
              </a:srgbClr>
            </a:outerShdw>
          </a:effectLst>
        </p:spPr>
      </p:pic>
      <p:sp>
        <p:nvSpPr>
          <p:cNvPr id="4" name="A02-rise-fi0-bg"/>
          <p:cNvSpPr/>
          <p:nvPr/>
        </p:nvSpPr>
        <p:spPr>
          <a:xfrm>
            <a:off x="7909560" y="1463040"/>
            <a:ext cx="603504" cy="603504"/>
          </a:xfrm>
          <a:prstGeom prst="ellipse">
            <a:avLst/>
          </a:prstGeom>
          <a:solidFill>
            <a:schemeClr val="accent1"/>
          </a:solidFill>
          <a:ln w="12700">
            <a:solidFill>
              <a:schemeClr val="accent1"/>
            </a:solidFill>
            <a:prstDash val="solid"/>
          </a:ln>
        </p:spPr>
      </p:sp>
      <p:pic>
        <p:nvPicPr>
          <p:cNvPr id="5" name="A02-rise-fi0-ic" descr="preencoded.png">    </p:cNvPr>
          <p:cNvPicPr>
            <a:picLocks noChangeAspect="1"/>
          </p:cNvPicPr>
          <p:nvPr/>
        </p:nvPicPr>
        <p:blipFill>
          <a:blip r:embed="rId2"/>
          <a:stretch>
            <a:fillRect/>
          </a:stretch>
        </p:blipFill>
        <p:spPr>
          <a:xfrm>
            <a:off x="8060436" y="1613916"/>
            <a:ext cx="301752" cy="301752"/>
          </a:xfrm>
          <a:prstGeom prst="rect">
            <a:avLst/>
          </a:prstGeom>
        </p:spPr>
      </p:pic>
      <p:sp>
        <p:nvSpPr>
          <p:cNvPr id="6" name="A02-rise-ft0"/>
          <p:cNvSpPr txBox="1"/>
          <p:nvPr/>
        </p:nvSpPr>
        <p:spPr>
          <a:xfrm>
            <a:off x="8686800" y="1444752"/>
            <a:ext cx="2971800" cy="914400"/>
          </a:xfrm>
          <a:prstGeom prst="rect">
            <a:avLst/>
          </a:prstGeom>
          <a:noFill/>
          <a:ln/>
        </p:spPr>
        <p:txBody>
          <a:bodyPr wrap="square" lIns="0" tIns="0" rIns="0" bIns="0" rtlCol="0" anchor="t"/>
          <a:lstStyle/>
          <a:p>
            <a:pPr indent="0" marL="0">
              <a:buNone/>
            </a:pPr>
            <a:r>
              <a:rPr lang="en-US" sz="1700" b="1" dirty="0">
                <a:solidFill>
                  <a:schemeClr val="tx2"/>
                </a:solidFill>
              </a:rPr>
              <a:t>Sidebar navigation</a:t>
            </a:r>
            <a:endParaRPr lang="en-US" sz="1400" dirty="0"/>
          </a:p>
          <a:p>
            <a:pPr indent="0" marL="0">
              <a:buNone/>
            </a:pPr>
            <a:r>
              <a:rPr lang="en-US" sz="1300" dirty="0">
                <a:solidFill>
                  <a:srgbClr val="475569"/>
                </a:solidFill>
              </a:rPr>
              <a:t>Only the pages of your role, current page highlighted</a:t>
            </a:r>
            <a:endParaRPr lang="en-US" sz="1400" dirty="0"/>
          </a:p>
        </p:txBody>
      </p:sp>
      <p:sp>
        <p:nvSpPr>
          <p:cNvPr id="7" name="A03-rise-fi1-bg"/>
          <p:cNvSpPr/>
          <p:nvPr/>
        </p:nvSpPr>
        <p:spPr>
          <a:xfrm>
            <a:off x="7909560" y="2578608"/>
            <a:ext cx="603504" cy="603504"/>
          </a:xfrm>
          <a:prstGeom prst="ellipse">
            <a:avLst/>
          </a:prstGeom>
          <a:solidFill>
            <a:schemeClr val="accent2"/>
          </a:solidFill>
          <a:ln w="12700">
            <a:solidFill>
              <a:schemeClr val="accent2"/>
            </a:solidFill>
            <a:prstDash val="solid"/>
          </a:ln>
        </p:spPr>
      </p:sp>
      <p:pic>
        <p:nvPicPr>
          <p:cNvPr id="8" name="A03-rise-fi1-ic" descr="preencoded.png">    </p:cNvPr>
          <p:cNvPicPr>
            <a:picLocks noChangeAspect="1"/>
          </p:cNvPicPr>
          <p:nvPr/>
        </p:nvPicPr>
        <p:blipFill>
          <a:blip r:embed="rId3"/>
          <a:stretch>
            <a:fillRect/>
          </a:stretch>
        </p:blipFill>
        <p:spPr>
          <a:xfrm>
            <a:off x="8060436" y="2729484"/>
            <a:ext cx="301752" cy="301752"/>
          </a:xfrm>
          <a:prstGeom prst="rect">
            <a:avLst/>
          </a:prstGeom>
        </p:spPr>
      </p:pic>
      <p:sp>
        <p:nvSpPr>
          <p:cNvPr id="9" name="A03-rise-ft1"/>
          <p:cNvSpPr txBox="1"/>
          <p:nvPr/>
        </p:nvSpPr>
        <p:spPr>
          <a:xfrm>
            <a:off x="8686800" y="2560320"/>
            <a:ext cx="2971800" cy="914400"/>
          </a:xfrm>
          <a:prstGeom prst="rect">
            <a:avLst/>
          </a:prstGeom>
          <a:noFill/>
          <a:ln/>
        </p:spPr>
        <p:txBody>
          <a:bodyPr wrap="square" lIns="0" tIns="0" rIns="0" bIns="0" rtlCol="0" anchor="t"/>
          <a:lstStyle/>
          <a:p>
            <a:pPr indent="0" marL="0">
              <a:buNone/>
            </a:pPr>
            <a:r>
              <a:rPr lang="en-US" sz="1700" b="1" dirty="0">
                <a:solidFill>
                  <a:schemeClr val="tx2"/>
                </a:solidFill>
              </a:rPr>
              <a:t>Live figures</a:t>
            </a:r>
            <a:endParaRPr lang="en-US" sz="1400" dirty="0"/>
          </a:p>
          <a:p>
            <a:pPr indent="0" marL="0">
              <a:buNone/>
            </a:pPr>
            <a:r>
              <a:rPr lang="en-US" sz="1300" dirty="0">
                <a:solidFill>
                  <a:srgbClr val="475569"/>
                </a:solidFill>
              </a:rPr>
              <a:t>Orders, overdue, low stock, collections, amount due</a:t>
            </a:r>
            <a:endParaRPr lang="en-US" sz="1400" dirty="0"/>
          </a:p>
        </p:txBody>
      </p:sp>
      <p:sp>
        <p:nvSpPr>
          <p:cNvPr id="10" name="A04-rise-fi2-bg"/>
          <p:cNvSpPr/>
          <p:nvPr/>
        </p:nvSpPr>
        <p:spPr>
          <a:xfrm>
            <a:off x="7909560" y="3694176"/>
            <a:ext cx="603504" cy="603504"/>
          </a:xfrm>
          <a:prstGeom prst="ellipse">
            <a:avLst/>
          </a:prstGeom>
          <a:solidFill>
            <a:schemeClr val="accent1"/>
          </a:solidFill>
          <a:ln w="12700">
            <a:solidFill>
              <a:schemeClr val="accent1"/>
            </a:solidFill>
            <a:prstDash val="solid"/>
          </a:ln>
        </p:spPr>
      </p:sp>
      <p:pic>
        <p:nvPicPr>
          <p:cNvPr id="11" name="A04-rise-fi2-ic" descr="preencoded.png">    </p:cNvPr>
          <p:cNvPicPr>
            <a:picLocks noChangeAspect="1"/>
          </p:cNvPicPr>
          <p:nvPr/>
        </p:nvPicPr>
        <p:blipFill>
          <a:blip r:embed="rId4"/>
          <a:stretch>
            <a:fillRect/>
          </a:stretch>
        </p:blipFill>
        <p:spPr>
          <a:xfrm>
            <a:off x="8060436" y="3845052"/>
            <a:ext cx="301752" cy="301752"/>
          </a:xfrm>
          <a:prstGeom prst="rect">
            <a:avLst/>
          </a:prstGeom>
        </p:spPr>
      </p:pic>
      <p:sp>
        <p:nvSpPr>
          <p:cNvPr id="12" name="A04-rise-ft2"/>
          <p:cNvSpPr txBox="1"/>
          <p:nvPr/>
        </p:nvSpPr>
        <p:spPr>
          <a:xfrm>
            <a:off x="8686800" y="3675888"/>
            <a:ext cx="2971800" cy="914400"/>
          </a:xfrm>
          <a:prstGeom prst="rect">
            <a:avLst/>
          </a:prstGeom>
          <a:noFill/>
          <a:ln/>
        </p:spPr>
        <p:txBody>
          <a:bodyPr wrap="square" lIns="0" tIns="0" rIns="0" bIns="0" rtlCol="0" anchor="t"/>
          <a:lstStyle/>
          <a:p>
            <a:pPr indent="0" marL="0">
              <a:buNone/>
            </a:pPr>
            <a:r>
              <a:rPr lang="en-US" sz="1700" b="1" dirty="0">
                <a:solidFill>
                  <a:schemeClr val="tx2"/>
                </a:solidFill>
              </a:rPr>
              <a:t>Quick track</a:t>
            </a:r>
            <a:endParaRPr lang="en-US" sz="1400" dirty="0"/>
          </a:p>
          <a:p>
            <a:pPr indent="0" marL="0">
              <a:buNone/>
            </a:pPr>
            <a:r>
              <a:rPr lang="en-US" sz="1300" dirty="0">
                <a:solidFill>
                  <a:srgbClr val="475569"/>
                </a:solidFill>
              </a:rPr>
              <a:t>Type an order no. or account ID, press Enter</a:t>
            </a:r>
            <a:endParaRPr lang="en-US" sz="1400" dirty="0"/>
          </a:p>
        </p:txBody>
      </p:sp>
      <p:sp>
        <p:nvSpPr>
          <p:cNvPr id="13" name="A05-rise-fi3-bg"/>
          <p:cNvSpPr/>
          <p:nvPr/>
        </p:nvSpPr>
        <p:spPr>
          <a:xfrm>
            <a:off x="7909560" y="4809744"/>
            <a:ext cx="603504" cy="603504"/>
          </a:xfrm>
          <a:prstGeom prst="ellipse">
            <a:avLst/>
          </a:prstGeom>
          <a:solidFill>
            <a:schemeClr val="accent2"/>
          </a:solidFill>
          <a:ln w="12700">
            <a:solidFill>
              <a:schemeClr val="accent2"/>
            </a:solidFill>
            <a:prstDash val="solid"/>
          </a:ln>
        </p:spPr>
      </p:sp>
      <p:pic>
        <p:nvPicPr>
          <p:cNvPr id="14" name="A05-rise-fi3-ic" descr="preencoded.png">    </p:cNvPr>
          <p:cNvPicPr>
            <a:picLocks noChangeAspect="1"/>
          </p:cNvPicPr>
          <p:nvPr/>
        </p:nvPicPr>
        <p:blipFill>
          <a:blip r:embed="rId5"/>
          <a:stretch>
            <a:fillRect/>
          </a:stretch>
        </p:blipFill>
        <p:spPr>
          <a:xfrm>
            <a:off x="8060436" y="4960620"/>
            <a:ext cx="301752" cy="301752"/>
          </a:xfrm>
          <a:prstGeom prst="rect">
            <a:avLst/>
          </a:prstGeom>
        </p:spPr>
      </p:pic>
      <p:sp>
        <p:nvSpPr>
          <p:cNvPr id="15" name="A05-rise-ft3"/>
          <p:cNvSpPr txBox="1"/>
          <p:nvPr/>
        </p:nvSpPr>
        <p:spPr>
          <a:xfrm>
            <a:off x="8686800" y="4791456"/>
            <a:ext cx="2971800" cy="914400"/>
          </a:xfrm>
          <a:prstGeom prst="rect">
            <a:avLst/>
          </a:prstGeom>
          <a:noFill/>
          <a:ln/>
        </p:spPr>
        <p:txBody>
          <a:bodyPr wrap="square" lIns="0" tIns="0" rIns="0" bIns="0" rtlCol="0" anchor="t"/>
          <a:lstStyle/>
          <a:p>
            <a:pPr indent="0" marL="0">
              <a:buNone/>
            </a:pPr>
            <a:r>
              <a:rPr lang="en-US" sz="1700" b="1" dirty="0">
                <a:solidFill>
                  <a:schemeClr val="tx2"/>
                </a:solidFill>
              </a:rPr>
              <a:t>Responsive</a:t>
            </a:r>
            <a:endParaRPr lang="en-US" sz="1400" dirty="0"/>
          </a:p>
          <a:p>
            <a:pPr indent="0" marL="0">
              <a:buNone/>
            </a:pPr>
            <a:r>
              <a:rPr lang="en-US" sz="1300" dirty="0">
                <a:solidFill>
                  <a:srgbClr val="475569"/>
                </a:solidFill>
              </a:rPr>
              <a:t>Sidebar becomes a drawer on phones and tablets</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250">
        <p14:pan dir="u"/>
      </p:transition>
    </mc:Choice>
    <mc:Fallback>
      <p:transition spd="slow">
        <p:push dir="u"/>
      </p:transition>
    </mc:Fallback>
  </mc:AlternateContent>
  <p:timing>
    <p:tnLst>
      <p:par>
        <p:cTn id="1" dur="indefinite" restart="never" nodeType="tmRoot">
          <p:childTnLst>
            <p:seq concurrent="1" nextAc="seek">
              <p:cTn id="2" dur="indefinite" nodeType="mainSeq">
                <p:childTnLst>
                  <p:par>
                    <p:cTn id="69" fill="hold">
                      <p:stCondLst>
                        <p:cond delay="indefinite"/>
                        <p:cond evt="onBegin" delay="0">
                          <p:tn val="2"/>
                        </p:cond>
                      </p:stCondLst>
                      <p:childTnLst>
                        <p:par>
                          <p:cTn id="68"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 calcmode="lin" valueType="num">
                                      <p:cBhvr additive="base">
                                        <p:cTn id="4" dur="600" fill="hold"/>
                                        <p:tgtEl>
                                          <p:spTgt spid="3"/>
                                        </p:tgtEl>
                                        <p:attrNameLst>
                                          <p:attrName>ppt_w</p:attrName>
                                        </p:attrNameLst>
                                      </p:cBhvr>
                                      <p:tavLst>
                                        <p:tav tm="0">
                                          <p:val>
                                            <p:strVal val="0.7*#ppt_w"/>
                                          </p:val>
                                        </p:tav>
                                        <p:tav tm="100000">
                                          <p:val>
                                            <p:strVal val="#ppt_w"/>
                                          </p:val>
                                        </p:tav>
                                      </p:tavLst>
                                    </p:anim>
                                    <p:anim calcmode="lin" valueType="num">
                                      <p:cBhvr additive="base">
                                        <p:cTn id="5" dur="600" fill="hold"/>
                                        <p:tgtEl>
                                          <p:spTgt spid="3"/>
                                        </p:tgtEl>
                                        <p:attrNameLst>
                                          <p:attrName>ppt_h</p:attrName>
                                        </p:attrNameLst>
                                      </p:cBhvr>
                                      <p:tavLst>
                                        <p:tav tm="0">
                                          <p:val>
                                            <p:strVal val="0.7*#ppt_h"/>
                                          </p:val>
                                        </p:tav>
                                        <p:tav tm="100000">
                                          <p:val>
                                            <p:strVal val="#ppt_h"/>
                                          </p:val>
                                        </p:tav>
                                      </p:tavLst>
                                    </p:anim>
                                    <p:animEffect transition="in" filter="fade">
                                      <p:cBhvr>
                                        <p:cTn id="6" dur="600"/>
                                        <p:tgtEl>
                                          <p:spTgt spid="3"/>
                                        </p:tgtEl>
                                      </p:cBhvr>
                                    </p:animEffect>
                                  </p:childTnLst>
                                </p:cTn>
                              </p:par>
                              <p:par>
                                <p:cTn id="12" presetID="42" presetClass="entr" presetSubtype="0" fill="hold" grpId="0" nodeType="withEffect">
                                  <p:stCondLst>
                                    <p:cond delay="36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anim calcmode="lin" valueType="num">
                                      <p:cBhvr additive="base">
                                        <p:cTn id="10" dur="600" fill="hold"/>
                                        <p:tgtEl>
                                          <p:spTgt spid="4"/>
                                        </p:tgtEl>
                                        <p:attrNameLst>
                                          <p:attrName>ppt_x</p:attrName>
                                        </p:attrNameLst>
                                      </p:cBhvr>
                                      <p:tavLst>
                                        <p:tav tm="0">
                                          <p:val>
                                            <p:strVal val="#ppt_x"/>
                                          </p:val>
                                        </p:tav>
                                        <p:tav tm="100000">
                                          <p:val>
                                            <p:strVal val="#ppt_x"/>
                                          </p:val>
                                        </p:tav>
                                      </p:tavLst>
                                    </p:anim>
                                    <p:anim calcmode="lin" valueType="num">
                                      <p:cBhvr additive="base">
                                        <p:cTn id="11" dur="600" fill="hold"/>
                                        <p:tgtEl>
                                          <p:spTgt spid="4"/>
                                        </p:tgtEl>
                                        <p:attrNameLst>
                                          <p:attrName>ppt_y</p:attrName>
                                        </p:attrNameLst>
                                      </p:cBhvr>
                                      <p:tavLst>
                                        <p:tav tm="0">
                                          <p:val>
                                            <p:strVal val="#ppt_y+0.08"/>
                                          </p:val>
                                        </p:tav>
                                        <p:tav tm="100000">
                                          <p:val>
                                            <p:strVal val="#ppt_y"/>
                                          </p:val>
                                        </p:tav>
                                      </p:tavLst>
                                    </p:anim>
                                  </p:childTnLst>
                                </p:cTn>
                              </p:par>
                              <p:par>
                                <p:cTn id="17" presetID="42" presetClass="entr" presetSubtype="0" fill="hold" grpId="0" nodeType="withEffect">
                                  <p:stCondLst>
                                    <p:cond delay="43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600"/>
                                        <p:tgtEl>
                                          <p:spTgt spid="5"/>
                                        </p:tgtEl>
                                      </p:cBhvr>
                                    </p:animEffect>
                                    <p:anim calcmode="lin" valueType="num">
                                      <p:cBhvr additive="base">
                                        <p:cTn id="15" dur="600" fill="hold"/>
                                        <p:tgtEl>
                                          <p:spTgt spid="5"/>
                                        </p:tgtEl>
                                        <p:attrNameLst>
                                          <p:attrName>ppt_x</p:attrName>
                                        </p:attrNameLst>
                                      </p:cBhvr>
                                      <p:tavLst>
                                        <p:tav tm="0">
                                          <p:val>
                                            <p:strVal val="#ppt_x"/>
                                          </p:val>
                                        </p:tav>
                                        <p:tav tm="100000">
                                          <p:val>
                                            <p:strVal val="#ppt_x"/>
                                          </p:val>
                                        </p:tav>
                                      </p:tavLst>
                                    </p:anim>
                                    <p:anim calcmode="lin" valueType="num">
                                      <p:cBhvr additive="base">
                                        <p:cTn id="16" dur="600" fill="hold"/>
                                        <p:tgtEl>
                                          <p:spTgt spid="5"/>
                                        </p:tgtEl>
                                        <p:attrNameLst>
                                          <p:attrName>ppt_y</p:attrName>
                                        </p:attrNameLst>
                                      </p:cBhvr>
                                      <p:tavLst>
                                        <p:tav tm="0">
                                          <p:val>
                                            <p:strVal val="#ppt_y+0.08"/>
                                          </p:val>
                                        </p:tav>
                                        <p:tav tm="100000">
                                          <p:val>
                                            <p:strVal val="#ppt_y"/>
                                          </p:val>
                                        </p:tav>
                                      </p:tavLst>
                                    </p:anim>
                                  </p:childTnLst>
                                </p:cTn>
                              </p:par>
                              <p:par>
                                <p:cTn id="22" presetID="42" presetClass="entr" presetSubtype="0" fill="hold" grpId="0" nodeType="withEffect">
                                  <p:stCondLst>
                                    <p:cond delay="5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600"/>
                                        <p:tgtEl>
                                          <p:spTgt spid="6"/>
                                        </p:tgtEl>
                                      </p:cBhvr>
                                    </p:animEffect>
                                    <p:anim calcmode="lin" valueType="num">
                                      <p:cBhvr additive="base">
                                        <p:cTn id="20" dur="600" fill="hold"/>
                                        <p:tgtEl>
                                          <p:spTgt spid="6"/>
                                        </p:tgtEl>
                                        <p:attrNameLst>
                                          <p:attrName>ppt_x</p:attrName>
                                        </p:attrNameLst>
                                      </p:cBhvr>
                                      <p:tavLst>
                                        <p:tav tm="0">
                                          <p:val>
                                            <p:strVal val="#ppt_x"/>
                                          </p:val>
                                        </p:tav>
                                        <p:tav tm="100000">
                                          <p:val>
                                            <p:strVal val="#ppt_x"/>
                                          </p:val>
                                        </p:tav>
                                      </p:tavLst>
                                    </p:anim>
                                    <p:anim calcmode="lin" valueType="num">
                                      <p:cBhvr additive="base">
                                        <p:cTn id="21" dur="600" fill="hold"/>
                                        <p:tgtEl>
                                          <p:spTgt spid="6"/>
                                        </p:tgtEl>
                                        <p:attrNameLst>
                                          <p:attrName>ppt_y</p:attrName>
                                        </p:attrNameLst>
                                      </p:cBhvr>
                                      <p:tavLst>
                                        <p:tav tm="0">
                                          <p:val>
                                            <p:strVal val="#ppt_y+0.08"/>
                                          </p:val>
                                        </p:tav>
                                        <p:tav tm="100000">
                                          <p:val>
                                            <p:strVal val="#ppt_y"/>
                                          </p:val>
                                        </p:tav>
                                      </p:tavLst>
                                    </p:anim>
                                  </p:childTnLst>
                                </p:cTn>
                              </p:par>
                              <p:par>
                                <p:cTn id="27" presetID="42" presetClass="entr" presetSubtype="0" fill="hold" grpId="0" nodeType="withEffect">
                                  <p:stCondLst>
                                    <p:cond delay="72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600"/>
                                        <p:tgtEl>
                                          <p:spTgt spid="7"/>
                                        </p:tgtEl>
                                      </p:cBhvr>
                                    </p:animEffect>
                                    <p:anim calcmode="lin" valueType="num">
                                      <p:cBhvr additive="base">
                                        <p:cTn id="25" dur="600" fill="hold"/>
                                        <p:tgtEl>
                                          <p:spTgt spid="7"/>
                                        </p:tgtEl>
                                        <p:attrNameLst>
                                          <p:attrName>ppt_x</p:attrName>
                                        </p:attrNameLst>
                                      </p:cBhvr>
                                      <p:tavLst>
                                        <p:tav tm="0">
                                          <p:val>
                                            <p:strVal val="#ppt_x"/>
                                          </p:val>
                                        </p:tav>
                                        <p:tav tm="100000">
                                          <p:val>
                                            <p:strVal val="#ppt_x"/>
                                          </p:val>
                                        </p:tav>
                                      </p:tavLst>
                                    </p:anim>
                                    <p:anim calcmode="lin" valueType="num">
                                      <p:cBhvr additive="base">
                                        <p:cTn id="26" dur="600" fill="hold"/>
                                        <p:tgtEl>
                                          <p:spTgt spid="7"/>
                                        </p:tgtEl>
                                        <p:attrNameLst>
                                          <p:attrName>ppt_y</p:attrName>
                                        </p:attrNameLst>
                                      </p:cBhvr>
                                      <p:tavLst>
                                        <p:tav tm="0">
                                          <p:val>
                                            <p:strVal val="#ppt_y+0.08"/>
                                          </p:val>
                                        </p:tav>
                                        <p:tav tm="100000">
                                          <p:val>
                                            <p:strVal val="#ppt_y"/>
                                          </p:val>
                                        </p:tav>
                                      </p:tavLst>
                                    </p:anim>
                                  </p:childTnLst>
                                </p:cTn>
                              </p:par>
                              <p:par>
                                <p:cTn id="32" presetID="42" presetClass="entr" presetSubtype="0" fill="hold" grpId="0" nodeType="withEffect">
                                  <p:stCondLst>
                                    <p:cond delay="79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600"/>
                                        <p:tgtEl>
                                          <p:spTgt spid="8"/>
                                        </p:tgtEl>
                                      </p:cBhvr>
                                    </p:animEffect>
                                    <p:anim calcmode="lin" valueType="num">
                                      <p:cBhvr additive="base">
                                        <p:cTn id="30" dur="600" fill="hold"/>
                                        <p:tgtEl>
                                          <p:spTgt spid="8"/>
                                        </p:tgtEl>
                                        <p:attrNameLst>
                                          <p:attrName>ppt_x</p:attrName>
                                        </p:attrNameLst>
                                      </p:cBhvr>
                                      <p:tavLst>
                                        <p:tav tm="0">
                                          <p:val>
                                            <p:strVal val="#ppt_x"/>
                                          </p:val>
                                        </p:tav>
                                        <p:tav tm="100000">
                                          <p:val>
                                            <p:strVal val="#ppt_x"/>
                                          </p:val>
                                        </p:tav>
                                      </p:tavLst>
                                    </p:anim>
                                    <p:anim calcmode="lin" valueType="num">
                                      <p:cBhvr additive="base">
                                        <p:cTn id="31" dur="600" fill="hold"/>
                                        <p:tgtEl>
                                          <p:spTgt spid="8"/>
                                        </p:tgtEl>
                                        <p:attrNameLst>
                                          <p:attrName>ppt_y</p:attrName>
                                        </p:attrNameLst>
                                      </p:cBhvr>
                                      <p:tavLst>
                                        <p:tav tm="0">
                                          <p:val>
                                            <p:strVal val="#ppt_y+0.08"/>
                                          </p:val>
                                        </p:tav>
                                        <p:tav tm="100000">
                                          <p:val>
                                            <p:strVal val="#ppt_y"/>
                                          </p:val>
                                        </p:tav>
                                      </p:tavLst>
                                    </p:anim>
                                  </p:childTnLst>
                                </p:cTn>
                              </p:par>
                              <p:par>
                                <p:cTn id="37" presetID="42" presetClass="entr" presetSubtype="0" fill="hold" grpId="0" nodeType="withEffect">
                                  <p:stCondLst>
                                    <p:cond delay="86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600"/>
                                        <p:tgtEl>
                                          <p:spTgt spid="9"/>
                                        </p:tgtEl>
                                      </p:cBhvr>
                                    </p:animEffect>
                                    <p:anim calcmode="lin" valueType="num">
                                      <p:cBhvr additive="base">
                                        <p:cTn id="35" dur="600" fill="hold"/>
                                        <p:tgtEl>
                                          <p:spTgt spid="9"/>
                                        </p:tgtEl>
                                        <p:attrNameLst>
                                          <p:attrName>ppt_x</p:attrName>
                                        </p:attrNameLst>
                                      </p:cBhvr>
                                      <p:tavLst>
                                        <p:tav tm="0">
                                          <p:val>
                                            <p:strVal val="#ppt_x"/>
                                          </p:val>
                                        </p:tav>
                                        <p:tav tm="100000">
                                          <p:val>
                                            <p:strVal val="#ppt_x"/>
                                          </p:val>
                                        </p:tav>
                                      </p:tavLst>
                                    </p:anim>
                                    <p:anim calcmode="lin" valueType="num">
                                      <p:cBhvr additive="base">
                                        <p:cTn id="36" dur="600" fill="hold"/>
                                        <p:tgtEl>
                                          <p:spTgt spid="9"/>
                                        </p:tgtEl>
                                        <p:attrNameLst>
                                          <p:attrName>ppt_y</p:attrName>
                                        </p:attrNameLst>
                                      </p:cBhvr>
                                      <p:tavLst>
                                        <p:tav tm="0">
                                          <p:val>
                                            <p:strVal val="#ppt_y+0.08"/>
                                          </p:val>
                                        </p:tav>
                                        <p:tav tm="100000">
                                          <p:val>
                                            <p:strVal val="#ppt_y"/>
                                          </p:val>
                                        </p:tav>
                                      </p:tavLst>
                                    </p:anim>
                                  </p:childTnLst>
                                </p:cTn>
                              </p:par>
                              <p:par>
                                <p:cTn id="42" presetID="42" presetClass="entr" presetSubtype="0" fill="hold" grpId="0" nodeType="withEffect">
                                  <p:stCondLst>
                                    <p:cond delay="108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600"/>
                                        <p:tgtEl>
                                          <p:spTgt spid="10"/>
                                        </p:tgtEl>
                                      </p:cBhvr>
                                    </p:animEffect>
                                    <p:anim calcmode="lin" valueType="num">
                                      <p:cBhvr additive="base">
                                        <p:cTn id="40" dur="600" fill="hold"/>
                                        <p:tgtEl>
                                          <p:spTgt spid="10"/>
                                        </p:tgtEl>
                                        <p:attrNameLst>
                                          <p:attrName>ppt_x</p:attrName>
                                        </p:attrNameLst>
                                      </p:cBhvr>
                                      <p:tavLst>
                                        <p:tav tm="0">
                                          <p:val>
                                            <p:strVal val="#ppt_x"/>
                                          </p:val>
                                        </p:tav>
                                        <p:tav tm="100000">
                                          <p:val>
                                            <p:strVal val="#ppt_x"/>
                                          </p:val>
                                        </p:tav>
                                      </p:tavLst>
                                    </p:anim>
                                    <p:anim calcmode="lin" valueType="num">
                                      <p:cBhvr additive="base">
                                        <p:cTn id="41" dur="600" fill="hold"/>
                                        <p:tgtEl>
                                          <p:spTgt spid="10"/>
                                        </p:tgtEl>
                                        <p:attrNameLst>
                                          <p:attrName>ppt_y</p:attrName>
                                        </p:attrNameLst>
                                      </p:cBhvr>
                                      <p:tavLst>
                                        <p:tav tm="0">
                                          <p:val>
                                            <p:strVal val="#ppt_y+0.08"/>
                                          </p:val>
                                        </p:tav>
                                        <p:tav tm="100000">
                                          <p:val>
                                            <p:strVal val="#ppt_y"/>
                                          </p:val>
                                        </p:tav>
                                      </p:tavLst>
                                    </p:anim>
                                  </p:childTnLst>
                                </p:cTn>
                              </p:par>
                              <p:par>
                                <p:cTn id="47" presetID="42" presetClass="entr" presetSubtype="0" fill="hold" grpId="0" nodeType="withEffect">
                                  <p:stCondLst>
                                    <p:cond delay="115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600"/>
                                        <p:tgtEl>
                                          <p:spTgt spid="11"/>
                                        </p:tgtEl>
                                      </p:cBhvr>
                                    </p:animEffect>
                                    <p:anim calcmode="lin" valueType="num">
                                      <p:cBhvr additive="base">
                                        <p:cTn id="45" dur="600" fill="hold"/>
                                        <p:tgtEl>
                                          <p:spTgt spid="11"/>
                                        </p:tgtEl>
                                        <p:attrNameLst>
                                          <p:attrName>ppt_x</p:attrName>
                                        </p:attrNameLst>
                                      </p:cBhvr>
                                      <p:tavLst>
                                        <p:tav tm="0">
                                          <p:val>
                                            <p:strVal val="#ppt_x"/>
                                          </p:val>
                                        </p:tav>
                                        <p:tav tm="100000">
                                          <p:val>
                                            <p:strVal val="#ppt_x"/>
                                          </p:val>
                                        </p:tav>
                                      </p:tavLst>
                                    </p:anim>
                                    <p:anim calcmode="lin" valueType="num">
                                      <p:cBhvr additive="base">
                                        <p:cTn id="46" dur="600" fill="hold"/>
                                        <p:tgtEl>
                                          <p:spTgt spid="11"/>
                                        </p:tgtEl>
                                        <p:attrNameLst>
                                          <p:attrName>ppt_y</p:attrName>
                                        </p:attrNameLst>
                                      </p:cBhvr>
                                      <p:tavLst>
                                        <p:tav tm="0">
                                          <p:val>
                                            <p:strVal val="#ppt_y+0.08"/>
                                          </p:val>
                                        </p:tav>
                                        <p:tav tm="100000">
                                          <p:val>
                                            <p:strVal val="#ppt_y"/>
                                          </p:val>
                                        </p:tav>
                                      </p:tavLst>
                                    </p:anim>
                                  </p:childTnLst>
                                </p:cTn>
                              </p:par>
                              <p:par>
                                <p:cTn id="52" presetID="42" presetClass="entr" presetSubtype="0" fill="hold" grpId="0" nodeType="withEffect">
                                  <p:stCondLst>
                                    <p:cond delay="122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600"/>
                                        <p:tgtEl>
                                          <p:spTgt spid="12"/>
                                        </p:tgtEl>
                                      </p:cBhvr>
                                    </p:animEffect>
                                    <p:anim calcmode="lin" valueType="num">
                                      <p:cBhvr additive="base">
                                        <p:cTn id="50" dur="600" fill="hold"/>
                                        <p:tgtEl>
                                          <p:spTgt spid="12"/>
                                        </p:tgtEl>
                                        <p:attrNameLst>
                                          <p:attrName>ppt_x</p:attrName>
                                        </p:attrNameLst>
                                      </p:cBhvr>
                                      <p:tavLst>
                                        <p:tav tm="0">
                                          <p:val>
                                            <p:strVal val="#ppt_x"/>
                                          </p:val>
                                        </p:tav>
                                        <p:tav tm="100000">
                                          <p:val>
                                            <p:strVal val="#ppt_x"/>
                                          </p:val>
                                        </p:tav>
                                      </p:tavLst>
                                    </p:anim>
                                    <p:anim calcmode="lin" valueType="num">
                                      <p:cBhvr additive="base">
                                        <p:cTn id="51" dur="600" fill="hold"/>
                                        <p:tgtEl>
                                          <p:spTgt spid="12"/>
                                        </p:tgtEl>
                                        <p:attrNameLst>
                                          <p:attrName>ppt_y</p:attrName>
                                        </p:attrNameLst>
                                      </p:cBhvr>
                                      <p:tavLst>
                                        <p:tav tm="0">
                                          <p:val>
                                            <p:strVal val="#ppt_y+0.08"/>
                                          </p:val>
                                        </p:tav>
                                        <p:tav tm="100000">
                                          <p:val>
                                            <p:strVal val="#ppt_y"/>
                                          </p:val>
                                        </p:tav>
                                      </p:tavLst>
                                    </p:anim>
                                  </p:childTnLst>
                                </p:cTn>
                              </p:par>
                              <p:par>
                                <p:cTn id="57" presetID="42" presetClass="entr" presetSubtype="0" fill="hold" grpId="0" nodeType="withEffect">
                                  <p:stCondLst>
                                    <p:cond delay="144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600"/>
                                        <p:tgtEl>
                                          <p:spTgt spid="13"/>
                                        </p:tgtEl>
                                      </p:cBhvr>
                                    </p:animEffect>
                                    <p:anim calcmode="lin" valueType="num">
                                      <p:cBhvr additive="base">
                                        <p:cTn id="55" dur="600" fill="hold"/>
                                        <p:tgtEl>
                                          <p:spTgt spid="13"/>
                                        </p:tgtEl>
                                        <p:attrNameLst>
                                          <p:attrName>ppt_x</p:attrName>
                                        </p:attrNameLst>
                                      </p:cBhvr>
                                      <p:tavLst>
                                        <p:tav tm="0">
                                          <p:val>
                                            <p:strVal val="#ppt_x"/>
                                          </p:val>
                                        </p:tav>
                                        <p:tav tm="100000">
                                          <p:val>
                                            <p:strVal val="#ppt_x"/>
                                          </p:val>
                                        </p:tav>
                                      </p:tavLst>
                                    </p:anim>
                                    <p:anim calcmode="lin" valueType="num">
                                      <p:cBhvr additive="base">
                                        <p:cTn id="56" dur="600" fill="hold"/>
                                        <p:tgtEl>
                                          <p:spTgt spid="13"/>
                                        </p:tgtEl>
                                        <p:attrNameLst>
                                          <p:attrName>ppt_y</p:attrName>
                                        </p:attrNameLst>
                                      </p:cBhvr>
                                      <p:tavLst>
                                        <p:tav tm="0">
                                          <p:val>
                                            <p:strVal val="#ppt_y+0.08"/>
                                          </p:val>
                                        </p:tav>
                                        <p:tav tm="100000">
                                          <p:val>
                                            <p:strVal val="#ppt_y"/>
                                          </p:val>
                                        </p:tav>
                                      </p:tavLst>
                                    </p:anim>
                                  </p:childTnLst>
                                </p:cTn>
                              </p:par>
                              <p:par>
                                <p:cTn id="62" presetID="42" presetClass="entr" presetSubtype="0" fill="hold" grpId="0" nodeType="withEffect">
                                  <p:stCondLst>
                                    <p:cond delay="151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600"/>
                                        <p:tgtEl>
                                          <p:spTgt spid="14"/>
                                        </p:tgtEl>
                                      </p:cBhvr>
                                    </p:animEffect>
                                    <p:anim calcmode="lin" valueType="num">
                                      <p:cBhvr additive="base">
                                        <p:cTn id="60" dur="600" fill="hold"/>
                                        <p:tgtEl>
                                          <p:spTgt spid="14"/>
                                        </p:tgtEl>
                                        <p:attrNameLst>
                                          <p:attrName>ppt_x</p:attrName>
                                        </p:attrNameLst>
                                      </p:cBhvr>
                                      <p:tavLst>
                                        <p:tav tm="0">
                                          <p:val>
                                            <p:strVal val="#ppt_x"/>
                                          </p:val>
                                        </p:tav>
                                        <p:tav tm="100000">
                                          <p:val>
                                            <p:strVal val="#ppt_x"/>
                                          </p:val>
                                        </p:tav>
                                      </p:tavLst>
                                    </p:anim>
                                    <p:anim calcmode="lin" valueType="num">
                                      <p:cBhvr additive="base">
                                        <p:cTn id="61" dur="600" fill="hold"/>
                                        <p:tgtEl>
                                          <p:spTgt spid="14"/>
                                        </p:tgtEl>
                                        <p:attrNameLst>
                                          <p:attrName>ppt_y</p:attrName>
                                        </p:attrNameLst>
                                      </p:cBhvr>
                                      <p:tavLst>
                                        <p:tav tm="0">
                                          <p:val>
                                            <p:strVal val="#ppt_y+0.08"/>
                                          </p:val>
                                        </p:tav>
                                        <p:tav tm="100000">
                                          <p:val>
                                            <p:strVal val="#ppt_y"/>
                                          </p:val>
                                        </p:tav>
                                      </p:tavLst>
                                    </p:anim>
                                  </p:childTnLst>
                                </p:cTn>
                              </p:par>
                              <p:par>
                                <p:cTn id="67" presetID="42" presetClass="entr" presetSubtype="0" fill="hold" grpId="0" nodeType="withEffect">
                                  <p:stCondLst>
                                    <p:cond delay="158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600"/>
                                        <p:tgtEl>
                                          <p:spTgt spid="15"/>
                                        </p:tgtEl>
                                      </p:cBhvr>
                                    </p:animEffect>
                                    <p:anim calcmode="lin" valueType="num">
                                      <p:cBhvr additive="base">
                                        <p:cTn id="65" dur="600" fill="hold"/>
                                        <p:tgtEl>
                                          <p:spTgt spid="15"/>
                                        </p:tgtEl>
                                        <p:attrNameLst>
                                          <p:attrName>ppt_x</p:attrName>
                                        </p:attrNameLst>
                                      </p:cBhvr>
                                      <p:tavLst>
                                        <p:tav tm="0">
                                          <p:val>
                                            <p:strVal val="#ppt_x"/>
                                          </p:val>
                                        </p:tav>
                                        <p:tav tm="100000">
                                          <p:val>
                                            <p:strVal val="#ppt_x"/>
                                          </p:val>
                                        </p:tav>
                                      </p:tavLst>
                                    </p:anim>
                                    <p:anim calcmode="lin" valueType="num">
                                      <p:cBhvr additive="base">
                                        <p:cTn id="66" dur="600" fill="hold"/>
                                        <p:tgtEl>
                                          <p:spTgt spid="15"/>
                                        </p:tgtEl>
                                        <p:attrNameLst>
                                          <p:attrName>ppt_y</p:attrName>
                                        </p:attrNameLst>
                                      </p:cBhvr>
                                      <p:tavLst>
                                        <p:tav tm="0">
                                          <p:val>
                                            <p:strVal val="#ppt_y+0.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9" grpId="0" animBg="1"/>
      <p:bldP spid="10" grpId="0" animBg="1"/>
      <p:bldP spid="12" grpId="0" animBg="1"/>
      <p:bldP spid="13" grpId="0" animBg="1"/>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424160" cy="777240"/>
          </a:xfrm>
          <a:prstGeom prst="rect">
            <a:avLst/>
          </a:prstGeom>
          <a:noFill/>
          <a:ln/>
        </p:spPr>
        <p:txBody>
          <a:bodyPr wrap="square" lIns="0" tIns="0" rIns="0" bIns="0" rtlCol="0" anchor="ctr"/>
          <a:lstStyle/>
          <a:p>
            <a:pPr algn="l" indent="0" marL="0">
              <a:buNone/>
            </a:pPr>
            <a:r>
              <a:rPr lang="en-US" sz="3200" b="1" dirty="0">
                <a:solidFill>
                  <a:schemeClr val="tx2"/>
                </a:solidFill>
              </a:rPr>
              <a:t>Motion that guides, not distracts</a:t>
            </a:r>
            <a:endParaRPr lang="en-US" sz="3200" dirty="0"/>
          </a:p>
        </p:txBody>
      </p:sp>
      <p:pic>
        <p:nvPicPr>
          <p:cNvPr id="3" name="A01-rise-m0" descr="/tmp/claude-0/-home-user-e-project/14373db0-086f-59d2-a972-520da66c003b/scratchpad/docs/shots-jpg/70-cut-transition.jpg">    </p:cNvPr>
          <p:cNvPicPr>
            <a:picLocks noChangeAspect="1"/>
          </p:cNvPicPr>
          <p:nvPr/>
        </p:nvPicPr>
        <p:blipFill>
          <a:blip r:embed="rId1"/>
          <a:stretch>
            <a:fillRect/>
          </a:stretch>
        </p:blipFill>
        <p:spPr>
          <a:xfrm>
            <a:off x="548640" y="1600200"/>
            <a:ext cx="3520440" cy="2200275"/>
          </a:xfrm>
          <a:prstGeom prst="rect">
            <a:avLst/>
          </a:prstGeom>
          <a:effectLst>
            <a:outerShdw sx="100000" sy="100000" kx="0" ky="0" algn="bl" rotWithShape="0" blurRad="152400" dist="38100" dir="5400000">
              <a:srgbClr val="0A2540">
                <a:alpha val="18000"/>
              </a:srgbClr>
            </a:outerShdw>
          </a:effectLst>
        </p:spPr>
      </p:pic>
      <p:sp>
        <p:nvSpPr>
          <p:cNvPr id="4" name="A01-rise-mt0"/>
          <p:cNvSpPr txBox="1"/>
          <p:nvPr/>
        </p:nvSpPr>
        <p:spPr>
          <a:xfrm>
            <a:off x="548640" y="3931920"/>
            <a:ext cx="3520440" cy="822960"/>
          </a:xfrm>
          <a:prstGeom prst="rect">
            <a:avLst/>
          </a:prstGeom>
          <a:noFill/>
          <a:ln/>
        </p:spPr>
        <p:txBody>
          <a:bodyPr wrap="square" lIns="0" tIns="0" rIns="0" bIns="0" rtlCol="0" anchor="t"/>
          <a:lstStyle/>
          <a:p>
            <a:pPr indent="0" marL="0">
              <a:buNone/>
            </a:pPr>
            <a:r>
              <a:rPr lang="en-US" sz="1700" b="1" dirty="0">
                <a:solidFill>
                  <a:schemeClr val="tx2"/>
                </a:solidFill>
              </a:rPr>
              <a:t>Cut-overlay transition</a:t>
            </a:r>
            <a:endParaRPr lang="en-US" sz="1400" dirty="0"/>
          </a:p>
          <a:p>
            <a:pPr indent="0" marL="0">
              <a:buNone/>
            </a:pPr>
            <a:r>
              <a:rPr lang="en-US" sz="1300" dirty="0">
                <a:solidFill>
                  <a:srgbClr val="475569"/>
                </a:solidFill>
              </a:rPr>
              <a:t>Angled panels sweep across between pages</a:t>
            </a:r>
            <a:endParaRPr lang="en-US" sz="1400" dirty="0"/>
          </a:p>
        </p:txBody>
      </p:sp>
      <p:pic>
        <p:nvPicPr>
          <p:cNvPr id="5" name="A02-rise-m1" descr="/tmp/claude-0/-home-user-e-project/14373db0-086f-59d2-a972-520da66c003b/scratchpad/docs/shots-jpg/45-confirm-overlay.jpg">    </p:cNvPr>
          <p:cNvPicPr>
            <a:picLocks noChangeAspect="1"/>
          </p:cNvPicPr>
          <p:nvPr/>
        </p:nvPicPr>
        <p:blipFill>
          <a:blip r:embed="rId2"/>
          <a:stretch>
            <a:fillRect/>
          </a:stretch>
        </p:blipFill>
        <p:spPr>
          <a:xfrm>
            <a:off x="4325112" y="1600200"/>
            <a:ext cx="3520440" cy="2200275"/>
          </a:xfrm>
          <a:prstGeom prst="rect">
            <a:avLst/>
          </a:prstGeom>
          <a:effectLst>
            <a:outerShdw sx="100000" sy="100000" kx="0" ky="0" algn="bl" rotWithShape="0" blurRad="152400" dist="38100" dir="5400000">
              <a:srgbClr val="0A2540">
                <a:alpha val="18000"/>
              </a:srgbClr>
            </a:outerShdw>
          </a:effectLst>
        </p:spPr>
      </p:pic>
      <p:sp>
        <p:nvSpPr>
          <p:cNvPr id="6" name="A02-rise-mt1"/>
          <p:cNvSpPr txBox="1"/>
          <p:nvPr/>
        </p:nvSpPr>
        <p:spPr>
          <a:xfrm>
            <a:off x="4325112" y="3931920"/>
            <a:ext cx="3520440" cy="822960"/>
          </a:xfrm>
          <a:prstGeom prst="rect">
            <a:avLst/>
          </a:prstGeom>
          <a:noFill/>
          <a:ln/>
        </p:spPr>
        <p:txBody>
          <a:bodyPr wrap="square" lIns="0" tIns="0" rIns="0" bIns="0" rtlCol="0" anchor="t"/>
          <a:lstStyle/>
          <a:p>
            <a:pPr indent="0" marL="0">
              <a:buNone/>
            </a:pPr>
            <a:r>
              <a:rPr lang="en-US" sz="1700" b="1" dirty="0">
                <a:solidFill>
                  <a:schemeClr val="tx2"/>
                </a:solidFill>
              </a:rPr>
              <a:t>Confirm overlay</a:t>
            </a:r>
            <a:endParaRPr lang="en-US" sz="1400" dirty="0"/>
          </a:p>
          <a:p>
            <a:pPr indent="0" marL="0">
              <a:buNone/>
            </a:pPr>
            <a:r>
              <a:rPr lang="en-US" sz="1300" dirty="0">
                <a:solidFill>
                  <a:srgbClr val="475569"/>
                </a:solidFill>
              </a:rPr>
              <a:t>Blurred overlay before Delete, Suspend, Deactivate</a:t>
            </a:r>
            <a:endParaRPr lang="en-US" sz="1400" dirty="0"/>
          </a:p>
        </p:txBody>
      </p:sp>
      <p:pic>
        <p:nvPicPr>
          <p:cNvPr id="7" name="A03-rise-m2" descr="/tmp/claude-0/-home-user-e-project/14373db0-086f-59d2-a972-520da66c003b/scratchpad/docs/shots-jpg/71-toast.jpg">    </p:cNvPr>
          <p:cNvPicPr>
            <a:picLocks noChangeAspect="1"/>
          </p:cNvPicPr>
          <p:nvPr/>
        </p:nvPicPr>
        <p:blipFill>
          <a:blip r:embed="rId3"/>
          <a:stretch>
            <a:fillRect/>
          </a:stretch>
        </p:blipFill>
        <p:spPr>
          <a:xfrm>
            <a:off x="8101584" y="1600200"/>
            <a:ext cx="3520440" cy="2200275"/>
          </a:xfrm>
          <a:prstGeom prst="rect">
            <a:avLst/>
          </a:prstGeom>
          <a:effectLst>
            <a:outerShdw sx="100000" sy="100000" kx="0" ky="0" algn="bl" rotWithShape="0" blurRad="152400" dist="38100" dir="5400000">
              <a:srgbClr val="0A2540">
                <a:alpha val="18000"/>
              </a:srgbClr>
            </a:outerShdw>
          </a:effectLst>
        </p:spPr>
      </p:pic>
      <p:sp>
        <p:nvSpPr>
          <p:cNvPr id="8" name="A03-rise-mt2"/>
          <p:cNvSpPr txBox="1"/>
          <p:nvPr/>
        </p:nvSpPr>
        <p:spPr>
          <a:xfrm>
            <a:off x="8101584" y="3931920"/>
            <a:ext cx="3520440" cy="822960"/>
          </a:xfrm>
          <a:prstGeom prst="rect">
            <a:avLst/>
          </a:prstGeom>
          <a:noFill/>
          <a:ln/>
        </p:spPr>
        <p:txBody>
          <a:bodyPr wrap="square" lIns="0" tIns="0" rIns="0" bIns="0" rtlCol="0" anchor="t"/>
          <a:lstStyle/>
          <a:p>
            <a:pPr indent="0" marL="0">
              <a:buNone/>
            </a:pPr>
            <a:r>
              <a:rPr lang="en-US" sz="1700" b="1" dirty="0">
                <a:solidFill>
                  <a:schemeClr val="tx2"/>
                </a:solidFill>
              </a:rPr>
              <a:t>Success toasts</a:t>
            </a:r>
            <a:endParaRPr lang="en-US" sz="1400" dirty="0"/>
          </a:p>
          <a:p>
            <a:pPr indent="0" marL="0">
              <a:buNone/>
            </a:pPr>
            <a:r>
              <a:rPr lang="en-US" sz="1300" dirty="0">
                <a:solidFill>
                  <a:srgbClr val="475569"/>
                </a:solidFill>
              </a:rPr>
              <a:t>Slide in, count down, pause on hover</a:t>
            </a:r>
            <a:endParaRPr lang="en-US" sz="1400" dirty="0"/>
          </a:p>
        </p:txBody>
      </p:sp>
      <p:sp>
        <p:nvSpPr>
          <p:cNvPr id="9" name="A04-fade-rm"/>
          <p:cNvSpPr txBox="1"/>
          <p:nvPr/>
        </p:nvSpPr>
        <p:spPr>
          <a:xfrm>
            <a:off x="548640" y="5394960"/>
            <a:ext cx="10972800" cy="365760"/>
          </a:xfrm>
          <a:prstGeom prst="rect">
            <a:avLst/>
          </a:prstGeom>
          <a:noFill/>
          <a:ln/>
        </p:spPr>
        <p:txBody>
          <a:bodyPr wrap="square" lIns="0" tIns="0" rIns="0" bIns="0" rtlCol="0" anchor="t"/>
          <a:lstStyle/>
          <a:p>
            <a:pPr indent="0" marL="0">
              <a:buNone/>
            </a:pPr>
            <a:r>
              <a:rPr lang="en-US" sz="1400" i="1" dirty="0">
                <a:solidFill>
                  <a:srgbClr val="475569"/>
                </a:solidFill>
              </a:rPr>
              <a:t>All motion uses transform and opacity only, and switches off for users who prefer reduced motion.</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push dir="l"/>
      </p:transition>
    </mc:Fallback>
  </mc:AlternateContent>
  <p:timing>
    <p:tnLst>
      <p:par>
        <p:cTn id="1" dur="indefinite" restart="never" nodeType="tmRoot">
          <p:childTnLst>
            <p:seq concurrent="1" nextAc="seek">
              <p:cTn id="2" dur="indefinite" nodeType="mainSeq">
                <p:childTnLst>
                  <p:par>
                    <p:cTn id="37" fill="hold">
                      <p:stCondLst>
                        <p:cond delay="indefinite"/>
                        <p:cond evt="onBegin" delay="0">
                          <p:tn val="2"/>
                        </p:cond>
                      </p:stCondLst>
                      <p:childTnLst>
                        <p:par>
                          <p:cTn id="36"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600"/>
                                        <p:tgtEl>
                                          <p:spTgt spid="3"/>
                                        </p:tgtEl>
                                      </p:cBhvr>
                                    </p:animEffect>
                                    <p:anim calcmode="lin" valueType="num">
                                      <p:cBhvr additive="base">
                                        <p:cTn id="5" dur="600" fill="hold"/>
                                        <p:tgtEl>
                                          <p:spTgt spid="3"/>
                                        </p:tgtEl>
                                        <p:attrNameLst>
                                          <p:attrName>ppt_x</p:attrName>
                                        </p:attrNameLst>
                                      </p:cBhvr>
                                      <p:tavLst>
                                        <p:tav tm="0">
                                          <p:val>
                                            <p:strVal val="#ppt_x"/>
                                          </p:val>
                                        </p:tav>
                                        <p:tav tm="100000">
                                          <p:val>
                                            <p:strVal val="#ppt_x"/>
                                          </p:val>
                                        </p:tav>
                                      </p:tavLst>
                                    </p:anim>
                                    <p:anim calcmode="lin" valueType="num">
                                      <p:cBhvr additive="base">
                                        <p:cTn id="6" dur="600" fill="hold"/>
                                        <p:tgtEl>
                                          <p:spTgt spid="3"/>
                                        </p:tgtEl>
                                        <p:attrNameLst>
                                          <p:attrName>ppt_y</p:attrName>
                                        </p:attrNameLst>
                                      </p:cBhvr>
                                      <p:tavLst>
                                        <p:tav tm="0">
                                          <p:val>
                                            <p:strVal val="#ppt_y+0.08"/>
                                          </p:val>
                                        </p:tav>
                                        <p:tav tm="100000">
                                          <p:val>
                                            <p:strVal val="#ppt_y"/>
                                          </p:val>
                                        </p:tav>
                                      </p:tavLst>
                                    </p:anim>
                                  </p:childTnLst>
                                </p:cTn>
                              </p:par>
                              <p:par>
                                <p:cTn id="12" presetID="42" presetClass="entr" presetSubtype="0" fill="hold" grpId="0" nodeType="withEffect">
                                  <p:stCondLst>
                                    <p:cond delay="7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anim calcmode="lin" valueType="num">
                                      <p:cBhvr additive="base">
                                        <p:cTn id="10" dur="600" fill="hold"/>
                                        <p:tgtEl>
                                          <p:spTgt spid="4"/>
                                        </p:tgtEl>
                                        <p:attrNameLst>
                                          <p:attrName>ppt_x</p:attrName>
                                        </p:attrNameLst>
                                      </p:cBhvr>
                                      <p:tavLst>
                                        <p:tav tm="0">
                                          <p:val>
                                            <p:strVal val="#ppt_x"/>
                                          </p:val>
                                        </p:tav>
                                        <p:tav tm="100000">
                                          <p:val>
                                            <p:strVal val="#ppt_x"/>
                                          </p:val>
                                        </p:tav>
                                      </p:tavLst>
                                    </p:anim>
                                    <p:anim calcmode="lin" valueType="num">
                                      <p:cBhvr additive="base">
                                        <p:cTn id="11" dur="600" fill="hold"/>
                                        <p:tgtEl>
                                          <p:spTgt spid="4"/>
                                        </p:tgtEl>
                                        <p:attrNameLst>
                                          <p:attrName>ppt_y</p:attrName>
                                        </p:attrNameLst>
                                      </p:cBhvr>
                                      <p:tavLst>
                                        <p:tav tm="0">
                                          <p:val>
                                            <p:strVal val="#ppt_y+0.08"/>
                                          </p:val>
                                        </p:tav>
                                        <p:tav tm="100000">
                                          <p:val>
                                            <p:strVal val="#ppt_y"/>
                                          </p:val>
                                        </p:tav>
                                      </p:tavLst>
                                    </p:anim>
                                  </p:childTnLst>
                                </p:cTn>
                              </p:par>
                              <p:par>
                                <p:cTn id="17" presetID="42" presetClass="entr" presetSubtype="0" fill="hold" grpId="0" nodeType="withEffect">
                                  <p:stCondLst>
                                    <p:cond delay="36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600"/>
                                        <p:tgtEl>
                                          <p:spTgt spid="5"/>
                                        </p:tgtEl>
                                      </p:cBhvr>
                                    </p:animEffect>
                                    <p:anim calcmode="lin" valueType="num">
                                      <p:cBhvr additive="base">
                                        <p:cTn id="15" dur="600" fill="hold"/>
                                        <p:tgtEl>
                                          <p:spTgt spid="5"/>
                                        </p:tgtEl>
                                        <p:attrNameLst>
                                          <p:attrName>ppt_x</p:attrName>
                                        </p:attrNameLst>
                                      </p:cBhvr>
                                      <p:tavLst>
                                        <p:tav tm="0">
                                          <p:val>
                                            <p:strVal val="#ppt_x"/>
                                          </p:val>
                                        </p:tav>
                                        <p:tav tm="100000">
                                          <p:val>
                                            <p:strVal val="#ppt_x"/>
                                          </p:val>
                                        </p:tav>
                                      </p:tavLst>
                                    </p:anim>
                                    <p:anim calcmode="lin" valueType="num">
                                      <p:cBhvr additive="base">
                                        <p:cTn id="16" dur="600" fill="hold"/>
                                        <p:tgtEl>
                                          <p:spTgt spid="5"/>
                                        </p:tgtEl>
                                        <p:attrNameLst>
                                          <p:attrName>ppt_y</p:attrName>
                                        </p:attrNameLst>
                                      </p:cBhvr>
                                      <p:tavLst>
                                        <p:tav tm="0">
                                          <p:val>
                                            <p:strVal val="#ppt_y+0.08"/>
                                          </p:val>
                                        </p:tav>
                                        <p:tav tm="100000">
                                          <p:val>
                                            <p:strVal val="#ppt_y"/>
                                          </p:val>
                                        </p:tav>
                                      </p:tavLst>
                                    </p:anim>
                                  </p:childTnLst>
                                </p:cTn>
                              </p:par>
                              <p:par>
                                <p:cTn id="22" presetID="42" presetClass="entr" presetSubtype="0" fill="hold" grpId="0" nodeType="withEffect">
                                  <p:stCondLst>
                                    <p:cond delay="43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600"/>
                                        <p:tgtEl>
                                          <p:spTgt spid="6"/>
                                        </p:tgtEl>
                                      </p:cBhvr>
                                    </p:animEffect>
                                    <p:anim calcmode="lin" valueType="num">
                                      <p:cBhvr additive="base">
                                        <p:cTn id="20" dur="600" fill="hold"/>
                                        <p:tgtEl>
                                          <p:spTgt spid="6"/>
                                        </p:tgtEl>
                                        <p:attrNameLst>
                                          <p:attrName>ppt_x</p:attrName>
                                        </p:attrNameLst>
                                      </p:cBhvr>
                                      <p:tavLst>
                                        <p:tav tm="0">
                                          <p:val>
                                            <p:strVal val="#ppt_x"/>
                                          </p:val>
                                        </p:tav>
                                        <p:tav tm="100000">
                                          <p:val>
                                            <p:strVal val="#ppt_x"/>
                                          </p:val>
                                        </p:tav>
                                      </p:tavLst>
                                    </p:anim>
                                    <p:anim calcmode="lin" valueType="num">
                                      <p:cBhvr additive="base">
                                        <p:cTn id="21" dur="600" fill="hold"/>
                                        <p:tgtEl>
                                          <p:spTgt spid="6"/>
                                        </p:tgtEl>
                                        <p:attrNameLst>
                                          <p:attrName>ppt_y</p:attrName>
                                        </p:attrNameLst>
                                      </p:cBhvr>
                                      <p:tavLst>
                                        <p:tav tm="0">
                                          <p:val>
                                            <p:strVal val="#ppt_y+0.08"/>
                                          </p:val>
                                        </p:tav>
                                        <p:tav tm="100000">
                                          <p:val>
                                            <p:strVal val="#ppt_y"/>
                                          </p:val>
                                        </p:tav>
                                      </p:tavLst>
                                    </p:anim>
                                  </p:childTnLst>
                                </p:cTn>
                              </p:par>
                              <p:par>
                                <p:cTn id="27" presetID="42" presetClass="entr" presetSubtype="0" fill="hold" grpId="0" nodeType="withEffect">
                                  <p:stCondLst>
                                    <p:cond delay="72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600"/>
                                        <p:tgtEl>
                                          <p:spTgt spid="7"/>
                                        </p:tgtEl>
                                      </p:cBhvr>
                                    </p:animEffect>
                                    <p:anim calcmode="lin" valueType="num">
                                      <p:cBhvr additive="base">
                                        <p:cTn id="25" dur="600" fill="hold"/>
                                        <p:tgtEl>
                                          <p:spTgt spid="7"/>
                                        </p:tgtEl>
                                        <p:attrNameLst>
                                          <p:attrName>ppt_x</p:attrName>
                                        </p:attrNameLst>
                                      </p:cBhvr>
                                      <p:tavLst>
                                        <p:tav tm="0">
                                          <p:val>
                                            <p:strVal val="#ppt_x"/>
                                          </p:val>
                                        </p:tav>
                                        <p:tav tm="100000">
                                          <p:val>
                                            <p:strVal val="#ppt_x"/>
                                          </p:val>
                                        </p:tav>
                                      </p:tavLst>
                                    </p:anim>
                                    <p:anim calcmode="lin" valueType="num">
                                      <p:cBhvr additive="base">
                                        <p:cTn id="26" dur="600" fill="hold"/>
                                        <p:tgtEl>
                                          <p:spTgt spid="7"/>
                                        </p:tgtEl>
                                        <p:attrNameLst>
                                          <p:attrName>ppt_y</p:attrName>
                                        </p:attrNameLst>
                                      </p:cBhvr>
                                      <p:tavLst>
                                        <p:tav tm="0">
                                          <p:val>
                                            <p:strVal val="#ppt_y+0.08"/>
                                          </p:val>
                                        </p:tav>
                                        <p:tav tm="100000">
                                          <p:val>
                                            <p:strVal val="#ppt_y"/>
                                          </p:val>
                                        </p:tav>
                                      </p:tavLst>
                                    </p:anim>
                                  </p:childTnLst>
                                </p:cTn>
                              </p:par>
                              <p:par>
                                <p:cTn id="32" presetID="42" presetClass="entr" presetSubtype="0" fill="hold" grpId="0" nodeType="withEffect">
                                  <p:stCondLst>
                                    <p:cond delay="79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600"/>
                                        <p:tgtEl>
                                          <p:spTgt spid="8"/>
                                        </p:tgtEl>
                                      </p:cBhvr>
                                    </p:animEffect>
                                    <p:anim calcmode="lin" valueType="num">
                                      <p:cBhvr additive="base">
                                        <p:cTn id="30" dur="600" fill="hold"/>
                                        <p:tgtEl>
                                          <p:spTgt spid="8"/>
                                        </p:tgtEl>
                                        <p:attrNameLst>
                                          <p:attrName>ppt_x</p:attrName>
                                        </p:attrNameLst>
                                      </p:cBhvr>
                                      <p:tavLst>
                                        <p:tav tm="0">
                                          <p:val>
                                            <p:strVal val="#ppt_x"/>
                                          </p:val>
                                        </p:tav>
                                        <p:tav tm="100000">
                                          <p:val>
                                            <p:strVal val="#ppt_x"/>
                                          </p:val>
                                        </p:tav>
                                      </p:tavLst>
                                    </p:anim>
                                    <p:anim calcmode="lin" valueType="num">
                                      <p:cBhvr additive="base">
                                        <p:cTn id="31" dur="600" fill="hold"/>
                                        <p:tgtEl>
                                          <p:spTgt spid="8"/>
                                        </p:tgtEl>
                                        <p:attrNameLst>
                                          <p:attrName>ppt_y</p:attrName>
                                        </p:attrNameLst>
                                      </p:cBhvr>
                                      <p:tavLst>
                                        <p:tav tm="0">
                                          <p:val>
                                            <p:strVal val="#ppt_y+0.08"/>
                                          </p:val>
                                        </p:tav>
                                        <p:tav tm="100000">
                                          <p:val>
                                            <p:strVal val="#ppt_y"/>
                                          </p:val>
                                        </p:tav>
                                      </p:tavLst>
                                    </p:anim>
                                  </p:childTnLst>
                                </p:cTn>
                              </p:par>
                              <p:par>
                                <p:cTn id="35" presetID="10" presetClass="entr" presetSubtype="0" fill="hold" grpId="0" nodeType="withEffect">
                                  <p:stCondLst>
                                    <p:cond delay="108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7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424160" cy="777240"/>
          </a:xfrm>
          <a:prstGeom prst="rect">
            <a:avLst/>
          </a:prstGeom>
          <a:noFill/>
          <a:ln/>
        </p:spPr>
        <p:txBody>
          <a:bodyPr wrap="square" lIns="0" tIns="0" rIns="0" bIns="0" rtlCol="0" anchor="ctr"/>
          <a:lstStyle/>
          <a:p>
            <a:pPr algn="l" indent="0" marL="0">
              <a:buNone/>
            </a:pPr>
            <a:r>
              <a:rPr lang="en-US" sz="3200" b="1" dirty="0">
                <a:solidFill>
                  <a:schemeClr val="tx2"/>
                </a:solidFill>
              </a:rPr>
              <a:t>Every role has its own workspace</a:t>
            </a:r>
            <a:endParaRPr lang="en-US" sz="3200" dirty="0"/>
          </a:p>
        </p:txBody>
      </p:sp>
      <p:pic>
        <p:nvPicPr>
          <p:cNvPr id="3" name="A01-zoom-g0" descr="/tmp/claude-0/-home-user-e-project/14373db0-086f-59d2-a972-520da66c003b/scratchpad/docs/shots-jpg/30-retail-dashboard.jpg">    </p:cNvPr>
          <p:cNvPicPr>
            <a:picLocks noChangeAspect="1"/>
          </p:cNvPicPr>
          <p:nvPr/>
        </p:nvPicPr>
        <p:blipFill>
          <a:blip r:embed="rId1"/>
          <a:stretch>
            <a:fillRect/>
          </a:stretch>
        </p:blipFill>
        <p:spPr>
          <a:xfrm>
            <a:off x="1371600" y="1298448"/>
            <a:ext cx="3337560" cy="2085975"/>
          </a:xfrm>
          <a:prstGeom prst="rect">
            <a:avLst/>
          </a:prstGeom>
          <a:effectLst>
            <a:outerShdw sx="100000" sy="100000" kx="0" ky="0" algn="bl" rotWithShape="0" blurRad="152400" dist="38100" dir="5400000">
              <a:srgbClr val="0A2540">
                <a:alpha val="18000"/>
              </a:srgbClr>
            </a:outerShdw>
          </a:effectLst>
        </p:spPr>
      </p:pic>
      <p:sp>
        <p:nvSpPr>
          <p:cNvPr id="4" name="A01-zoom-gt0"/>
          <p:cNvSpPr txBox="1"/>
          <p:nvPr/>
        </p:nvSpPr>
        <p:spPr>
          <a:xfrm>
            <a:off x="4892040" y="2075688"/>
            <a:ext cx="1600200" cy="685800"/>
          </a:xfrm>
          <a:prstGeom prst="rect">
            <a:avLst/>
          </a:prstGeom>
          <a:noFill/>
          <a:ln/>
        </p:spPr>
        <p:txBody>
          <a:bodyPr wrap="square" lIns="0" tIns="0" rIns="0" bIns="0" rtlCol="0" anchor="ctr"/>
          <a:lstStyle/>
          <a:p>
            <a:pPr indent="0" marL="0">
              <a:buNone/>
            </a:pPr>
            <a:r>
              <a:rPr lang="en-US" sz="1500" b="1" dirty="0">
                <a:solidFill>
                  <a:schemeClr val="tx2"/>
                </a:solidFill>
              </a:rPr>
              <a:t>Retail · shop dashboard</a:t>
            </a:r>
            <a:endParaRPr lang="en-US" sz="1500" dirty="0"/>
          </a:p>
        </p:txBody>
      </p:sp>
      <p:pic>
        <p:nvPicPr>
          <p:cNvPr id="5" name="A02-zoom-g1" descr="/tmp/claude-0/-home-user-e-project/14373db0-086f-59d2-a972-520da66c003b/scratchpad/docs/shots-jpg/41-tech-feasibility.jpg">    </p:cNvPr>
          <p:cNvPicPr>
            <a:picLocks noChangeAspect="1"/>
          </p:cNvPicPr>
          <p:nvPr/>
        </p:nvPicPr>
        <p:blipFill>
          <a:blip r:embed="rId2"/>
          <a:stretch>
            <a:fillRect/>
          </a:stretch>
        </p:blipFill>
        <p:spPr>
          <a:xfrm>
            <a:off x="6629400" y="1298448"/>
            <a:ext cx="3337560" cy="2085975"/>
          </a:xfrm>
          <a:prstGeom prst="rect">
            <a:avLst/>
          </a:prstGeom>
          <a:effectLst>
            <a:outerShdw sx="100000" sy="100000" kx="0" ky="0" algn="bl" rotWithShape="0" blurRad="152400" dist="38100" dir="5400000">
              <a:srgbClr val="0A2540">
                <a:alpha val="18000"/>
              </a:srgbClr>
            </a:outerShdw>
          </a:effectLst>
        </p:spPr>
      </p:pic>
      <p:sp>
        <p:nvSpPr>
          <p:cNvPr id="6" name="A02-zoom-gt1"/>
          <p:cNvSpPr txBox="1"/>
          <p:nvPr/>
        </p:nvSpPr>
        <p:spPr>
          <a:xfrm>
            <a:off x="10149840" y="2075688"/>
            <a:ext cx="1600200" cy="685800"/>
          </a:xfrm>
          <a:prstGeom prst="rect">
            <a:avLst/>
          </a:prstGeom>
          <a:noFill/>
          <a:ln/>
        </p:spPr>
        <p:txBody>
          <a:bodyPr wrap="square" lIns="0" tIns="0" rIns="0" bIns="0" rtlCol="0" anchor="ctr"/>
          <a:lstStyle/>
          <a:p>
            <a:pPr indent="0" marL="0">
              <a:buNone/>
            </a:pPr>
            <a:r>
              <a:rPr lang="en-US" sz="1500" b="1" dirty="0">
                <a:solidFill>
                  <a:schemeClr val="tx2"/>
                </a:solidFill>
              </a:rPr>
              <a:t>Technical · feasibility queue</a:t>
            </a:r>
            <a:endParaRPr lang="en-US" sz="1500" dirty="0"/>
          </a:p>
        </p:txBody>
      </p:sp>
      <p:pic>
        <p:nvPicPr>
          <p:cNvPr id="7" name="A03-zoom-g2" descr="/tmp/claude-0/-home-user-e-project/14373db0-086f-59d2-a972-520da66c003b/scratchpad/docs/shots-jpg/51-accounts-bills.jpg">    </p:cNvPr>
          <p:cNvPicPr>
            <a:picLocks noChangeAspect="1"/>
          </p:cNvPicPr>
          <p:nvPr/>
        </p:nvPicPr>
        <p:blipFill>
          <a:blip r:embed="rId3"/>
          <a:stretch>
            <a:fillRect/>
          </a:stretch>
        </p:blipFill>
        <p:spPr>
          <a:xfrm>
            <a:off x="1371600" y="3904488"/>
            <a:ext cx="3337560" cy="2085975"/>
          </a:xfrm>
          <a:prstGeom prst="rect">
            <a:avLst/>
          </a:prstGeom>
          <a:effectLst>
            <a:outerShdw sx="100000" sy="100000" kx="0" ky="0" algn="bl" rotWithShape="0" blurRad="152400" dist="38100" dir="5400000">
              <a:srgbClr val="0A2540">
                <a:alpha val="18000"/>
              </a:srgbClr>
            </a:outerShdw>
          </a:effectLst>
        </p:spPr>
      </p:pic>
      <p:sp>
        <p:nvSpPr>
          <p:cNvPr id="8" name="A03-zoom-gt2"/>
          <p:cNvSpPr txBox="1"/>
          <p:nvPr/>
        </p:nvSpPr>
        <p:spPr>
          <a:xfrm>
            <a:off x="4892040" y="4681728"/>
            <a:ext cx="1600200" cy="685800"/>
          </a:xfrm>
          <a:prstGeom prst="rect">
            <a:avLst/>
          </a:prstGeom>
          <a:noFill/>
          <a:ln/>
        </p:spPr>
        <p:txBody>
          <a:bodyPr wrap="square" lIns="0" tIns="0" rIns="0" bIns="0" rtlCol="0" anchor="ctr"/>
          <a:lstStyle/>
          <a:p>
            <a:pPr indent="0" marL="0">
              <a:buNone/>
            </a:pPr>
            <a:r>
              <a:rPr lang="en-US" sz="1500" b="1" dirty="0">
                <a:solidFill>
                  <a:schemeClr val="tx2"/>
                </a:solidFill>
              </a:rPr>
              <a:t>Accounts · bills and dues</a:t>
            </a:r>
            <a:endParaRPr lang="en-US" sz="1500" dirty="0"/>
          </a:p>
        </p:txBody>
      </p:sp>
      <p:pic>
        <p:nvPicPr>
          <p:cNvPr id="9" name="A04-zoom-g3" descr="/tmp/claude-0/-home-user-e-project/14373db0-086f-59d2-a972-520da66c003b/scratchpad/docs/shots-jpg/65-customer-dashboard-due.jpg">    </p:cNvPr>
          <p:cNvPicPr>
            <a:picLocks noChangeAspect="1"/>
          </p:cNvPicPr>
          <p:nvPr/>
        </p:nvPicPr>
        <p:blipFill>
          <a:blip r:embed="rId4"/>
          <a:stretch>
            <a:fillRect/>
          </a:stretch>
        </p:blipFill>
        <p:spPr>
          <a:xfrm>
            <a:off x="6629400" y="3904488"/>
            <a:ext cx="3337560" cy="2085975"/>
          </a:xfrm>
          <a:prstGeom prst="rect">
            <a:avLst/>
          </a:prstGeom>
          <a:effectLst>
            <a:outerShdw sx="100000" sy="100000" kx="0" ky="0" algn="bl" rotWithShape="0" blurRad="152400" dist="38100" dir="5400000">
              <a:srgbClr val="0A2540">
                <a:alpha val="18000"/>
              </a:srgbClr>
            </a:outerShdw>
          </a:effectLst>
        </p:spPr>
      </p:pic>
      <p:sp>
        <p:nvSpPr>
          <p:cNvPr id="10" name="A04-zoom-gt3"/>
          <p:cNvSpPr txBox="1"/>
          <p:nvPr/>
        </p:nvSpPr>
        <p:spPr>
          <a:xfrm>
            <a:off x="10149840" y="4681728"/>
            <a:ext cx="1600200" cy="685800"/>
          </a:xfrm>
          <a:prstGeom prst="rect">
            <a:avLst/>
          </a:prstGeom>
          <a:noFill/>
          <a:ln/>
        </p:spPr>
        <p:txBody>
          <a:bodyPr wrap="square" lIns="0" tIns="0" rIns="0" bIns="0" rtlCol="0" anchor="ctr"/>
          <a:lstStyle/>
          <a:p>
            <a:pPr indent="0" marL="0">
              <a:buNone/>
            </a:pPr>
            <a:r>
              <a:rPr lang="en-US" sz="1500" b="1" dirty="0">
                <a:solidFill>
                  <a:schemeClr val="tx2"/>
                </a:solidFill>
              </a:rPr>
              <a:t>Customer · amount due</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11</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250">
        <p14:gallery dir="l"/>
      </p:transition>
    </mc:Choice>
    <mc:Fallback>
      <p:transition spd="slow">
        <p:cover dir="l"/>
      </p:transition>
    </mc:Fallback>
  </mc:AlternateContent>
  <p:timing>
    <p:tnLst>
      <p:par>
        <p:cTn id="1" dur="indefinite" restart="never" nodeType="tmRoot">
          <p:childTnLst>
            <p:seq concurrent="1" nextAc="seek">
              <p:cTn id="2" dur="indefinite" nodeType="mainSeq">
                <p:childTnLst>
                  <p:par>
                    <p:cTn id="44" fill="hold">
                      <p:stCondLst>
                        <p:cond delay="indefinite"/>
                        <p:cond evt="onBegin" delay="0">
                          <p:tn val="2"/>
                        </p:cond>
                      </p:stCondLst>
                      <p:childTnLst>
                        <p:par>
                          <p:cTn id="43"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 calcmode="lin" valueType="num">
                                      <p:cBhvr additive="base">
                                        <p:cTn id="4" dur="600" fill="hold"/>
                                        <p:tgtEl>
                                          <p:spTgt spid="3"/>
                                        </p:tgtEl>
                                        <p:attrNameLst>
                                          <p:attrName>ppt_w</p:attrName>
                                        </p:attrNameLst>
                                      </p:cBhvr>
                                      <p:tavLst>
                                        <p:tav tm="0">
                                          <p:val>
                                            <p:strVal val="0.7*#ppt_w"/>
                                          </p:val>
                                        </p:tav>
                                        <p:tav tm="100000">
                                          <p:val>
                                            <p:strVal val="#ppt_w"/>
                                          </p:val>
                                        </p:tav>
                                      </p:tavLst>
                                    </p:anim>
                                    <p:anim calcmode="lin" valueType="num">
                                      <p:cBhvr additive="base">
                                        <p:cTn id="5" dur="600" fill="hold"/>
                                        <p:tgtEl>
                                          <p:spTgt spid="3"/>
                                        </p:tgtEl>
                                        <p:attrNameLst>
                                          <p:attrName>ppt_h</p:attrName>
                                        </p:attrNameLst>
                                      </p:cBhvr>
                                      <p:tavLst>
                                        <p:tav tm="0">
                                          <p:val>
                                            <p:strVal val="0.7*#ppt_h"/>
                                          </p:val>
                                        </p:tav>
                                        <p:tav tm="100000">
                                          <p:val>
                                            <p:strVal val="#ppt_h"/>
                                          </p:val>
                                        </p:tav>
                                      </p:tavLst>
                                    </p:anim>
                                    <p:animEffect transition="in" filter="fade">
                                      <p:cBhvr>
                                        <p:cTn id="6" dur="600"/>
                                        <p:tgtEl>
                                          <p:spTgt spid="3"/>
                                        </p:tgtEl>
                                      </p:cBhvr>
                                    </p:animEffect>
                                  </p:childTnLst>
                                </p:cTn>
                              </p:par>
                              <p:par>
                                <p:cTn id="12" presetID="53" presetClass="entr" presetSubtype="16" fill="hold" grpId="0" nodeType="withEffect">
                                  <p:stCondLst>
                                    <p:cond delay="70"/>
                                  </p:stCondLst>
                                  <p:childTnLst>
                                    <p:set>
                                      <p:cBhvr>
                                        <p:cTn id="8" dur="1" fill="hold">
                                          <p:stCondLst>
                                            <p:cond delay="0"/>
                                          </p:stCondLst>
                                        </p:cTn>
                                        <p:tgtEl>
                                          <p:spTgt spid="4"/>
                                        </p:tgtEl>
                                        <p:attrNameLst>
                                          <p:attrName>style.visibility</p:attrName>
                                        </p:attrNameLst>
                                      </p:cBhvr>
                                      <p:to>
                                        <p:strVal val="visible"/>
                                      </p:to>
                                    </p:set>
                                    <p:anim calcmode="lin" valueType="num">
                                      <p:cBhvr additive="base">
                                        <p:cTn id="9" dur="600" fill="hold"/>
                                        <p:tgtEl>
                                          <p:spTgt spid="4"/>
                                        </p:tgtEl>
                                        <p:attrNameLst>
                                          <p:attrName>ppt_w</p:attrName>
                                        </p:attrNameLst>
                                      </p:cBhvr>
                                      <p:tavLst>
                                        <p:tav tm="0">
                                          <p:val>
                                            <p:strVal val="0.7*#ppt_w"/>
                                          </p:val>
                                        </p:tav>
                                        <p:tav tm="100000">
                                          <p:val>
                                            <p:strVal val="#ppt_w"/>
                                          </p:val>
                                        </p:tav>
                                      </p:tavLst>
                                    </p:anim>
                                    <p:anim calcmode="lin" valueType="num">
                                      <p:cBhvr additive="base">
                                        <p:cTn id="10" dur="600" fill="hold"/>
                                        <p:tgtEl>
                                          <p:spTgt spid="4"/>
                                        </p:tgtEl>
                                        <p:attrNameLst>
                                          <p:attrName>ppt_h</p:attrName>
                                        </p:attrNameLst>
                                      </p:cBhvr>
                                      <p:tavLst>
                                        <p:tav tm="0">
                                          <p:val>
                                            <p:strVal val="0.7*#ppt_h"/>
                                          </p:val>
                                        </p:tav>
                                        <p:tav tm="100000">
                                          <p:val>
                                            <p:strVal val="#ppt_h"/>
                                          </p:val>
                                        </p:tav>
                                      </p:tavLst>
                                    </p:anim>
                                    <p:animEffect transition="in" filter="fade">
                                      <p:cBhvr>
                                        <p:cTn id="11" dur="600"/>
                                        <p:tgtEl>
                                          <p:spTgt spid="4"/>
                                        </p:tgtEl>
                                      </p:cBhvr>
                                    </p:animEffect>
                                  </p:childTnLst>
                                </p:cTn>
                              </p:par>
                              <p:par>
                                <p:cTn id="17" presetID="53" presetClass="entr" presetSubtype="16" fill="hold" grpId="0" nodeType="withEffect">
                                  <p:stCondLst>
                                    <p:cond delay="36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600" fill="hold"/>
                                        <p:tgtEl>
                                          <p:spTgt spid="5"/>
                                        </p:tgtEl>
                                        <p:attrNameLst>
                                          <p:attrName>ppt_w</p:attrName>
                                        </p:attrNameLst>
                                      </p:cBhvr>
                                      <p:tavLst>
                                        <p:tav tm="0">
                                          <p:val>
                                            <p:strVal val="0.7*#ppt_w"/>
                                          </p:val>
                                        </p:tav>
                                        <p:tav tm="100000">
                                          <p:val>
                                            <p:strVal val="#ppt_w"/>
                                          </p:val>
                                        </p:tav>
                                      </p:tavLst>
                                    </p:anim>
                                    <p:anim calcmode="lin" valueType="num">
                                      <p:cBhvr additive="base">
                                        <p:cTn id="15" dur="600" fill="hold"/>
                                        <p:tgtEl>
                                          <p:spTgt spid="5"/>
                                        </p:tgtEl>
                                        <p:attrNameLst>
                                          <p:attrName>ppt_h</p:attrName>
                                        </p:attrNameLst>
                                      </p:cBhvr>
                                      <p:tavLst>
                                        <p:tav tm="0">
                                          <p:val>
                                            <p:strVal val="0.7*#ppt_h"/>
                                          </p:val>
                                        </p:tav>
                                        <p:tav tm="100000">
                                          <p:val>
                                            <p:strVal val="#ppt_h"/>
                                          </p:val>
                                        </p:tav>
                                      </p:tavLst>
                                    </p:anim>
                                    <p:animEffect transition="in" filter="fade">
                                      <p:cBhvr>
                                        <p:cTn id="16" dur="600"/>
                                        <p:tgtEl>
                                          <p:spTgt spid="5"/>
                                        </p:tgtEl>
                                      </p:cBhvr>
                                    </p:animEffect>
                                  </p:childTnLst>
                                </p:cTn>
                              </p:par>
                              <p:par>
                                <p:cTn id="22" presetID="53" presetClass="entr" presetSubtype="16" fill="hold" grpId="0" nodeType="withEffect">
                                  <p:stCondLst>
                                    <p:cond delay="43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600" fill="hold"/>
                                        <p:tgtEl>
                                          <p:spTgt spid="6"/>
                                        </p:tgtEl>
                                        <p:attrNameLst>
                                          <p:attrName>ppt_w</p:attrName>
                                        </p:attrNameLst>
                                      </p:cBhvr>
                                      <p:tavLst>
                                        <p:tav tm="0">
                                          <p:val>
                                            <p:strVal val="0.7*#ppt_w"/>
                                          </p:val>
                                        </p:tav>
                                        <p:tav tm="100000">
                                          <p:val>
                                            <p:strVal val="#ppt_w"/>
                                          </p:val>
                                        </p:tav>
                                      </p:tavLst>
                                    </p:anim>
                                    <p:anim calcmode="lin" valueType="num">
                                      <p:cBhvr additive="base">
                                        <p:cTn id="20" dur="600" fill="hold"/>
                                        <p:tgtEl>
                                          <p:spTgt spid="6"/>
                                        </p:tgtEl>
                                        <p:attrNameLst>
                                          <p:attrName>ppt_h</p:attrName>
                                        </p:attrNameLst>
                                      </p:cBhvr>
                                      <p:tavLst>
                                        <p:tav tm="0">
                                          <p:val>
                                            <p:strVal val="0.7*#ppt_h"/>
                                          </p:val>
                                        </p:tav>
                                        <p:tav tm="100000">
                                          <p:val>
                                            <p:strVal val="#ppt_h"/>
                                          </p:val>
                                        </p:tav>
                                      </p:tavLst>
                                    </p:anim>
                                    <p:animEffect transition="in" filter="fade">
                                      <p:cBhvr>
                                        <p:cTn id="21" dur="600"/>
                                        <p:tgtEl>
                                          <p:spTgt spid="6"/>
                                        </p:tgtEl>
                                      </p:cBhvr>
                                    </p:animEffect>
                                  </p:childTnLst>
                                </p:cTn>
                              </p:par>
                              <p:par>
                                <p:cTn id="27" presetID="53" presetClass="entr" presetSubtype="16" fill="hold" grpId="0" nodeType="withEffect">
                                  <p:stCondLst>
                                    <p:cond delay="72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600" fill="hold"/>
                                        <p:tgtEl>
                                          <p:spTgt spid="7"/>
                                        </p:tgtEl>
                                        <p:attrNameLst>
                                          <p:attrName>ppt_w</p:attrName>
                                        </p:attrNameLst>
                                      </p:cBhvr>
                                      <p:tavLst>
                                        <p:tav tm="0">
                                          <p:val>
                                            <p:strVal val="0.7*#ppt_w"/>
                                          </p:val>
                                        </p:tav>
                                        <p:tav tm="100000">
                                          <p:val>
                                            <p:strVal val="#ppt_w"/>
                                          </p:val>
                                        </p:tav>
                                      </p:tavLst>
                                    </p:anim>
                                    <p:anim calcmode="lin" valueType="num">
                                      <p:cBhvr additive="base">
                                        <p:cTn id="25" dur="600" fill="hold"/>
                                        <p:tgtEl>
                                          <p:spTgt spid="7"/>
                                        </p:tgtEl>
                                        <p:attrNameLst>
                                          <p:attrName>ppt_h</p:attrName>
                                        </p:attrNameLst>
                                      </p:cBhvr>
                                      <p:tavLst>
                                        <p:tav tm="0">
                                          <p:val>
                                            <p:strVal val="0.7*#ppt_h"/>
                                          </p:val>
                                        </p:tav>
                                        <p:tav tm="100000">
                                          <p:val>
                                            <p:strVal val="#ppt_h"/>
                                          </p:val>
                                        </p:tav>
                                      </p:tavLst>
                                    </p:anim>
                                    <p:animEffect transition="in" filter="fade">
                                      <p:cBhvr>
                                        <p:cTn id="26" dur="600"/>
                                        <p:tgtEl>
                                          <p:spTgt spid="7"/>
                                        </p:tgtEl>
                                      </p:cBhvr>
                                    </p:animEffect>
                                  </p:childTnLst>
                                </p:cTn>
                              </p:par>
                              <p:par>
                                <p:cTn id="32" presetID="53" presetClass="entr" presetSubtype="16" fill="hold" grpId="0" nodeType="withEffect">
                                  <p:stCondLst>
                                    <p:cond delay="79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600" fill="hold"/>
                                        <p:tgtEl>
                                          <p:spTgt spid="8"/>
                                        </p:tgtEl>
                                        <p:attrNameLst>
                                          <p:attrName>ppt_w</p:attrName>
                                        </p:attrNameLst>
                                      </p:cBhvr>
                                      <p:tavLst>
                                        <p:tav tm="0">
                                          <p:val>
                                            <p:strVal val="0.7*#ppt_w"/>
                                          </p:val>
                                        </p:tav>
                                        <p:tav tm="100000">
                                          <p:val>
                                            <p:strVal val="#ppt_w"/>
                                          </p:val>
                                        </p:tav>
                                      </p:tavLst>
                                    </p:anim>
                                    <p:anim calcmode="lin" valueType="num">
                                      <p:cBhvr additive="base">
                                        <p:cTn id="30" dur="600" fill="hold"/>
                                        <p:tgtEl>
                                          <p:spTgt spid="8"/>
                                        </p:tgtEl>
                                        <p:attrNameLst>
                                          <p:attrName>ppt_h</p:attrName>
                                        </p:attrNameLst>
                                      </p:cBhvr>
                                      <p:tavLst>
                                        <p:tav tm="0">
                                          <p:val>
                                            <p:strVal val="0.7*#ppt_h"/>
                                          </p:val>
                                        </p:tav>
                                        <p:tav tm="100000">
                                          <p:val>
                                            <p:strVal val="#ppt_h"/>
                                          </p:val>
                                        </p:tav>
                                      </p:tavLst>
                                    </p:anim>
                                    <p:animEffect transition="in" filter="fade">
                                      <p:cBhvr>
                                        <p:cTn id="31" dur="600"/>
                                        <p:tgtEl>
                                          <p:spTgt spid="8"/>
                                        </p:tgtEl>
                                      </p:cBhvr>
                                    </p:animEffect>
                                  </p:childTnLst>
                                </p:cTn>
                              </p:par>
                              <p:par>
                                <p:cTn id="37" presetID="53" presetClass="entr" presetSubtype="16" fill="hold" grpId="0" nodeType="withEffect">
                                  <p:stCondLst>
                                    <p:cond delay="108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600" fill="hold"/>
                                        <p:tgtEl>
                                          <p:spTgt spid="9"/>
                                        </p:tgtEl>
                                        <p:attrNameLst>
                                          <p:attrName>ppt_w</p:attrName>
                                        </p:attrNameLst>
                                      </p:cBhvr>
                                      <p:tavLst>
                                        <p:tav tm="0">
                                          <p:val>
                                            <p:strVal val="0.7*#ppt_w"/>
                                          </p:val>
                                        </p:tav>
                                        <p:tav tm="100000">
                                          <p:val>
                                            <p:strVal val="#ppt_w"/>
                                          </p:val>
                                        </p:tav>
                                      </p:tavLst>
                                    </p:anim>
                                    <p:anim calcmode="lin" valueType="num">
                                      <p:cBhvr additive="base">
                                        <p:cTn id="35" dur="600" fill="hold"/>
                                        <p:tgtEl>
                                          <p:spTgt spid="9"/>
                                        </p:tgtEl>
                                        <p:attrNameLst>
                                          <p:attrName>ppt_h</p:attrName>
                                        </p:attrNameLst>
                                      </p:cBhvr>
                                      <p:tavLst>
                                        <p:tav tm="0">
                                          <p:val>
                                            <p:strVal val="0.7*#ppt_h"/>
                                          </p:val>
                                        </p:tav>
                                        <p:tav tm="100000">
                                          <p:val>
                                            <p:strVal val="#ppt_h"/>
                                          </p:val>
                                        </p:tav>
                                      </p:tavLst>
                                    </p:anim>
                                    <p:animEffect transition="in" filter="fade">
                                      <p:cBhvr>
                                        <p:cTn id="36" dur="600"/>
                                        <p:tgtEl>
                                          <p:spTgt spid="9"/>
                                        </p:tgtEl>
                                      </p:cBhvr>
                                    </p:animEffect>
                                  </p:childTnLst>
                                </p:cTn>
                              </p:par>
                              <p:par>
                                <p:cTn id="42" presetID="53" presetClass="entr" presetSubtype="16" fill="hold" grpId="0" nodeType="withEffect">
                                  <p:stCondLst>
                                    <p:cond delay="115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600" fill="hold"/>
                                        <p:tgtEl>
                                          <p:spTgt spid="10"/>
                                        </p:tgtEl>
                                        <p:attrNameLst>
                                          <p:attrName>ppt_w</p:attrName>
                                        </p:attrNameLst>
                                      </p:cBhvr>
                                      <p:tavLst>
                                        <p:tav tm="0">
                                          <p:val>
                                            <p:strVal val="0.7*#ppt_w"/>
                                          </p:val>
                                        </p:tav>
                                        <p:tav tm="100000">
                                          <p:val>
                                            <p:strVal val="#ppt_w"/>
                                          </p:val>
                                        </p:tav>
                                      </p:tavLst>
                                    </p:anim>
                                    <p:anim calcmode="lin" valueType="num">
                                      <p:cBhvr additive="base">
                                        <p:cTn id="40" dur="600" fill="hold"/>
                                        <p:tgtEl>
                                          <p:spTgt spid="10"/>
                                        </p:tgtEl>
                                        <p:attrNameLst>
                                          <p:attrName>ppt_h</p:attrName>
                                        </p:attrNameLst>
                                      </p:cBhvr>
                                      <p:tavLst>
                                        <p:tav tm="0">
                                          <p:val>
                                            <p:strVal val="0.7*#ppt_h"/>
                                          </p:val>
                                        </p:tav>
                                        <p:tav tm="100000">
                                          <p:val>
                                            <p:strVal val="#ppt_h"/>
                                          </p:val>
                                        </p:tav>
                                      </p:tavLst>
                                    </p:anim>
                                    <p:animEffect transition="in" filter="fade">
                                      <p:cBhvr>
                                        <p:cTn id="41" dur="6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424160" cy="777240"/>
          </a:xfrm>
          <a:prstGeom prst="rect">
            <a:avLst/>
          </a:prstGeom>
          <a:noFill/>
          <a:ln/>
        </p:spPr>
        <p:txBody>
          <a:bodyPr wrap="square" lIns="0" tIns="0" rIns="0" bIns="0" rtlCol="0" anchor="ctr"/>
          <a:lstStyle/>
          <a:p>
            <a:pPr algn="l" indent="0" marL="0">
              <a:buNone/>
            </a:pPr>
            <a:r>
              <a:rPr lang="en-US" sz="3200" b="1" dirty="0">
                <a:solidFill>
                  <a:schemeClr val="tx2"/>
                </a:solidFill>
              </a:rPr>
              <a:t>Works on phones and tablets</a:t>
            </a:r>
            <a:endParaRPr lang="en-US" sz="3200" dirty="0"/>
          </a:p>
        </p:txBody>
      </p:sp>
      <p:sp>
        <p:nvSpPr>
          <p:cNvPr id="3" name="A01-fade-mt"/>
          <p:cNvSpPr txBox="1"/>
          <p:nvPr/>
        </p:nvSpPr>
        <p:spPr>
          <a:xfrm>
            <a:off x="548640" y="1600200"/>
            <a:ext cx="3840480" cy="2194560"/>
          </a:xfrm>
          <a:prstGeom prst="rect">
            <a:avLst/>
          </a:prstGeom>
          <a:noFill/>
          <a:ln/>
        </p:spPr>
        <p:txBody>
          <a:bodyPr wrap="square" lIns="0" tIns="0" rIns="0" bIns="0" rtlCol="0" anchor="t"/>
          <a:lstStyle/>
          <a:p>
            <a:pPr indent="0" marL="0">
              <a:buNone/>
            </a:pPr>
            <a:r>
              <a:rPr lang="en-US" sz="1700" b="1" dirty="0">
                <a:solidFill>
                  <a:schemeClr val="tx2"/>
                </a:solidFill>
              </a:rPr>
              <a:t>Retail staff often serve customers at the counter on a tablet.</a:t>
            </a:r>
            <a:endParaRPr lang="en-US" sz="1400" dirty="0"/>
          </a:p>
          <a:p>
            <a:pPr indent="0" marL="0">
              <a:buNone/>
            </a:pPr>
            <a:r>
              <a:rPr lang="en-US" sz="1500" dirty="0">
                <a:solidFill>
                  <a:srgbClr val="475569"/>
                </a:solidFill>
              </a:rPr>
              <a:t>Below 992 px the sidebar slides in from the menu button, cards stack and tables scroll sideways.</a:t>
            </a:r>
            <a:endParaRPr lang="en-US" sz="1400" dirty="0"/>
          </a:p>
        </p:txBody>
      </p:sp>
      <p:pic>
        <p:nvPicPr>
          <p:cNvPr id="4" name="A02-rise-p0" descr="/tmp/claude-0/-home-user-e-project/14373db0-086f-59d2-a972-520da66c003b/scratchpad/docs/shots-jpg/80-mobile-dashboard.jpg">    </p:cNvPr>
          <p:cNvPicPr>
            <a:picLocks noChangeAspect="1"/>
          </p:cNvPicPr>
          <p:nvPr/>
        </p:nvPicPr>
        <p:blipFill>
          <a:blip r:embed="rId1"/>
          <a:stretch>
            <a:fillRect/>
          </a:stretch>
        </p:blipFill>
        <p:spPr>
          <a:xfrm>
            <a:off x="4892040" y="1325880"/>
            <a:ext cx="2103120" cy="4552208"/>
          </a:xfrm>
          <a:prstGeom prst="rect">
            <a:avLst/>
          </a:prstGeom>
          <a:effectLst>
            <a:outerShdw sx="100000" sy="100000" kx="0" ky="0" algn="bl" rotWithShape="0" blurRad="152400" dist="38100" dir="5400000">
              <a:srgbClr val="0A2540">
                <a:alpha val="18000"/>
              </a:srgbClr>
            </a:outerShdw>
          </a:effectLst>
        </p:spPr>
      </p:pic>
      <p:pic>
        <p:nvPicPr>
          <p:cNvPr id="5" name="A03-rise-p1" descr="/tmp/claude-0/-home-user-e-project/14373db0-086f-59d2-a972-520da66c003b/scratchpad/docs/shots-jpg/81-mobile-menu.jpg">    </p:cNvPr>
          <p:cNvPicPr>
            <a:picLocks noChangeAspect="1"/>
          </p:cNvPicPr>
          <p:nvPr/>
        </p:nvPicPr>
        <p:blipFill>
          <a:blip r:embed="rId2"/>
          <a:stretch>
            <a:fillRect/>
          </a:stretch>
        </p:blipFill>
        <p:spPr>
          <a:xfrm>
            <a:off x="7178040" y="1325880"/>
            <a:ext cx="2103120" cy="4552208"/>
          </a:xfrm>
          <a:prstGeom prst="rect">
            <a:avLst/>
          </a:prstGeom>
          <a:effectLst>
            <a:outerShdw sx="100000" sy="100000" kx="0" ky="0" algn="bl" rotWithShape="0" blurRad="152400" dist="38100" dir="5400000">
              <a:srgbClr val="0A2540">
                <a:alpha val="18000"/>
              </a:srgbClr>
            </a:outerShdw>
          </a:effectLst>
        </p:spPr>
      </p:pic>
      <p:pic>
        <p:nvPicPr>
          <p:cNvPr id="6" name="A04-rise-p2" descr="/tmp/claude-0/-home-user-e-project/14373db0-086f-59d2-a972-520da66c003b/scratchpad/docs/shots-jpg/82-mobile-home.jpg">    </p:cNvPr>
          <p:cNvPicPr>
            <a:picLocks noChangeAspect="1"/>
          </p:cNvPicPr>
          <p:nvPr/>
        </p:nvPicPr>
        <p:blipFill>
          <a:blip r:embed="rId3"/>
          <a:stretch>
            <a:fillRect/>
          </a:stretch>
        </p:blipFill>
        <p:spPr>
          <a:xfrm>
            <a:off x="9464040" y="1325880"/>
            <a:ext cx="2103120" cy="4552208"/>
          </a:xfrm>
          <a:prstGeom prst="rect">
            <a:avLst/>
          </a:prstGeom>
          <a:effectLst>
            <a:outerShdw sx="100000" sy="100000" kx="0" ky="0" algn="bl" rotWithShape="0" blurRad="152400" dist="38100" dir="5400000">
              <a:srgbClr val="0A2540">
                <a:alpha val="18000"/>
              </a:srgbClr>
            </a:outerShdw>
          </a:effectLst>
        </p:spPr>
      </p:pic>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12</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22" fill="hold">
                      <p:stCondLst>
                        <p:cond delay="indefinite"/>
                        <p:cond evt="onBegin" delay="0">
                          <p:tn val="2"/>
                        </p:cond>
                      </p:stCondLst>
                      <p:childTnLst>
                        <p:par>
                          <p:cTn id="21" fill="hold">
                            <p:stCondLst>
                              <p:cond delay="0"/>
                            </p:stCondLst>
                            <p:childTnLst>
                              <p:par>
                                <p:cTn id="5" presetID="10"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childTnLst>
                                </p:cTn>
                              </p:par>
                              <p:par>
                                <p:cTn id="10" presetID="42" presetClass="entr" presetSubtype="0" fill="hold" grpId="0" nodeType="withEffect">
                                  <p:stCondLst>
                                    <p:cond delay="36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additive="base">
                                        <p:cTn id="8" dur="600" fill="hold"/>
                                        <p:tgtEl>
                                          <p:spTgt spid="4"/>
                                        </p:tgtEl>
                                        <p:attrNameLst>
                                          <p:attrName>ppt_x</p:attrName>
                                        </p:attrNameLst>
                                      </p:cBhvr>
                                      <p:tavLst>
                                        <p:tav tm="0">
                                          <p:val>
                                            <p:strVal val="#ppt_x"/>
                                          </p:val>
                                        </p:tav>
                                        <p:tav tm="100000">
                                          <p:val>
                                            <p:strVal val="#ppt_x"/>
                                          </p:val>
                                        </p:tav>
                                      </p:tavLst>
                                    </p:anim>
                                    <p:anim calcmode="lin" valueType="num">
                                      <p:cBhvr additive="base">
                                        <p:cTn id="9" dur="600" fill="hold"/>
                                        <p:tgtEl>
                                          <p:spTgt spid="4"/>
                                        </p:tgtEl>
                                        <p:attrNameLst>
                                          <p:attrName>ppt_y</p:attrName>
                                        </p:attrNameLst>
                                      </p:cBhvr>
                                      <p:tavLst>
                                        <p:tav tm="0">
                                          <p:val>
                                            <p:strVal val="#ppt_y+0.08"/>
                                          </p:val>
                                        </p:tav>
                                        <p:tav tm="100000">
                                          <p:val>
                                            <p:strVal val="#ppt_y"/>
                                          </p:val>
                                        </p:tav>
                                      </p:tavLst>
                                    </p:anim>
                                  </p:childTnLst>
                                </p:cTn>
                              </p:par>
                              <p:par>
                                <p:cTn id="15" presetID="42" presetClass="entr" presetSubtype="0" fill="hold" grpId="0" nodeType="withEffect">
                                  <p:stCondLst>
                                    <p:cond delay="72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anim calcmode="lin" valueType="num">
                                      <p:cBhvr additive="base">
                                        <p:cTn id="13" dur="600" fill="hold"/>
                                        <p:tgtEl>
                                          <p:spTgt spid="5"/>
                                        </p:tgtEl>
                                        <p:attrNameLst>
                                          <p:attrName>ppt_x</p:attrName>
                                        </p:attrNameLst>
                                      </p:cBhvr>
                                      <p:tavLst>
                                        <p:tav tm="0">
                                          <p:val>
                                            <p:strVal val="#ppt_x"/>
                                          </p:val>
                                        </p:tav>
                                        <p:tav tm="100000">
                                          <p:val>
                                            <p:strVal val="#ppt_x"/>
                                          </p:val>
                                        </p:tav>
                                      </p:tavLst>
                                    </p:anim>
                                    <p:anim calcmode="lin" valueType="num">
                                      <p:cBhvr additive="base">
                                        <p:cTn id="14" dur="600" fill="hold"/>
                                        <p:tgtEl>
                                          <p:spTgt spid="5"/>
                                        </p:tgtEl>
                                        <p:attrNameLst>
                                          <p:attrName>ppt_y</p:attrName>
                                        </p:attrNameLst>
                                      </p:cBhvr>
                                      <p:tavLst>
                                        <p:tav tm="0">
                                          <p:val>
                                            <p:strVal val="#ppt_y+0.08"/>
                                          </p:val>
                                        </p:tav>
                                        <p:tav tm="100000">
                                          <p:val>
                                            <p:strVal val="#ppt_y"/>
                                          </p:val>
                                        </p:tav>
                                      </p:tavLst>
                                    </p:anim>
                                  </p:childTnLst>
                                </p:cTn>
                              </p:par>
                              <p:par>
                                <p:cTn id="20" presetID="42" presetClass="entr" presetSubtype="0" fill="hold" grpId="0" nodeType="withEffect">
                                  <p:stCondLst>
                                    <p:cond delay="108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600"/>
                                        <p:tgtEl>
                                          <p:spTgt spid="6"/>
                                        </p:tgtEl>
                                      </p:cBhvr>
                                    </p:animEffect>
                                    <p:anim calcmode="lin" valueType="num">
                                      <p:cBhvr additive="base">
                                        <p:cTn id="18" dur="600" fill="hold"/>
                                        <p:tgtEl>
                                          <p:spTgt spid="6"/>
                                        </p:tgtEl>
                                        <p:attrNameLst>
                                          <p:attrName>ppt_x</p:attrName>
                                        </p:attrNameLst>
                                      </p:cBhvr>
                                      <p:tavLst>
                                        <p:tav tm="0">
                                          <p:val>
                                            <p:strVal val="#ppt_x"/>
                                          </p:val>
                                        </p:tav>
                                        <p:tav tm="100000">
                                          <p:val>
                                            <p:strVal val="#ppt_x"/>
                                          </p:val>
                                        </p:tav>
                                      </p:tavLst>
                                    </p:anim>
                                    <p:anim calcmode="lin" valueType="num">
                                      <p:cBhvr additive="base">
                                        <p:cTn id="19" dur="600" fill="hold"/>
                                        <p:tgtEl>
                                          <p:spTgt spid="6"/>
                                        </p:tgtEl>
                                        <p:attrNameLst>
                                          <p:attrName>ppt_y</p:attrName>
                                        </p:attrNameLst>
                                      </p:cBhvr>
                                      <p:tavLst>
                                        <p:tav tm="0">
                                          <p:val>
                                            <p:strVal val="#ppt_y+0.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424160" cy="777240"/>
          </a:xfrm>
          <a:prstGeom prst="rect">
            <a:avLst/>
          </a:prstGeom>
          <a:noFill/>
          <a:ln/>
        </p:spPr>
        <p:txBody>
          <a:bodyPr wrap="square" lIns="0" tIns="0" rIns="0" bIns="0" rtlCol="0" anchor="ctr"/>
          <a:lstStyle/>
          <a:p>
            <a:pPr algn="l" indent="0" marL="0">
              <a:buNone/>
            </a:pPr>
            <a:r>
              <a:rPr lang="en-US" sz="3200" b="1" dirty="0">
                <a:solidFill>
                  <a:schemeClr val="tx2"/>
                </a:solidFill>
              </a:rPr>
              <a:t>Tested through the real screens</a:t>
            </a:r>
            <a:endParaRPr lang="en-US" sz="3200" dirty="0"/>
          </a:p>
        </p:txBody>
      </p:sp>
      <p:sp>
        <p:nvSpPr>
          <p:cNvPr id="3" name="A01-zoom-big"/>
          <p:cNvSpPr txBox="1"/>
          <p:nvPr/>
        </p:nvSpPr>
        <p:spPr>
          <a:xfrm>
            <a:off x="548640" y="1508760"/>
            <a:ext cx="4206240" cy="1188720"/>
          </a:xfrm>
          <a:prstGeom prst="rect">
            <a:avLst/>
          </a:prstGeom>
          <a:noFill/>
          <a:ln/>
        </p:spPr>
        <p:txBody>
          <a:bodyPr wrap="square" lIns="0" tIns="0" rIns="0" bIns="0" rtlCol="0" anchor="t"/>
          <a:lstStyle/>
          <a:p>
            <a:pPr indent="0" marL="0">
              <a:buNone/>
            </a:pPr>
            <a:r>
              <a:rPr lang="en-US" sz="7200" b="1" dirty="0">
                <a:solidFill>
                  <a:schemeClr val="accent2"/>
                </a:solidFill>
              </a:rPr>
              <a:t>24 / 24</a:t>
            </a:r>
            <a:endParaRPr lang="en-US" sz="7200" dirty="0"/>
          </a:p>
        </p:txBody>
      </p:sp>
      <p:sp>
        <p:nvSpPr>
          <p:cNvPr id="4" name="A01-zoom-bigl"/>
          <p:cNvSpPr txBox="1"/>
          <p:nvPr/>
        </p:nvSpPr>
        <p:spPr>
          <a:xfrm>
            <a:off x="548640" y="2697480"/>
            <a:ext cx="3931920" cy="640080"/>
          </a:xfrm>
          <a:prstGeom prst="rect">
            <a:avLst/>
          </a:prstGeom>
          <a:noFill/>
          <a:ln/>
        </p:spPr>
        <p:txBody>
          <a:bodyPr wrap="square" lIns="0" tIns="0" rIns="0" bIns="0" rtlCol="0" anchor="t"/>
          <a:lstStyle/>
          <a:p>
            <a:pPr indent="0" marL="0">
              <a:buNone/>
            </a:pPr>
            <a:r>
              <a:rPr lang="en-US" sz="1500" dirty="0">
                <a:solidFill>
                  <a:srgbClr val="334155"/>
                </a:solidFill>
              </a:rPr>
              <a:t>system test cases passed on SQL Server 2022 with .NET 8</a:t>
            </a:r>
            <a:endParaRPr lang="en-US" sz="1500" dirty="0"/>
          </a:p>
        </p:txBody>
      </p:sp>
      <p:sp>
        <p:nvSpPr>
          <p:cNvPr id="5" name="A02-fade-tl"/>
          <p:cNvSpPr txBox="1"/>
          <p:nvPr/>
        </p:nvSpPr>
        <p:spPr>
          <a:xfrm>
            <a:off x="548640" y="3611880"/>
            <a:ext cx="420624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rPr>
              <a:t>Automated browser run signs in as every role</a:t>
            </a:r>
            <a:endParaRPr lang="en-US" sz="1400" dirty="0"/>
          </a:p>
          <a:p>
            <a:pPr marL="342900" indent="-342900">
              <a:spcAft>
                <a:spcPts val="800"/>
              </a:spcAft>
              <a:buSzPct val="100000"/>
              <a:buChar char="•"/>
            </a:pPr>
            <a:r>
              <a:rPr lang="en-US" sz="1400" dirty="0">
                <a:solidFill>
                  <a:srgbClr val="334155"/>
                </a:solidFill>
              </a:rPr>
              <a:t>Validation: duplicate codes, overpayment, passwords</a:t>
            </a:r>
            <a:endParaRPr lang="en-US" sz="1400" dirty="0"/>
          </a:p>
          <a:p>
            <a:pPr marL="342900" indent="-342900">
              <a:buSzPct val="100000"/>
              <a:buChar char="•"/>
            </a:pPr>
            <a:r>
              <a:rPr lang="en-US" sz="1400" dirty="0">
                <a:solidFill>
                  <a:srgbClr val="334155"/>
                </a:solidFill>
              </a:rPr>
              <a:t>Security: access denied, login redirect, other customers' data</a:t>
            </a:r>
            <a:endParaRPr lang="en-US" sz="1400" dirty="0"/>
          </a:p>
        </p:txBody>
      </p:sp>
      <p:graphicFrame>
        <p:nvGraphicFramePr>
          <p:cNvPr id="6" name="A03-wipe-chart" descr=""/>
          <p:cNvGraphicFramePr/>
          <p:nvPr/>
        </p:nvGraphicFramePr>
        <p:xfrm>
          <a:off x="5257800" y="1371600"/>
          <a:ext cx="6382512" cy="44805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13</a:t>
            </a:fld>
            <a:endParaRPr lang="en-US"/>
          </a:p>
        </p:txBody>
      </p:sp>
    </p:spTree>
  </p:cSld>
  <p:clrMapOvr>
    <a:masterClrMapping/>
  </p:clrMapOvr>
  <p:transition spd="fast">
    <p:cut/>
  </p:transition>
  <p:timing>
    <p:tnLst>
      <p:par>
        <p:cTn id="1" dur="indefinite" restart="never" nodeType="tmRoot">
          <p:childTnLst>
            <p:seq concurrent="1" nextAc="seek">
              <p:cTn id="2" dur="indefinite" nodeType="mainSeq">
                <p:childTnLst>
                  <p:par>
                    <p:cTn id="20" fill="hold">
                      <p:stCondLst>
                        <p:cond delay="indefinite"/>
                        <p:cond evt="onBegin" delay="0">
                          <p:tn val="2"/>
                        </p:cond>
                      </p:stCondLst>
                      <p:childTnLst>
                        <p:par>
                          <p:cTn id="19"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 calcmode="lin" valueType="num">
                                      <p:cBhvr additive="base">
                                        <p:cTn id="4" dur="600" fill="hold"/>
                                        <p:tgtEl>
                                          <p:spTgt spid="3"/>
                                        </p:tgtEl>
                                        <p:attrNameLst>
                                          <p:attrName>ppt_w</p:attrName>
                                        </p:attrNameLst>
                                      </p:cBhvr>
                                      <p:tavLst>
                                        <p:tav tm="0">
                                          <p:val>
                                            <p:strVal val="0.7*#ppt_w"/>
                                          </p:val>
                                        </p:tav>
                                        <p:tav tm="100000">
                                          <p:val>
                                            <p:strVal val="#ppt_w"/>
                                          </p:val>
                                        </p:tav>
                                      </p:tavLst>
                                    </p:anim>
                                    <p:anim calcmode="lin" valueType="num">
                                      <p:cBhvr additive="base">
                                        <p:cTn id="5" dur="600" fill="hold"/>
                                        <p:tgtEl>
                                          <p:spTgt spid="3"/>
                                        </p:tgtEl>
                                        <p:attrNameLst>
                                          <p:attrName>ppt_h</p:attrName>
                                        </p:attrNameLst>
                                      </p:cBhvr>
                                      <p:tavLst>
                                        <p:tav tm="0">
                                          <p:val>
                                            <p:strVal val="0.7*#ppt_h"/>
                                          </p:val>
                                        </p:tav>
                                        <p:tav tm="100000">
                                          <p:val>
                                            <p:strVal val="#ppt_h"/>
                                          </p:val>
                                        </p:tav>
                                      </p:tavLst>
                                    </p:anim>
                                    <p:animEffect transition="in" filter="fade">
                                      <p:cBhvr>
                                        <p:cTn id="6" dur="600"/>
                                        <p:tgtEl>
                                          <p:spTgt spid="3"/>
                                        </p:tgtEl>
                                      </p:cBhvr>
                                    </p:animEffect>
                                  </p:childTnLst>
                                </p:cTn>
                              </p:par>
                              <p:par>
                                <p:cTn id="12" presetID="53" presetClass="entr" presetSubtype="16" fill="hold" grpId="0" nodeType="withEffect">
                                  <p:stCondLst>
                                    <p:cond delay="70"/>
                                  </p:stCondLst>
                                  <p:childTnLst>
                                    <p:set>
                                      <p:cBhvr>
                                        <p:cTn id="8" dur="1" fill="hold">
                                          <p:stCondLst>
                                            <p:cond delay="0"/>
                                          </p:stCondLst>
                                        </p:cTn>
                                        <p:tgtEl>
                                          <p:spTgt spid="4"/>
                                        </p:tgtEl>
                                        <p:attrNameLst>
                                          <p:attrName>style.visibility</p:attrName>
                                        </p:attrNameLst>
                                      </p:cBhvr>
                                      <p:to>
                                        <p:strVal val="visible"/>
                                      </p:to>
                                    </p:set>
                                    <p:anim calcmode="lin" valueType="num">
                                      <p:cBhvr additive="base">
                                        <p:cTn id="9" dur="600" fill="hold"/>
                                        <p:tgtEl>
                                          <p:spTgt spid="4"/>
                                        </p:tgtEl>
                                        <p:attrNameLst>
                                          <p:attrName>ppt_w</p:attrName>
                                        </p:attrNameLst>
                                      </p:cBhvr>
                                      <p:tavLst>
                                        <p:tav tm="0">
                                          <p:val>
                                            <p:strVal val="0.7*#ppt_w"/>
                                          </p:val>
                                        </p:tav>
                                        <p:tav tm="100000">
                                          <p:val>
                                            <p:strVal val="#ppt_w"/>
                                          </p:val>
                                        </p:tav>
                                      </p:tavLst>
                                    </p:anim>
                                    <p:anim calcmode="lin" valueType="num">
                                      <p:cBhvr additive="base">
                                        <p:cTn id="10" dur="600" fill="hold"/>
                                        <p:tgtEl>
                                          <p:spTgt spid="4"/>
                                        </p:tgtEl>
                                        <p:attrNameLst>
                                          <p:attrName>ppt_h</p:attrName>
                                        </p:attrNameLst>
                                      </p:cBhvr>
                                      <p:tavLst>
                                        <p:tav tm="0">
                                          <p:val>
                                            <p:strVal val="0.7*#ppt_h"/>
                                          </p:val>
                                        </p:tav>
                                        <p:tav tm="100000">
                                          <p:val>
                                            <p:strVal val="#ppt_h"/>
                                          </p:val>
                                        </p:tav>
                                      </p:tavLst>
                                    </p:anim>
                                    <p:animEffect transition="in" filter="fade">
                                      <p:cBhvr>
                                        <p:cTn id="11" dur="600"/>
                                        <p:tgtEl>
                                          <p:spTgt spid="4"/>
                                        </p:tgtEl>
                                      </p:cBhvr>
                                    </p:animEffect>
                                  </p:childTnLst>
                                </p:cTn>
                              </p:par>
                              <p:par>
                                <p:cTn id="15" presetID="10" presetClass="entr" presetSubtype="0" fill="hold" grpId="0" nodeType="withEffect">
                                  <p:stCondLst>
                                    <p:cond delay="36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700"/>
                                        <p:tgtEl>
                                          <p:spTgt spid="5"/>
                                        </p:tgtEl>
                                      </p:cBhvr>
                                    </p:animEffect>
                                  </p:childTnLst>
                                </p:cTn>
                              </p:par>
                              <p:par>
                                <p:cTn id="18" presetID="22" presetClass="entr" presetSubtype="8" fill="hold" grpId="0" nodeType="withEffect">
                                  <p:stCondLst>
                                    <p:cond delay="72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Graphic spid="6" grpId="0">
        <p:bldAsOne/>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424160" cy="777240"/>
          </a:xfrm>
          <a:prstGeom prst="rect">
            <a:avLst/>
          </a:prstGeom>
          <a:noFill/>
          <a:ln/>
        </p:spPr>
        <p:txBody>
          <a:bodyPr wrap="square" lIns="0" tIns="0" rIns="0" bIns="0" rtlCol="0" anchor="ctr"/>
          <a:lstStyle/>
          <a:p>
            <a:pPr algn="l" indent="0" marL="0">
              <a:buNone/>
            </a:pPr>
            <a:r>
              <a:rPr lang="en-US" sz="3200" b="1" dirty="0">
                <a:solidFill>
                  <a:schemeClr val="tx2"/>
                </a:solidFill>
              </a:rPr>
              <a:t>Run it in four steps</a:t>
            </a:r>
            <a:endParaRPr lang="en-US" sz="3200" dirty="0"/>
          </a:p>
        </p:txBody>
      </p:sp>
      <p:sp>
        <p:nvSpPr>
          <p:cNvPr id="3" name="A01-rise-rn0"/>
          <p:cNvSpPr/>
          <p:nvPr/>
        </p:nvSpPr>
        <p:spPr>
          <a:xfrm>
            <a:off x="548640" y="1554480"/>
            <a:ext cx="685800" cy="685800"/>
          </a:xfrm>
          <a:prstGeom prst="ellipse">
            <a:avLst/>
          </a:prstGeom>
          <a:solidFill>
            <a:schemeClr val="accent1"/>
          </a:solidFill>
          <a:ln w="12700">
            <a:solidFill>
              <a:srgbClr val="FFFFFF"/>
            </a:solidFill>
            <a:prstDash val="solid"/>
          </a:ln>
        </p:spPr>
      </p:sp>
      <p:sp>
        <p:nvSpPr>
          <p:cNvPr id="4" name="A01-rise-rnt0"/>
          <p:cNvSpPr txBox="1"/>
          <p:nvPr/>
        </p:nvSpPr>
        <p:spPr>
          <a:xfrm>
            <a:off x="548640" y="155448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5" name="A01-rise-rh0"/>
          <p:cNvSpPr txBox="1"/>
          <p:nvPr/>
        </p:nvSpPr>
        <p:spPr>
          <a:xfrm>
            <a:off x="1463040" y="1536192"/>
            <a:ext cx="3840480" cy="777240"/>
          </a:xfrm>
          <a:prstGeom prst="rect">
            <a:avLst/>
          </a:prstGeom>
          <a:noFill/>
          <a:ln/>
        </p:spPr>
        <p:txBody>
          <a:bodyPr wrap="square" lIns="0" tIns="0" rIns="0" bIns="0" rtlCol="0" anchor="t"/>
          <a:lstStyle/>
          <a:p>
            <a:pPr indent="0" marL="0">
              <a:buNone/>
            </a:pPr>
            <a:r>
              <a:rPr lang="en-US" sz="1800" b="1" dirty="0">
                <a:solidFill>
                  <a:schemeClr val="tx2"/>
                </a:solidFill>
              </a:rPr>
              <a:t>Connect SQL Server</a:t>
            </a:r>
            <a:endParaRPr lang="en-US" sz="1400" dirty="0"/>
          </a:p>
          <a:p>
            <a:pPr indent="0" marL="0">
              <a:buNone/>
            </a:pPr>
            <a:r>
              <a:rPr lang="en-US" sz="1300" dirty="0">
                <a:solidFill>
                  <a:srgbClr val="475569"/>
                </a:solidFill>
              </a:rPr>
              <a:t>appsettings.json is already set</a:t>
            </a:r>
            <a:endParaRPr lang="en-US" sz="1400" dirty="0"/>
          </a:p>
        </p:txBody>
      </p:sp>
      <p:sp>
        <p:nvSpPr>
          <p:cNvPr id="6" name="A01-rise-rc0"/>
          <p:cNvSpPr/>
          <p:nvPr/>
        </p:nvSpPr>
        <p:spPr>
          <a:xfrm>
            <a:off x="5577840" y="1572768"/>
            <a:ext cx="6062472" cy="658368"/>
          </a:xfrm>
          <a:prstGeom prst="roundRect">
            <a:avLst>
              <a:gd name="adj" fmla="val 13889"/>
            </a:avLst>
          </a:prstGeom>
          <a:solidFill>
            <a:srgbClr val="0A2540"/>
          </a:solidFill>
          <a:ln w="12700">
            <a:solidFill>
              <a:srgbClr val="0A2540"/>
            </a:solidFill>
            <a:prstDash val="solid"/>
          </a:ln>
        </p:spPr>
      </p:sp>
      <p:sp>
        <p:nvSpPr>
          <p:cNvPr id="7" name="A01-rise-rct0"/>
          <p:cNvSpPr txBox="1"/>
          <p:nvPr/>
        </p:nvSpPr>
        <p:spPr>
          <a:xfrm>
            <a:off x="5806440" y="1572768"/>
            <a:ext cx="5760720" cy="658368"/>
          </a:xfrm>
          <a:prstGeom prst="rect">
            <a:avLst/>
          </a:prstGeom>
          <a:noFill/>
          <a:ln/>
        </p:spPr>
        <p:txBody>
          <a:bodyPr wrap="square" lIns="0" tIns="0" rIns="0" bIns="0" rtlCol="0" anchor="ctr"/>
          <a:lstStyle/>
          <a:p>
            <a:pPr indent="0" marL="0">
              <a:buNone/>
            </a:pPr>
            <a:r>
              <a:rPr lang="en-US" sz="1500" dirty="0">
                <a:solidFill>
                  <a:srgbClr val="7DD3FC"/>
                </a:solidFill>
                <a:latin typeface="Courier New" pitchFamily="34" charset="0"/>
                <a:ea typeface="Courier New" pitchFamily="34" charset="-122"/>
                <a:cs typeface="Courier New" pitchFamily="34" charset="-120"/>
              </a:rPr>
              <a:t>Server "."  ·  login sa  ·  password aptech</a:t>
            </a:r>
            <a:endParaRPr lang="en-US" sz="1500" dirty="0"/>
          </a:p>
        </p:txBody>
      </p:sp>
      <p:sp>
        <p:nvSpPr>
          <p:cNvPr id="8" name="A02-rise-rn1"/>
          <p:cNvSpPr/>
          <p:nvPr/>
        </p:nvSpPr>
        <p:spPr>
          <a:xfrm>
            <a:off x="548640" y="2724912"/>
            <a:ext cx="685800" cy="685800"/>
          </a:xfrm>
          <a:prstGeom prst="ellipse">
            <a:avLst/>
          </a:prstGeom>
          <a:solidFill>
            <a:schemeClr val="accent1"/>
          </a:solidFill>
          <a:ln w="12700">
            <a:solidFill>
              <a:srgbClr val="FFFFFF"/>
            </a:solidFill>
            <a:prstDash val="solid"/>
          </a:ln>
        </p:spPr>
      </p:sp>
      <p:sp>
        <p:nvSpPr>
          <p:cNvPr id="9" name="A02-rise-rnt1"/>
          <p:cNvSpPr txBox="1"/>
          <p:nvPr/>
        </p:nvSpPr>
        <p:spPr>
          <a:xfrm>
            <a:off x="548640" y="2724912"/>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0" name="A02-rise-rh1"/>
          <p:cNvSpPr txBox="1"/>
          <p:nvPr/>
        </p:nvSpPr>
        <p:spPr>
          <a:xfrm>
            <a:off x="1463040" y="2706624"/>
            <a:ext cx="3840480" cy="777240"/>
          </a:xfrm>
          <a:prstGeom prst="rect">
            <a:avLst/>
          </a:prstGeom>
          <a:noFill/>
          <a:ln/>
        </p:spPr>
        <p:txBody>
          <a:bodyPr wrap="square" lIns="0" tIns="0" rIns="0" bIns="0" rtlCol="0" anchor="t"/>
          <a:lstStyle/>
          <a:p>
            <a:pPr indent="0" marL="0">
              <a:buNone/>
            </a:pPr>
            <a:r>
              <a:rPr lang="en-US" sz="1800" b="1" dirty="0">
                <a:solidFill>
                  <a:schemeClr val="tx2"/>
                </a:solidFill>
              </a:rPr>
              <a:t>Create the database</a:t>
            </a:r>
            <a:endParaRPr lang="en-US" sz="1400" dirty="0"/>
          </a:p>
          <a:p>
            <a:pPr indent="0" marL="0">
              <a:buNone/>
            </a:pPr>
            <a:r>
              <a:rPr lang="en-US" sz="1300" dirty="0">
                <a:solidFill>
                  <a:srgbClr val="475569"/>
                </a:solidFill>
              </a:rPr>
              <a:t>19 tables, plans and discounts</a:t>
            </a:r>
            <a:endParaRPr lang="en-US" sz="1400" dirty="0"/>
          </a:p>
        </p:txBody>
      </p:sp>
      <p:sp>
        <p:nvSpPr>
          <p:cNvPr id="11" name="A02-rise-rc1"/>
          <p:cNvSpPr/>
          <p:nvPr/>
        </p:nvSpPr>
        <p:spPr>
          <a:xfrm>
            <a:off x="5577840" y="2743200"/>
            <a:ext cx="6062472" cy="658368"/>
          </a:xfrm>
          <a:prstGeom prst="roundRect">
            <a:avLst>
              <a:gd name="adj" fmla="val 13889"/>
            </a:avLst>
          </a:prstGeom>
          <a:solidFill>
            <a:srgbClr val="0A2540"/>
          </a:solidFill>
          <a:ln w="12700">
            <a:solidFill>
              <a:srgbClr val="0A2540"/>
            </a:solidFill>
            <a:prstDash val="solid"/>
          </a:ln>
        </p:spPr>
      </p:sp>
      <p:sp>
        <p:nvSpPr>
          <p:cNvPr id="12" name="A02-rise-rct1"/>
          <p:cNvSpPr txBox="1"/>
          <p:nvPr/>
        </p:nvSpPr>
        <p:spPr>
          <a:xfrm>
            <a:off x="5806440" y="2743200"/>
            <a:ext cx="5760720" cy="658368"/>
          </a:xfrm>
          <a:prstGeom prst="rect">
            <a:avLst/>
          </a:prstGeom>
          <a:noFill/>
          <a:ln/>
        </p:spPr>
        <p:txBody>
          <a:bodyPr wrap="square" lIns="0" tIns="0" rIns="0" bIns="0" rtlCol="0" anchor="ctr"/>
          <a:lstStyle/>
          <a:p>
            <a:pPr indent="0" marL="0">
              <a:buNone/>
            </a:pPr>
            <a:r>
              <a:rPr lang="en-US" sz="1500" dirty="0">
                <a:solidFill>
                  <a:srgbClr val="7DD3FC"/>
                </a:solidFill>
                <a:latin typeface="Courier New" pitchFamily="34" charset="0"/>
                <a:ea typeface="Courier New" pitchFamily="34" charset="-122"/>
                <a:cs typeface="Courier New" pitchFamily="34" charset="-120"/>
              </a:rPr>
              <a:t>dotnet ef database update</a:t>
            </a:r>
            <a:endParaRPr lang="en-US" sz="1500" dirty="0"/>
          </a:p>
        </p:txBody>
      </p:sp>
      <p:sp>
        <p:nvSpPr>
          <p:cNvPr id="13" name="A03-rise-rn2"/>
          <p:cNvSpPr/>
          <p:nvPr/>
        </p:nvSpPr>
        <p:spPr>
          <a:xfrm>
            <a:off x="548640" y="3895344"/>
            <a:ext cx="685800" cy="685800"/>
          </a:xfrm>
          <a:prstGeom prst="ellipse">
            <a:avLst/>
          </a:prstGeom>
          <a:solidFill>
            <a:schemeClr val="accent1"/>
          </a:solidFill>
          <a:ln w="12700">
            <a:solidFill>
              <a:srgbClr val="FFFFFF"/>
            </a:solidFill>
            <a:prstDash val="solid"/>
          </a:ln>
        </p:spPr>
      </p:sp>
      <p:sp>
        <p:nvSpPr>
          <p:cNvPr id="14" name="A03-rise-rnt2"/>
          <p:cNvSpPr txBox="1"/>
          <p:nvPr/>
        </p:nvSpPr>
        <p:spPr>
          <a:xfrm>
            <a:off x="548640" y="3895344"/>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5" name="A03-rise-rh2"/>
          <p:cNvSpPr txBox="1"/>
          <p:nvPr/>
        </p:nvSpPr>
        <p:spPr>
          <a:xfrm>
            <a:off x="1463040" y="3877056"/>
            <a:ext cx="3840480" cy="777240"/>
          </a:xfrm>
          <a:prstGeom prst="rect">
            <a:avLst/>
          </a:prstGeom>
          <a:noFill/>
          <a:ln/>
        </p:spPr>
        <p:txBody>
          <a:bodyPr wrap="square" lIns="0" tIns="0" rIns="0" bIns="0" rtlCol="0" anchor="t"/>
          <a:lstStyle/>
          <a:p>
            <a:pPr indent="0" marL="0">
              <a:buNone/>
            </a:pPr>
            <a:r>
              <a:rPr lang="en-US" sz="1800" b="1" dirty="0">
                <a:solidFill>
                  <a:schemeClr val="tx2"/>
                </a:solidFill>
              </a:rPr>
              <a:t>Start the website</a:t>
            </a:r>
            <a:endParaRPr lang="en-US" sz="1400" dirty="0"/>
          </a:p>
          <a:p>
            <a:pPr indent="0" marL="0">
              <a:buNone/>
            </a:pPr>
            <a:r>
              <a:rPr lang="en-US" sz="1300" dirty="0">
                <a:solidFill>
                  <a:srgbClr val="475569"/>
                </a:solidFill>
              </a:rPr>
              <a:t>or F5 in Visual Studio</a:t>
            </a:r>
            <a:endParaRPr lang="en-US" sz="1400" dirty="0"/>
          </a:p>
        </p:txBody>
      </p:sp>
      <p:sp>
        <p:nvSpPr>
          <p:cNvPr id="16" name="A03-rise-rc2"/>
          <p:cNvSpPr/>
          <p:nvPr/>
        </p:nvSpPr>
        <p:spPr>
          <a:xfrm>
            <a:off x="5577840" y="3913632"/>
            <a:ext cx="6062472" cy="658368"/>
          </a:xfrm>
          <a:prstGeom prst="roundRect">
            <a:avLst>
              <a:gd name="adj" fmla="val 13889"/>
            </a:avLst>
          </a:prstGeom>
          <a:solidFill>
            <a:srgbClr val="0A2540"/>
          </a:solidFill>
          <a:ln w="12700">
            <a:solidFill>
              <a:srgbClr val="0A2540"/>
            </a:solidFill>
            <a:prstDash val="solid"/>
          </a:ln>
        </p:spPr>
      </p:sp>
      <p:sp>
        <p:nvSpPr>
          <p:cNvPr id="17" name="A03-rise-rct2"/>
          <p:cNvSpPr txBox="1"/>
          <p:nvPr/>
        </p:nvSpPr>
        <p:spPr>
          <a:xfrm>
            <a:off x="5806440" y="3913632"/>
            <a:ext cx="5760720" cy="658368"/>
          </a:xfrm>
          <a:prstGeom prst="rect">
            <a:avLst/>
          </a:prstGeom>
          <a:noFill/>
          <a:ln/>
        </p:spPr>
        <p:txBody>
          <a:bodyPr wrap="square" lIns="0" tIns="0" rIns="0" bIns="0" rtlCol="0" anchor="ctr"/>
          <a:lstStyle/>
          <a:p>
            <a:pPr indent="0" marL="0">
              <a:buNone/>
            </a:pPr>
            <a:r>
              <a:rPr lang="en-US" sz="1500" dirty="0">
                <a:solidFill>
                  <a:srgbClr val="7DD3FC"/>
                </a:solidFill>
                <a:latin typeface="Courier New" pitchFamily="34" charset="0"/>
                <a:ea typeface="Courier New" pitchFamily="34" charset="-122"/>
                <a:cs typeface="Courier New" pitchFamily="34" charset="-120"/>
              </a:rPr>
              <a:t>dotnet run</a:t>
            </a:r>
            <a:endParaRPr lang="en-US" sz="1500" dirty="0"/>
          </a:p>
        </p:txBody>
      </p:sp>
      <p:sp>
        <p:nvSpPr>
          <p:cNvPr id="18" name="A04-rise-rn3"/>
          <p:cNvSpPr/>
          <p:nvPr/>
        </p:nvSpPr>
        <p:spPr>
          <a:xfrm>
            <a:off x="548640" y="5065776"/>
            <a:ext cx="685800" cy="685800"/>
          </a:xfrm>
          <a:prstGeom prst="ellipse">
            <a:avLst/>
          </a:prstGeom>
          <a:solidFill>
            <a:schemeClr val="accent2"/>
          </a:solidFill>
          <a:ln w="12700">
            <a:solidFill>
              <a:srgbClr val="FFFFFF"/>
            </a:solidFill>
            <a:prstDash val="solid"/>
          </a:ln>
        </p:spPr>
      </p:sp>
      <p:sp>
        <p:nvSpPr>
          <p:cNvPr id="19" name="A04-rise-rnt3"/>
          <p:cNvSpPr txBox="1"/>
          <p:nvPr/>
        </p:nvSpPr>
        <p:spPr>
          <a:xfrm>
            <a:off x="548640" y="5065776"/>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20" name="A04-rise-rh3"/>
          <p:cNvSpPr txBox="1"/>
          <p:nvPr/>
        </p:nvSpPr>
        <p:spPr>
          <a:xfrm>
            <a:off x="1463040" y="5047488"/>
            <a:ext cx="3840480" cy="777240"/>
          </a:xfrm>
          <a:prstGeom prst="rect">
            <a:avLst/>
          </a:prstGeom>
          <a:noFill/>
          <a:ln/>
        </p:spPr>
        <p:txBody>
          <a:bodyPr wrap="square" lIns="0" tIns="0" rIns="0" bIns="0" rtlCol="0" anchor="t"/>
          <a:lstStyle/>
          <a:p>
            <a:pPr indent="0" marL="0">
              <a:buNone/>
            </a:pPr>
            <a:r>
              <a:rPr lang="en-US" sz="1800" b="1" dirty="0">
                <a:solidFill>
                  <a:schemeClr val="tx2"/>
                </a:solidFill>
              </a:rPr>
              <a:t>Open Chrome</a:t>
            </a:r>
            <a:endParaRPr lang="en-US" sz="1400" dirty="0"/>
          </a:p>
          <a:p>
            <a:pPr indent="0" marL="0">
              <a:buNone/>
            </a:pPr>
            <a:r>
              <a:rPr lang="en-US" sz="1300" dirty="0">
                <a:solidFill>
                  <a:srgbClr val="475569"/>
                </a:solidFill>
              </a:rPr>
              <a:t>login admin / Admin@123</a:t>
            </a:r>
            <a:endParaRPr lang="en-US" sz="1400" dirty="0"/>
          </a:p>
        </p:txBody>
      </p:sp>
      <p:sp>
        <p:nvSpPr>
          <p:cNvPr id="21" name="A04-rise-rc3"/>
          <p:cNvSpPr/>
          <p:nvPr/>
        </p:nvSpPr>
        <p:spPr>
          <a:xfrm>
            <a:off x="5577840" y="5084064"/>
            <a:ext cx="6062472" cy="658368"/>
          </a:xfrm>
          <a:prstGeom prst="roundRect">
            <a:avLst>
              <a:gd name="adj" fmla="val 13889"/>
            </a:avLst>
          </a:prstGeom>
          <a:solidFill>
            <a:srgbClr val="0A2540"/>
          </a:solidFill>
          <a:ln w="12700">
            <a:solidFill>
              <a:srgbClr val="0A2540"/>
            </a:solidFill>
            <a:prstDash val="solid"/>
          </a:ln>
        </p:spPr>
      </p:sp>
      <p:sp>
        <p:nvSpPr>
          <p:cNvPr id="22" name="A04-rise-rct3"/>
          <p:cNvSpPr txBox="1"/>
          <p:nvPr/>
        </p:nvSpPr>
        <p:spPr>
          <a:xfrm>
            <a:off x="5806440" y="5084064"/>
            <a:ext cx="5760720" cy="658368"/>
          </a:xfrm>
          <a:prstGeom prst="rect">
            <a:avLst/>
          </a:prstGeom>
          <a:noFill/>
          <a:ln/>
        </p:spPr>
        <p:txBody>
          <a:bodyPr wrap="square" lIns="0" tIns="0" rIns="0" bIns="0" rtlCol="0" anchor="ctr"/>
          <a:lstStyle/>
          <a:p>
            <a:pPr indent="0" marL="0">
              <a:buNone/>
            </a:pPr>
            <a:r>
              <a:rPr lang="en-US" sz="1500" dirty="0">
                <a:solidFill>
                  <a:srgbClr val="7DD3FC"/>
                </a:solidFill>
                <a:latin typeface="Courier New" pitchFamily="34" charset="0"/>
                <a:ea typeface="Courier New" pitchFamily="34" charset="-122"/>
                <a:cs typeface="Courier New" pitchFamily="34" charset="-120"/>
              </a:rPr>
              <a:t>http://localhost:5294</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14</a:t>
            </a:fld>
            <a:endParaRPr lang="en-US"/>
          </a:p>
        </p:txBody>
      </p:sp>
    </p:spTree>
  </p:cSld>
  <p:clrMapOvr>
    <a:masterClrMapping/>
  </p:clrMapOvr>
  <p:transition spd="med">
    <p:wipe dir="d"/>
  </p:transition>
  <p:timing>
    <p:tnLst>
      <p:par>
        <p:cTn id="1" dur="indefinite" restart="never" nodeType="tmRoot">
          <p:childTnLst>
            <p:seq concurrent="1" nextAc="seek">
              <p:cTn id="2" dur="indefinite" nodeType="mainSeq">
                <p:childTnLst>
                  <p:par>
                    <p:cTn id="104" fill="hold">
                      <p:stCondLst>
                        <p:cond delay="indefinite"/>
                        <p:cond evt="onBegin" delay="0">
                          <p:tn val="2"/>
                        </p:cond>
                      </p:stCondLst>
                      <p:childTnLst>
                        <p:par>
                          <p:cTn id="103"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600"/>
                                        <p:tgtEl>
                                          <p:spTgt spid="3"/>
                                        </p:tgtEl>
                                      </p:cBhvr>
                                    </p:animEffect>
                                    <p:anim calcmode="lin" valueType="num">
                                      <p:cBhvr additive="base">
                                        <p:cTn id="5" dur="600" fill="hold"/>
                                        <p:tgtEl>
                                          <p:spTgt spid="3"/>
                                        </p:tgtEl>
                                        <p:attrNameLst>
                                          <p:attrName>ppt_x</p:attrName>
                                        </p:attrNameLst>
                                      </p:cBhvr>
                                      <p:tavLst>
                                        <p:tav tm="0">
                                          <p:val>
                                            <p:strVal val="#ppt_x"/>
                                          </p:val>
                                        </p:tav>
                                        <p:tav tm="100000">
                                          <p:val>
                                            <p:strVal val="#ppt_x"/>
                                          </p:val>
                                        </p:tav>
                                      </p:tavLst>
                                    </p:anim>
                                    <p:anim calcmode="lin" valueType="num">
                                      <p:cBhvr additive="base">
                                        <p:cTn id="6" dur="600" fill="hold"/>
                                        <p:tgtEl>
                                          <p:spTgt spid="3"/>
                                        </p:tgtEl>
                                        <p:attrNameLst>
                                          <p:attrName>ppt_y</p:attrName>
                                        </p:attrNameLst>
                                      </p:cBhvr>
                                      <p:tavLst>
                                        <p:tav tm="0">
                                          <p:val>
                                            <p:strVal val="#ppt_y+0.08"/>
                                          </p:val>
                                        </p:tav>
                                        <p:tav tm="100000">
                                          <p:val>
                                            <p:strVal val="#ppt_y"/>
                                          </p:val>
                                        </p:tav>
                                      </p:tavLst>
                                    </p:anim>
                                  </p:childTnLst>
                                </p:cTn>
                              </p:par>
                              <p:par>
                                <p:cTn id="12" presetID="42" presetClass="entr" presetSubtype="0" fill="hold" grpId="0" nodeType="withEffect">
                                  <p:stCondLst>
                                    <p:cond delay="7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anim calcmode="lin" valueType="num">
                                      <p:cBhvr additive="base">
                                        <p:cTn id="10" dur="600" fill="hold"/>
                                        <p:tgtEl>
                                          <p:spTgt spid="4"/>
                                        </p:tgtEl>
                                        <p:attrNameLst>
                                          <p:attrName>ppt_x</p:attrName>
                                        </p:attrNameLst>
                                      </p:cBhvr>
                                      <p:tavLst>
                                        <p:tav tm="0">
                                          <p:val>
                                            <p:strVal val="#ppt_x"/>
                                          </p:val>
                                        </p:tav>
                                        <p:tav tm="100000">
                                          <p:val>
                                            <p:strVal val="#ppt_x"/>
                                          </p:val>
                                        </p:tav>
                                      </p:tavLst>
                                    </p:anim>
                                    <p:anim calcmode="lin" valueType="num">
                                      <p:cBhvr additive="base">
                                        <p:cTn id="11" dur="600" fill="hold"/>
                                        <p:tgtEl>
                                          <p:spTgt spid="4"/>
                                        </p:tgtEl>
                                        <p:attrNameLst>
                                          <p:attrName>ppt_y</p:attrName>
                                        </p:attrNameLst>
                                      </p:cBhvr>
                                      <p:tavLst>
                                        <p:tav tm="0">
                                          <p:val>
                                            <p:strVal val="#ppt_y+0.08"/>
                                          </p:val>
                                        </p:tav>
                                        <p:tav tm="100000">
                                          <p:val>
                                            <p:strVal val="#ppt_y"/>
                                          </p:val>
                                        </p:tav>
                                      </p:tavLst>
                                    </p:anim>
                                  </p:childTnLst>
                                </p:cTn>
                              </p:par>
                              <p:par>
                                <p:cTn id="17" presetID="42" presetClass="entr" presetSubtype="0" fill="hold" grpId="0" nodeType="withEffect">
                                  <p:stCondLst>
                                    <p:cond delay="14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600"/>
                                        <p:tgtEl>
                                          <p:spTgt spid="5"/>
                                        </p:tgtEl>
                                      </p:cBhvr>
                                    </p:animEffect>
                                    <p:anim calcmode="lin" valueType="num">
                                      <p:cBhvr additive="base">
                                        <p:cTn id="15" dur="600" fill="hold"/>
                                        <p:tgtEl>
                                          <p:spTgt spid="5"/>
                                        </p:tgtEl>
                                        <p:attrNameLst>
                                          <p:attrName>ppt_x</p:attrName>
                                        </p:attrNameLst>
                                      </p:cBhvr>
                                      <p:tavLst>
                                        <p:tav tm="0">
                                          <p:val>
                                            <p:strVal val="#ppt_x"/>
                                          </p:val>
                                        </p:tav>
                                        <p:tav tm="100000">
                                          <p:val>
                                            <p:strVal val="#ppt_x"/>
                                          </p:val>
                                        </p:tav>
                                      </p:tavLst>
                                    </p:anim>
                                    <p:anim calcmode="lin" valueType="num">
                                      <p:cBhvr additive="base">
                                        <p:cTn id="16" dur="600" fill="hold"/>
                                        <p:tgtEl>
                                          <p:spTgt spid="5"/>
                                        </p:tgtEl>
                                        <p:attrNameLst>
                                          <p:attrName>ppt_y</p:attrName>
                                        </p:attrNameLst>
                                      </p:cBhvr>
                                      <p:tavLst>
                                        <p:tav tm="0">
                                          <p:val>
                                            <p:strVal val="#ppt_y+0.08"/>
                                          </p:val>
                                        </p:tav>
                                        <p:tav tm="100000">
                                          <p:val>
                                            <p:strVal val="#ppt_y"/>
                                          </p:val>
                                        </p:tav>
                                      </p:tavLst>
                                    </p:anim>
                                  </p:childTnLst>
                                </p:cTn>
                              </p:par>
                              <p:par>
                                <p:cTn id="22" presetID="42" presetClass="entr" presetSubtype="0" fill="hold" grpId="0" nodeType="withEffect">
                                  <p:stCondLst>
                                    <p:cond delay="21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600"/>
                                        <p:tgtEl>
                                          <p:spTgt spid="6"/>
                                        </p:tgtEl>
                                      </p:cBhvr>
                                    </p:animEffect>
                                    <p:anim calcmode="lin" valueType="num">
                                      <p:cBhvr additive="base">
                                        <p:cTn id="20" dur="600" fill="hold"/>
                                        <p:tgtEl>
                                          <p:spTgt spid="6"/>
                                        </p:tgtEl>
                                        <p:attrNameLst>
                                          <p:attrName>ppt_x</p:attrName>
                                        </p:attrNameLst>
                                      </p:cBhvr>
                                      <p:tavLst>
                                        <p:tav tm="0">
                                          <p:val>
                                            <p:strVal val="#ppt_x"/>
                                          </p:val>
                                        </p:tav>
                                        <p:tav tm="100000">
                                          <p:val>
                                            <p:strVal val="#ppt_x"/>
                                          </p:val>
                                        </p:tav>
                                      </p:tavLst>
                                    </p:anim>
                                    <p:anim calcmode="lin" valueType="num">
                                      <p:cBhvr additive="base">
                                        <p:cTn id="21" dur="600" fill="hold"/>
                                        <p:tgtEl>
                                          <p:spTgt spid="6"/>
                                        </p:tgtEl>
                                        <p:attrNameLst>
                                          <p:attrName>ppt_y</p:attrName>
                                        </p:attrNameLst>
                                      </p:cBhvr>
                                      <p:tavLst>
                                        <p:tav tm="0">
                                          <p:val>
                                            <p:strVal val="#ppt_y+0.08"/>
                                          </p:val>
                                        </p:tav>
                                        <p:tav tm="100000">
                                          <p:val>
                                            <p:strVal val="#ppt_y"/>
                                          </p:val>
                                        </p:tav>
                                      </p:tavLst>
                                    </p:anim>
                                  </p:childTnLst>
                                </p:cTn>
                              </p:par>
                              <p:par>
                                <p:cTn id="27" presetID="42" presetClass="entr" presetSubtype="0" fill="hold" grpId="0" nodeType="withEffect">
                                  <p:stCondLst>
                                    <p:cond delay="28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600"/>
                                        <p:tgtEl>
                                          <p:spTgt spid="7"/>
                                        </p:tgtEl>
                                      </p:cBhvr>
                                    </p:animEffect>
                                    <p:anim calcmode="lin" valueType="num">
                                      <p:cBhvr additive="base">
                                        <p:cTn id="25" dur="600" fill="hold"/>
                                        <p:tgtEl>
                                          <p:spTgt spid="7"/>
                                        </p:tgtEl>
                                        <p:attrNameLst>
                                          <p:attrName>ppt_x</p:attrName>
                                        </p:attrNameLst>
                                      </p:cBhvr>
                                      <p:tavLst>
                                        <p:tav tm="0">
                                          <p:val>
                                            <p:strVal val="#ppt_x"/>
                                          </p:val>
                                        </p:tav>
                                        <p:tav tm="100000">
                                          <p:val>
                                            <p:strVal val="#ppt_x"/>
                                          </p:val>
                                        </p:tav>
                                      </p:tavLst>
                                    </p:anim>
                                    <p:anim calcmode="lin" valueType="num">
                                      <p:cBhvr additive="base">
                                        <p:cTn id="26" dur="600" fill="hold"/>
                                        <p:tgtEl>
                                          <p:spTgt spid="7"/>
                                        </p:tgtEl>
                                        <p:attrNameLst>
                                          <p:attrName>ppt_y</p:attrName>
                                        </p:attrNameLst>
                                      </p:cBhvr>
                                      <p:tavLst>
                                        <p:tav tm="0">
                                          <p:val>
                                            <p:strVal val="#ppt_y+0.08"/>
                                          </p:val>
                                        </p:tav>
                                        <p:tav tm="100000">
                                          <p:val>
                                            <p:strVal val="#ppt_y"/>
                                          </p:val>
                                        </p:tav>
                                      </p:tavLst>
                                    </p:anim>
                                  </p:childTnLst>
                                </p:cTn>
                              </p:par>
                              <p:par>
                                <p:cTn id="32" presetID="42" presetClass="entr" presetSubtype="0" fill="hold" grpId="0" nodeType="withEffect">
                                  <p:stCondLst>
                                    <p:cond delay="36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600"/>
                                        <p:tgtEl>
                                          <p:spTgt spid="8"/>
                                        </p:tgtEl>
                                      </p:cBhvr>
                                    </p:animEffect>
                                    <p:anim calcmode="lin" valueType="num">
                                      <p:cBhvr additive="base">
                                        <p:cTn id="30" dur="600" fill="hold"/>
                                        <p:tgtEl>
                                          <p:spTgt spid="8"/>
                                        </p:tgtEl>
                                        <p:attrNameLst>
                                          <p:attrName>ppt_x</p:attrName>
                                        </p:attrNameLst>
                                      </p:cBhvr>
                                      <p:tavLst>
                                        <p:tav tm="0">
                                          <p:val>
                                            <p:strVal val="#ppt_x"/>
                                          </p:val>
                                        </p:tav>
                                        <p:tav tm="100000">
                                          <p:val>
                                            <p:strVal val="#ppt_x"/>
                                          </p:val>
                                        </p:tav>
                                      </p:tavLst>
                                    </p:anim>
                                    <p:anim calcmode="lin" valueType="num">
                                      <p:cBhvr additive="base">
                                        <p:cTn id="31" dur="600" fill="hold"/>
                                        <p:tgtEl>
                                          <p:spTgt spid="8"/>
                                        </p:tgtEl>
                                        <p:attrNameLst>
                                          <p:attrName>ppt_y</p:attrName>
                                        </p:attrNameLst>
                                      </p:cBhvr>
                                      <p:tavLst>
                                        <p:tav tm="0">
                                          <p:val>
                                            <p:strVal val="#ppt_y+0.08"/>
                                          </p:val>
                                        </p:tav>
                                        <p:tav tm="100000">
                                          <p:val>
                                            <p:strVal val="#ppt_y"/>
                                          </p:val>
                                        </p:tav>
                                      </p:tavLst>
                                    </p:anim>
                                  </p:childTnLst>
                                </p:cTn>
                              </p:par>
                              <p:par>
                                <p:cTn id="37" presetID="42" presetClass="entr" presetSubtype="0" fill="hold" grpId="0" nodeType="withEffect">
                                  <p:stCondLst>
                                    <p:cond delay="43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600"/>
                                        <p:tgtEl>
                                          <p:spTgt spid="9"/>
                                        </p:tgtEl>
                                      </p:cBhvr>
                                    </p:animEffect>
                                    <p:anim calcmode="lin" valueType="num">
                                      <p:cBhvr additive="base">
                                        <p:cTn id="35" dur="600" fill="hold"/>
                                        <p:tgtEl>
                                          <p:spTgt spid="9"/>
                                        </p:tgtEl>
                                        <p:attrNameLst>
                                          <p:attrName>ppt_x</p:attrName>
                                        </p:attrNameLst>
                                      </p:cBhvr>
                                      <p:tavLst>
                                        <p:tav tm="0">
                                          <p:val>
                                            <p:strVal val="#ppt_x"/>
                                          </p:val>
                                        </p:tav>
                                        <p:tav tm="100000">
                                          <p:val>
                                            <p:strVal val="#ppt_x"/>
                                          </p:val>
                                        </p:tav>
                                      </p:tavLst>
                                    </p:anim>
                                    <p:anim calcmode="lin" valueType="num">
                                      <p:cBhvr additive="base">
                                        <p:cTn id="36" dur="600" fill="hold"/>
                                        <p:tgtEl>
                                          <p:spTgt spid="9"/>
                                        </p:tgtEl>
                                        <p:attrNameLst>
                                          <p:attrName>ppt_y</p:attrName>
                                        </p:attrNameLst>
                                      </p:cBhvr>
                                      <p:tavLst>
                                        <p:tav tm="0">
                                          <p:val>
                                            <p:strVal val="#ppt_y+0.08"/>
                                          </p:val>
                                        </p:tav>
                                        <p:tav tm="100000">
                                          <p:val>
                                            <p:strVal val="#ppt_y"/>
                                          </p:val>
                                        </p:tav>
                                      </p:tavLst>
                                    </p:anim>
                                  </p:childTnLst>
                                </p:cTn>
                              </p:par>
                              <p:par>
                                <p:cTn id="42" presetID="42" presetClass="entr" presetSubtype="0" fill="hold" grpId="0" nodeType="withEffect">
                                  <p:stCondLst>
                                    <p:cond delay="50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600"/>
                                        <p:tgtEl>
                                          <p:spTgt spid="10"/>
                                        </p:tgtEl>
                                      </p:cBhvr>
                                    </p:animEffect>
                                    <p:anim calcmode="lin" valueType="num">
                                      <p:cBhvr additive="base">
                                        <p:cTn id="40" dur="600" fill="hold"/>
                                        <p:tgtEl>
                                          <p:spTgt spid="10"/>
                                        </p:tgtEl>
                                        <p:attrNameLst>
                                          <p:attrName>ppt_x</p:attrName>
                                        </p:attrNameLst>
                                      </p:cBhvr>
                                      <p:tavLst>
                                        <p:tav tm="0">
                                          <p:val>
                                            <p:strVal val="#ppt_x"/>
                                          </p:val>
                                        </p:tav>
                                        <p:tav tm="100000">
                                          <p:val>
                                            <p:strVal val="#ppt_x"/>
                                          </p:val>
                                        </p:tav>
                                      </p:tavLst>
                                    </p:anim>
                                    <p:anim calcmode="lin" valueType="num">
                                      <p:cBhvr additive="base">
                                        <p:cTn id="41" dur="600" fill="hold"/>
                                        <p:tgtEl>
                                          <p:spTgt spid="10"/>
                                        </p:tgtEl>
                                        <p:attrNameLst>
                                          <p:attrName>ppt_y</p:attrName>
                                        </p:attrNameLst>
                                      </p:cBhvr>
                                      <p:tavLst>
                                        <p:tav tm="0">
                                          <p:val>
                                            <p:strVal val="#ppt_y+0.08"/>
                                          </p:val>
                                        </p:tav>
                                        <p:tav tm="100000">
                                          <p:val>
                                            <p:strVal val="#ppt_y"/>
                                          </p:val>
                                        </p:tav>
                                      </p:tavLst>
                                    </p:anim>
                                  </p:childTnLst>
                                </p:cTn>
                              </p:par>
                              <p:par>
                                <p:cTn id="47" presetID="42" presetClass="entr" presetSubtype="0" fill="hold" grpId="0" nodeType="withEffect">
                                  <p:stCondLst>
                                    <p:cond delay="57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600"/>
                                        <p:tgtEl>
                                          <p:spTgt spid="11"/>
                                        </p:tgtEl>
                                      </p:cBhvr>
                                    </p:animEffect>
                                    <p:anim calcmode="lin" valueType="num">
                                      <p:cBhvr additive="base">
                                        <p:cTn id="45" dur="600" fill="hold"/>
                                        <p:tgtEl>
                                          <p:spTgt spid="11"/>
                                        </p:tgtEl>
                                        <p:attrNameLst>
                                          <p:attrName>ppt_x</p:attrName>
                                        </p:attrNameLst>
                                      </p:cBhvr>
                                      <p:tavLst>
                                        <p:tav tm="0">
                                          <p:val>
                                            <p:strVal val="#ppt_x"/>
                                          </p:val>
                                        </p:tav>
                                        <p:tav tm="100000">
                                          <p:val>
                                            <p:strVal val="#ppt_x"/>
                                          </p:val>
                                        </p:tav>
                                      </p:tavLst>
                                    </p:anim>
                                    <p:anim calcmode="lin" valueType="num">
                                      <p:cBhvr additive="base">
                                        <p:cTn id="46" dur="600" fill="hold"/>
                                        <p:tgtEl>
                                          <p:spTgt spid="11"/>
                                        </p:tgtEl>
                                        <p:attrNameLst>
                                          <p:attrName>ppt_y</p:attrName>
                                        </p:attrNameLst>
                                      </p:cBhvr>
                                      <p:tavLst>
                                        <p:tav tm="0">
                                          <p:val>
                                            <p:strVal val="#ppt_y+0.08"/>
                                          </p:val>
                                        </p:tav>
                                        <p:tav tm="100000">
                                          <p:val>
                                            <p:strVal val="#ppt_y"/>
                                          </p:val>
                                        </p:tav>
                                      </p:tavLst>
                                    </p:anim>
                                  </p:childTnLst>
                                </p:cTn>
                              </p:par>
                              <p:par>
                                <p:cTn id="52" presetID="42" presetClass="entr" presetSubtype="0" fill="hold" grpId="0" nodeType="withEffect">
                                  <p:stCondLst>
                                    <p:cond delay="64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600"/>
                                        <p:tgtEl>
                                          <p:spTgt spid="12"/>
                                        </p:tgtEl>
                                      </p:cBhvr>
                                    </p:animEffect>
                                    <p:anim calcmode="lin" valueType="num">
                                      <p:cBhvr additive="base">
                                        <p:cTn id="50" dur="600" fill="hold"/>
                                        <p:tgtEl>
                                          <p:spTgt spid="12"/>
                                        </p:tgtEl>
                                        <p:attrNameLst>
                                          <p:attrName>ppt_x</p:attrName>
                                        </p:attrNameLst>
                                      </p:cBhvr>
                                      <p:tavLst>
                                        <p:tav tm="0">
                                          <p:val>
                                            <p:strVal val="#ppt_x"/>
                                          </p:val>
                                        </p:tav>
                                        <p:tav tm="100000">
                                          <p:val>
                                            <p:strVal val="#ppt_x"/>
                                          </p:val>
                                        </p:tav>
                                      </p:tavLst>
                                    </p:anim>
                                    <p:anim calcmode="lin" valueType="num">
                                      <p:cBhvr additive="base">
                                        <p:cTn id="51" dur="600" fill="hold"/>
                                        <p:tgtEl>
                                          <p:spTgt spid="12"/>
                                        </p:tgtEl>
                                        <p:attrNameLst>
                                          <p:attrName>ppt_y</p:attrName>
                                        </p:attrNameLst>
                                      </p:cBhvr>
                                      <p:tavLst>
                                        <p:tav tm="0">
                                          <p:val>
                                            <p:strVal val="#ppt_y+0.08"/>
                                          </p:val>
                                        </p:tav>
                                        <p:tav tm="100000">
                                          <p:val>
                                            <p:strVal val="#ppt_y"/>
                                          </p:val>
                                        </p:tav>
                                      </p:tavLst>
                                    </p:anim>
                                  </p:childTnLst>
                                </p:cTn>
                              </p:par>
                              <p:par>
                                <p:cTn id="57" presetID="42" presetClass="entr" presetSubtype="0" fill="hold" grpId="0" nodeType="withEffect">
                                  <p:stCondLst>
                                    <p:cond delay="72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600"/>
                                        <p:tgtEl>
                                          <p:spTgt spid="13"/>
                                        </p:tgtEl>
                                      </p:cBhvr>
                                    </p:animEffect>
                                    <p:anim calcmode="lin" valueType="num">
                                      <p:cBhvr additive="base">
                                        <p:cTn id="55" dur="600" fill="hold"/>
                                        <p:tgtEl>
                                          <p:spTgt spid="13"/>
                                        </p:tgtEl>
                                        <p:attrNameLst>
                                          <p:attrName>ppt_x</p:attrName>
                                        </p:attrNameLst>
                                      </p:cBhvr>
                                      <p:tavLst>
                                        <p:tav tm="0">
                                          <p:val>
                                            <p:strVal val="#ppt_x"/>
                                          </p:val>
                                        </p:tav>
                                        <p:tav tm="100000">
                                          <p:val>
                                            <p:strVal val="#ppt_x"/>
                                          </p:val>
                                        </p:tav>
                                      </p:tavLst>
                                    </p:anim>
                                    <p:anim calcmode="lin" valueType="num">
                                      <p:cBhvr additive="base">
                                        <p:cTn id="56" dur="600" fill="hold"/>
                                        <p:tgtEl>
                                          <p:spTgt spid="13"/>
                                        </p:tgtEl>
                                        <p:attrNameLst>
                                          <p:attrName>ppt_y</p:attrName>
                                        </p:attrNameLst>
                                      </p:cBhvr>
                                      <p:tavLst>
                                        <p:tav tm="0">
                                          <p:val>
                                            <p:strVal val="#ppt_y+0.08"/>
                                          </p:val>
                                        </p:tav>
                                        <p:tav tm="100000">
                                          <p:val>
                                            <p:strVal val="#ppt_y"/>
                                          </p:val>
                                        </p:tav>
                                      </p:tavLst>
                                    </p:anim>
                                  </p:childTnLst>
                                </p:cTn>
                              </p:par>
                              <p:par>
                                <p:cTn id="62" presetID="42" presetClass="entr" presetSubtype="0" fill="hold" grpId="0" nodeType="withEffect">
                                  <p:stCondLst>
                                    <p:cond delay="79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600"/>
                                        <p:tgtEl>
                                          <p:spTgt spid="14"/>
                                        </p:tgtEl>
                                      </p:cBhvr>
                                    </p:animEffect>
                                    <p:anim calcmode="lin" valueType="num">
                                      <p:cBhvr additive="base">
                                        <p:cTn id="60" dur="600" fill="hold"/>
                                        <p:tgtEl>
                                          <p:spTgt spid="14"/>
                                        </p:tgtEl>
                                        <p:attrNameLst>
                                          <p:attrName>ppt_x</p:attrName>
                                        </p:attrNameLst>
                                      </p:cBhvr>
                                      <p:tavLst>
                                        <p:tav tm="0">
                                          <p:val>
                                            <p:strVal val="#ppt_x"/>
                                          </p:val>
                                        </p:tav>
                                        <p:tav tm="100000">
                                          <p:val>
                                            <p:strVal val="#ppt_x"/>
                                          </p:val>
                                        </p:tav>
                                      </p:tavLst>
                                    </p:anim>
                                    <p:anim calcmode="lin" valueType="num">
                                      <p:cBhvr additive="base">
                                        <p:cTn id="61" dur="600" fill="hold"/>
                                        <p:tgtEl>
                                          <p:spTgt spid="14"/>
                                        </p:tgtEl>
                                        <p:attrNameLst>
                                          <p:attrName>ppt_y</p:attrName>
                                        </p:attrNameLst>
                                      </p:cBhvr>
                                      <p:tavLst>
                                        <p:tav tm="0">
                                          <p:val>
                                            <p:strVal val="#ppt_y+0.08"/>
                                          </p:val>
                                        </p:tav>
                                        <p:tav tm="100000">
                                          <p:val>
                                            <p:strVal val="#ppt_y"/>
                                          </p:val>
                                        </p:tav>
                                      </p:tavLst>
                                    </p:anim>
                                  </p:childTnLst>
                                </p:cTn>
                              </p:par>
                              <p:par>
                                <p:cTn id="67" presetID="42" presetClass="entr" presetSubtype="0" fill="hold" grpId="0" nodeType="withEffect">
                                  <p:stCondLst>
                                    <p:cond delay="86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600"/>
                                        <p:tgtEl>
                                          <p:spTgt spid="15"/>
                                        </p:tgtEl>
                                      </p:cBhvr>
                                    </p:animEffect>
                                    <p:anim calcmode="lin" valueType="num">
                                      <p:cBhvr additive="base">
                                        <p:cTn id="65" dur="600" fill="hold"/>
                                        <p:tgtEl>
                                          <p:spTgt spid="15"/>
                                        </p:tgtEl>
                                        <p:attrNameLst>
                                          <p:attrName>ppt_x</p:attrName>
                                        </p:attrNameLst>
                                      </p:cBhvr>
                                      <p:tavLst>
                                        <p:tav tm="0">
                                          <p:val>
                                            <p:strVal val="#ppt_x"/>
                                          </p:val>
                                        </p:tav>
                                        <p:tav tm="100000">
                                          <p:val>
                                            <p:strVal val="#ppt_x"/>
                                          </p:val>
                                        </p:tav>
                                      </p:tavLst>
                                    </p:anim>
                                    <p:anim calcmode="lin" valueType="num">
                                      <p:cBhvr additive="base">
                                        <p:cTn id="66" dur="600" fill="hold"/>
                                        <p:tgtEl>
                                          <p:spTgt spid="15"/>
                                        </p:tgtEl>
                                        <p:attrNameLst>
                                          <p:attrName>ppt_y</p:attrName>
                                        </p:attrNameLst>
                                      </p:cBhvr>
                                      <p:tavLst>
                                        <p:tav tm="0">
                                          <p:val>
                                            <p:strVal val="#ppt_y+0.08"/>
                                          </p:val>
                                        </p:tav>
                                        <p:tav tm="100000">
                                          <p:val>
                                            <p:strVal val="#ppt_y"/>
                                          </p:val>
                                        </p:tav>
                                      </p:tavLst>
                                    </p:anim>
                                  </p:childTnLst>
                                </p:cTn>
                              </p:par>
                              <p:par>
                                <p:cTn id="72" presetID="42" presetClass="entr" presetSubtype="0" fill="hold" grpId="0" nodeType="withEffect">
                                  <p:stCondLst>
                                    <p:cond delay="93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600"/>
                                        <p:tgtEl>
                                          <p:spTgt spid="16"/>
                                        </p:tgtEl>
                                      </p:cBhvr>
                                    </p:animEffect>
                                    <p:anim calcmode="lin" valueType="num">
                                      <p:cBhvr additive="base">
                                        <p:cTn id="70" dur="600" fill="hold"/>
                                        <p:tgtEl>
                                          <p:spTgt spid="16"/>
                                        </p:tgtEl>
                                        <p:attrNameLst>
                                          <p:attrName>ppt_x</p:attrName>
                                        </p:attrNameLst>
                                      </p:cBhvr>
                                      <p:tavLst>
                                        <p:tav tm="0">
                                          <p:val>
                                            <p:strVal val="#ppt_x"/>
                                          </p:val>
                                        </p:tav>
                                        <p:tav tm="100000">
                                          <p:val>
                                            <p:strVal val="#ppt_x"/>
                                          </p:val>
                                        </p:tav>
                                      </p:tavLst>
                                    </p:anim>
                                    <p:anim calcmode="lin" valueType="num">
                                      <p:cBhvr additive="base">
                                        <p:cTn id="71" dur="600" fill="hold"/>
                                        <p:tgtEl>
                                          <p:spTgt spid="16"/>
                                        </p:tgtEl>
                                        <p:attrNameLst>
                                          <p:attrName>ppt_y</p:attrName>
                                        </p:attrNameLst>
                                      </p:cBhvr>
                                      <p:tavLst>
                                        <p:tav tm="0">
                                          <p:val>
                                            <p:strVal val="#ppt_y+0.08"/>
                                          </p:val>
                                        </p:tav>
                                        <p:tav tm="100000">
                                          <p:val>
                                            <p:strVal val="#ppt_y"/>
                                          </p:val>
                                        </p:tav>
                                      </p:tavLst>
                                    </p:anim>
                                  </p:childTnLst>
                                </p:cTn>
                              </p:par>
                              <p:par>
                                <p:cTn id="77" presetID="42" presetClass="entr" presetSubtype="0" fill="hold" grpId="0" nodeType="withEffect">
                                  <p:stCondLst>
                                    <p:cond delay="100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600"/>
                                        <p:tgtEl>
                                          <p:spTgt spid="17"/>
                                        </p:tgtEl>
                                      </p:cBhvr>
                                    </p:animEffect>
                                    <p:anim calcmode="lin" valueType="num">
                                      <p:cBhvr additive="base">
                                        <p:cTn id="75" dur="600" fill="hold"/>
                                        <p:tgtEl>
                                          <p:spTgt spid="17"/>
                                        </p:tgtEl>
                                        <p:attrNameLst>
                                          <p:attrName>ppt_x</p:attrName>
                                        </p:attrNameLst>
                                      </p:cBhvr>
                                      <p:tavLst>
                                        <p:tav tm="0">
                                          <p:val>
                                            <p:strVal val="#ppt_x"/>
                                          </p:val>
                                        </p:tav>
                                        <p:tav tm="100000">
                                          <p:val>
                                            <p:strVal val="#ppt_x"/>
                                          </p:val>
                                        </p:tav>
                                      </p:tavLst>
                                    </p:anim>
                                    <p:anim calcmode="lin" valueType="num">
                                      <p:cBhvr additive="base">
                                        <p:cTn id="76" dur="600" fill="hold"/>
                                        <p:tgtEl>
                                          <p:spTgt spid="17"/>
                                        </p:tgtEl>
                                        <p:attrNameLst>
                                          <p:attrName>ppt_y</p:attrName>
                                        </p:attrNameLst>
                                      </p:cBhvr>
                                      <p:tavLst>
                                        <p:tav tm="0">
                                          <p:val>
                                            <p:strVal val="#ppt_y+0.08"/>
                                          </p:val>
                                        </p:tav>
                                        <p:tav tm="100000">
                                          <p:val>
                                            <p:strVal val="#ppt_y"/>
                                          </p:val>
                                        </p:tav>
                                      </p:tavLst>
                                    </p:anim>
                                  </p:childTnLst>
                                </p:cTn>
                              </p:par>
                              <p:par>
                                <p:cTn id="82" presetID="42" presetClass="entr" presetSubtype="0" fill="hold" grpId="0" nodeType="withEffect">
                                  <p:stCondLst>
                                    <p:cond delay="108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600"/>
                                        <p:tgtEl>
                                          <p:spTgt spid="18"/>
                                        </p:tgtEl>
                                      </p:cBhvr>
                                    </p:animEffect>
                                    <p:anim calcmode="lin" valueType="num">
                                      <p:cBhvr additive="base">
                                        <p:cTn id="80" dur="600" fill="hold"/>
                                        <p:tgtEl>
                                          <p:spTgt spid="18"/>
                                        </p:tgtEl>
                                        <p:attrNameLst>
                                          <p:attrName>ppt_x</p:attrName>
                                        </p:attrNameLst>
                                      </p:cBhvr>
                                      <p:tavLst>
                                        <p:tav tm="0">
                                          <p:val>
                                            <p:strVal val="#ppt_x"/>
                                          </p:val>
                                        </p:tav>
                                        <p:tav tm="100000">
                                          <p:val>
                                            <p:strVal val="#ppt_x"/>
                                          </p:val>
                                        </p:tav>
                                      </p:tavLst>
                                    </p:anim>
                                    <p:anim calcmode="lin" valueType="num">
                                      <p:cBhvr additive="base">
                                        <p:cTn id="81" dur="600" fill="hold"/>
                                        <p:tgtEl>
                                          <p:spTgt spid="18"/>
                                        </p:tgtEl>
                                        <p:attrNameLst>
                                          <p:attrName>ppt_y</p:attrName>
                                        </p:attrNameLst>
                                      </p:cBhvr>
                                      <p:tavLst>
                                        <p:tav tm="0">
                                          <p:val>
                                            <p:strVal val="#ppt_y+0.08"/>
                                          </p:val>
                                        </p:tav>
                                        <p:tav tm="100000">
                                          <p:val>
                                            <p:strVal val="#ppt_y"/>
                                          </p:val>
                                        </p:tav>
                                      </p:tavLst>
                                    </p:anim>
                                  </p:childTnLst>
                                </p:cTn>
                              </p:par>
                              <p:par>
                                <p:cTn id="87" presetID="42" presetClass="entr" presetSubtype="0" fill="hold" grpId="0" nodeType="withEffect">
                                  <p:stCondLst>
                                    <p:cond delay="115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600"/>
                                        <p:tgtEl>
                                          <p:spTgt spid="19"/>
                                        </p:tgtEl>
                                      </p:cBhvr>
                                    </p:animEffect>
                                    <p:anim calcmode="lin" valueType="num">
                                      <p:cBhvr additive="base">
                                        <p:cTn id="85" dur="600" fill="hold"/>
                                        <p:tgtEl>
                                          <p:spTgt spid="19"/>
                                        </p:tgtEl>
                                        <p:attrNameLst>
                                          <p:attrName>ppt_x</p:attrName>
                                        </p:attrNameLst>
                                      </p:cBhvr>
                                      <p:tavLst>
                                        <p:tav tm="0">
                                          <p:val>
                                            <p:strVal val="#ppt_x"/>
                                          </p:val>
                                        </p:tav>
                                        <p:tav tm="100000">
                                          <p:val>
                                            <p:strVal val="#ppt_x"/>
                                          </p:val>
                                        </p:tav>
                                      </p:tavLst>
                                    </p:anim>
                                    <p:anim calcmode="lin" valueType="num">
                                      <p:cBhvr additive="base">
                                        <p:cTn id="86" dur="600" fill="hold"/>
                                        <p:tgtEl>
                                          <p:spTgt spid="19"/>
                                        </p:tgtEl>
                                        <p:attrNameLst>
                                          <p:attrName>ppt_y</p:attrName>
                                        </p:attrNameLst>
                                      </p:cBhvr>
                                      <p:tavLst>
                                        <p:tav tm="0">
                                          <p:val>
                                            <p:strVal val="#ppt_y+0.08"/>
                                          </p:val>
                                        </p:tav>
                                        <p:tav tm="100000">
                                          <p:val>
                                            <p:strVal val="#ppt_y"/>
                                          </p:val>
                                        </p:tav>
                                      </p:tavLst>
                                    </p:anim>
                                  </p:childTnLst>
                                </p:cTn>
                              </p:par>
                              <p:par>
                                <p:cTn id="92" presetID="42" presetClass="entr" presetSubtype="0" fill="hold" grpId="0" nodeType="withEffect">
                                  <p:stCondLst>
                                    <p:cond delay="1220"/>
                                  </p:stCondLst>
                                  <p:childTnLst>
                                    <p:set>
                                      <p:cBhvr>
                                        <p:cTn id="88" dur="1" fill="hold">
                                          <p:stCondLst>
                                            <p:cond delay="0"/>
                                          </p:stCondLst>
                                        </p:cTn>
                                        <p:tgtEl>
                                          <p:spTgt spid="20"/>
                                        </p:tgtEl>
                                        <p:attrNameLst>
                                          <p:attrName>style.visibility</p:attrName>
                                        </p:attrNameLst>
                                      </p:cBhvr>
                                      <p:to>
                                        <p:strVal val="visible"/>
                                      </p:to>
                                    </p:set>
                                    <p:animEffect transition="in" filter="fade">
                                      <p:cBhvr>
                                        <p:cTn id="89" dur="600"/>
                                        <p:tgtEl>
                                          <p:spTgt spid="20"/>
                                        </p:tgtEl>
                                      </p:cBhvr>
                                    </p:animEffect>
                                    <p:anim calcmode="lin" valueType="num">
                                      <p:cBhvr additive="base">
                                        <p:cTn id="90" dur="600" fill="hold"/>
                                        <p:tgtEl>
                                          <p:spTgt spid="20"/>
                                        </p:tgtEl>
                                        <p:attrNameLst>
                                          <p:attrName>ppt_x</p:attrName>
                                        </p:attrNameLst>
                                      </p:cBhvr>
                                      <p:tavLst>
                                        <p:tav tm="0">
                                          <p:val>
                                            <p:strVal val="#ppt_x"/>
                                          </p:val>
                                        </p:tav>
                                        <p:tav tm="100000">
                                          <p:val>
                                            <p:strVal val="#ppt_x"/>
                                          </p:val>
                                        </p:tav>
                                      </p:tavLst>
                                    </p:anim>
                                    <p:anim calcmode="lin" valueType="num">
                                      <p:cBhvr additive="base">
                                        <p:cTn id="91" dur="600" fill="hold"/>
                                        <p:tgtEl>
                                          <p:spTgt spid="20"/>
                                        </p:tgtEl>
                                        <p:attrNameLst>
                                          <p:attrName>ppt_y</p:attrName>
                                        </p:attrNameLst>
                                      </p:cBhvr>
                                      <p:tavLst>
                                        <p:tav tm="0">
                                          <p:val>
                                            <p:strVal val="#ppt_y+0.08"/>
                                          </p:val>
                                        </p:tav>
                                        <p:tav tm="100000">
                                          <p:val>
                                            <p:strVal val="#ppt_y"/>
                                          </p:val>
                                        </p:tav>
                                      </p:tavLst>
                                    </p:anim>
                                  </p:childTnLst>
                                </p:cTn>
                              </p:par>
                              <p:par>
                                <p:cTn id="97" presetID="42" presetClass="entr" presetSubtype="0" fill="hold" grpId="0" nodeType="withEffect">
                                  <p:stCondLst>
                                    <p:cond delay="129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600"/>
                                        <p:tgtEl>
                                          <p:spTgt spid="21"/>
                                        </p:tgtEl>
                                      </p:cBhvr>
                                    </p:animEffect>
                                    <p:anim calcmode="lin" valueType="num">
                                      <p:cBhvr additive="base">
                                        <p:cTn id="95" dur="600" fill="hold"/>
                                        <p:tgtEl>
                                          <p:spTgt spid="21"/>
                                        </p:tgtEl>
                                        <p:attrNameLst>
                                          <p:attrName>ppt_x</p:attrName>
                                        </p:attrNameLst>
                                      </p:cBhvr>
                                      <p:tavLst>
                                        <p:tav tm="0">
                                          <p:val>
                                            <p:strVal val="#ppt_x"/>
                                          </p:val>
                                        </p:tav>
                                        <p:tav tm="100000">
                                          <p:val>
                                            <p:strVal val="#ppt_x"/>
                                          </p:val>
                                        </p:tav>
                                      </p:tavLst>
                                    </p:anim>
                                    <p:anim calcmode="lin" valueType="num">
                                      <p:cBhvr additive="base">
                                        <p:cTn id="96" dur="600" fill="hold"/>
                                        <p:tgtEl>
                                          <p:spTgt spid="21"/>
                                        </p:tgtEl>
                                        <p:attrNameLst>
                                          <p:attrName>ppt_y</p:attrName>
                                        </p:attrNameLst>
                                      </p:cBhvr>
                                      <p:tavLst>
                                        <p:tav tm="0">
                                          <p:val>
                                            <p:strVal val="#ppt_y+0.08"/>
                                          </p:val>
                                        </p:tav>
                                        <p:tav tm="100000">
                                          <p:val>
                                            <p:strVal val="#ppt_y"/>
                                          </p:val>
                                        </p:tav>
                                      </p:tavLst>
                                    </p:anim>
                                  </p:childTnLst>
                                </p:cTn>
                              </p:par>
                              <p:par>
                                <p:cTn id="102" presetID="42" presetClass="entr" presetSubtype="0" fill="hold" grpId="0" nodeType="withEffect">
                                  <p:stCondLst>
                                    <p:cond delay="1360"/>
                                  </p:stCondLst>
                                  <p:childTnLst>
                                    <p:set>
                                      <p:cBhvr>
                                        <p:cTn id="98" dur="1" fill="hold">
                                          <p:stCondLst>
                                            <p:cond delay="0"/>
                                          </p:stCondLst>
                                        </p:cTn>
                                        <p:tgtEl>
                                          <p:spTgt spid="22"/>
                                        </p:tgtEl>
                                        <p:attrNameLst>
                                          <p:attrName>style.visibility</p:attrName>
                                        </p:attrNameLst>
                                      </p:cBhvr>
                                      <p:to>
                                        <p:strVal val="visible"/>
                                      </p:to>
                                    </p:set>
                                    <p:animEffect transition="in" filter="fade">
                                      <p:cBhvr>
                                        <p:cTn id="99" dur="600"/>
                                        <p:tgtEl>
                                          <p:spTgt spid="22"/>
                                        </p:tgtEl>
                                      </p:cBhvr>
                                    </p:animEffect>
                                    <p:anim calcmode="lin" valueType="num">
                                      <p:cBhvr additive="base">
                                        <p:cTn id="100" dur="600" fill="hold"/>
                                        <p:tgtEl>
                                          <p:spTgt spid="22"/>
                                        </p:tgtEl>
                                        <p:attrNameLst>
                                          <p:attrName>ppt_x</p:attrName>
                                        </p:attrNameLst>
                                      </p:cBhvr>
                                      <p:tavLst>
                                        <p:tav tm="0">
                                          <p:val>
                                            <p:strVal val="#ppt_x"/>
                                          </p:val>
                                        </p:tav>
                                        <p:tav tm="100000">
                                          <p:val>
                                            <p:strVal val="#ppt_x"/>
                                          </p:val>
                                        </p:tav>
                                      </p:tavLst>
                                    </p:anim>
                                    <p:anim calcmode="lin" valueType="num">
                                      <p:cBhvr additive="base">
                                        <p:cTn id="101" dur="600" fill="hold"/>
                                        <p:tgtEl>
                                          <p:spTgt spid="22"/>
                                        </p:tgtEl>
                                        <p:attrNameLst>
                                          <p:attrName>ppt_y</p:attrName>
                                        </p:attrNameLst>
                                      </p:cBhvr>
                                      <p:tavLst>
                                        <p:tav tm="0">
                                          <p:val>
                                            <p:strVal val="#ppt_y+0.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A01-fade-ck"/>
          <p:cNvSpPr txBox="1"/>
          <p:nvPr/>
        </p:nvSpPr>
        <p:spPr>
          <a:xfrm>
            <a:off x="548640" y="1325880"/>
            <a:ext cx="4572000" cy="365760"/>
          </a:xfrm>
          <a:prstGeom prst="rect">
            <a:avLst/>
          </a:prstGeom>
          <a:noFill/>
          <a:ln/>
        </p:spPr>
        <p:txBody>
          <a:bodyPr wrap="square" lIns="0" tIns="0" rIns="0" bIns="0" rtlCol="0" anchor="t"/>
          <a:lstStyle/>
          <a:p>
            <a:pPr indent="0" marL="0">
              <a:buNone/>
            </a:pPr>
            <a:r>
              <a:rPr lang="en-US" sz="1400" b="1" spc="400" kern="0" dirty="0">
                <a:solidFill>
                  <a:srgbClr val="34D399"/>
                </a:solidFill>
              </a:rPr>
              <a:t>THANK YOU</a:t>
            </a:r>
            <a:endParaRPr lang="en-US" sz="1400" dirty="0"/>
          </a:p>
        </p:txBody>
      </p:sp>
      <p:sp>
        <p:nvSpPr>
          <p:cNvPr id="3" name="Text 0"/>
          <p:cNvSpPr/>
          <p:nvPr>
            <p:ph idx="100" type="title" hasCustomPrompt="1"/>
          </p:nvPr>
        </p:nvSpPr>
        <p:spPr>
          <a:xfrm>
            <a:off x="548640" y="1874520"/>
            <a:ext cx="6035040" cy="1737360"/>
          </a:xfrm>
          <a:prstGeom prst="rect">
            <a:avLst/>
          </a:prstGeom>
          <a:noFill/>
          <a:ln/>
        </p:spPr>
        <p:txBody>
          <a:bodyPr wrap="square" lIns="0" tIns="0" rIns="0" bIns="0" rtlCol="0" anchor="t"/>
          <a:lstStyle/>
          <a:p>
            <a:pPr algn="l" indent="0" marL="0">
              <a:buNone/>
            </a:pPr>
            <a:r>
              <a:rPr lang="en-US" sz="4600" b="1" dirty="0">
                <a:solidFill>
                  <a:schemeClr val="bg1"/>
                </a:solidFill>
              </a:rPr>
              <a:t>Questions?</a:t>
            </a:r>
            <a:endParaRPr lang="en-US" sz="4600" dirty="0"/>
          </a:p>
        </p:txBody>
      </p:sp>
      <p:sp>
        <p:nvSpPr>
          <p:cNvPr id="4" name="Text 0"/>
          <p:cNvSpPr/>
          <p:nvPr>
            <p:ph idx="101" type="body" hasCustomPrompt="1"/>
          </p:nvPr>
        </p:nvSpPr>
        <p:spPr>
          <a:xfrm>
            <a:off x="548640" y="3703320"/>
            <a:ext cx="5486400" cy="914400"/>
          </a:xfrm>
          <a:prstGeom prst="rect">
            <a:avLst/>
          </a:prstGeom>
          <a:noFill/>
          <a:ln/>
        </p:spPr>
        <p:txBody>
          <a:bodyPr wrap="square" lIns="0" tIns="0" rIns="0" bIns="0" rtlCol="0" anchor="t"/>
          <a:lstStyle/>
          <a:p>
            <a:pPr algn="l" indent="0" marL="0">
              <a:buNone/>
            </a:pPr>
            <a:r>
              <a:rPr lang="en-US" sz="1600" dirty="0">
                <a:solidFill>
                  <a:schemeClr val="bg2"/>
                </a:solidFill>
              </a:rPr>
              <a:t>Nexus Service Marketing System - ASP.NET Core 8 MVC · EF Core 8 · SQL Server</a:t>
            </a:r>
            <a:endParaRPr lang="en-US" sz="1600" dirty="0"/>
          </a:p>
        </p:txBody>
      </p:sp>
      <p:sp>
        <p:nvSpPr>
          <p:cNvPr id="5" name="A02-zoom-lg"/>
          <p:cNvSpPr/>
          <p:nvPr/>
        </p:nvSpPr>
        <p:spPr>
          <a:xfrm>
            <a:off x="6720840" y="1920240"/>
            <a:ext cx="4919472" cy="2743200"/>
          </a:xfrm>
          <a:prstGeom prst="roundRect">
            <a:avLst>
              <a:gd name="adj" fmla="val 5000"/>
            </a:avLst>
          </a:prstGeom>
          <a:solidFill>
            <a:srgbClr val="0C3A5C">
              <a:alpha val="85000"/>
            </a:srgbClr>
          </a:solidFill>
          <a:ln w="9525">
            <a:solidFill>
              <a:srgbClr val="38BDF8"/>
            </a:solidFill>
            <a:prstDash val="solid"/>
          </a:ln>
        </p:spPr>
      </p:sp>
      <p:sp>
        <p:nvSpPr>
          <p:cNvPr id="6" name="A02-zoom-lgt"/>
          <p:cNvSpPr txBox="1"/>
          <p:nvPr/>
        </p:nvSpPr>
        <p:spPr>
          <a:xfrm>
            <a:off x="7086600" y="2194560"/>
            <a:ext cx="4389120" cy="2651760"/>
          </a:xfrm>
          <a:prstGeom prst="rect">
            <a:avLst/>
          </a:prstGeom>
          <a:noFill/>
          <a:ln/>
        </p:spPr>
        <p:txBody>
          <a:bodyPr wrap="square" lIns="0" tIns="0" rIns="0" bIns="0" rtlCol="0" anchor="t"/>
          <a:lstStyle/>
          <a:p>
            <a:pPr indent="0" marL="0">
              <a:spcAft>
                <a:spcPts val="1000"/>
              </a:spcAft>
              <a:buNone/>
            </a:pPr>
            <a:r>
              <a:rPr lang="en-US" sz="1300" b="1" spc="300" kern="0" dirty="0">
                <a:solidFill>
                  <a:srgbClr val="7DD3FC"/>
                </a:solidFill>
              </a:rPr>
              <a:t>DEMO LOGINS</a:t>
            </a:r>
            <a:endParaRPr lang="en-US" sz="1400" dirty="0"/>
          </a:p>
          <a:p>
            <a:pPr indent="0" marL="0">
              <a:spcAft>
                <a:spcPts val="600"/>
              </a:spcAft>
              <a:buNone/>
            </a:pPr>
            <a:r>
              <a:rPr lang="en-US" sz="1500" dirty="0">
                <a:solidFill>
                  <a:srgbClr val="FFFFFF"/>
                </a:solidFill>
              </a:rPr>
              <a:t>Admin   admin / Admin@123</a:t>
            </a:r>
            <a:endParaRPr lang="en-US" sz="1400" dirty="0"/>
          </a:p>
          <a:p>
            <a:pPr indent="0" marL="0">
              <a:spcAft>
                <a:spcPts val="600"/>
              </a:spcAft>
              <a:buNone/>
            </a:pPr>
            <a:r>
              <a:rPr lang="en-US" sz="1500" dirty="0">
                <a:solidFill>
                  <a:srgbClr val="FFFFFF"/>
                </a:solidFill>
              </a:rPr>
              <a:t>Retail   ali.retail / Nexus@12345</a:t>
            </a:r>
            <a:endParaRPr lang="en-US" sz="1400" dirty="0"/>
          </a:p>
          <a:p>
            <a:pPr indent="0" marL="0">
              <a:spcAft>
                <a:spcPts val="600"/>
              </a:spcAft>
              <a:buNone/>
            </a:pPr>
            <a:r>
              <a:rPr lang="en-US" sz="1500" dirty="0">
                <a:solidFill>
                  <a:srgbClr val="FFFFFF"/>
                </a:solidFill>
              </a:rPr>
              <a:t>Technical   sara.tech / Nexus@12345</a:t>
            </a:r>
            <a:endParaRPr lang="en-US" sz="1400" dirty="0"/>
          </a:p>
          <a:p>
            <a:pPr indent="0" marL="0">
              <a:spcAft>
                <a:spcPts val="600"/>
              </a:spcAft>
              <a:buNone/>
            </a:pPr>
            <a:r>
              <a:rPr lang="en-US" sz="1500" dirty="0">
                <a:solidFill>
                  <a:srgbClr val="FFFFFF"/>
                </a:solidFill>
              </a:rPr>
              <a:t>Accounts   usman.accounts / Nexus@12345</a:t>
            </a:r>
            <a:endParaRPr lang="en-US" sz="1400" dirty="0"/>
          </a:p>
          <a:p>
            <a:pPr indent="0" marL="0">
              <a:buNone/>
            </a:pPr>
            <a:r>
              <a:rPr lang="en-US" sz="1500" dirty="0">
                <a:solidFill>
                  <a:srgbClr val="FFFFFF"/>
                </a:solidFill>
              </a:rPr>
              <a:t>Customer   hina.javed / Customer@123</a:t>
            </a:r>
            <a:endParaRPr lang="en-US" sz="1400" dirty="0"/>
          </a:p>
        </p:txBody>
      </p:sp>
      <p:sp>
        <p:nvSpPr>
          <p:cNvPr id="7" name="A03-fade-note"/>
          <p:cNvSpPr txBox="1"/>
          <p:nvPr/>
        </p:nvSpPr>
        <p:spPr>
          <a:xfrm>
            <a:off x="6720840" y="4800600"/>
            <a:ext cx="4937760" cy="457200"/>
          </a:xfrm>
          <a:prstGeom prst="rect">
            <a:avLst/>
          </a:prstGeom>
          <a:noFill/>
          <a:ln/>
        </p:spPr>
        <p:txBody>
          <a:bodyPr wrap="square" lIns="0" tIns="0" rIns="0" bIns="0" rtlCol="0" anchor="t"/>
          <a:lstStyle/>
          <a:p>
            <a:pPr indent="0" marL="0">
              <a:buNone/>
            </a:pPr>
            <a:r>
              <a:rPr lang="en-US" sz="1200" dirty="0">
                <a:solidFill>
                  <a:srgbClr val="BAE6FD"/>
                </a:solidFill>
              </a:rPr>
              <a:t>Demo users are created while testing; a fresh database has only the admin.</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1250">
        <p14:reveal thruBlk="1" dir="r"/>
      </p:transition>
    </mc:Choice>
    <mc:Fallback>
      <p:transition spd="slow">
        <p:fade thruBlk="1"/>
      </p:transition>
    </mc:Fallback>
  </mc:AlternateContent>
  <p:timing>
    <p:tnLst>
      <p:par>
        <p:cTn id="1" dur="indefinite" restart="never" nodeType="tmRoot">
          <p:childTnLst>
            <p:seq concurrent="1" nextAc="seek">
              <p:cTn id="2" dur="indefinite" nodeType="mainSeq">
                <p:childTnLst>
                  <p:par>
                    <p:cTn id="20" fill="hold">
                      <p:stCondLst>
                        <p:cond delay="indefinite"/>
                        <p:cond evt="onBegin" delay="0">
                          <p:tn val="2"/>
                        </p:cond>
                      </p:stCondLst>
                      <p:childTnLst>
                        <p:par>
                          <p:cTn id="19" fill="hold">
                            <p:stCondLst>
                              <p:cond delay="0"/>
                            </p:stCondLst>
                            <p:childTnLst>
                              <p:par>
                                <p:cTn id="5" presetID="10" presetClass="entr" presetSubtype="0"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Effect transition="in" filter="fade">
                                      <p:cBhvr>
                                        <p:cTn id="4" dur="700"/>
                                        <p:tgtEl>
                                          <p:spTgt spid="2"/>
                                        </p:tgtEl>
                                      </p:cBhvr>
                                    </p:animEffect>
                                  </p:childTnLst>
                                </p:cTn>
                              </p:par>
                              <p:par>
                                <p:cTn id="10" presetID="53" presetClass="entr" presetSubtype="16" fill="hold" grpId="0" nodeType="withEffect">
                                  <p:stCondLst>
                                    <p:cond delay="36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600" fill="hold"/>
                                        <p:tgtEl>
                                          <p:spTgt spid="5"/>
                                        </p:tgtEl>
                                        <p:attrNameLst>
                                          <p:attrName>ppt_w</p:attrName>
                                        </p:attrNameLst>
                                      </p:cBhvr>
                                      <p:tavLst>
                                        <p:tav tm="0">
                                          <p:val>
                                            <p:strVal val="0.7*#ppt_w"/>
                                          </p:val>
                                        </p:tav>
                                        <p:tav tm="100000">
                                          <p:val>
                                            <p:strVal val="#ppt_w"/>
                                          </p:val>
                                        </p:tav>
                                      </p:tavLst>
                                    </p:anim>
                                    <p:anim calcmode="lin" valueType="num">
                                      <p:cBhvr additive="base">
                                        <p:cTn id="8" dur="600" fill="hold"/>
                                        <p:tgtEl>
                                          <p:spTgt spid="5"/>
                                        </p:tgtEl>
                                        <p:attrNameLst>
                                          <p:attrName>ppt_h</p:attrName>
                                        </p:attrNameLst>
                                      </p:cBhvr>
                                      <p:tavLst>
                                        <p:tav tm="0">
                                          <p:val>
                                            <p:strVal val="0.7*#ppt_h"/>
                                          </p:val>
                                        </p:tav>
                                        <p:tav tm="100000">
                                          <p:val>
                                            <p:strVal val="#ppt_h"/>
                                          </p:val>
                                        </p:tav>
                                      </p:tavLst>
                                    </p:anim>
                                    <p:animEffect transition="in" filter="fade">
                                      <p:cBhvr>
                                        <p:cTn id="9" dur="600"/>
                                        <p:tgtEl>
                                          <p:spTgt spid="5"/>
                                        </p:tgtEl>
                                      </p:cBhvr>
                                    </p:animEffect>
                                  </p:childTnLst>
                                </p:cTn>
                              </p:par>
                              <p:par>
                                <p:cTn id="15" presetID="53" presetClass="entr" presetSubtype="16" fill="hold" grpId="0" nodeType="withEffect">
                                  <p:stCondLst>
                                    <p:cond delay="43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600" fill="hold"/>
                                        <p:tgtEl>
                                          <p:spTgt spid="6"/>
                                        </p:tgtEl>
                                        <p:attrNameLst>
                                          <p:attrName>ppt_w</p:attrName>
                                        </p:attrNameLst>
                                      </p:cBhvr>
                                      <p:tavLst>
                                        <p:tav tm="0">
                                          <p:val>
                                            <p:strVal val="0.7*#ppt_w"/>
                                          </p:val>
                                        </p:tav>
                                        <p:tav tm="100000">
                                          <p:val>
                                            <p:strVal val="#ppt_w"/>
                                          </p:val>
                                        </p:tav>
                                      </p:tavLst>
                                    </p:anim>
                                    <p:anim calcmode="lin" valueType="num">
                                      <p:cBhvr additive="base">
                                        <p:cTn id="13" dur="600" fill="hold"/>
                                        <p:tgtEl>
                                          <p:spTgt spid="6"/>
                                        </p:tgtEl>
                                        <p:attrNameLst>
                                          <p:attrName>ppt_h</p:attrName>
                                        </p:attrNameLst>
                                      </p:cBhvr>
                                      <p:tavLst>
                                        <p:tav tm="0">
                                          <p:val>
                                            <p:strVal val="0.7*#ppt_h"/>
                                          </p:val>
                                        </p:tav>
                                        <p:tav tm="100000">
                                          <p:val>
                                            <p:strVal val="#ppt_h"/>
                                          </p:val>
                                        </p:tav>
                                      </p:tavLst>
                                    </p:anim>
                                    <p:animEffect transition="in" filter="fade">
                                      <p:cBhvr>
                                        <p:cTn id="14" dur="600"/>
                                        <p:tgtEl>
                                          <p:spTgt spid="6"/>
                                        </p:tgtEl>
                                      </p:cBhvr>
                                    </p:animEffect>
                                  </p:childTnLst>
                                </p:cTn>
                              </p:par>
                              <p:par>
                                <p:cTn id="18" presetID="10" presetClass="entr" presetSubtype="0" fill="hold" grpId="0" nodeType="withEffect">
                                  <p:stCondLst>
                                    <p:cond delay="72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7" grpId="0" animBg="1"/>
    </p:bldLst>
  </p:timing>
</p:sld>
</file>

<file path=ppt/theme/theme1.xml><?xml version="1.0" encoding="utf-8"?>
<a:theme xmlns:a="http://schemas.openxmlformats.org/drawingml/2006/main" name="Nexus Telecom">
  <a:themeElements>
    <a:clrScheme name="Nexus Telecom">
      <a:dk1>
        <a:srgbClr val="0F172A"/>
      </a:dk1>
      <a:lt1>
        <a:srgbClr val="FFFFFF"/>
      </a:lt1>
      <a:dk2>
        <a:srgbClr val="0A2540"/>
      </a:dk2>
      <a:lt2>
        <a:srgbClr val="F6FAFD"/>
      </a:lt2>
      <a:accent1>
        <a:srgbClr val="0369A1"/>
      </a:accent1>
      <a:accent2>
        <a:srgbClr val="059669"/>
      </a:accent2>
      <a:accent3>
        <a:srgbClr val="0EA5E9"/>
      </a:accent3>
      <a:accent4>
        <a:srgbClr val="B45309"/>
      </a:accent4>
      <a:accent5>
        <a:srgbClr val="6D28D9"/>
      </a:accent5>
      <a:accent6>
        <a:srgbClr val="B91C1C"/>
      </a:accent6>
      <a:hlink>
        <a:srgbClr val="0369A1"/>
      </a:hlink>
      <a:folHlink>
        <a:srgbClr val="6D28D9"/>
      </a:folHlink>
    </a:clrScheme>
    <a:fontScheme name="Nexus Telecom">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Nexus Communications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Nexus Service Marketing System</dc:title>
  <dc:subject>eProject presentation</dc:subject>
  <dc:creator>Nexus eProject</dc:creator>
  <cp:lastModifiedBy>Nexus eProject</cp:lastModifiedBy>
  <cp:revision>1</cp:revision>
  <dcterms:created xsi:type="dcterms:W3CDTF">2026-10-08T08:50:28Z</dcterms:created>
  <dcterms:modified xsi:type="dcterms:W3CDTF">2026-10-08T08:50:28Z</dcterms:modified>
</cp:coreProperties>
</file>